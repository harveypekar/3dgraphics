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502" r:id="rId3"/>
    <p:sldId id="586" r:id="rId4"/>
    <p:sldId id="364" r:id="rId5"/>
    <p:sldId id="543" r:id="rId6"/>
    <p:sldId id="544" r:id="rId7"/>
    <p:sldId id="545" r:id="rId8"/>
    <p:sldId id="546" r:id="rId9"/>
    <p:sldId id="547" r:id="rId10"/>
    <p:sldId id="571" r:id="rId11"/>
    <p:sldId id="548" r:id="rId12"/>
    <p:sldId id="549" r:id="rId13"/>
    <p:sldId id="550" r:id="rId14"/>
    <p:sldId id="551" r:id="rId15"/>
    <p:sldId id="552" r:id="rId16"/>
    <p:sldId id="553" r:id="rId17"/>
    <p:sldId id="593" r:id="rId18"/>
    <p:sldId id="587" r:id="rId19"/>
    <p:sldId id="588" r:id="rId20"/>
    <p:sldId id="572" r:id="rId21"/>
    <p:sldId id="573" r:id="rId22"/>
    <p:sldId id="574" r:id="rId23"/>
    <p:sldId id="575" r:id="rId24"/>
    <p:sldId id="576" r:id="rId25"/>
    <p:sldId id="577" r:id="rId26"/>
    <p:sldId id="578" r:id="rId27"/>
    <p:sldId id="556" r:id="rId28"/>
    <p:sldId id="555" r:id="rId29"/>
    <p:sldId id="557" r:id="rId30"/>
    <p:sldId id="558" r:id="rId31"/>
    <p:sldId id="559" r:id="rId32"/>
    <p:sldId id="560" r:id="rId33"/>
    <p:sldId id="561" r:id="rId34"/>
    <p:sldId id="562" r:id="rId35"/>
    <p:sldId id="589" r:id="rId36"/>
    <p:sldId id="563" r:id="rId37"/>
    <p:sldId id="564" r:id="rId38"/>
    <p:sldId id="567" r:id="rId39"/>
    <p:sldId id="566" r:id="rId40"/>
    <p:sldId id="568" r:id="rId41"/>
    <p:sldId id="590" r:id="rId42"/>
    <p:sldId id="579" r:id="rId43"/>
    <p:sldId id="580" r:id="rId44"/>
    <p:sldId id="581" r:id="rId45"/>
    <p:sldId id="582" r:id="rId46"/>
    <p:sldId id="583" r:id="rId47"/>
    <p:sldId id="584" r:id="rId48"/>
    <p:sldId id="585" r:id="rId49"/>
    <p:sldId id="591" r:id="rId50"/>
    <p:sldId id="592" r:id="rId5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801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7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478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83729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8760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71112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25571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77856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64986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32790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84707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demand means, not when the game is made by the developers, but when the game is running. For example, when you fly to a new planet, the terrain of that planet is generated when the player flies there, not before the game is published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84848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6498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68191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90269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75261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00339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65317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24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Friend of mine (who works at Lugus studios, interesting simulator / game company) knocked this up in unity in an hour or two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89267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5611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197336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049885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46269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69243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853769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178086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51398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82217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434696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47776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11996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224269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275585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931487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4248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fBm</a:t>
            </a:r>
            <a:r>
              <a:rPr lang="en-US" dirty="0"/>
              <a:t> is several loop iterations (usually called octaves, close but smaller than 10, </a:t>
            </a:r>
            <a:r>
              <a:rPr lang="en-US" dirty="0" err="1"/>
              <a:t>eg</a:t>
            </a:r>
            <a:r>
              <a:rPr lang="en-US" dirty="0"/>
              <a:t> 7) of noise added together. Each iteration, the peaks and valley of the noise get bigger together by scaling the input coordinate, and the output value is scaled smaller </a:t>
            </a:r>
          </a:p>
          <a:p>
            <a:endParaRPr lang="en-US" dirty="0"/>
          </a:p>
          <a:p>
            <a:r>
              <a:rPr lang="en-US" dirty="0"/>
              <a:t>The first iteration is the really large scale details : mountaintops, hundreds of meter high, 100’s of meters apart</a:t>
            </a:r>
          </a:p>
          <a:p>
            <a:r>
              <a:rPr lang="en-US" dirty="0"/>
              <a:t>The next iteration could be smaller tops, a couple on the same bigger one from the previous iteration</a:t>
            </a:r>
          </a:p>
          <a:p>
            <a:r>
              <a:rPr lang="en-US" dirty="0"/>
              <a:t>The next iteration could be smoother hills, 10 tens of meters, apart</a:t>
            </a:r>
          </a:p>
          <a:p>
            <a:r>
              <a:rPr lang="en-US" dirty="0"/>
              <a:t>The last iteration could be very small height variations only centimeters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764398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439392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896355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8111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126449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364826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207003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877266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880484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055362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541527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80519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58295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only tells us “how desirable”, how much we want a chunk to be loaded (we need to pick which ones)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195701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two real problems:</a:t>
            </a:r>
            <a:br>
              <a:rPr lang="en-US" dirty="0"/>
            </a:br>
            <a:r>
              <a:rPr lang="en-US" dirty="0"/>
              <a:t>Load a certain amount of chunks at all times</a:t>
            </a:r>
          </a:p>
          <a:p>
            <a:r>
              <a:rPr lang="en-US" dirty="0"/>
              <a:t>Make sure those are the most desirable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Above accomplishes that by looking for a lot of close chunks, and the ones already loaded. Taking the N with the highest score (</a:t>
            </a:r>
            <a:r>
              <a:rPr lang="en-US" dirty="0" err="1"/>
              <a:t>desirabity</a:t>
            </a:r>
            <a:r>
              <a:rPr lang="en-US" dirty="0"/>
              <a:t>) achieves what we want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67924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168644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50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2943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adertoy.com/view/MdX3Rr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Lookup_table" TargetMode="External"/><Relationship Id="rId5" Type="http://schemas.openxmlformats.org/officeDocument/2006/relationships/hyperlink" Target="http://www.theguardian.com/books/2003/oct/18/features.weekend" TargetMode="Externa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AUSBxxgIbQ?feature=oembed" TargetMode="External"/><Relationship Id="rId4" Type="http://schemas.openxmlformats.org/officeDocument/2006/relationships/image" Target="../media/image44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5: Proceduralism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7" name="Picture 6" descr="A helicopter flying in the sky&#10;&#10;Description automatically generated">
            <a:extLst>
              <a:ext uri="{FF2B5EF4-FFF2-40B4-BE49-F238E27FC236}">
                <a16:creationId xmlns:a16="http://schemas.microsoft.com/office/drawing/2014/main" id="{583BF1D0-AD54-3F2D-0D36-813A72BC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433" y="2615382"/>
            <a:ext cx="4340763" cy="325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D23-D77C-70B3-2CC3-3B963972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8D2-CA6D-2610-89CE-68DEF02C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</a:t>
            </a: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298C9-D648-BB23-7F41-27D04AC86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0114"/>
            <a:ext cx="11614086" cy="23127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CDD923-DDD0-C78F-9E76-8724D4D10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331" y="189332"/>
            <a:ext cx="4641412" cy="3369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726B44-606A-20AC-A6CF-CCFB4B4AF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742" y="473858"/>
            <a:ext cx="3938187" cy="183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D5C226-4920-1470-4E26-725EDC46B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10453"/>
              </p:ext>
            </p:extLst>
          </p:nvPr>
        </p:nvGraphicFramePr>
        <p:xfrm>
          <a:off x="5124734" y="1"/>
          <a:ext cx="4438366" cy="6752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172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359194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566597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95849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809425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566597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Post Processing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pipeline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809425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/ Presentations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10 :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11 :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351D17D-F165-A405-4C90-69417290D645}"/>
              </a:ext>
            </a:extLst>
          </p:cNvPr>
          <p:cNvSpPr/>
          <p:nvPr/>
        </p:nvSpPr>
        <p:spPr>
          <a:xfrm>
            <a:off x="7168574" y="2114017"/>
            <a:ext cx="2301551" cy="49459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748CD-1131-12CA-8255-150FE09A75DC}"/>
              </a:ext>
            </a:extLst>
          </p:cNvPr>
          <p:cNvSpPr txBox="1"/>
          <p:nvPr/>
        </p:nvSpPr>
        <p:spPr>
          <a:xfrm>
            <a:off x="139224" y="3429000"/>
            <a:ext cx="469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Btw, why is this image here?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87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Introduction to procedural generation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Simple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Complex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Infinite terrain</a:t>
            </a:r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E9EC-7A18-24EE-5ABD-4E493D3A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generation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80831-3733-C0A4-71C2-F864FD200557}"/>
              </a:ext>
            </a:extLst>
          </p:cNvPr>
          <p:cNvSpPr txBox="1"/>
          <p:nvPr/>
        </p:nvSpPr>
        <p:spPr>
          <a:xfrm>
            <a:off x="534955" y="1492897"/>
            <a:ext cx="58271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Making content using code, not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 code to make models, textures, </a:t>
            </a: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40061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2636-A96E-A463-DC76-78A498BD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Elevated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43434-254F-591F-AB8A-E6BF406273E9}"/>
              </a:ext>
            </a:extLst>
          </p:cNvPr>
          <p:cNvSpPr txBox="1"/>
          <p:nvPr/>
        </p:nvSpPr>
        <p:spPr>
          <a:xfrm>
            <a:off x="360784" y="1505339"/>
            <a:ext cx="58283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small (about 4kb)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https://www.shadertoy.com/view/MdX3Rr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Includes renderer!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A7F37-EFAD-DB4D-D936-F598543B5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998" y="2402334"/>
            <a:ext cx="7659169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C2FD-A621-7219-D974-F7C5A80B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History: Elite 1984</a:t>
            </a:r>
            <a:endParaRPr lang="en-BE" dirty="0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AC9117EE-C75D-DE42-07C3-CB811FB9D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857" y="0"/>
            <a:ext cx="4693143" cy="3539412"/>
          </a:xfrm>
          <a:prstGeom prst="rect">
            <a:avLst/>
          </a:prstGeom>
        </p:spPr>
      </p:pic>
      <p:pic>
        <p:nvPicPr>
          <p:cNvPr id="6" name="Picture 5" descr="A screen shot of a video game&#10;&#10;Description automatically generated">
            <a:extLst>
              <a:ext uri="{FF2B5EF4-FFF2-40B4-BE49-F238E27FC236}">
                <a16:creationId xmlns:a16="http://schemas.microsoft.com/office/drawing/2014/main" id="{F43FDC4F-C888-04B6-7F05-DD7AEBAB9C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069" y="3452637"/>
            <a:ext cx="4318622" cy="3454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8842D9-F635-87EE-7211-E23ECB68054E}"/>
              </a:ext>
            </a:extLst>
          </p:cNvPr>
          <p:cNvSpPr txBox="1"/>
          <p:nvPr/>
        </p:nvSpPr>
        <p:spPr>
          <a:xfrm>
            <a:off x="485192" y="169068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“…star systems were</a:t>
            </a:r>
            <a:r>
              <a:rPr lang="en-US" dirty="0">
                <a:hlinkClick r:id="rId5"/>
              </a:rPr>
              <a:t> procedurally generated from a fixed seed</a:t>
            </a:r>
            <a:r>
              <a:rPr lang="en-US" dirty="0"/>
              <a:t>, which generated the description of the star system, including its economy, government, and population. There were 8 galaxies of stars in the original Elite, each with 256 generated stars.”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“There were originally going to be 282 trillion galaxies in the game, but </a:t>
            </a:r>
            <a:r>
              <a:rPr lang="en-US" dirty="0" err="1"/>
              <a:t>Acornsoft</a:t>
            </a:r>
            <a:r>
              <a:rPr lang="en-US" dirty="0"/>
              <a:t>, the publisher, </a:t>
            </a:r>
            <a:r>
              <a:rPr lang="en-US" dirty="0">
                <a:hlinkClick r:id="rId5"/>
              </a:rPr>
              <a:t>convinced</a:t>
            </a:r>
            <a:r>
              <a:rPr lang="en-US" dirty="0"/>
              <a:t> the developers to trim it down to a manageable eight, each with 256 stars. Running your generator too many times often results in less interesting results.”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“text strings are chosen numerically from a </a:t>
            </a:r>
            <a:r>
              <a:rPr lang="en-US" dirty="0">
                <a:hlinkClick r:id="rId6" tooltip="Lookup table"/>
              </a:rPr>
              <a:t>lookup table</a:t>
            </a:r>
            <a:r>
              <a:rPr lang="en-US" dirty="0"/>
              <a:t> and assembled to produce unique descriptions, such as a planet with "carnivorous arts graduates"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65497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F984-FB59-0273-535E-FA4FBD0C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they use procedural generation?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512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F984-FB59-0273-535E-FA4FBD0C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they use procedural generation?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9460B-BA12-209F-D627-5EFEE5261D52}"/>
              </a:ext>
            </a:extLst>
          </p:cNvPr>
          <p:cNvSpPr txBox="1"/>
          <p:nvPr/>
        </p:nvSpPr>
        <p:spPr>
          <a:xfrm>
            <a:off x="709127" y="1530220"/>
            <a:ext cx="72641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Memory was extremely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Procedural generation allows “on demand” generation</a:t>
            </a:r>
            <a:endParaRPr lang="en-BE" sz="2400" dirty="0"/>
          </a:p>
        </p:txBody>
      </p:sp>
      <p:pic>
        <p:nvPicPr>
          <p:cNvPr id="5" name="Picture 4" descr="A green circuit board with many small black and yellow components&#10;&#10;Description automatically generated with medium confidence">
            <a:extLst>
              <a:ext uri="{FF2B5EF4-FFF2-40B4-BE49-F238E27FC236}">
                <a16:creationId xmlns:a16="http://schemas.microsoft.com/office/drawing/2014/main" id="{C97296D4-F5EE-082A-1E23-F91866D61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635898"/>
            <a:ext cx="5629469" cy="4222102"/>
          </a:xfrm>
          <a:prstGeom prst="rect">
            <a:avLst/>
          </a:prstGeom>
        </p:spPr>
      </p:pic>
      <p:pic>
        <p:nvPicPr>
          <p:cNvPr id="7" name="Picture 6" descr="A video game screen with a monkey and a monkey&#10;&#10;Description automatically generated">
            <a:extLst>
              <a:ext uri="{FF2B5EF4-FFF2-40B4-BE49-F238E27FC236}">
                <a16:creationId xmlns:a16="http://schemas.microsoft.com/office/drawing/2014/main" id="{0780887E-B17A-817E-3897-0FCBFDC7E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206" y="2635898"/>
            <a:ext cx="3647574" cy="416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74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549EC-954F-F622-3D79-7687EAB6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vs implicit representation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1E893-4240-7B06-F194-EE179BA9A52C}"/>
              </a:ext>
            </a:extLst>
          </p:cNvPr>
          <p:cNvSpPr txBox="1"/>
          <p:nvPr/>
        </p:nvSpPr>
        <p:spPr>
          <a:xfrm>
            <a:off x="1306286" y="2340429"/>
            <a:ext cx="881812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/>
              <a:t>Explicit</a:t>
            </a:r>
            <a:r>
              <a:rPr lang="en-US" sz="4000" dirty="0"/>
              <a:t>: everything is stored. </a:t>
            </a:r>
            <a:br>
              <a:rPr lang="en-US" sz="4000" dirty="0"/>
            </a:br>
            <a:r>
              <a:rPr lang="en-US" sz="4000" dirty="0"/>
              <a:t>For example: Romeo &amp; Juliet. </a:t>
            </a:r>
            <a:br>
              <a:rPr lang="en-US" sz="4000" dirty="0"/>
            </a:br>
            <a:r>
              <a:rPr lang="en-US" sz="4000" dirty="0"/>
              <a:t>Finite (</a:t>
            </a:r>
            <a:r>
              <a:rPr lang="en-US" sz="4000" dirty="0" err="1"/>
              <a:t>eg</a:t>
            </a:r>
            <a:r>
              <a:rPr lang="en-US" sz="4000" dirty="0"/>
              <a:t> 64kb)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/>
              <a:t>Implicit</a:t>
            </a:r>
            <a:r>
              <a:rPr lang="en-US" sz="4000" dirty="0"/>
              <a:t>: everything must be calculated. </a:t>
            </a:r>
            <a:br>
              <a:rPr lang="en-US" sz="4000" dirty="0"/>
            </a:br>
            <a:r>
              <a:rPr lang="en-US" sz="4000" dirty="0"/>
              <a:t>For example: </a:t>
            </a:r>
            <a:r>
              <a:rPr lang="en-US" sz="4000" dirty="0" err="1"/>
              <a:t>fibonacci</a:t>
            </a:r>
            <a:r>
              <a:rPr lang="en-US" sz="4000" dirty="0"/>
              <a:t> numbers </a:t>
            </a:r>
            <a:br>
              <a:rPr lang="en-US" sz="4000" dirty="0"/>
            </a:br>
            <a:r>
              <a:rPr lang="en-US" sz="4000" dirty="0"/>
              <a:t>Infinite (potentially)</a:t>
            </a:r>
          </a:p>
        </p:txBody>
      </p:sp>
    </p:spTree>
    <p:extLst>
      <p:ext uri="{BB962C8B-B14F-4D97-AF65-F5344CB8AC3E}">
        <p14:creationId xmlns:p14="http://schemas.microsoft.com/office/powerpoint/2010/main" val="214323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62A9A-00BB-48EF-B615-278FAAC5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random number recap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43964-F801-0EC5-A937-914E7F4D8612}"/>
              </a:ext>
            </a:extLst>
          </p:cNvPr>
          <p:cNvSpPr txBox="1"/>
          <p:nvPr/>
        </p:nvSpPr>
        <p:spPr>
          <a:xfrm>
            <a:off x="615820" y="1690688"/>
            <a:ext cx="1027877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Random number sequence: 77, 1, 4, 9, 0, 0, 0, 0, 0, 0, 0, 0, 1, 31, 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Deterministic</a:t>
            </a:r>
            <a:r>
              <a:rPr lang="en-US" sz="2800" dirty="0"/>
              <a:t> from seed! Same seed, same sequence</a:t>
            </a:r>
            <a:br>
              <a:rPr lang="en-US" sz="2800" dirty="0"/>
            </a:br>
            <a:r>
              <a:rPr lang="en-US" sz="2800" dirty="0"/>
              <a:t>Seed : 15 Rand : 1, 5, 5, 1, 84, 38, 94</a:t>
            </a:r>
            <a:br>
              <a:rPr lang="en-US" sz="2800" dirty="0"/>
            </a:br>
            <a:r>
              <a:rPr lang="en-US" sz="2800" dirty="0"/>
              <a:t>Seed : 17 Rand : 208, 198, 150, 28</a:t>
            </a:r>
            <a:br>
              <a:rPr lang="en-US" sz="2800" dirty="0"/>
            </a:br>
            <a:r>
              <a:rPr lang="en-US" sz="2800" dirty="0"/>
              <a:t>Seed : 15 Rand : 1, 5, 5, 1, 84, 38, 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Elite used seed to have the same planets every time (why?)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Pseudorandom</a:t>
            </a:r>
            <a:r>
              <a:rPr lang="en-US" sz="2800" dirty="0"/>
              <a:t>, but for us that is fine (not for encryption)</a:t>
            </a:r>
          </a:p>
        </p:txBody>
      </p:sp>
    </p:spTree>
    <p:extLst>
      <p:ext uri="{BB962C8B-B14F-4D97-AF65-F5344CB8AC3E}">
        <p14:creationId xmlns:p14="http://schemas.microsoft.com/office/powerpoint/2010/main" val="303419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288E-2A8B-C8CB-A34E-7A97CB96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Elder Scrolls : </a:t>
            </a:r>
            <a:r>
              <a:rPr lang="en-US" dirty="0" err="1"/>
              <a:t>Daggerfall</a:t>
            </a:r>
            <a:r>
              <a:rPr lang="en-US" dirty="0"/>
              <a:t> 1997 </a:t>
            </a:r>
            <a:endParaRPr lang="en-BE" dirty="0"/>
          </a:p>
        </p:txBody>
      </p:sp>
      <p:pic>
        <p:nvPicPr>
          <p:cNvPr id="4" name="Picture 3" descr="A horse on a green field&#10;&#10;Description automatically generated">
            <a:extLst>
              <a:ext uri="{FF2B5EF4-FFF2-40B4-BE49-F238E27FC236}">
                <a16:creationId xmlns:a16="http://schemas.microsoft.com/office/drawing/2014/main" id="{69D53537-4602-6A4B-792A-B94ABBB72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784" y="2774098"/>
            <a:ext cx="7253700" cy="4083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F32F9C-9711-C359-EC2F-1747968C1D53}"/>
              </a:ext>
            </a:extLst>
          </p:cNvPr>
          <p:cNvSpPr txBox="1"/>
          <p:nvPr/>
        </p:nvSpPr>
        <p:spPr>
          <a:xfrm>
            <a:off x="570722" y="1499118"/>
            <a:ext cx="6420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Procedural generation for terrain, villages, </a:t>
            </a:r>
            <a:r>
              <a:rPr lang="en-US" sz="2400" dirty="0" err="1"/>
              <a:t>npc’s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400" dirty="0"/>
              <a:t>229,000</a:t>
            </a:r>
            <a:r>
              <a:rPr lang="en-US" sz="2400" dirty="0"/>
              <a:t> square kilometers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Why would they use procedural generation?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86057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AA68-D77A-2BFF-66EE-C226421CB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Elder scrolls : reasoning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E2907-E866-4A0D-669F-C33946795FF2}"/>
              </a:ext>
            </a:extLst>
          </p:cNvPr>
          <p:cNvSpPr txBox="1"/>
          <p:nvPr/>
        </p:nvSpPr>
        <p:spPr>
          <a:xfrm>
            <a:off x="740228" y="1785257"/>
            <a:ext cx="105273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Space reasons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we had 1Gb, and 32bit </a:t>
            </a:r>
            <a:r>
              <a:rPr lang="en-US" sz="2400" dirty="0" err="1"/>
              <a:t>rgb</a:t>
            </a:r>
            <a:r>
              <a:rPr lang="en-US" sz="2400" dirty="0"/>
              <a:t>, how big of a patch (in cm2) would one color cover?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also artist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Any problems with this approach?</a:t>
            </a:r>
          </a:p>
        </p:txBody>
      </p:sp>
    </p:spTree>
    <p:extLst>
      <p:ext uri="{BB962C8B-B14F-4D97-AF65-F5344CB8AC3E}">
        <p14:creationId xmlns:p14="http://schemas.microsoft.com/office/powerpoint/2010/main" val="4263130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56B3-A4B0-2D9E-6853-FDFF9CC4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Elder scrolls : “</a:t>
            </a:r>
            <a:r>
              <a:rPr lang="en-US" dirty="0" err="1"/>
              <a:t>sameyness</a:t>
            </a:r>
            <a:r>
              <a:rPr lang="en-US" dirty="0"/>
              <a:t>”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98F7F-4FC0-20DA-8193-87944307D253}"/>
              </a:ext>
            </a:extLst>
          </p:cNvPr>
          <p:cNvSpPr txBox="1"/>
          <p:nvPr/>
        </p:nvSpPr>
        <p:spPr>
          <a:xfrm>
            <a:off x="671804" y="1760375"/>
            <a:ext cx="100480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we use the same algorithm a lot of times, everything still looks similar </a:t>
            </a:r>
          </a:p>
          <a:p>
            <a:r>
              <a:rPr lang="en-US" sz="2400" dirty="0"/>
              <a:t>	(50 shades of gray)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Only very little of the terrain is interesting</a:t>
            </a:r>
          </a:p>
        </p:txBody>
      </p:sp>
      <p:pic>
        <p:nvPicPr>
          <p:cNvPr id="5" name="Picture 4" descr="A video game screen with trees and grass&#10;&#10;Description automatically generated">
            <a:extLst>
              <a:ext uri="{FF2B5EF4-FFF2-40B4-BE49-F238E27FC236}">
                <a16:creationId xmlns:a16="http://schemas.microsoft.com/office/drawing/2014/main" id="{48BD86C6-3148-8C72-1973-A86970C73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024" y="2960705"/>
            <a:ext cx="5196395" cy="389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6863-07CB-463B-EE41-831D39C3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man sky</a:t>
            </a:r>
            <a:endParaRPr lang="en-BE" dirty="0"/>
          </a:p>
        </p:txBody>
      </p:sp>
      <p:pic>
        <p:nvPicPr>
          <p:cNvPr id="6" name="Picture 5" descr="A screenshot of a video game&#10;&#10;Description automatically generated">
            <a:extLst>
              <a:ext uri="{FF2B5EF4-FFF2-40B4-BE49-F238E27FC236}">
                <a16:creationId xmlns:a16="http://schemas.microsoft.com/office/drawing/2014/main" id="{03534F5F-7FBC-81AA-0616-AEF2D0C66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609" y="1461795"/>
            <a:ext cx="9220954" cy="51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34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A5FA-9527-3E0F-75C7-A60154A4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Dwarf fortress</a:t>
            </a:r>
            <a:endParaRPr lang="en-BE" dirty="0"/>
          </a:p>
        </p:txBody>
      </p:sp>
      <p:pic>
        <p:nvPicPr>
          <p:cNvPr id="6" name="Picture 5" descr="A map of the world&#10;&#10;Description automatically generated">
            <a:extLst>
              <a:ext uri="{FF2B5EF4-FFF2-40B4-BE49-F238E27FC236}">
                <a16:creationId xmlns:a16="http://schemas.microsoft.com/office/drawing/2014/main" id="{23C0A0A0-69DF-DA98-7DE5-2F0B8A1D4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78" y="0"/>
            <a:ext cx="6386285" cy="4789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C1D147-3DCD-6ABD-29B4-8D9558F13DC7}"/>
              </a:ext>
            </a:extLst>
          </p:cNvPr>
          <p:cNvSpPr txBox="1"/>
          <p:nvPr/>
        </p:nvSpPr>
        <p:spPr>
          <a:xfrm>
            <a:off x="640702" y="1579983"/>
            <a:ext cx="43268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Generates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And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And pantheon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And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“On the wheel of cheese is an image of a wheel</a:t>
            </a:r>
          </a:p>
          <a:p>
            <a:r>
              <a:rPr lang="en-US" sz="2400" dirty="0"/>
              <a:t>	cheese”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5569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0BDE-AC00-279E-97DA-F6D50B3B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Kaspar’s experiment</a:t>
            </a:r>
            <a:endParaRPr lang="en-BE" dirty="0"/>
          </a:p>
        </p:txBody>
      </p:sp>
      <p:pic>
        <p:nvPicPr>
          <p:cNvPr id="3" name="2024-05-04_17-29-25">
            <a:hlinkClick r:id="" action="ppaction://media"/>
            <a:extLst>
              <a:ext uri="{FF2B5EF4-FFF2-40B4-BE49-F238E27FC236}">
                <a16:creationId xmlns:a16="http://schemas.microsoft.com/office/drawing/2014/main" id="{0714FBF9-F907-F9DA-BBF4-D84C94C00C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0825" y="1487686"/>
            <a:ext cx="9547225" cy="537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8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31B1-BB6E-0156-E07E-E1B0297B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470DC-48B3-075D-EE0A-7592EB3631BA}"/>
              </a:ext>
            </a:extLst>
          </p:cNvPr>
          <p:cNvSpPr txBox="1"/>
          <p:nvPr/>
        </p:nvSpPr>
        <p:spPr>
          <a:xfrm>
            <a:off x="323850" y="1962150"/>
            <a:ext cx="1023652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Proceduralism creates content algorithmically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Big advantage is very little size on disk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Other is potentially infinite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Even though it can feel repetitive / ‘</a:t>
            </a:r>
            <a:r>
              <a:rPr lang="en-US" sz="2800" dirty="0" err="1"/>
              <a:t>samey</a:t>
            </a:r>
            <a:r>
              <a:rPr lang="en-US" sz="2800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Random numbers can be deterministic (repeating), and that’s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650988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6250-A9C5-BC85-DE23-81C524B8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1E3D-E4D4-ECF5-DF6B-E8ACBF61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53980-8011-973C-AF2A-46737D0457BF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Introduction to procedural generation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Simple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Complex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Infinite terrain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3C1AA-401C-522B-2CA0-3F59D16DD544}"/>
              </a:ext>
            </a:extLst>
          </p:cNvPr>
          <p:cNvSpPr txBox="1"/>
          <p:nvPr/>
        </p:nvSpPr>
        <p:spPr>
          <a:xfrm>
            <a:off x="1399591" y="5886450"/>
            <a:ext cx="1011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also deliberately put a mistake in these slides, prize for who finds it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99944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F932-6AD3-8FD7-F116-00E63F1F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that was fun, but how does that help us?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51226-DC75-817A-3AA4-CC66547ED916}"/>
              </a:ext>
            </a:extLst>
          </p:cNvPr>
          <p:cNvSpPr txBox="1"/>
          <p:nvPr/>
        </p:nvSpPr>
        <p:spPr>
          <a:xfrm>
            <a:off x="968828" y="1690688"/>
            <a:ext cx="61932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to determine which blocks go 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usually see this as a 3D function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BlockType</a:t>
            </a:r>
            <a:r>
              <a:rPr lang="en-US" sz="2400" dirty="0"/>
              <a:t> </a:t>
            </a:r>
            <a:r>
              <a:rPr lang="en-US" sz="2400" dirty="0" err="1"/>
              <a:t>getType</a:t>
            </a:r>
            <a:r>
              <a:rPr lang="en-US" sz="2400" dirty="0"/>
              <a:t>(int x, int y, int 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is the simplest implementation?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F3475-31C8-19F1-AC9B-2C55AD15B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2452448"/>
            <a:ext cx="4514850" cy="440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97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9FFB-9B00-A19F-A9CB-3892687A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terrain: flat</a:t>
            </a: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759CD9-DF4A-C1FA-B4B1-49F21D32B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910" y="2832588"/>
            <a:ext cx="5335890" cy="40254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49BE27-4D9B-F835-4927-EDF991F0BF63}"/>
              </a:ext>
            </a:extLst>
          </p:cNvPr>
          <p:cNvSpPr txBox="1"/>
          <p:nvPr/>
        </p:nvSpPr>
        <p:spPr>
          <a:xfrm>
            <a:off x="1038225" y="1895475"/>
            <a:ext cx="45557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BlockType</a:t>
            </a:r>
            <a:r>
              <a:rPr lang="en-US" sz="2400" dirty="0"/>
              <a:t> </a:t>
            </a:r>
            <a:r>
              <a:rPr lang="en-US" sz="2400" dirty="0" err="1"/>
              <a:t>getType</a:t>
            </a:r>
            <a:r>
              <a:rPr lang="en-US" sz="2400" dirty="0"/>
              <a:t>(int x, int y, int z)</a:t>
            </a:r>
          </a:p>
          <a:p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   if (y &lt; height)</a:t>
            </a:r>
            <a:br>
              <a:rPr lang="en-US" sz="2400" dirty="0"/>
            </a:br>
            <a:r>
              <a:rPr lang="en-US" sz="2400" dirty="0"/>
              <a:t>      return Stone;</a:t>
            </a:r>
            <a:br>
              <a:rPr lang="en-US" sz="2400" dirty="0"/>
            </a:br>
            <a:r>
              <a:rPr lang="en-US" sz="2400" dirty="0"/>
              <a:t>   return Empty;</a:t>
            </a:r>
            <a:br>
              <a:rPr lang="en-US" sz="2400" dirty="0"/>
            </a:br>
            <a:r>
              <a:rPr lang="en-US" sz="2400" dirty="0"/>
              <a:t>}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092311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D5FB-9B05-6F1B-0A61-4BBE39CB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0AC9-61E9-17ED-9FEC-10E81BCE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terrain: flat</a:t>
            </a: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FE13A-23D7-AD91-E481-A6D65ECE4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910" y="2832588"/>
            <a:ext cx="5335890" cy="40254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0ACA09-B437-A70C-E0B0-B435CDF5FE1A}"/>
              </a:ext>
            </a:extLst>
          </p:cNvPr>
          <p:cNvSpPr txBox="1"/>
          <p:nvPr/>
        </p:nvSpPr>
        <p:spPr>
          <a:xfrm>
            <a:off x="1038225" y="1895475"/>
            <a:ext cx="555299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Important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use math for the way it looks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 because it calculates a specific thing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would we use for something </a:t>
            </a:r>
            <a:br>
              <a:rPr lang="en-US" sz="2400" dirty="0"/>
            </a:br>
            <a:r>
              <a:rPr lang="en-US" sz="2400" dirty="0"/>
              <a:t>more “hilly”?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931707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642E-E6EA-1620-9F28-E7ECA599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Wavy terrain: sin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A5550E-4033-CD16-B21C-DE7DF8193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116" y="856847"/>
            <a:ext cx="6573167" cy="5772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340430-865B-FDB6-283B-519BA4D5D44C}"/>
              </a:ext>
            </a:extLst>
          </p:cNvPr>
          <p:cNvSpPr txBox="1"/>
          <p:nvPr/>
        </p:nvSpPr>
        <p:spPr>
          <a:xfrm>
            <a:off x="904876" y="1752601"/>
            <a:ext cx="43529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Looks hilly </a:t>
            </a:r>
            <a:r>
              <a:rPr lang="en-US" sz="3200" dirty="0">
                <a:sym typeface="Wingdings" panose="05000000000000000000" pitchFamily="2" charset="2"/>
              </a:rPr>
              <a:t>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ym typeface="Wingdings" panose="05000000000000000000" pitchFamily="2" charset="2"/>
              </a:rPr>
              <a:t>Repetitive </a:t>
            </a:r>
            <a:endParaRPr lang="en-US" sz="3200" dirty="0"/>
          </a:p>
          <a:p>
            <a:endParaRPr lang="en-BE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10EDB3-37B7-6BBE-E963-8017B7DB3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322261"/>
            <a:ext cx="4648199" cy="161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89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C0F5-AEA6-A871-36AB-F393D34C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complex shapes from simple blocks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14ABB-07F9-BA2E-2656-6B03C968C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855" y="1838324"/>
            <a:ext cx="5494509" cy="5019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0FAA71-B72D-4A8C-29E4-3F853D885213}"/>
              </a:ext>
            </a:extLst>
          </p:cNvPr>
          <p:cNvSpPr txBox="1"/>
          <p:nvPr/>
        </p:nvSpPr>
        <p:spPr>
          <a:xfrm>
            <a:off x="484402" y="1838324"/>
            <a:ext cx="3716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Here I added 2 sine waves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442204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8694-A9A0-B6F4-CA95-E9755B34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70D3-BACC-3973-809A-C9591F9C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complex shapes from simple blocks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3DEE3-8EF8-AAF0-F611-8C015F739101}"/>
              </a:ext>
            </a:extLst>
          </p:cNvPr>
          <p:cNvSpPr txBox="1"/>
          <p:nvPr/>
        </p:nvSpPr>
        <p:spPr>
          <a:xfrm>
            <a:off x="484402" y="1838324"/>
            <a:ext cx="4198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Here I multiplied 2 sine waves</a:t>
            </a:r>
            <a:endParaRPr lang="en-BE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3C3F6-35AF-9DD0-FDFB-7A2E0F0D9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4442"/>
            <a:ext cx="5136951" cy="543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9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84A9-BB4F-1D0F-CB74-030FF0AC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5EE5-8EDF-EFEB-6323-6D1B6084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complex shapes from simple blocks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A43C3-E64E-825B-7924-5EE301026253}"/>
              </a:ext>
            </a:extLst>
          </p:cNvPr>
          <p:cNvSpPr txBox="1"/>
          <p:nvPr/>
        </p:nvSpPr>
        <p:spPr>
          <a:xfrm>
            <a:off x="484402" y="1838324"/>
            <a:ext cx="46896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Here I multiplied 2 sine waves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Before, I made them go from 0 - 1</a:t>
            </a:r>
            <a:endParaRPr lang="en-BE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93B62E-3B43-8203-BE33-FF6CC045D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142" y="3361837"/>
            <a:ext cx="7640116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37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B1FC-D5D4-918A-198A-746FCEF1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Heightmaps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6F3F6-7BB7-FB4D-BE8E-629103724006}"/>
              </a:ext>
            </a:extLst>
          </p:cNvPr>
          <p:cNvSpPr txBox="1"/>
          <p:nvPr/>
        </p:nvSpPr>
        <p:spPr>
          <a:xfrm>
            <a:off x="734007" y="1632322"/>
            <a:ext cx="545899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a texture to store height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texture on a plane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Offset with texture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Great for tooling! (photoshop, </a:t>
            </a:r>
            <a:r>
              <a:rPr lang="en-US" sz="2400" dirty="0" err="1"/>
              <a:t>terragen</a:t>
            </a:r>
            <a:r>
              <a:rPr lang="en-US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Great for explaining noise</a:t>
            </a:r>
            <a:endParaRPr lang="en-BE" sz="2400" dirty="0"/>
          </a:p>
        </p:txBody>
      </p:sp>
      <p:pic>
        <p:nvPicPr>
          <p:cNvPr id="5" name="Picture 4" descr="A black and white cloud&#10;&#10;Description automatically generated">
            <a:extLst>
              <a:ext uri="{FF2B5EF4-FFF2-40B4-BE49-F238E27FC236}">
                <a16:creationId xmlns:a16="http://schemas.microsoft.com/office/drawing/2014/main" id="{E1622BDC-38CD-F14D-AC9C-89360A6E2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356" y="0"/>
            <a:ext cx="3264644" cy="3264644"/>
          </a:xfrm>
          <a:prstGeom prst="rect">
            <a:avLst/>
          </a:prstGeom>
        </p:spPr>
      </p:pic>
      <p:pic>
        <p:nvPicPr>
          <p:cNvPr id="7" name="Picture 6" descr="A close-up of a rock&#10;&#10;Description automatically generated">
            <a:extLst>
              <a:ext uri="{FF2B5EF4-FFF2-40B4-BE49-F238E27FC236}">
                <a16:creationId xmlns:a16="http://schemas.microsoft.com/office/drawing/2014/main" id="{64D4E522-754B-FD11-A62E-7B2A774A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333" y="3264644"/>
            <a:ext cx="5589667" cy="3593357"/>
          </a:xfrm>
          <a:prstGeom prst="rect">
            <a:avLst/>
          </a:prstGeom>
        </p:spPr>
      </p:pic>
      <p:pic>
        <p:nvPicPr>
          <p:cNvPr id="6" name="Picture 5" descr="A map of the world&#10;&#10;AI-generated content may be incorrect.">
            <a:extLst>
              <a:ext uri="{FF2B5EF4-FFF2-40B4-BE49-F238E27FC236}">
                <a16:creationId xmlns:a16="http://schemas.microsoft.com/office/drawing/2014/main" id="{D704C462-AFD0-A176-7B6B-6CDD7A0B7E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2200"/>
            <a:ext cx="48387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75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8C68-C84F-DAC0-CDC0-E08190EC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</a:t>
            </a:r>
            <a:endParaRPr lang="en-BE" dirty="0"/>
          </a:p>
        </p:txBody>
      </p:sp>
      <p:pic>
        <p:nvPicPr>
          <p:cNvPr id="4" name="Picture 3" descr="A close-up of a television screen&#10;&#10;Description automatically generated">
            <a:extLst>
              <a:ext uri="{FF2B5EF4-FFF2-40B4-BE49-F238E27FC236}">
                <a16:creationId xmlns:a16="http://schemas.microsoft.com/office/drawing/2014/main" id="{07A1E09F-3940-B724-8384-3D63C449B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150" y="2280205"/>
            <a:ext cx="4212670" cy="42126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F9DBFD-C0F3-B9A4-7412-AA64294C89CF}"/>
              </a:ext>
            </a:extLst>
          </p:cNvPr>
          <p:cNvSpPr txBox="1"/>
          <p:nvPr/>
        </p:nvSpPr>
        <p:spPr>
          <a:xfrm>
            <a:off x="789992" y="1690688"/>
            <a:ext cx="58914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correlation between numbers (samples)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Any number can come after any number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508807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5F64-1E42-6B66-4126-3FFAEEE1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noise</a:t>
            </a:r>
            <a:endParaRPr lang="en-BE" dirty="0"/>
          </a:p>
        </p:txBody>
      </p:sp>
      <p:pic>
        <p:nvPicPr>
          <p:cNvPr id="4" name="Picture 3" descr="A close-up of a cloud&#10;&#10;Description automatically generated">
            <a:extLst>
              <a:ext uri="{FF2B5EF4-FFF2-40B4-BE49-F238E27FC236}">
                <a16:creationId xmlns:a16="http://schemas.microsoft.com/office/drawing/2014/main" id="{6721EB2D-0522-19A0-0D49-D3C8F5A06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360" y="1345163"/>
            <a:ext cx="4733440" cy="4733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CE3EDA-8F73-25D9-9281-E742C498D640}"/>
              </a:ext>
            </a:extLst>
          </p:cNvPr>
          <p:cNvSpPr txBox="1"/>
          <p:nvPr/>
        </p:nvSpPr>
        <p:spPr>
          <a:xfrm>
            <a:off x="578498" y="1611085"/>
            <a:ext cx="5378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Interpolates between random numbers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427006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E783-2215-06BB-5BEF-C56517B9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Noise</a:t>
            </a:r>
            <a:endParaRPr lang="en-BE" dirty="0"/>
          </a:p>
        </p:txBody>
      </p:sp>
      <p:pic>
        <p:nvPicPr>
          <p:cNvPr id="4" name="Picture 3" descr="A grid of red dots&#10;&#10;Description automatically generated">
            <a:extLst>
              <a:ext uri="{FF2B5EF4-FFF2-40B4-BE49-F238E27FC236}">
                <a16:creationId xmlns:a16="http://schemas.microsoft.com/office/drawing/2014/main" id="{C7EAFD00-445C-A5DA-567F-950E75191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25" y="2188029"/>
            <a:ext cx="5057775" cy="4572000"/>
          </a:xfrm>
          <a:prstGeom prst="rect">
            <a:avLst/>
          </a:prstGeom>
        </p:spPr>
      </p:pic>
      <p:pic>
        <p:nvPicPr>
          <p:cNvPr id="6" name="Picture 5" descr="A graph with numbers and points&#10;&#10;Description automatically generated">
            <a:extLst>
              <a:ext uri="{FF2B5EF4-FFF2-40B4-BE49-F238E27FC236}">
                <a16:creationId xmlns:a16="http://schemas.microsoft.com/office/drawing/2014/main" id="{9C441022-A7E9-6053-C264-8502C4D7E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410" y="99817"/>
            <a:ext cx="5057775" cy="2714625"/>
          </a:xfrm>
          <a:prstGeom prst="rect">
            <a:avLst/>
          </a:prstGeom>
        </p:spPr>
      </p:pic>
      <p:pic>
        <p:nvPicPr>
          <p:cNvPr id="8" name="Picture 7" descr="A graph with red dots&#10;&#10;Description automatically generated">
            <a:extLst>
              <a:ext uri="{FF2B5EF4-FFF2-40B4-BE49-F238E27FC236}">
                <a16:creationId xmlns:a16="http://schemas.microsoft.com/office/drawing/2014/main" id="{ACBE2A56-3A32-0B15-7D0E-54EFB7200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410" y="3254051"/>
            <a:ext cx="50577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62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4B15-EA2A-B570-61F6-7F9613C16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Noise</a:t>
            </a:r>
            <a:endParaRPr lang="en-BE" dirty="0"/>
          </a:p>
        </p:txBody>
      </p:sp>
      <p:pic>
        <p:nvPicPr>
          <p:cNvPr id="3" name="Picture 2" descr="A white and black wavy object&#10;&#10;Description automatically generated">
            <a:extLst>
              <a:ext uri="{FF2B5EF4-FFF2-40B4-BE49-F238E27FC236}">
                <a16:creationId xmlns:a16="http://schemas.microsoft.com/office/drawing/2014/main" id="{85B790E3-1790-5BB9-CC36-93CF6AB9F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714" y="2700141"/>
            <a:ext cx="8036767" cy="4520681"/>
          </a:xfrm>
          <a:prstGeom prst="rect">
            <a:avLst/>
          </a:prstGeom>
        </p:spPr>
      </p:pic>
      <p:pic>
        <p:nvPicPr>
          <p:cNvPr id="4" name="Picture 3" descr="A close-up of a cloud&#10;&#10;Description automatically generated">
            <a:extLst>
              <a:ext uri="{FF2B5EF4-FFF2-40B4-BE49-F238E27FC236}">
                <a16:creationId xmlns:a16="http://schemas.microsoft.com/office/drawing/2014/main" id="{9A2C03FB-4A4B-A5DD-99D2-E1DA574789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707" y="2089035"/>
            <a:ext cx="4733440" cy="4733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8BE5E3-FAD5-8D30-B754-151342AAB7C2}"/>
              </a:ext>
            </a:extLst>
          </p:cNvPr>
          <p:cNvSpPr txBox="1"/>
          <p:nvPr/>
        </p:nvSpPr>
        <p:spPr>
          <a:xfrm>
            <a:off x="1356049" y="1573763"/>
            <a:ext cx="38885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Getting somewhere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Too smooth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Equally chunky everywhere</a:t>
            </a:r>
          </a:p>
        </p:txBody>
      </p:sp>
    </p:spTree>
    <p:extLst>
      <p:ext uri="{BB962C8B-B14F-4D97-AF65-F5344CB8AC3E}">
        <p14:creationId xmlns:p14="http://schemas.microsoft.com/office/powerpoint/2010/main" val="3577584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1FE6-0843-80A6-E86A-3ED1492D7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noise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9EC05-1E35-FD62-B901-12776CC6EC40}"/>
              </a:ext>
            </a:extLst>
          </p:cNvPr>
          <p:cNvSpPr txBox="1"/>
          <p:nvPr/>
        </p:nvSpPr>
        <p:spPr>
          <a:xfrm>
            <a:off x="740229" y="1592424"/>
            <a:ext cx="66992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Perlin noise : the original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Often interchangeable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Value noise is usually better, especially on the </a:t>
            </a:r>
            <a:r>
              <a:rPr lang="en-US" sz="2400" dirty="0" err="1"/>
              <a:t>gpu</a:t>
            </a:r>
            <a:endParaRPr lang="en-BE" sz="2400" dirty="0"/>
          </a:p>
        </p:txBody>
      </p:sp>
      <p:pic>
        <p:nvPicPr>
          <p:cNvPr id="5" name="Picture 4" descr="A close-up of a vase&#10;&#10;Description automatically generated">
            <a:extLst>
              <a:ext uri="{FF2B5EF4-FFF2-40B4-BE49-F238E27FC236}">
                <a16:creationId xmlns:a16="http://schemas.microsoft.com/office/drawing/2014/main" id="{EAE8499E-CA5B-7A80-746F-DBAA97B61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807" y="2917987"/>
            <a:ext cx="4807193" cy="406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00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7418-7E6A-866B-8FCA-A1714D7C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it better : </a:t>
            </a:r>
            <a:r>
              <a:rPr lang="en-US" dirty="0" err="1"/>
              <a:t>fBm</a:t>
            </a:r>
            <a:endParaRPr lang="en-BE" dirty="0"/>
          </a:p>
        </p:txBody>
      </p:sp>
      <p:pic>
        <p:nvPicPr>
          <p:cNvPr id="4" name="Picture 3" descr="A mountain range with trees and clouds&#10;&#10;Description automatically generated with medium confidence">
            <a:extLst>
              <a:ext uri="{FF2B5EF4-FFF2-40B4-BE49-F238E27FC236}">
                <a16:creationId xmlns:a16="http://schemas.microsoft.com/office/drawing/2014/main" id="{F0524EAA-CBF3-9A9B-7647-E7AB4976D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548363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94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A068-CEDF-4845-E4AA-B61CDBD3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fBm</a:t>
            </a:r>
            <a:r>
              <a:rPr lang="en-US" dirty="0"/>
              <a:t>: fractal Brownian Motion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8E91F-4D97-F365-2A2A-E884E328F8F2}"/>
              </a:ext>
            </a:extLst>
          </p:cNvPr>
          <p:cNvSpPr txBox="1"/>
          <p:nvPr/>
        </p:nvSpPr>
        <p:spPr>
          <a:xfrm>
            <a:off x="367004" y="1517779"/>
            <a:ext cx="90356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Add several layers value noise (like we did with sine waves)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Make each layer smaller, in all dimensions </a:t>
            </a:r>
            <a:endParaRPr lang="en-BE" sz="2800" dirty="0"/>
          </a:p>
        </p:txBody>
      </p:sp>
      <p:pic>
        <p:nvPicPr>
          <p:cNvPr id="7" name="Picture 6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C5C6F56E-2805-BF3E-6418-ED289B077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97" y="2338874"/>
            <a:ext cx="5247153" cy="43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359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A880-2EB7-D5FC-4625-FD34E14C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174B-C0BE-530E-5A57-7BC0E405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CEB7E-1551-59A7-6C0E-5409423599BA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Introduction to procedural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Simple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Complex functions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Infinite terrain</a:t>
            </a:r>
          </a:p>
        </p:txBody>
      </p:sp>
    </p:spTree>
    <p:extLst>
      <p:ext uri="{BB962C8B-B14F-4D97-AF65-F5344CB8AC3E}">
        <p14:creationId xmlns:p14="http://schemas.microsoft.com/office/powerpoint/2010/main" val="1035451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6C17-02CB-E72E-5F59-89249738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Voronoi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0094E-6339-D405-08D3-9775FC25E982}"/>
              </a:ext>
            </a:extLst>
          </p:cNvPr>
          <p:cNvSpPr txBox="1"/>
          <p:nvPr/>
        </p:nvSpPr>
        <p:spPr>
          <a:xfrm>
            <a:off x="765111" y="1492897"/>
            <a:ext cx="46499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 random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Assign random value to point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Sample: take closest point’s value</a:t>
            </a:r>
            <a:endParaRPr lang="en-BE" sz="2400" dirty="0"/>
          </a:p>
        </p:txBody>
      </p:sp>
      <p:pic>
        <p:nvPicPr>
          <p:cNvPr id="5" name="Picture 4" descr="A black and white grid with dots&#10;&#10;Description automatically generated">
            <a:extLst>
              <a:ext uri="{FF2B5EF4-FFF2-40B4-BE49-F238E27FC236}">
                <a16:creationId xmlns:a16="http://schemas.microsoft.com/office/drawing/2014/main" id="{369B0448-A98B-B9C3-F256-FFF8E8692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4" y="3103982"/>
            <a:ext cx="6459894" cy="3229947"/>
          </a:xfrm>
          <a:prstGeom prst="rect">
            <a:avLst/>
          </a:prstGeom>
        </p:spPr>
      </p:pic>
      <p:pic>
        <p:nvPicPr>
          <p:cNvPr id="7" name="Picture 6" descr="A colorful background with black dots&#10;&#10;Description automatically generated">
            <a:extLst>
              <a:ext uri="{FF2B5EF4-FFF2-40B4-BE49-F238E27FC236}">
                <a16:creationId xmlns:a16="http://schemas.microsoft.com/office/drawing/2014/main" id="{4202D79D-36AF-8EB5-4031-2E360E69A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279" y="2169155"/>
            <a:ext cx="4164774" cy="41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28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F6B4-1896-9F2E-8439-1F5CF1AF6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Voronoi applications</a:t>
            </a:r>
            <a:endParaRPr lang="en-BE" dirty="0"/>
          </a:p>
        </p:txBody>
      </p:sp>
      <p:pic>
        <p:nvPicPr>
          <p:cNvPr id="4" name="Picture 3" descr="A close up of a stone path&#10;&#10;Description automatically generated">
            <a:extLst>
              <a:ext uri="{FF2B5EF4-FFF2-40B4-BE49-F238E27FC236}">
                <a16:creationId xmlns:a16="http://schemas.microsoft.com/office/drawing/2014/main" id="{8B4C9887-0CA6-0FB1-17D1-95180EBB5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19" y="1642188"/>
            <a:ext cx="4582304" cy="3432305"/>
          </a:xfrm>
          <a:prstGeom prst="rect">
            <a:avLst/>
          </a:prstGeom>
        </p:spPr>
      </p:pic>
      <p:pic>
        <p:nvPicPr>
          <p:cNvPr id="6" name="Picture 5" descr="A collage of animals&#10;&#10;Description automatically generated">
            <a:extLst>
              <a:ext uri="{FF2B5EF4-FFF2-40B4-BE49-F238E27FC236}">
                <a16:creationId xmlns:a16="http://schemas.microsoft.com/office/drawing/2014/main" id="{B8C31311-F4C6-B1AB-CDCF-A86554FD6D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657" y="2009191"/>
            <a:ext cx="5771688" cy="422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989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93E4-FAFF-1974-FBAC-592296EC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 Systems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BAAF3-09F2-8FEE-8384-287D48B89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719" y="1281404"/>
            <a:ext cx="7461600" cy="526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628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AC84-D33A-5648-D119-8E08A094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 Systems</a:t>
            </a:r>
            <a:endParaRPr lang="en-BE" dirty="0"/>
          </a:p>
        </p:txBody>
      </p:sp>
      <p:pic>
        <p:nvPicPr>
          <p:cNvPr id="4" name="Picture 3" descr="Several trees on the ground&#10;&#10;Description automatically generated">
            <a:extLst>
              <a:ext uri="{FF2B5EF4-FFF2-40B4-BE49-F238E27FC236}">
                <a16:creationId xmlns:a16="http://schemas.microsoft.com/office/drawing/2014/main" id="{91CC3AB0-5CF0-28E6-F960-4B24CEE58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21" y="583"/>
            <a:ext cx="5400583" cy="3878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D0E888-E29C-2E69-3A3D-F159B39C4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30" y="2258008"/>
            <a:ext cx="6262295" cy="414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10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Tiny Glade - Official Trailer | gamescom 2023">
            <a:hlinkClick r:id="" action="ppaction://media"/>
            <a:extLst>
              <a:ext uri="{FF2B5EF4-FFF2-40B4-BE49-F238E27FC236}">
                <a16:creationId xmlns:a16="http://schemas.microsoft.com/office/drawing/2014/main" id="{832C0061-AF2F-C5B9-FCB3-CF08C3316DE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-15248"/>
            <a:ext cx="12165013" cy="687324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1765776-FBFD-B129-BF62-D43D5F10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3963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746B-DBFB-6195-3264-33670EAB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BC24-21DF-20B5-BB7F-B45DC5270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BD9E1-BED2-D073-6405-0B8606E93654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Introduction to procedural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Simple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Complex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Infinite terrain 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6721E-5000-7E19-A4CD-574B8CB44376}"/>
              </a:ext>
            </a:extLst>
          </p:cNvPr>
          <p:cNvSpPr txBox="1"/>
          <p:nvPr/>
        </p:nvSpPr>
        <p:spPr>
          <a:xfrm>
            <a:off x="1399591" y="5886450"/>
            <a:ext cx="1011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also deliberately put a mistake in these slides, prize for who finds it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69639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5D45C-3F4C-0B3F-E729-18E0EDB3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worlds</a:t>
            </a:r>
            <a:endParaRPr lang="en-BE" dirty="0"/>
          </a:p>
        </p:txBody>
      </p:sp>
      <p:pic>
        <p:nvPicPr>
          <p:cNvPr id="4" name="Picture 3" descr="A video game with squares and squares&#10;&#10;AI-generated content may be incorrect.">
            <a:extLst>
              <a:ext uri="{FF2B5EF4-FFF2-40B4-BE49-F238E27FC236}">
                <a16:creationId xmlns:a16="http://schemas.microsoft.com/office/drawing/2014/main" id="{F73A8CB3-4F21-CFF4-CC88-EDD1D08F3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5" y="1885950"/>
            <a:ext cx="88392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056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C812-8B6E-43AD-C753-A0236229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 an infinite world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5CE9F-2C77-808B-C2FD-AA5FF481F42B}"/>
              </a:ext>
            </a:extLst>
          </p:cNvPr>
          <p:cNvSpPr txBox="1"/>
          <p:nvPr/>
        </p:nvSpPr>
        <p:spPr>
          <a:xfrm>
            <a:off x="628650" y="2143125"/>
            <a:ext cx="75562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But we only have a finite … something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What is keeping us from having infinite chunks?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4357707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0B68-4E5A-5D2A-AEB1-CF6BF8DD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whiteboard for a bit, see if we get there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2071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4192-D938-EC79-8579-773BB1D8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limited chunks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52749-8974-1515-AB9F-991B22DA50CD}"/>
              </a:ext>
            </a:extLst>
          </p:cNvPr>
          <p:cNvSpPr txBox="1"/>
          <p:nvPr/>
        </p:nvSpPr>
        <p:spPr>
          <a:xfrm>
            <a:off x="971550" y="1690688"/>
            <a:ext cx="805848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are limited on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are limited on render time (framerate)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want a limited amount of chunks (</a:t>
            </a:r>
            <a:r>
              <a:rPr lang="en-US" sz="3200" dirty="0" err="1"/>
              <a:t>eg</a:t>
            </a:r>
            <a:r>
              <a:rPr lang="en-US" sz="3200" dirty="0"/>
              <a:t> 100)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Which chunks?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36879208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7C8-D40C-9ACC-79AD-E57B6030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365125"/>
            <a:ext cx="11020425" cy="1325563"/>
          </a:xfrm>
        </p:spPr>
        <p:txBody>
          <a:bodyPr/>
          <a:lstStyle/>
          <a:p>
            <a:r>
              <a:rPr lang="en-US" dirty="0"/>
              <a:t>We want the chunk in view, close to the camera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00EE3-74CB-1EEB-B3C2-FFDC698EF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660" y="1905000"/>
            <a:ext cx="4779752" cy="4438650"/>
          </a:xfrm>
          <a:prstGeom prst="rect">
            <a:avLst/>
          </a:prstGeom>
        </p:spPr>
      </p:pic>
      <p:pic>
        <p:nvPicPr>
          <p:cNvPr id="6" name="Picture 5" descr="A black and white camera&#10;&#10;AI-generated content may be incorrect.">
            <a:extLst>
              <a:ext uri="{FF2B5EF4-FFF2-40B4-BE49-F238E27FC236}">
                <a16:creationId xmlns:a16="http://schemas.microsoft.com/office/drawing/2014/main" id="{2045E682-E6E8-B0F5-EAAF-241DEA4B8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695092">
            <a:off x="3467192" y="3581400"/>
            <a:ext cx="1690688" cy="1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789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76A03-ED87-1A17-EA03-45C95CD4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2FA3-D102-822A-5185-E4F614CD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365125"/>
            <a:ext cx="11020425" cy="1325563"/>
          </a:xfrm>
        </p:spPr>
        <p:txBody>
          <a:bodyPr/>
          <a:lstStyle/>
          <a:p>
            <a:r>
              <a:rPr lang="en-US" dirty="0"/>
              <a:t>We want the chunk in view, close to the camera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9EF23-B866-DCF1-2065-53376E500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642" y="1294624"/>
            <a:ext cx="5620534" cy="5563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6E1D38-F189-877C-8859-7B57C03A901D}"/>
              </a:ext>
            </a:extLst>
          </p:cNvPr>
          <p:cNvSpPr txBox="1"/>
          <p:nvPr/>
        </p:nvSpPr>
        <p:spPr>
          <a:xfrm>
            <a:off x="5524892" y="2028825"/>
            <a:ext cx="6811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Distance = distance chunk (bounding box) to camera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view = bb in frustum camera 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24046628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142D-935A-98B0-1FD2-DBD700E5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69B7E-2977-D0E4-0524-E868C84CC8C8}"/>
              </a:ext>
            </a:extLst>
          </p:cNvPr>
          <p:cNvSpPr txBox="1"/>
          <p:nvPr/>
        </p:nvSpPr>
        <p:spPr>
          <a:xfrm>
            <a:off x="1181100" y="2190750"/>
            <a:ext cx="9372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Make a list of</a:t>
            </a:r>
            <a:r>
              <a:rPr lang="en-US" sz="2800" b="1" dirty="0"/>
              <a:t> </a:t>
            </a:r>
            <a:r>
              <a:rPr lang="en-US" sz="2800" dirty="0"/>
              <a:t>potential chunks (</a:t>
            </a:r>
            <a:r>
              <a:rPr lang="en-US" sz="2800" dirty="0" err="1"/>
              <a:t>eg</a:t>
            </a:r>
            <a:r>
              <a:rPr lang="en-US" sz="2800" dirty="0"/>
              <a:t> closer than 1000 units)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Give them a score (single float): how close, how much in view…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Sort them on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Compare with what you have already loaded (resident)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Remove resident chunks with a lower score than a chunk that isn’t loaded with a higher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Always keep a constant # loaded</a:t>
            </a:r>
          </a:p>
        </p:txBody>
      </p:sp>
    </p:spTree>
    <p:extLst>
      <p:ext uri="{BB962C8B-B14F-4D97-AF65-F5344CB8AC3E}">
        <p14:creationId xmlns:p14="http://schemas.microsoft.com/office/powerpoint/2010/main" val="35942698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CD6F-903B-5A47-E4A2-AEF742E3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353846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71E7-1E8A-9CD1-49B3-C859B100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8B035-7D5D-6D59-CFB3-B9F0BCBFFE8B}"/>
              </a:ext>
            </a:extLst>
          </p:cNvPr>
          <p:cNvSpPr txBox="1"/>
          <p:nvPr/>
        </p:nvSpPr>
        <p:spPr>
          <a:xfrm>
            <a:off x="1323975" y="3152775"/>
            <a:ext cx="58269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Textures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Normal maps (</a:t>
            </a:r>
            <a:r>
              <a:rPr lang="en-US" sz="2800" dirty="0" err="1"/>
              <a:t>normals</a:t>
            </a:r>
            <a:r>
              <a:rPr lang="en-US" sz="2800" dirty="0"/>
              <a:t> in a texture)</a:t>
            </a:r>
          </a:p>
        </p:txBody>
      </p:sp>
    </p:spTree>
    <p:extLst>
      <p:ext uri="{BB962C8B-B14F-4D97-AF65-F5344CB8AC3E}">
        <p14:creationId xmlns:p14="http://schemas.microsoft.com/office/powerpoint/2010/main" val="234669563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32284</TotalTime>
  <Words>1490</Words>
  <Application>Microsoft Office PowerPoint</Application>
  <PresentationFormat>Widescreen</PresentationFormat>
  <Paragraphs>244</Paragraphs>
  <Slides>50</Slides>
  <Notes>50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Last class</vt:lpstr>
      <vt:lpstr>Course schedule</vt:lpstr>
      <vt:lpstr>This class</vt:lpstr>
      <vt:lpstr>Procedural generation</vt:lpstr>
      <vt:lpstr>Example : Elevated</vt:lpstr>
      <vt:lpstr>History: Elite 1984</vt:lpstr>
      <vt:lpstr>Why did they use procedural generation?</vt:lpstr>
      <vt:lpstr>Why did they use procedural generation?</vt:lpstr>
      <vt:lpstr>Explicit vs implicit representation</vt:lpstr>
      <vt:lpstr>Quick random number recap</vt:lpstr>
      <vt:lpstr>Elder Scrolls : Daggerfall 1997 </vt:lpstr>
      <vt:lpstr>Elder scrolls : reasoning</vt:lpstr>
      <vt:lpstr>Elder scrolls : “sameyness”</vt:lpstr>
      <vt:lpstr>No man sky</vt:lpstr>
      <vt:lpstr>Dwarf fortress</vt:lpstr>
      <vt:lpstr>Kaspar’s experiment</vt:lpstr>
      <vt:lpstr>Takeaway</vt:lpstr>
      <vt:lpstr>This class</vt:lpstr>
      <vt:lpstr>So that was fun, but how does that help us?</vt:lpstr>
      <vt:lpstr>Simplest terrain: flat</vt:lpstr>
      <vt:lpstr>Simplest terrain: flat</vt:lpstr>
      <vt:lpstr>Wavy terrain: sin</vt:lpstr>
      <vt:lpstr>Build complex shapes from simple blocks</vt:lpstr>
      <vt:lpstr>Build complex shapes from simple blocks</vt:lpstr>
      <vt:lpstr>Build complex shapes from simple blocks</vt:lpstr>
      <vt:lpstr>Heightmaps</vt:lpstr>
      <vt:lpstr>Random numbers</vt:lpstr>
      <vt:lpstr>Value noise</vt:lpstr>
      <vt:lpstr>Value Noise</vt:lpstr>
      <vt:lpstr>Value Noise</vt:lpstr>
      <vt:lpstr>Other noise</vt:lpstr>
      <vt:lpstr>Making it better : fBm</vt:lpstr>
      <vt:lpstr>fBm: fractal Brownian Motion</vt:lpstr>
      <vt:lpstr>This class</vt:lpstr>
      <vt:lpstr>Voronoi </vt:lpstr>
      <vt:lpstr>Voronoi applications</vt:lpstr>
      <vt:lpstr>L Systems</vt:lpstr>
      <vt:lpstr>L Systems</vt:lpstr>
      <vt:lpstr>PowerPoint Presentation</vt:lpstr>
      <vt:lpstr>This class</vt:lpstr>
      <vt:lpstr>Infinite worlds</vt:lpstr>
      <vt:lpstr>We want an infinite world </vt:lpstr>
      <vt:lpstr>Let’s whiteboard for a bit, see if we get there</vt:lpstr>
      <vt:lpstr>We have limited chunks</vt:lpstr>
      <vt:lpstr>We want the chunk in view, close to the camera</vt:lpstr>
      <vt:lpstr>We want the chunk in view, close to the camera</vt:lpstr>
      <vt:lpstr>Heuristic</vt:lpstr>
      <vt:lpstr>Questions?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112</cp:revision>
  <dcterms:created xsi:type="dcterms:W3CDTF">2024-01-29T23:06:06Z</dcterms:created>
  <dcterms:modified xsi:type="dcterms:W3CDTF">2025-05-30T20:04:01Z</dcterms:modified>
</cp:coreProperties>
</file>