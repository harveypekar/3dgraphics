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6"/>
  </p:notesMasterIdLst>
  <p:sldIdLst>
    <p:sldId id="256" r:id="rId2"/>
    <p:sldId id="559" r:id="rId3"/>
    <p:sldId id="560" r:id="rId4"/>
    <p:sldId id="502" r:id="rId5"/>
    <p:sldId id="338" r:id="rId6"/>
    <p:sldId id="364" r:id="rId7"/>
    <p:sldId id="503" r:id="rId8"/>
    <p:sldId id="505" r:id="rId9"/>
    <p:sldId id="506" r:id="rId10"/>
    <p:sldId id="508" r:id="rId11"/>
    <p:sldId id="563" r:id="rId12"/>
    <p:sldId id="507" r:id="rId13"/>
    <p:sldId id="504" r:id="rId14"/>
    <p:sldId id="512" r:id="rId15"/>
    <p:sldId id="541" r:id="rId16"/>
    <p:sldId id="511" r:id="rId17"/>
    <p:sldId id="561" r:id="rId18"/>
    <p:sldId id="514" r:id="rId19"/>
    <p:sldId id="515" r:id="rId20"/>
    <p:sldId id="557" r:id="rId21"/>
    <p:sldId id="516" r:id="rId22"/>
    <p:sldId id="517" r:id="rId23"/>
    <p:sldId id="518" r:id="rId24"/>
    <p:sldId id="519" r:id="rId25"/>
    <p:sldId id="564" r:id="rId26"/>
    <p:sldId id="509" r:id="rId27"/>
    <p:sldId id="521" r:id="rId28"/>
    <p:sldId id="524" r:id="rId29"/>
    <p:sldId id="526" r:id="rId30"/>
    <p:sldId id="527" r:id="rId31"/>
    <p:sldId id="528" r:id="rId32"/>
    <p:sldId id="529" r:id="rId33"/>
    <p:sldId id="531" r:id="rId34"/>
    <p:sldId id="532" r:id="rId35"/>
    <p:sldId id="533" r:id="rId36"/>
    <p:sldId id="534" r:id="rId37"/>
    <p:sldId id="537" r:id="rId38"/>
    <p:sldId id="538" r:id="rId39"/>
    <p:sldId id="539" r:id="rId40"/>
    <p:sldId id="535" r:id="rId41"/>
    <p:sldId id="536" r:id="rId42"/>
    <p:sldId id="566" r:id="rId43"/>
    <p:sldId id="540" r:id="rId44"/>
    <p:sldId id="565" r:id="rId45"/>
    <p:sldId id="543" r:id="rId46"/>
    <p:sldId id="544" r:id="rId47"/>
    <p:sldId id="545" r:id="rId48"/>
    <p:sldId id="546" r:id="rId49"/>
    <p:sldId id="547" r:id="rId50"/>
    <p:sldId id="548" r:id="rId51"/>
    <p:sldId id="549" r:id="rId52"/>
    <p:sldId id="550" r:id="rId53"/>
    <p:sldId id="551" r:id="rId54"/>
    <p:sldId id="552" r:id="rId55"/>
    <p:sldId id="554" r:id="rId56"/>
    <p:sldId id="567" r:id="rId57"/>
    <p:sldId id="568" r:id="rId58"/>
    <p:sldId id="569" r:id="rId59"/>
    <p:sldId id="570" r:id="rId60"/>
    <p:sldId id="571" r:id="rId61"/>
    <p:sldId id="572" r:id="rId62"/>
    <p:sldId id="573" r:id="rId63"/>
    <p:sldId id="574" r:id="rId64"/>
    <p:sldId id="556" r:id="rId65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79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notesView">
  <p:normalViewPr horzBarState="maximized">
    <p:restoredLeft sz="18010" autoAdjust="0"/>
    <p:restoredTop sz="94660"/>
  </p:normalViewPr>
  <p:slideViewPr>
    <p:cSldViewPr snapToGrid="0">
      <p:cViewPr varScale="1">
        <p:scale>
          <a:sx n="154" d="100"/>
          <a:sy n="154" d="100"/>
        </p:scale>
        <p:origin x="174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5" d="100"/>
          <a:sy n="125" d="100"/>
        </p:scale>
        <p:origin x="471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484BD-A9A3-4CBB-88D6-39267B7F5B46}" type="datetimeFigureOut">
              <a:rPr lang="en-BE" smtClean="0"/>
              <a:t>04/04/2025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7F9D2B-EF00-4575-9013-113DEEFD58F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08350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8753235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038762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3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99012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359799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89837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350240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7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025434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8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365529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9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3888335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Ok, so the whole gist of it is, is that a texture (image) is a 2D grid of color values</a:t>
            </a:r>
          </a:p>
          <a:p>
            <a:r>
              <a:rPr lang="en-US" dirty="0"/>
              <a:t>To access these color values, we need an index. But we don’t use integer indices</a:t>
            </a:r>
          </a:p>
          <a:p>
            <a:r>
              <a:rPr lang="en-US" dirty="0"/>
              <a:t>In the context of textures, we use floats, and we call them coordinate. The coordinates go from 0 to 1 in each dimension</a:t>
            </a:r>
          </a:p>
          <a:p>
            <a:r>
              <a:rPr lang="en-US" dirty="0"/>
              <a:t>An example would be the coordinate (0,0). This would fetch the bottom left color value</a:t>
            </a:r>
          </a:p>
          <a:p>
            <a:endParaRPr lang="en-US" dirty="0"/>
          </a:p>
          <a:p>
            <a:r>
              <a:rPr lang="en-US" dirty="0"/>
              <a:t>Do understand the images below. They’re quite simple: they’re visualizing the x coordinate in red, and the y coordinate in green over a square.  In 3D graphics, we’re often visualizing a ton of data in space, and it can be very useful to use color for that. 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10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2609600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people make models, they need to put </a:t>
            </a:r>
            <a:r>
              <a:rPr lang="en-US" dirty="0" err="1"/>
              <a:t>uv</a:t>
            </a:r>
            <a:r>
              <a:rPr lang="en-US" dirty="0"/>
              <a:t> coordinates in the vertices, so we can figure out where parts of the texture goes.</a:t>
            </a:r>
          </a:p>
          <a:p>
            <a:endParaRPr lang="en-US" dirty="0"/>
          </a:p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7205256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plane has obvious texture coordinates, and when we put the world map on the plane using these coordinates, it looks like we expect</a:t>
            </a:r>
          </a:p>
          <a:p>
            <a:endParaRPr lang="en-US" dirty="0"/>
          </a:p>
          <a:p>
            <a:r>
              <a:rPr lang="en-US" dirty="0"/>
              <a:t>On the cylinder, we have the same world map, but it’s wrapped around the geometry.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718881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guess we’ve always known how this works, just the other way around</a:t>
            </a:r>
          </a:p>
          <a:p>
            <a:endParaRPr lang="en-US" dirty="0"/>
          </a:p>
          <a:p>
            <a:r>
              <a:rPr lang="en-US" dirty="0"/>
              <a:t>A model is 3 dimensional, but a texture is 2 dimensional</a:t>
            </a:r>
          </a:p>
          <a:p>
            <a:endParaRPr lang="en-US" dirty="0"/>
          </a:p>
          <a:p>
            <a:r>
              <a:rPr lang="en-US" dirty="0"/>
              <a:t>Our vertices, with 3 dimensional positions, have another set of coordinates, in 2D, called </a:t>
            </a:r>
            <a:r>
              <a:rPr lang="en-US" dirty="0" err="1"/>
              <a:t>uv</a:t>
            </a:r>
            <a:r>
              <a:rPr lang="en-US" dirty="0"/>
              <a:t> coordinates. We need those so we know where our 2D texture goes in 3D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13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2714441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code, this is dead simple </a:t>
            </a:r>
          </a:p>
          <a:p>
            <a:endParaRPr lang="en-US" dirty="0"/>
          </a:p>
          <a:p>
            <a:r>
              <a:rPr lang="en-US" dirty="0"/>
              <a:t>We have a texture, which is the 2D array of color values</a:t>
            </a:r>
          </a:p>
          <a:p>
            <a:endParaRPr lang="en-US" dirty="0"/>
          </a:p>
          <a:p>
            <a:r>
              <a:rPr lang="en-US" dirty="0"/>
              <a:t>We also have a sampler. A sampler we’ll see later, but we need a sampler to get use our coordinates to access the texture 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778007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bad example. But imagine we would have a 3D model of the </a:t>
            </a:r>
            <a:r>
              <a:rPr lang="en-US" dirty="0" err="1"/>
              <a:t>cybertruck</a:t>
            </a:r>
            <a:r>
              <a:rPr lang="en-US" dirty="0"/>
              <a:t>. We would only need very few triangles to store the geometry (position of the triangles)</a:t>
            </a:r>
          </a:p>
          <a:p>
            <a:endParaRPr lang="en-US" dirty="0"/>
          </a:p>
          <a:p>
            <a:r>
              <a:rPr lang="en-US" dirty="0"/>
              <a:t>The graffiti, we would need a big texture to capture all the detail and the curved lines.</a:t>
            </a:r>
          </a:p>
          <a:p>
            <a:endParaRPr lang="en-US" dirty="0"/>
          </a:p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3154802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98150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17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006592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18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684254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1D textures are almost exactly the same as 2D textures, but the coordinate is just a simple float</a:t>
            </a:r>
          </a:p>
          <a:p>
            <a:endParaRPr lang="en-US" dirty="0"/>
          </a:p>
          <a:p>
            <a:r>
              <a:rPr lang="en-US" dirty="0"/>
              <a:t>This is often used as a lookup table : for example, what is the color of the sun over a 24 hour period.</a:t>
            </a:r>
          </a:p>
          <a:p>
            <a:endParaRPr lang="en-US" dirty="0"/>
          </a:p>
          <a:p>
            <a:r>
              <a:rPr lang="en-US" dirty="0"/>
              <a:t>The texture above could be made to make an incorrect rainbow: a rainbow changes color top to bottom, but not left to right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19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864196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shows how the color of a light changes with it’s temperature (not exactly the same as air temperature) changes. When you’re shopping for a lightbulb, you’ll see these numbers pop up as well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20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136541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3D textures are similarly straightforward. They are a stack of 2D textures, all of the same size, and are accessed using 3D coordinates.</a:t>
            </a:r>
          </a:p>
          <a:p>
            <a:endParaRPr lang="en-US" dirty="0"/>
          </a:p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21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35424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Another example of 3D textures: presenting results from medical scans. Scans work in “slices”, basically a 2D scan slicing through the object. The scanner then mover a small distance and doing it again, create a stack of 2D scans</a:t>
            </a:r>
          </a:p>
          <a:p>
            <a:endParaRPr lang="en-US" dirty="0"/>
          </a:p>
          <a:p>
            <a:r>
              <a:rPr lang="en-US" dirty="0"/>
              <a:t>Medical visualization is actually a good example of </a:t>
            </a:r>
            <a:r>
              <a:rPr lang="en-US" dirty="0" err="1"/>
              <a:t>realtime</a:t>
            </a:r>
            <a:r>
              <a:rPr lang="en-US" dirty="0"/>
              <a:t> 3D graphics outside of games. It’s not easy to make comprehensible visualizations about such big and complicated datasets.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22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656346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Cube textures are maybe the hardest. Imagine you stand in the middle of a room. Take a (square) picture of each wall,  and the floor and ceiling. Now paste them on the inside of a box. That’s exactly what cube textures are.</a:t>
            </a:r>
          </a:p>
          <a:p>
            <a:endParaRPr lang="en-US" dirty="0"/>
          </a:p>
          <a:p>
            <a:r>
              <a:rPr lang="en-US" dirty="0"/>
              <a:t>It also works inside out. You can take 6 pictures of a dice, and paste them on the outside of a box. </a:t>
            </a:r>
          </a:p>
          <a:p>
            <a:endParaRPr lang="en-US" dirty="0"/>
          </a:p>
          <a:p>
            <a:r>
              <a:rPr lang="en-US" dirty="0"/>
              <a:t>The ‘inside’ </a:t>
            </a:r>
            <a:r>
              <a:rPr lang="en-US" dirty="0" err="1"/>
              <a:t>usecase</a:t>
            </a:r>
            <a:r>
              <a:rPr lang="en-US" dirty="0"/>
              <a:t> is very common, often used to provide sky in a scene</a:t>
            </a:r>
          </a:p>
          <a:p>
            <a:endParaRPr lang="en-US" dirty="0"/>
          </a:p>
          <a:p>
            <a:r>
              <a:rPr lang="en-US" dirty="0"/>
              <a:t>The ‘outside’ </a:t>
            </a:r>
            <a:r>
              <a:rPr lang="en-US" dirty="0" err="1"/>
              <a:t>usecase</a:t>
            </a:r>
            <a:r>
              <a:rPr lang="en-US" dirty="0"/>
              <a:t> is a perfect fit for Minecraft blocks ;)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23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7109716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24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909268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25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127928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26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207588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otherwise there would be seam between </a:t>
            </a:r>
            <a:r>
              <a:rPr lang="en-US" dirty="0" err="1"/>
              <a:t>repititions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27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1585246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28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8345504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29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1074963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30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1500461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Textures tend to take up double the space of geometry. In a AAA game, that can be more than 100Gb</a:t>
            </a:r>
          </a:p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31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7933975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32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0170518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33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8123365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questions we’re asking here, is, if we ask for the color of a texture, but we’re not giving a coordinate in the center of a pixel, what will the value be?</a:t>
            </a:r>
            <a:endParaRPr lang="en-BE" dirty="0"/>
          </a:p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34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0405447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35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4288521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36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77674028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37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9217250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38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2858456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39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99551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40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8589435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41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9797342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42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6345099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43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33001113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44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1510327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45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4854930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It’s very important to note that the geometry on the left is just triangles. It ‘seems’ that there’s a bunch of rivets and other detail, but that’s only because we’re changing the </a:t>
            </a:r>
            <a:r>
              <a:rPr lang="en-US" dirty="0" err="1"/>
              <a:t>normals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46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96738600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47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6947129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48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6870977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49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8571982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50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2930520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image : triangle </a:t>
            </a:r>
            <a:r>
              <a:rPr lang="en-US" dirty="0" err="1"/>
              <a:t>normals</a:t>
            </a:r>
            <a:r>
              <a:rPr lang="en-US" dirty="0"/>
              <a:t>. The normal is constant (the same) over an entire triangle. Doesn’t seem very round.</a:t>
            </a:r>
          </a:p>
          <a:p>
            <a:r>
              <a:rPr lang="en-US" dirty="0"/>
              <a:t>Right image : vertex normal. The normal is interpolated over the triangle, so the geometry seems more smooth than it really is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51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96022398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Black : the actual geometry of the mesh</a:t>
            </a:r>
          </a:p>
          <a:p>
            <a:r>
              <a:rPr lang="en-US" dirty="0"/>
              <a:t>Red : the vertex normal that we added to our mesh</a:t>
            </a:r>
          </a:p>
          <a:p>
            <a:r>
              <a:rPr lang="en-US" dirty="0"/>
              <a:t>Orange: the interpolated vertex normal calculated by the rasterizer</a:t>
            </a:r>
          </a:p>
          <a:p>
            <a:r>
              <a:rPr lang="en-US" dirty="0"/>
              <a:t>Green : what the geometry looks like when using the interpolated </a:t>
            </a:r>
            <a:r>
              <a:rPr lang="en-US" dirty="0" err="1"/>
              <a:t>normals</a:t>
            </a:r>
            <a:r>
              <a:rPr lang="en-US" dirty="0"/>
              <a:t> for shading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52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25709305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create a texture, that has normal in it. We use those to “push” the interpolated vertex normal. This means we have smaller scale geometry (</a:t>
            </a:r>
            <a:r>
              <a:rPr lang="en-US" dirty="0" err="1"/>
              <a:t>eg</a:t>
            </a:r>
            <a:r>
              <a:rPr lang="en-US" dirty="0"/>
              <a:t> bumps) that what the actual triangles allow. 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53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2961308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another example. On the right, the geometry is still a smooth cylinder, but the normal map (specially, the lighting on the cylinder) give the impression of a lot more detail.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54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8749471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It’s because the default normal points directly off the surface. The surface goes in X and Y, so the normal is Z. It’s (0,0,1)</a:t>
            </a:r>
          </a:p>
          <a:p>
            <a:endParaRPr lang="en-US" dirty="0"/>
          </a:p>
          <a:p>
            <a:r>
              <a:rPr lang="en-US" dirty="0"/>
              <a:t>But that’s blue! Why purple?</a:t>
            </a:r>
          </a:p>
          <a:p>
            <a:endParaRPr lang="en-US" dirty="0"/>
          </a:p>
          <a:p>
            <a:r>
              <a:rPr lang="en-US" dirty="0"/>
              <a:t>Well, normal go from -1 to 1 in each dimension. But textures go from 0 to 1. So we remap the </a:t>
            </a:r>
            <a:r>
              <a:rPr lang="en-US" dirty="0" err="1"/>
              <a:t>normals</a:t>
            </a:r>
            <a:r>
              <a:rPr lang="en-US" dirty="0"/>
              <a:t> by adding 1, and dividing by 2.</a:t>
            </a:r>
          </a:p>
          <a:p>
            <a:endParaRPr lang="en-US" dirty="0"/>
          </a:p>
          <a:p>
            <a:r>
              <a:rPr lang="en-US" dirty="0"/>
              <a:t>((0,0,1) + 1) / 2 = (0.5, 0.5, 1.0) = purple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55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0449403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56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9332579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real world, we have artists create both a model with a lot of triangles, and a model with a low amount of triangles.</a:t>
            </a:r>
          </a:p>
          <a:p>
            <a:endParaRPr lang="en-US" dirty="0"/>
          </a:p>
          <a:p>
            <a:r>
              <a:rPr lang="en-US" dirty="0"/>
              <a:t>We can use the difference between the two to generate a height map(the difference between the high and the low resolution mesh).</a:t>
            </a:r>
          </a:p>
          <a:p>
            <a:endParaRPr lang="en-US" dirty="0"/>
          </a:p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57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9635554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58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1100684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tries to calculate the normal at a point A</a:t>
            </a:r>
          </a:p>
          <a:p>
            <a:r>
              <a:rPr lang="en-US" dirty="0"/>
              <a:t>It first creates a point B</a:t>
            </a:r>
          </a:p>
          <a:p>
            <a:r>
              <a:rPr lang="en-US" dirty="0"/>
              <a:t>It then creates the vector (B-A)</a:t>
            </a:r>
          </a:p>
          <a:p>
            <a:endParaRPr lang="en-US" dirty="0"/>
          </a:p>
          <a:p>
            <a:r>
              <a:rPr lang="en-US" dirty="0"/>
              <a:t>But we’re doing this in 2 dimensions. We choose B on the x axis, and a C on the y axis</a:t>
            </a:r>
          </a:p>
          <a:p>
            <a:endParaRPr lang="en-US" dirty="0"/>
          </a:p>
          <a:p>
            <a:r>
              <a:rPr lang="en-US" dirty="0"/>
              <a:t>Now that we have (B-A) and (C-A), we can use the cross product  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59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7870516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clarifies how you create the point. </a:t>
            </a:r>
          </a:p>
          <a:p>
            <a:endParaRPr lang="en-US" dirty="0"/>
          </a:p>
          <a:p>
            <a:r>
              <a:rPr lang="en-US" dirty="0"/>
              <a:t>A is where your </a:t>
            </a:r>
            <a:r>
              <a:rPr lang="en-US" dirty="0" err="1"/>
              <a:t>uv</a:t>
            </a:r>
            <a:r>
              <a:rPr lang="en-US" dirty="0"/>
              <a:t> coordinate is, so vec3(u, v, ?)</a:t>
            </a:r>
          </a:p>
          <a:p>
            <a:r>
              <a:rPr lang="en-US" dirty="0"/>
              <a:t>We get the third component by using the height value in the texture, so vec3(u, v, h)</a:t>
            </a:r>
          </a:p>
          <a:p>
            <a:endParaRPr lang="en-US" dirty="0"/>
          </a:p>
          <a:p>
            <a:r>
              <a:rPr lang="en-US" dirty="0"/>
              <a:t>The location of B we choose ourself. We almost always want to use the next pixel. If this texture is 20x20 pixels, we can use (u+0.05, v, h). H here is the value at the new pixels.</a:t>
            </a:r>
          </a:p>
          <a:p>
            <a:endParaRPr lang="en-US" dirty="0"/>
          </a:p>
          <a:p>
            <a:r>
              <a:rPr lang="en-US" dirty="0"/>
              <a:t>Do the same fox C, but in the Y dimension.</a:t>
            </a:r>
          </a:p>
          <a:p>
            <a:endParaRPr lang="en-US" dirty="0"/>
          </a:p>
          <a:p>
            <a:r>
              <a:rPr lang="en-US" dirty="0"/>
              <a:t>With your 3 positions, you can construct the normal</a:t>
            </a:r>
          </a:p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60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5013700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61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5264861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previous method doesn’t work, because we can’t access multiple vertices in our shaders 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62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99389654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63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59835513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64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99966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41A99A4F-35CE-47F0-8C3E-203AE0949D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6640" y="203420"/>
            <a:ext cx="3297850" cy="1261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Ondertitel 2">
            <a:extLst>
              <a:ext uri="{FF2B5EF4-FFF2-40B4-BE49-F238E27FC236}">
                <a16:creationId xmlns:a16="http://schemas.microsoft.com/office/drawing/2014/main" id="{7A68A714-4E45-4A04-B828-B282FA62E7BB}"/>
              </a:ext>
            </a:extLst>
          </p:cNvPr>
          <p:cNvSpPr txBox="1">
            <a:spLocks/>
          </p:cNvSpPr>
          <p:nvPr/>
        </p:nvSpPr>
        <p:spPr>
          <a:xfrm>
            <a:off x="1450282" y="5343926"/>
            <a:ext cx="4074659" cy="5547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dirty="0"/>
          </a:p>
        </p:txBody>
      </p:sp>
      <p:sp>
        <p:nvSpPr>
          <p:cNvPr id="28" name="Ondertitel 2">
            <a:extLst>
              <a:ext uri="{FF2B5EF4-FFF2-40B4-BE49-F238E27FC236}">
                <a16:creationId xmlns:a16="http://schemas.microsoft.com/office/drawing/2014/main" id="{8A446F7F-F106-4612-85BC-FC020C0B34DC}"/>
              </a:ext>
            </a:extLst>
          </p:cNvPr>
          <p:cNvSpPr txBox="1">
            <a:spLocks/>
          </p:cNvSpPr>
          <p:nvPr/>
        </p:nvSpPr>
        <p:spPr>
          <a:xfrm>
            <a:off x="1450282" y="5898693"/>
            <a:ext cx="4074659" cy="5547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dirty="0"/>
          </a:p>
        </p:txBody>
      </p:sp>
      <p:sp>
        <p:nvSpPr>
          <p:cNvPr id="36" name="Ondertitel 2">
            <a:extLst>
              <a:ext uri="{FF2B5EF4-FFF2-40B4-BE49-F238E27FC236}">
                <a16:creationId xmlns:a16="http://schemas.microsoft.com/office/drawing/2014/main" id="{DB1150AE-9B1F-43AF-B4A6-C1581C0B3127}"/>
              </a:ext>
            </a:extLst>
          </p:cNvPr>
          <p:cNvSpPr txBox="1">
            <a:spLocks/>
          </p:cNvSpPr>
          <p:nvPr/>
        </p:nvSpPr>
        <p:spPr>
          <a:xfrm>
            <a:off x="1" y="462498"/>
            <a:ext cx="1853738" cy="30980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200" dirty="0"/>
              <a:t>Toegepaste Informatica</a:t>
            </a:r>
          </a:p>
        </p:txBody>
      </p:sp>
      <p:sp>
        <p:nvSpPr>
          <p:cNvPr id="38" name="Minteken 37">
            <a:extLst>
              <a:ext uri="{FF2B5EF4-FFF2-40B4-BE49-F238E27FC236}">
                <a16:creationId xmlns:a16="http://schemas.microsoft.com/office/drawing/2014/main" id="{FFEC5E01-43EA-497E-BCC0-939DBCAFA0AC}"/>
              </a:ext>
            </a:extLst>
          </p:cNvPr>
          <p:cNvSpPr/>
          <p:nvPr/>
        </p:nvSpPr>
        <p:spPr>
          <a:xfrm rot="5400000">
            <a:off x="-183168" y="5307680"/>
            <a:ext cx="2851263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41" name="Ondertitel 2">
            <a:extLst>
              <a:ext uri="{FF2B5EF4-FFF2-40B4-BE49-F238E27FC236}">
                <a16:creationId xmlns:a16="http://schemas.microsoft.com/office/drawing/2014/main" id="{DCD259FC-79B5-41AB-BBC2-4D07C62B0949}"/>
              </a:ext>
            </a:extLst>
          </p:cNvPr>
          <p:cNvSpPr txBox="1">
            <a:spLocks/>
          </p:cNvSpPr>
          <p:nvPr/>
        </p:nvSpPr>
        <p:spPr>
          <a:xfrm>
            <a:off x="-31204" y="1442735"/>
            <a:ext cx="1481486" cy="30980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1200" kern="1200" cap="none" baseline="0" dirty="0">
              <a:solidFill>
                <a:srgbClr val="002757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2" name="Minteken 41">
            <a:extLst>
              <a:ext uri="{FF2B5EF4-FFF2-40B4-BE49-F238E27FC236}">
                <a16:creationId xmlns:a16="http://schemas.microsoft.com/office/drawing/2014/main" id="{FB0D61FF-F819-41D6-9F0E-2A87A96AF34A}"/>
              </a:ext>
            </a:extLst>
          </p:cNvPr>
          <p:cNvSpPr/>
          <p:nvPr/>
        </p:nvSpPr>
        <p:spPr>
          <a:xfrm>
            <a:off x="-353435" y="166756"/>
            <a:ext cx="2776160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43" name="Minteken 42">
            <a:extLst>
              <a:ext uri="{FF2B5EF4-FFF2-40B4-BE49-F238E27FC236}">
                <a16:creationId xmlns:a16="http://schemas.microsoft.com/office/drawing/2014/main" id="{1A9D60B7-98CA-44B4-A342-238265272E5D}"/>
              </a:ext>
            </a:extLst>
          </p:cNvPr>
          <p:cNvSpPr/>
          <p:nvPr/>
        </p:nvSpPr>
        <p:spPr>
          <a:xfrm>
            <a:off x="-221962" y="626338"/>
            <a:ext cx="1762587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44" name="Minteken 43">
            <a:extLst>
              <a:ext uri="{FF2B5EF4-FFF2-40B4-BE49-F238E27FC236}">
                <a16:creationId xmlns:a16="http://schemas.microsoft.com/office/drawing/2014/main" id="{2AD40B60-09F3-42CA-BFC7-F232D5069233}"/>
              </a:ext>
            </a:extLst>
          </p:cNvPr>
          <p:cNvSpPr/>
          <p:nvPr/>
        </p:nvSpPr>
        <p:spPr>
          <a:xfrm>
            <a:off x="-155460" y="1111987"/>
            <a:ext cx="1256606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14" name="Ondertitel 2">
            <a:extLst>
              <a:ext uri="{FF2B5EF4-FFF2-40B4-BE49-F238E27FC236}">
                <a16:creationId xmlns:a16="http://schemas.microsoft.com/office/drawing/2014/main" id="{DA9D40DB-B7E8-4A33-B5FB-9DD5105C49A1}"/>
              </a:ext>
            </a:extLst>
          </p:cNvPr>
          <p:cNvSpPr txBox="1">
            <a:spLocks/>
          </p:cNvSpPr>
          <p:nvPr/>
        </p:nvSpPr>
        <p:spPr>
          <a:xfrm>
            <a:off x="-31204" y="957086"/>
            <a:ext cx="1853738" cy="30980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1200" dirty="0"/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684198A2-C59F-4C38-9F72-765E48FA823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95855" y="4825632"/>
            <a:ext cx="1853739" cy="459582"/>
          </a:xfrm>
        </p:spPr>
        <p:txBody>
          <a:bodyPr>
            <a:normAutofit/>
          </a:bodyPr>
          <a:lstStyle>
            <a:lvl1pPr marL="0" indent="0">
              <a:buNone/>
              <a:defRPr lang="nl-NL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dirty="0"/>
              <a:t>3D Graphics</a:t>
            </a:r>
          </a:p>
        </p:txBody>
      </p:sp>
      <p:sp>
        <p:nvSpPr>
          <p:cNvPr id="29" name="Tijdelijke aanduiding voor tekst 11">
            <a:extLst>
              <a:ext uri="{FF2B5EF4-FFF2-40B4-BE49-F238E27FC236}">
                <a16:creationId xmlns:a16="http://schemas.microsoft.com/office/drawing/2014/main" id="{9B9004F5-4339-48FE-B04B-599527A635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95855" y="5411372"/>
            <a:ext cx="4594995" cy="459582"/>
          </a:xfrm>
        </p:spPr>
        <p:txBody>
          <a:bodyPr>
            <a:normAutofit/>
          </a:bodyPr>
          <a:lstStyle>
            <a:lvl1pPr marL="0" indent="0">
              <a:buNone/>
              <a:defRPr lang="nl-NL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dirty="0"/>
              <a:t>Week 1a</a:t>
            </a:r>
          </a:p>
        </p:txBody>
      </p:sp>
      <p:sp>
        <p:nvSpPr>
          <p:cNvPr id="30" name="Tijdelijke aanduiding voor tekst 11">
            <a:extLst>
              <a:ext uri="{FF2B5EF4-FFF2-40B4-BE49-F238E27FC236}">
                <a16:creationId xmlns:a16="http://schemas.microsoft.com/office/drawing/2014/main" id="{73EE6705-1665-43A1-AB37-E50C48AA3F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95855" y="5993878"/>
            <a:ext cx="4594995" cy="459582"/>
          </a:xfrm>
        </p:spPr>
        <p:txBody>
          <a:bodyPr>
            <a:normAutofit/>
          </a:bodyPr>
          <a:lstStyle>
            <a:lvl1pPr marL="0" indent="0">
              <a:buNone/>
              <a:defRPr lang="nl-NL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dirty="0"/>
              <a:t>Daan Nijs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B2803BC5-4FBF-4FFC-8CD7-56A7494327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937" y="923475"/>
            <a:ext cx="1641443" cy="303286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12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nl-NL" dirty="0"/>
              <a:t>DE</a:t>
            </a:r>
            <a:endParaRPr lang="nl-BE" dirty="0"/>
          </a:p>
        </p:txBody>
      </p:sp>
      <p:sp>
        <p:nvSpPr>
          <p:cNvPr id="32" name="Tijdelijke aanduiding voor tekst 16">
            <a:extLst>
              <a:ext uri="{FF2B5EF4-FFF2-40B4-BE49-F238E27FC236}">
                <a16:creationId xmlns:a16="http://schemas.microsoft.com/office/drawing/2014/main" id="{2F60E031-BF26-44A1-A0B6-D48454BFD9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36" y="1429630"/>
            <a:ext cx="1641443" cy="303286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12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sz="1200" kern="1200" cap="none" baseline="0" dirty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2023</a:t>
            </a:r>
          </a:p>
        </p:txBody>
      </p:sp>
      <p:pic>
        <p:nvPicPr>
          <p:cNvPr id="3" name="Picture 2" descr="A room with a white cube and red and green walls&#10;&#10;Description automatically generated">
            <a:extLst>
              <a:ext uri="{FF2B5EF4-FFF2-40B4-BE49-F238E27FC236}">
                <a16:creationId xmlns:a16="http://schemas.microsoft.com/office/drawing/2014/main" id="{52382748-B3A1-4041-F0B7-3FD688D9971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7310" y="1463310"/>
            <a:ext cx="5394690" cy="539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224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1641C2-BF9B-4FDD-914E-B64C21E00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10DFE554-7232-4244-8A56-332314AEE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04/04/2025</a:t>
            </a:fld>
            <a:endParaRPr lang="en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EC717CF-2817-47D4-8B6A-AC3FF5712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E2D9812-56C8-4D19-8865-A6D4C4A6D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42795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F78E84-41E7-4C0B-9876-95A81A828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ADAD563-D612-4769-9B0D-FF5F1C302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2BECD8B-CD05-4F1D-A5CC-3FEA703FE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04/04/2025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562C523-B3D7-4EB4-A7D6-382F9B9CC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89EF5C4-6487-432E-AB47-26229FE01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052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0F1C78-2104-4398-AD52-6781C48DD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E324310-16AB-4268-B0C6-CF8B77613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0CD69EF-E63A-4D9C-8EFE-E80749E03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04/04/2025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1547F23-F0D7-4208-A013-9AE0FF2EA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4AE972C-86E8-4E5F-8E59-2FB14076C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26318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7DCFF4-3B50-4930-AEAE-782904E75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9E7AE46-BCF9-47C8-9BCC-B7B1F520A3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B6C2F997-1F41-4A6F-9193-4DE7735ACD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B370E2F-2B3F-41AC-9A34-276EA7450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04/04/2025</a:t>
            </a:fld>
            <a:endParaRPr lang="en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D63B9D7-3594-4F78-B540-B15463859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79CDB93-518D-4FDA-849A-10DC0942D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40873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594D81-B112-42DA-9826-23E1C6113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B25F2C9-29C7-4222-81BA-825176D7A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7496213-5C84-46EC-B711-CDF9FF6B6B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90DE4F81-0BA7-4244-BB5B-492AB97EF8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E79B47A1-EE33-4FAB-B7C3-E0E137931E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34D9D81A-0C3E-473B-ACBE-F498DB484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04/04/2025</a:t>
            </a:fld>
            <a:endParaRPr lang="en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58E84A63-52E6-431C-9002-3F2381DF1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D27C1939-B8AA-4E0F-96C6-B7E933D9F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08474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ECCACC-50FC-4D5D-B072-A22D8C73E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6B9E831-EE77-4B49-A32D-C50EA5628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04/04/2025</a:t>
            </a:fld>
            <a:endParaRPr lang="en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A471B315-B360-4DC4-BA25-C0DA3FE06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86BE35D-89CF-4C78-936F-3A422D2BC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47937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2371665-6504-46CE-8623-7D4BFBF06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04/04/2025</a:t>
            </a:fld>
            <a:endParaRPr lang="en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784B7614-A5E9-4A26-93ED-1BD778884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6192D73-DEF2-4B61-8197-3941A2083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07551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3ACD61-1A8D-412E-A5FB-A8531A8CE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B81E522-E269-4346-BBFB-AA9518F2B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5BB402B-825A-444A-8506-A9ADBFE65F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827B8B6-F476-41CE-A0FB-94F76E07D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04/04/2025</a:t>
            </a:fld>
            <a:endParaRPr lang="en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8C2B97C-695E-461A-825C-FBD17E162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A72EF0F-A630-466B-B88F-96526CAB1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60970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D0E7DD-EE9A-4CC9-8C25-676E51EFE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E48A5BBD-EB4E-45D6-AE42-E48427169E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66EB8EC-DE0A-4D55-BC4C-614275BE12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0F5DBFE-351E-4EE8-ADAB-1EEF823A6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04/04/2025</a:t>
            </a:fld>
            <a:endParaRPr lang="en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E0E090A-C01F-416E-BF13-483497611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790A0E5-2670-4891-8045-AB40C835E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27790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EACC51-F7E5-40B9-80E8-1EF2107F0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4CEA346F-2455-4321-99FC-0F55ECBC5E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DD5A672-E901-441A-AA8C-342314F34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04/04/2025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E36B37C-979A-4CE2-BFB9-1CEE33789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66F279E-64B7-4995-8B2D-9E98200DC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691028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54A3048B-7CB7-4CB7-9036-E1072F6567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977AF696-8160-4BEE-B594-08AA6ED4B9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70B8EA8-32FF-45D6-BDF4-DEC9D5665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04/04/2025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01F5F5D-B431-4297-94E5-5C3E63450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D29EC59-10E4-4E90-AEF4-F74EC07C8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2245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16C0F430-02B8-470E-88C4-D3F6A6EEE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FBDBA69-9857-4F89-AB15-40D66350F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700B282-C115-4189-B97C-2C968D73F0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044C9-3718-44C4-9063-5DAD08408240}" type="datetimeFigureOut">
              <a:rPr lang="en-BE" smtClean="0"/>
              <a:t>04/04/2025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C35CFB0-104D-43DF-ABAD-E8ED1A7E0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5331830-0F71-46FB-910E-F57D488F68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91883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jp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sv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sv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jp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AF5DD37-2212-916B-E357-43E8D3EA5D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0F862-7245-5FF3-F9FF-A37F0519F7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Week 6: Textures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0B0F53-1B0B-247E-5331-DFF63A59F5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906C7B-D22F-6554-53F2-0FB13D199E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FE3868-CBE1-5055-4906-5E64ED6ECD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2024</a:t>
            </a:r>
            <a:endParaRPr lang="en-B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FA79F6-F77B-69FB-60A1-34FA78AEC1DD}"/>
              </a:ext>
            </a:extLst>
          </p:cNvPr>
          <p:cNvSpPr txBox="1"/>
          <p:nvPr/>
        </p:nvSpPr>
        <p:spPr>
          <a:xfrm>
            <a:off x="198122" y="2293737"/>
            <a:ext cx="630294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Why do games have so many bugs at launch?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One puzzle piece :</a:t>
            </a:r>
            <a:br>
              <a:rPr lang="en-US" sz="2400" dirty="0"/>
            </a:br>
            <a:r>
              <a:rPr lang="en-US" sz="2400" dirty="0" err="1"/>
              <a:t>pygame</a:t>
            </a:r>
            <a:r>
              <a:rPr lang="en-US" sz="2400" dirty="0"/>
              <a:t> -&gt; open(</a:t>
            </a:r>
            <a:r>
              <a:rPr lang="en-US" sz="2400" dirty="0" err="1"/>
              <a:t>tex</a:t>
            </a:r>
            <a:r>
              <a:rPr lang="en-US" sz="2400" dirty="0"/>
              <a:t>).</a:t>
            </a:r>
            <a:r>
              <a:rPr lang="en-US" sz="2400" dirty="0" err="1"/>
              <a:t>get_alpha</a:t>
            </a:r>
            <a:r>
              <a:rPr lang="en-US" sz="2400" dirty="0"/>
              <a:t>()</a:t>
            </a:r>
            <a:br>
              <a:rPr lang="en-US" sz="2400" dirty="0"/>
            </a:br>
            <a:r>
              <a:rPr lang="en-US" sz="2400" dirty="0"/>
              <a:t>libglew.dll : [73]windows cannot access the file</a:t>
            </a:r>
            <a:endParaRPr lang="en-BE" sz="2400" dirty="0"/>
          </a:p>
        </p:txBody>
      </p:sp>
      <p:pic>
        <p:nvPicPr>
          <p:cNvPr id="11" name="Picture 10" descr="Two men holding swords posing for the camera&#10;&#10;AI-generated content may be incorrect.">
            <a:extLst>
              <a:ext uri="{FF2B5EF4-FFF2-40B4-BE49-F238E27FC236}">
                <a16:creationId xmlns:a16="http://schemas.microsoft.com/office/drawing/2014/main" id="{FE779225-74DB-469C-DB99-EC14B3F01F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8460" y="1539240"/>
            <a:ext cx="5318760" cy="531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507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5F81D-3128-F429-5B0B-EE3938C9B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detour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9A4FDD-E58E-9108-F22E-99DD474B63F3}"/>
              </a:ext>
            </a:extLst>
          </p:cNvPr>
          <p:cNvSpPr txBox="1"/>
          <p:nvPr/>
        </p:nvSpPr>
        <p:spPr>
          <a:xfrm>
            <a:off x="970384" y="2313992"/>
            <a:ext cx="630294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Why do games have so many bugs at launch?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One puzzle piece :</a:t>
            </a:r>
            <a:br>
              <a:rPr lang="en-US" sz="2400" dirty="0"/>
            </a:br>
            <a:r>
              <a:rPr lang="en-US" sz="2400" dirty="0" err="1"/>
              <a:t>pygame</a:t>
            </a:r>
            <a:r>
              <a:rPr lang="en-US" sz="2400" dirty="0"/>
              <a:t> -&gt; open(</a:t>
            </a:r>
            <a:r>
              <a:rPr lang="en-US" sz="2400" dirty="0" err="1"/>
              <a:t>tex</a:t>
            </a:r>
            <a:r>
              <a:rPr lang="en-US" sz="2400" dirty="0"/>
              <a:t>).</a:t>
            </a:r>
            <a:r>
              <a:rPr lang="en-US" sz="2400" dirty="0" err="1"/>
              <a:t>get_alpha</a:t>
            </a:r>
            <a:r>
              <a:rPr lang="en-US" sz="2400" dirty="0"/>
              <a:t>()</a:t>
            </a:r>
            <a:br>
              <a:rPr lang="en-US" sz="2400" dirty="0"/>
            </a:br>
            <a:r>
              <a:rPr lang="en-US" sz="2400" dirty="0"/>
              <a:t>libglew.dll : [73]windows cannot access the file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384664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1CF0F-18B7-5E4B-4B5C-D50F5B23F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188063-42F8-1848-FFC4-47DB3DD21728}"/>
              </a:ext>
            </a:extLst>
          </p:cNvPr>
          <p:cNvSpPr txBox="1"/>
          <p:nvPr/>
        </p:nvSpPr>
        <p:spPr>
          <a:xfrm>
            <a:off x="1045029" y="2239347"/>
            <a:ext cx="713297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Description will be feature complete  Fri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After that only clarifications and images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How is it going?</a:t>
            </a:r>
            <a:endParaRPr lang="en-BE" sz="3200" dirty="0"/>
          </a:p>
        </p:txBody>
      </p:sp>
    </p:spTree>
    <p:extLst>
      <p:ext uri="{BB962C8B-B14F-4D97-AF65-F5344CB8AC3E}">
        <p14:creationId xmlns:p14="http://schemas.microsoft.com/office/powerpoint/2010/main" val="3764717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9FD23-D77C-70B3-2CC3-3B9639720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DA8D2-CA6D-2610-89CE-68DEF02CC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class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033C93-BDDA-E53E-45B8-D25FB21FD02C}"/>
              </a:ext>
            </a:extLst>
          </p:cNvPr>
          <p:cNvSpPr txBox="1"/>
          <p:nvPr/>
        </p:nvSpPr>
        <p:spPr>
          <a:xfrm>
            <a:off x="838200" y="1837338"/>
            <a:ext cx="838701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History of procedural generations (</a:t>
            </a:r>
            <a:r>
              <a:rPr lang="en-US" sz="2800" dirty="0" err="1"/>
              <a:t>procgen</a:t>
            </a:r>
            <a:r>
              <a:rPr lang="en-US" sz="28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Seeing functions as geometry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Generating geometry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Infinite terrain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ym typeface="Wingdings" panose="05000000000000000000" pitchFamily="2" charset="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63BEA3-E67A-7093-9533-6F829A107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323" y="2078966"/>
            <a:ext cx="4558676" cy="45123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5736D2-EB7C-7AA9-4281-924808852B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445" y="3764888"/>
            <a:ext cx="3407690" cy="2992841"/>
          </a:xfrm>
          <a:prstGeom prst="rect">
            <a:avLst/>
          </a:prstGeom>
        </p:spPr>
      </p:pic>
      <p:pic>
        <p:nvPicPr>
          <p:cNvPr id="6" name="Picture 5" descr="A white and black wavy object&#10;&#10;Description automatically generated">
            <a:extLst>
              <a:ext uri="{FF2B5EF4-FFF2-40B4-BE49-F238E27FC236}">
                <a16:creationId xmlns:a16="http://schemas.microsoft.com/office/drawing/2014/main" id="{E0A0CE58-A58F-330F-A5E5-24DB3ADFF2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885" y="4016581"/>
            <a:ext cx="4402301" cy="2476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527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1B564-CA9E-3D87-8903-3909F7D42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9F79E-D81D-C0B7-2D18-4AECB8668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362" y="238794"/>
            <a:ext cx="10515600" cy="1325563"/>
          </a:xfrm>
        </p:spPr>
        <p:txBody>
          <a:bodyPr/>
          <a:lstStyle/>
          <a:p>
            <a:r>
              <a:rPr lang="en-US" dirty="0"/>
              <a:t>Course schedule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AD8DA9-97E3-0B9A-E8CC-21F1C6CD1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23671"/>
            <a:ext cx="4032180" cy="263992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CA2FDF-DB18-1375-BEF9-8DA80A37B085}"/>
              </a:ext>
            </a:extLst>
          </p:cNvPr>
          <p:cNvSpPr txBox="1"/>
          <p:nvPr/>
        </p:nvSpPr>
        <p:spPr>
          <a:xfrm>
            <a:off x="379445" y="1741714"/>
            <a:ext cx="4696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Highly likely to change </a:t>
            </a:r>
            <a:r>
              <a:rPr lang="en-US" sz="2800" dirty="0">
                <a:sym typeface="Wingdings" panose="05000000000000000000" pitchFamily="2" charset="2"/>
              </a:rPr>
              <a:t>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CEA932E-E82B-0F40-395E-38460627F1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4646948"/>
              </p:ext>
            </p:extLst>
          </p:nvPr>
        </p:nvGraphicFramePr>
        <p:xfrm>
          <a:off x="5260857" y="89377"/>
          <a:ext cx="4438366" cy="66792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9172">
                  <a:extLst>
                    <a:ext uri="{9D8B030D-6E8A-4147-A177-3AD203B41FA5}">
                      <a16:colId xmlns:a16="http://schemas.microsoft.com/office/drawing/2014/main" val="4215952977"/>
                    </a:ext>
                  </a:extLst>
                </a:gridCol>
                <a:gridCol w="2359194">
                  <a:extLst>
                    <a:ext uri="{9D8B030D-6E8A-4147-A177-3AD203B41FA5}">
                      <a16:colId xmlns:a16="http://schemas.microsoft.com/office/drawing/2014/main" val="1545778933"/>
                    </a:ext>
                  </a:extLst>
                </a:gridCol>
              </a:tblGrid>
              <a:tr h="462187">
                <a:tc>
                  <a:txBody>
                    <a:bodyPr/>
                    <a:lstStyle/>
                    <a:p>
                      <a:r>
                        <a:rPr lang="en-US" dirty="0"/>
                        <a:t>Week 1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Introduction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1121218"/>
                  </a:ext>
                </a:extLst>
              </a:tr>
              <a:tr h="462187">
                <a:tc>
                  <a:txBody>
                    <a:bodyPr/>
                    <a:lstStyle/>
                    <a:p>
                      <a:r>
                        <a:rPr lang="en-US" dirty="0"/>
                        <a:t>Week 2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3D reasoning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727011"/>
                  </a:ext>
                </a:extLst>
              </a:tr>
              <a:tr h="566597">
                <a:tc>
                  <a:txBody>
                    <a:bodyPr/>
                    <a:lstStyle/>
                    <a:p>
                      <a:r>
                        <a:rPr lang="en-US" dirty="0"/>
                        <a:t>Week 3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Geometry</a:t>
                      </a:r>
                    </a:p>
                    <a:p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0221313"/>
                  </a:ext>
                </a:extLst>
              </a:tr>
              <a:tr h="553786">
                <a:tc>
                  <a:txBody>
                    <a:bodyPr/>
                    <a:lstStyle/>
                    <a:p>
                      <a:r>
                        <a:rPr lang="en-US" dirty="0"/>
                        <a:t>Week 4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Pipeline &amp; Materials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918310"/>
                  </a:ext>
                </a:extLst>
              </a:tr>
              <a:tr h="595849">
                <a:tc>
                  <a:txBody>
                    <a:bodyPr/>
                    <a:lstStyle/>
                    <a:p>
                      <a:r>
                        <a:rPr lang="en-US" dirty="0"/>
                        <a:t>Week 5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Proceduralism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078510"/>
                  </a:ext>
                </a:extLst>
              </a:tr>
              <a:tr h="809425">
                <a:tc>
                  <a:txBody>
                    <a:bodyPr/>
                    <a:lstStyle/>
                    <a:p>
                      <a:r>
                        <a:rPr lang="en-US" dirty="0"/>
                        <a:t>Week 6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Textures &amp; Normal maps</a:t>
                      </a:r>
                      <a:endParaRPr lang="en-BE" dirty="0"/>
                    </a:p>
                    <a:p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941231"/>
                  </a:ext>
                </a:extLst>
              </a:tr>
              <a:tr h="566597">
                <a:tc>
                  <a:txBody>
                    <a:bodyPr/>
                    <a:lstStyle/>
                    <a:p>
                      <a:r>
                        <a:rPr lang="en-US" dirty="0"/>
                        <a:t>Week 7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Advanced pipeline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929814"/>
                  </a:ext>
                </a:extLst>
              </a:tr>
              <a:tr h="553786">
                <a:tc>
                  <a:txBody>
                    <a:bodyPr/>
                    <a:lstStyle/>
                    <a:p>
                      <a:r>
                        <a:rPr lang="en-US" dirty="0"/>
                        <a:t>Week 8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Post Processing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942271"/>
                  </a:ext>
                </a:extLst>
              </a:tr>
              <a:tr h="809425">
                <a:tc>
                  <a:txBody>
                    <a:bodyPr/>
                    <a:lstStyle/>
                    <a:p>
                      <a:r>
                        <a:rPr lang="en-US" dirty="0"/>
                        <a:t>Week 9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Aliasing / Presentations</a:t>
                      </a:r>
                      <a:endParaRPr lang="en-BE" dirty="0"/>
                    </a:p>
                    <a:p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500834"/>
                  </a:ext>
                </a:extLst>
              </a:tr>
              <a:tr h="553786">
                <a:tc>
                  <a:txBody>
                    <a:bodyPr/>
                    <a:lstStyle/>
                    <a:p>
                      <a:r>
                        <a:rPr lang="en-US" dirty="0"/>
                        <a:t>Week 10 :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Project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961463"/>
                  </a:ext>
                </a:extLst>
              </a:tr>
              <a:tr h="462187">
                <a:tc>
                  <a:txBody>
                    <a:bodyPr/>
                    <a:lstStyle/>
                    <a:p>
                      <a:r>
                        <a:rPr lang="en-US" dirty="0"/>
                        <a:t>Week 11 : 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Revision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446022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27F2239F-9E21-9D30-9311-23FF7A1A3E6B}"/>
              </a:ext>
            </a:extLst>
          </p:cNvPr>
          <p:cNvSpPr/>
          <p:nvPr/>
        </p:nvSpPr>
        <p:spPr>
          <a:xfrm>
            <a:off x="7397672" y="2843270"/>
            <a:ext cx="2301551" cy="80171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63300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73297-8044-DFEA-04F5-D9FB0C658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C2D51-1E40-FA66-F1C2-BA0D54119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class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CB8313-D9B1-33D6-9A00-505148019F20}"/>
              </a:ext>
            </a:extLst>
          </p:cNvPr>
          <p:cNvSpPr txBox="1"/>
          <p:nvPr/>
        </p:nvSpPr>
        <p:spPr>
          <a:xfrm>
            <a:off x="903637" y="1923602"/>
            <a:ext cx="951707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 Texture basic 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Texture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Border’s, </a:t>
            </a:r>
            <a:r>
              <a:rPr lang="en-US" sz="2800" dirty="0" err="1">
                <a:sym typeface="Wingdings" panose="05000000000000000000" pitchFamily="2" charset="2"/>
              </a:rPr>
              <a:t>mips</a:t>
            </a:r>
            <a:r>
              <a:rPr lang="en-US" sz="2800" dirty="0">
                <a:sym typeface="Wingdings" panose="05000000000000000000" pitchFamily="2" charset="2"/>
              </a:rPr>
              <a:t>, and sampling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Normal maps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Creating normal maps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372615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D65BC-3C8A-010E-C603-263E3DD70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Textures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40BC76-6E16-AF2A-54AC-5443DE82911B}"/>
              </a:ext>
            </a:extLst>
          </p:cNvPr>
          <p:cNvSpPr txBox="1"/>
          <p:nvPr/>
        </p:nvSpPr>
        <p:spPr>
          <a:xfrm>
            <a:off x="460310" y="1530220"/>
            <a:ext cx="415293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Can someone tell me what </a:t>
            </a:r>
          </a:p>
          <a:p>
            <a:r>
              <a:rPr lang="en-US" sz="2800" dirty="0"/>
              <a:t>they are?</a:t>
            </a:r>
            <a:endParaRPr lang="en-BE" sz="2800" dirty="0"/>
          </a:p>
        </p:txBody>
      </p:sp>
      <p:pic>
        <p:nvPicPr>
          <p:cNvPr id="5" name="Picture 4" descr="A collage of different textures&#10;&#10;AI-generated content may be incorrect.">
            <a:extLst>
              <a:ext uri="{FF2B5EF4-FFF2-40B4-BE49-F238E27FC236}">
                <a16:creationId xmlns:a16="http://schemas.microsoft.com/office/drawing/2014/main" id="{ADC6529A-3506-FF23-D4A2-382A7FA718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639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57DFA-5307-972D-8A52-7F710E743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Textures </a:t>
            </a:r>
            <a:endParaRPr lang="en-B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49B190-FF81-831E-7D8C-59222F55B27C}"/>
              </a:ext>
            </a:extLst>
          </p:cNvPr>
          <p:cNvSpPr txBox="1"/>
          <p:nvPr/>
        </p:nvSpPr>
        <p:spPr>
          <a:xfrm>
            <a:off x="838200" y="1584649"/>
            <a:ext cx="822898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Commonly : “a 2d grid of colors”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3d graphics : “discrete spatially varying information”</a:t>
            </a:r>
            <a:endParaRPr lang="en-BE" sz="2800" dirty="0"/>
          </a:p>
        </p:txBody>
      </p:sp>
    </p:spTree>
    <p:extLst>
      <p:ext uri="{BB962C8B-B14F-4D97-AF65-F5344CB8AC3E}">
        <p14:creationId xmlns:p14="http://schemas.microsoft.com/office/powerpoint/2010/main" val="3440532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04483-B5B2-BF1C-84D0-F8E810567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Textures : 2D grid of colors</a:t>
            </a:r>
            <a:endParaRPr lang="en-BE" dirty="0"/>
          </a:p>
        </p:txBody>
      </p:sp>
      <p:pic>
        <p:nvPicPr>
          <p:cNvPr id="4" name="Picture 3" descr="A map of the world&#10;&#10;Description automatically generated">
            <a:extLst>
              <a:ext uri="{FF2B5EF4-FFF2-40B4-BE49-F238E27FC236}">
                <a16:creationId xmlns:a16="http://schemas.microsoft.com/office/drawing/2014/main" id="{8B770860-8F72-B7D1-1375-CB58BE88A9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81" y="2883878"/>
            <a:ext cx="5863880" cy="2931940"/>
          </a:xfrm>
          <a:prstGeom prst="rect">
            <a:avLst/>
          </a:prstGeom>
        </p:spPr>
      </p:pic>
      <p:pic>
        <p:nvPicPr>
          <p:cNvPr id="8" name="Picture 7" descr="A green and black image&#10;&#10;Description automatically generated">
            <a:extLst>
              <a:ext uri="{FF2B5EF4-FFF2-40B4-BE49-F238E27FC236}">
                <a16:creationId xmlns:a16="http://schemas.microsoft.com/office/drawing/2014/main" id="{592EF111-EC92-00E8-BAAD-3E5930FCAB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0447" y="1575582"/>
            <a:ext cx="4935350" cy="4343108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D2C30AB-BF95-037B-6A94-C0C6DA30A1F5}"/>
              </a:ext>
            </a:extLst>
          </p:cNvPr>
          <p:cNvCxnSpPr/>
          <p:nvPr/>
        </p:nvCxnSpPr>
        <p:spPr>
          <a:xfrm flipV="1">
            <a:off x="3296816" y="2413518"/>
            <a:ext cx="3427445" cy="101548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7986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E79CA-D8F0-84E1-9BE1-A28402C15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Spatially varying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114145-0717-35AF-6343-A69CDF97D419}"/>
              </a:ext>
            </a:extLst>
          </p:cNvPr>
          <p:cNvSpPr txBox="1"/>
          <p:nvPr/>
        </p:nvSpPr>
        <p:spPr>
          <a:xfrm>
            <a:off x="591348" y="1518071"/>
            <a:ext cx="7797519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Different areas in the texture have different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We use UV coordinates.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Vector2D, 0.0 -&gt; 1.0 (typically)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They are part of the vertex</a:t>
            </a:r>
            <a:endParaRPr lang="en-BE" sz="2800" dirty="0"/>
          </a:p>
        </p:txBody>
      </p:sp>
      <p:pic>
        <p:nvPicPr>
          <p:cNvPr id="5" name="Picture 4" descr="A green square with white text&#10;&#10;Description automatically generated">
            <a:extLst>
              <a:ext uri="{FF2B5EF4-FFF2-40B4-BE49-F238E27FC236}">
                <a16:creationId xmlns:a16="http://schemas.microsoft.com/office/drawing/2014/main" id="{8BC8925B-C8E0-48BE-EC15-EC84622B12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1241" y="3457521"/>
            <a:ext cx="10394302" cy="340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847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706E3-62F2-807B-B703-3F2A59275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2D coordinate system on a 3D model</a:t>
            </a:r>
            <a:endParaRPr lang="en-BE" dirty="0"/>
          </a:p>
        </p:txBody>
      </p:sp>
      <p:pic>
        <p:nvPicPr>
          <p:cNvPr id="4" name="Picture 3" descr="A colorful elephant on a white background&#10;&#10;AI-generated content may be incorrect.">
            <a:extLst>
              <a:ext uri="{FF2B5EF4-FFF2-40B4-BE49-F238E27FC236}">
                <a16:creationId xmlns:a16="http://schemas.microsoft.com/office/drawing/2014/main" id="{159DFE54-23A7-9E62-C672-DB419AB9C5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6363" y="3158206"/>
            <a:ext cx="11490164" cy="30656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0A5638-1E63-23C5-1E58-35E839ABF7EA}"/>
              </a:ext>
            </a:extLst>
          </p:cNvPr>
          <p:cNvSpPr txBox="1"/>
          <p:nvPr/>
        </p:nvSpPr>
        <p:spPr>
          <a:xfrm>
            <a:off x="1066800" y="1920240"/>
            <a:ext cx="50567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Most common way to put textures on 3D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Referred to </a:t>
            </a:r>
            <a:r>
              <a:rPr lang="en-US" dirty="0" err="1"/>
              <a:t>als</a:t>
            </a:r>
            <a:r>
              <a:rPr lang="en-US" dirty="0"/>
              <a:t> “</a:t>
            </a:r>
            <a:r>
              <a:rPr lang="en-US" dirty="0" err="1"/>
              <a:t>uv</a:t>
            </a:r>
            <a:r>
              <a:rPr lang="en-US" dirty="0"/>
              <a:t> mapping”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600975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7C4B11-38BC-0F0A-FD56-7BB138982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22" y="2394857"/>
            <a:ext cx="5190220" cy="42329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668B1B-C236-E13D-9777-2B66E78A64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3464" y="2463488"/>
            <a:ext cx="6918536" cy="409572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5DC7776-3CE3-4641-A604-916199F5D04F}"/>
              </a:ext>
            </a:extLst>
          </p:cNvPr>
          <p:cNvSpPr txBox="1"/>
          <p:nvPr/>
        </p:nvSpPr>
        <p:spPr>
          <a:xfrm>
            <a:off x="646922" y="387234"/>
            <a:ext cx="489396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UV: float2 coordinates</a:t>
            </a:r>
          </a:p>
          <a:p>
            <a:endParaRPr lang="en-US" sz="2400" dirty="0"/>
          </a:p>
          <a:p>
            <a:r>
              <a:rPr lang="en-US" sz="2400" dirty="0"/>
              <a:t>Float2 </a:t>
            </a:r>
            <a:r>
              <a:rPr lang="en-US" sz="2400" dirty="0" err="1"/>
              <a:t>uv</a:t>
            </a:r>
            <a:r>
              <a:rPr lang="en-US" sz="2400" dirty="0"/>
              <a:t>(0,0) -&gt; image[0,0]</a:t>
            </a:r>
          </a:p>
          <a:p>
            <a:r>
              <a:rPr lang="en-US" sz="2400" dirty="0"/>
              <a:t>Float2 </a:t>
            </a:r>
            <a:r>
              <a:rPr lang="en-US" sz="2400" dirty="0" err="1"/>
              <a:t>uv</a:t>
            </a:r>
            <a:r>
              <a:rPr lang="en-US" sz="2400" dirty="0"/>
              <a:t>(1,1) -&gt; image[width, height]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656425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D535C-EC20-9F61-0A62-B71BB8AC5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E" dirty="0"/>
          </a:p>
        </p:txBody>
      </p:sp>
      <p:pic>
        <p:nvPicPr>
          <p:cNvPr id="6" name="Picture 5" descr="A candy wrapped in foil&#10;&#10;Description automatically generated">
            <a:extLst>
              <a:ext uri="{FF2B5EF4-FFF2-40B4-BE49-F238E27FC236}">
                <a16:creationId xmlns:a16="http://schemas.microsoft.com/office/drawing/2014/main" id="{427A7F01-EE60-4947-8EB7-3CFB02D354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357" y="0"/>
            <a:ext cx="96932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544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D5581-8DEC-95E2-13F9-A136A34FE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code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78471D-F35B-F819-6C7F-78ADE23501D9}"/>
              </a:ext>
            </a:extLst>
          </p:cNvPr>
          <p:cNvSpPr txBox="1"/>
          <p:nvPr/>
        </p:nvSpPr>
        <p:spPr>
          <a:xfrm>
            <a:off x="1604866" y="1816359"/>
            <a:ext cx="739259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// in </a:t>
            </a:r>
            <a:r>
              <a:rPr lang="fr-FR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Properties</a:t>
            </a:r>
            <a:endParaRPr lang="en-BE" sz="2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_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MainTex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2000" dirty="0">
                <a:solidFill>
                  <a:srgbClr val="8B0000"/>
                </a:solidFill>
                <a:latin typeface="Cascadia Mono" panose="020B0609020000020004" pitchFamily="49" charset="0"/>
              </a:rPr>
              <a:t>"Albedo (RGB)"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2D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) = </a:t>
            </a:r>
            <a:r>
              <a:rPr lang="en-US" sz="2000" dirty="0">
                <a:solidFill>
                  <a:srgbClr val="8B0000"/>
                </a:solidFill>
                <a:latin typeface="Cascadia Mono" panose="020B0609020000020004" pitchFamily="49" charset="0"/>
              </a:rPr>
              <a:t>"white"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{}</a:t>
            </a:r>
          </a:p>
          <a:p>
            <a:endParaRPr lang="en-US" sz="2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// in </a:t>
            </a:r>
            <a:r>
              <a:rPr lang="fr-FR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SubShader</a:t>
            </a:r>
            <a:endParaRPr lang="en-BE" sz="2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b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</a:rPr>
            </a:b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sampler2D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_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MainTex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en-BE" sz="2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struct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Input</a:t>
            </a:r>
          </a:p>
          <a:p>
            <a:r>
              <a:rPr lang="en-BE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float2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uv_MainTex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BE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};</a:t>
            </a:r>
            <a:br>
              <a:rPr lang="fr-FR" sz="2000" dirty="0">
                <a:solidFill>
                  <a:srgbClr val="0000FF"/>
                </a:solidFill>
                <a:latin typeface="Cascadia Mono" panose="020B0609020000020004" pitchFamily="49" charset="0"/>
              </a:rPr>
            </a:br>
            <a:br>
              <a:rPr lang="fr-FR" sz="2000" dirty="0">
                <a:solidFill>
                  <a:srgbClr val="0000FF"/>
                </a:solidFill>
                <a:latin typeface="Cascadia Mono" panose="020B0609020000020004" pitchFamily="49" charset="0"/>
              </a:rPr>
            </a:br>
            <a:r>
              <a:rPr lang="fr-FR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// in fragment </a:t>
            </a:r>
            <a:r>
              <a:rPr lang="fr-FR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shader</a:t>
            </a:r>
            <a:br>
              <a:rPr lang="fr-FR" sz="2000" dirty="0">
                <a:solidFill>
                  <a:srgbClr val="0000FF"/>
                </a:solidFill>
                <a:latin typeface="Cascadia Mono" panose="020B0609020000020004" pitchFamily="49" charset="0"/>
              </a:rPr>
            </a:br>
            <a:r>
              <a:rPr lang="fr-FR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fixed4</a:t>
            </a:r>
            <a:r>
              <a:rPr lang="fr-F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color</a:t>
            </a:r>
            <a:r>
              <a:rPr lang="fr-F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2000" dirty="0">
                <a:solidFill>
                  <a:srgbClr val="8B008B"/>
                </a:solidFill>
                <a:latin typeface="Cascadia Mono" panose="020B0609020000020004" pitchFamily="49" charset="0"/>
              </a:rPr>
              <a:t>tex2D </a:t>
            </a:r>
            <a:r>
              <a:rPr lang="fr-F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(_</a:t>
            </a:r>
            <a:r>
              <a:rPr lang="fr-F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MainTex</a:t>
            </a:r>
            <a:r>
              <a:rPr lang="fr-F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fr-F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IN.uv_MainTex</a:t>
            </a:r>
            <a:r>
              <a:rPr lang="fr-F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  <a:endParaRPr lang="en-BE" sz="2000" dirty="0"/>
          </a:p>
        </p:txBody>
      </p:sp>
    </p:spTree>
    <p:extLst>
      <p:ext uri="{BB962C8B-B14F-4D97-AF65-F5344CB8AC3E}">
        <p14:creationId xmlns:p14="http://schemas.microsoft.com/office/powerpoint/2010/main" val="23788517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A2C95-46FF-AB8D-1645-0421F3CC3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850" y="-135207"/>
            <a:ext cx="10515600" cy="1325563"/>
          </a:xfrm>
        </p:spPr>
        <p:txBody>
          <a:bodyPr/>
          <a:lstStyle/>
          <a:p>
            <a:r>
              <a:rPr lang="en-US" dirty="0"/>
              <a:t>Why not put this information in a vertex?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869135-78A7-B367-2B7E-6895AD0B33BC}"/>
              </a:ext>
            </a:extLst>
          </p:cNvPr>
          <p:cNvSpPr txBox="1"/>
          <p:nvPr/>
        </p:nvSpPr>
        <p:spPr>
          <a:xfrm>
            <a:off x="111792" y="940190"/>
            <a:ext cx="11706397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Good question!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Vertex density vary with geometric complexity (wheels have more vertices than doors)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Textures have a more homogenous resolution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 descr="A car on the road&#10;&#10;AI-generated content may be incorrect.">
            <a:extLst>
              <a:ext uri="{FF2B5EF4-FFF2-40B4-BE49-F238E27FC236}">
                <a16:creationId xmlns:a16="http://schemas.microsoft.com/office/drawing/2014/main" id="{F1DE509B-3C9E-3B37-A2EE-27BEFCDF23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94777"/>
            <a:ext cx="6096000" cy="3429000"/>
          </a:xfrm>
          <a:prstGeom prst="rect">
            <a:avLst/>
          </a:prstGeom>
        </p:spPr>
      </p:pic>
      <p:pic>
        <p:nvPicPr>
          <p:cNvPr id="7" name="Picture 6" descr="A car with graffiti on it&#10;&#10;AI-generated content may be incorrect.">
            <a:extLst>
              <a:ext uri="{FF2B5EF4-FFF2-40B4-BE49-F238E27FC236}">
                <a16:creationId xmlns:a16="http://schemas.microsoft.com/office/drawing/2014/main" id="{74540501-76BF-0086-E5F5-BD4AD02654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2936" y="3494776"/>
            <a:ext cx="5979063" cy="3363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4160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22628-626A-2897-8D38-CC08736B6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776" y="265598"/>
            <a:ext cx="10515600" cy="1325563"/>
          </a:xfrm>
        </p:spPr>
        <p:txBody>
          <a:bodyPr/>
          <a:lstStyle/>
          <a:p>
            <a:r>
              <a:rPr lang="en-US" dirty="0"/>
              <a:t>Any questions?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665891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42A20-65A0-B1AF-D42E-1EFF9AFAD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0C731-A28E-328E-DF2A-81E99137A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class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5EF283-3270-FF50-DD17-A12A62722863}"/>
              </a:ext>
            </a:extLst>
          </p:cNvPr>
          <p:cNvSpPr txBox="1"/>
          <p:nvPr/>
        </p:nvSpPr>
        <p:spPr>
          <a:xfrm>
            <a:off x="903637" y="1923602"/>
            <a:ext cx="951707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Texture basic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 Texture types 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Border’s, </a:t>
            </a:r>
            <a:r>
              <a:rPr lang="en-US" sz="2800" dirty="0" err="1">
                <a:sym typeface="Wingdings" panose="05000000000000000000" pitchFamily="2" charset="2"/>
              </a:rPr>
              <a:t>mips</a:t>
            </a:r>
            <a:r>
              <a:rPr lang="en-US" sz="2800" dirty="0">
                <a:sym typeface="Wingdings" panose="05000000000000000000" pitchFamily="2" charset="2"/>
              </a:rPr>
              <a:t>, and sampling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Normal maps (for normal students </a:t>
            </a:r>
            <a:r>
              <a:rPr lang="nl-BE" sz="2800" dirty="0"/>
              <a:t>©Margot Schepers</a:t>
            </a:r>
            <a:r>
              <a:rPr lang="en-US" sz="2800" dirty="0">
                <a:sym typeface="Wingdings" panose="05000000000000000000" pitchFamily="2" charset="2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Creating normal maps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ym typeface="Wingdings" panose="05000000000000000000" pitchFamily="2" charset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0CD115-548C-752B-1995-22A2B6588C57}"/>
              </a:ext>
            </a:extLst>
          </p:cNvPr>
          <p:cNvSpPr txBox="1"/>
          <p:nvPr/>
        </p:nvSpPr>
        <p:spPr>
          <a:xfrm>
            <a:off x="3048000" y="32458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ym typeface="Wingdings" panose="05000000000000000000" pitchFamily="2" charset="2"/>
              </a:rPr>
              <a:t>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7756957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BA39D-0336-133C-67A3-762FA636D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just saw 2D textures as an example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4F198D-C2E6-C124-6E9A-DB0C772E0C08}"/>
              </a:ext>
            </a:extLst>
          </p:cNvPr>
          <p:cNvSpPr txBox="1"/>
          <p:nvPr/>
        </p:nvSpPr>
        <p:spPr>
          <a:xfrm>
            <a:off x="432788" y="1690688"/>
            <a:ext cx="5193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Any guess what the others types are?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13709893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84851-4B2D-1BF3-DACD-3406FEF10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400" y="-205582"/>
            <a:ext cx="10515600" cy="1325563"/>
          </a:xfrm>
        </p:spPr>
        <p:txBody>
          <a:bodyPr/>
          <a:lstStyle/>
          <a:p>
            <a:r>
              <a:rPr lang="en-US" dirty="0"/>
              <a:t>Texture 1D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F67B57-6B82-F834-31DE-861ADBDEE5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927" y="1974268"/>
            <a:ext cx="3652994" cy="14547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86AE6C-0B76-9972-F998-C9E3C819BB83}"/>
              </a:ext>
            </a:extLst>
          </p:cNvPr>
          <p:cNvSpPr txBox="1"/>
          <p:nvPr/>
        </p:nvSpPr>
        <p:spPr>
          <a:xfrm>
            <a:off x="292417" y="725398"/>
            <a:ext cx="796987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Used for lookup tables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 practice, 2D textures anyway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Triangle: multiple pixels access the same 1D texture location</a:t>
            </a:r>
            <a:endParaRPr lang="en-BE" sz="2400" dirty="0"/>
          </a:p>
        </p:txBody>
      </p:sp>
      <p:pic>
        <p:nvPicPr>
          <p:cNvPr id="7" name="Picture 6" descr="A close-up of a rainbow&#10;&#10;Description automatically generated">
            <a:extLst>
              <a:ext uri="{FF2B5EF4-FFF2-40B4-BE49-F238E27FC236}">
                <a16:creationId xmlns:a16="http://schemas.microsoft.com/office/drawing/2014/main" id="{6391604B-F351-D9A3-46CB-2152BE9334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2265" y="3547012"/>
            <a:ext cx="8529735" cy="3310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053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48B36-75A1-6937-E44A-FCA61A768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902" y="0"/>
            <a:ext cx="10515600" cy="1325563"/>
          </a:xfrm>
        </p:spPr>
        <p:txBody>
          <a:bodyPr/>
          <a:lstStyle/>
          <a:p>
            <a:r>
              <a:rPr lang="en-US" dirty="0"/>
              <a:t>Texture 1D example: blackbody</a:t>
            </a:r>
            <a:endParaRPr lang="nl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BD4EB3-E8AA-F9EC-D8EB-11D5BCDA88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00500"/>
            <a:ext cx="7620000" cy="2857500"/>
          </a:xfrm>
          <a:prstGeom prst="rect">
            <a:avLst/>
          </a:prstGeom>
        </p:spPr>
      </p:pic>
      <p:pic>
        <p:nvPicPr>
          <p:cNvPr id="6" name="Picture 5" descr="A chart of the temperature of the sky&#10;&#10;AI-generated content may be incorrect.">
            <a:extLst>
              <a:ext uri="{FF2B5EF4-FFF2-40B4-BE49-F238E27FC236}">
                <a16:creationId xmlns:a16="http://schemas.microsoft.com/office/drawing/2014/main" id="{434EEE43-B582-6742-2131-8B1C507A8F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3850" y="1981200"/>
            <a:ext cx="424815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5503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265B7-AEE7-5044-F4A9-4CBD401BD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604" y="0"/>
            <a:ext cx="10515600" cy="1325563"/>
          </a:xfrm>
        </p:spPr>
        <p:txBody>
          <a:bodyPr/>
          <a:lstStyle/>
          <a:p>
            <a:r>
              <a:rPr lang="en-US" dirty="0"/>
              <a:t>Texture3D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938028-962E-490F-9341-A5E39ECA7E8E}"/>
              </a:ext>
            </a:extLst>
          </p:cNvPr>
          <p:cNvSpPr txBox="1"/>
          <p:nvPr/>
        </p:nvSpPr>
        <p:spPr>
          <a:xfrm>
            <a:off x="485192" y="1797698"/>
            <a:ext cx="47818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Has a width, a height, and a depth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Need 3d </a:t>
            </a:r>
            <a:r>
              <a:rPr lang="en-US" sz="2400" dirty="0" err="1"/>
              <a:t>uv’s</a:t>
            </a:r>
            <a:r>
              <a:rPr lang="en-US" sz="2400" dirty="0"/>
              <a:t> / texture coordinates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Anyone have an example?</a:t>
            </a:r>
            <a:endParaRPr lang="en-BE" sz="2400" dirty="0"/>
          </a:p>
        </p:txBody>
      </p:sp>
      <p:pic>
        <p:nvPicPr>
          <p:cNvPr id="5" name="Picture 4" descr="A rainbow colored rectangles&#10;&#10;Description automatically generated">
            <a:extLst>
              <a:ext uri="{FF2B5EF4-FFF2-40B4-BE49-F238E27FC236}">
                <a16:creationId xmlns:a16="http://schemas.microsoft.com/office/drawing/2014/main" id="{3CA13A41-7AD6-54B7-4F3E-55A0CA06C5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12" y="3621637"/>
            <a:ext cx="11809523" cy="30857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B8B446-6699-18E4-F5FF-2CD479C615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9155" y="-12940"/>
            <a:ext cx="5152845" cy="384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3458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E1D0D-C0A8-79F1-C86F-1CB9CC35A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E" dirty="0"/>
          </a:p>
        </p:txBody>
      </p:sp>
      <p:pic>
        <p:nvPicPr>
          <p:cNvPr id="4" name="Picture 3" descr="A collage of images of a baby&#10;&#10;Description automatically generated">
            <a:extLst>
              <a:ext uri="{FF2B5EF4-FFF2-40B4-BE49-F238E27FC236}">
                <a16:creationId xmlns:a16="http://schemas.microsoft.com/office/drawing/2014/main" id="{094959F3-7128-7E35-A74B-DCAE0430C2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335" y="580459"/>
            <a:ext cx="7983603" cy="5978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9697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F75DD-2505-1086-3CE8-EAE6E1301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TextureCube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6169BB-CCAF-912B-4DFC-33EFDA1843ED}"/>
              </a:ext>
            </a:extLst>
          </p:cNvPr>
          <p:cNvSpPr txBox="1"/>
          <p:nvPr/>
        </p:nvSpPr>
        <p:spPr>
          <a:xfrm>
            <a:off x="478972" y="1474237"/>
            <a:ext cx="449892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Resembles a six sided die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index it with a direction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POV: center of the cube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Perfect for a skybox / reflections</a:t>
            </a:r>
            <a:endParaRPr lang="en-BE" sz="2400" dirty="0"/>
          </a:p>
        </p:txBody>
      </p:sp>
      <p:pic>
        <p:nvPicPr>
          <p:cNvPr id="5" name="Picture 4" descr="A diagram of a cube with mountains and clouds&#10;&#10;Description automatically generated with medium confidence">
            <a:extLst>
              <a:ext uri="{FF2B5EF4-FFF2-40B4-BE49-F238E27FC236}">
                <a16:creationId xmlns:a16="http://schemas.microsoft.com/office/drawing/2014/main" id="{971BE86C-60F1-90C7-F321-55B45F684C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3702" y="365125"/>
            <a:ext cx="6667432" cy="6438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3807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406B7-7B10-135A-8CFA-3E93964C1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E"/>
          </a:p>
        </p:txBody>
      </p:sp>
      <p:pic>
        <p:nvPicPr>
          <p:cNvPr id="4" name="Picture 3" descr="A screenshot of a video game&#10;&#10;Description automatically generated">
            <a:extLst>
              <a:ext uri="{FF2B5EF4-FFF2-40B4-BE49-F238E27FC236}">
                <a16:creationId xmlns:a16="http://schemas.microsoft.com/office/drawing/2014/main" id="{67108E81-2E65-6B22-5ED3-50D8DD2618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7918" y="1352939"/>
            <a:ext cx="7212526" cy="5409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7149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A2934-61E0-35CB-219E-A242A9EE3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9784D-B599-CCD4-041A-0C30D4D80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class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EA4F34-45AF-3A71-237A-2ED924CE1D85}"/>
              </a:ext>
            </a:extLst>
          </p:cNvPr>
          <p:cNvSpPr txBox="1"/>
          <p:nvPr/>
        </p:nvSpPr>
        <p:spPr>
          <a:xfrm>
            <a:off x="903637" y="1923602"/>
            <a:ext cx="951707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Texture basic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Texture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 Border’s, </a:t>
            </a:r>
            <a:r>
              <a:rPr lang="en-US" sz="2800" dirty="0" err="1">
                <a:sym typeface="Wingdings" panose="05000000000000000000" pitchFamily="2" charset="2"/>
              </a:rPr>
              <a:t>mips</a:t>
            </a:r>
            <a:r>
              <a:rPr lang="en-US" sz="2800" dirty="0">
                <a:sym typeface="Wingdings" panose="05000000000000000000" pitchFamily="2" charset="2"/>
              </a:rPr>
              <a:t>, and sampling 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Normal maps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Creating normal maps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4354858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E71F2-AAAB-3248-5A6D-8033A081B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said UV’s typically go 0.0-&gt;1.0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9F7272-9E8A-8FA3-383B-A4884559AA0F}"/>
              </a:ext>
            </a:extLst>
          </p:cNvPr>
          <p:cNvSpPr txBox="1"/>
          <p:nvPr/>
        </p:nvSpPr>
        <p:spPr>
          <a:xfrm>
            <a:off x="167998" y="1548882"/>
            <a:ext cx="94300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We can configure what happens when access the texture with </a:t>
            </a:r>
            <a:r>
              <a:rPr lang="en-US" sz="2800" dirty="0" err="1"/>
              <a:t>uv</a:t>
            </a:r>
            <a:r>
              <a:rPr lang="en-US" sz="2800" dirty="0"/>
              <a:t> coordinates going outside that range</a:t>
            </a:r>
          </a:p>
        </p:txBody>
      </p:sp>
    </p:spTree>
    <p:extLst>
      <p:ext uri="{BB962C8B-B14F-4D97-AF65-F5344CB8AC3E}">
        <p14:creationId xmlns:p14="http://schemas.microsoft.com/office/powerpoint/2010/main" val="15650244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CBCE8-E819-26D3-9E9E-ECE2375FE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287" y="-109328"/>
            <a:ext cx="10515600" cy="1325563"/>
          </a:xfrm>
        </p:spPr>
        <p:txBody>
          <a:bodyPr/>
          <a:lstStyle/>
          <a:p>
            <a:r>
              <a:rPr lang="en-US" dirty="0"/>
              <a:t>Wrap and mirror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B7E35E-0B77-78E3-7B60-4435540DED28}"/>
              </a:ext>
            </a:extLst>
          </p:cNvPr>
          <p:cNvSpPr txBox="1"/>
          <p:nvPr/>
        </p:nvSpPr>
        <p:spPr>
          <a:xfrm>
            <a:off x="501770" y="1138598"/>
            <a:ext cx="433387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Good for tiling textures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Why?</a:t>
            </a:r>
            <a:endParaRPr lang="en-BE" sz="3200" dirty="0"/>
          </a:p>
        </p:txBody>
      </p:sp>
      <p:pic>
        <p:nvPicPr>
          <p:cNvPr id="6" name="Picture 5" descr="A collage of different patterns&#10;&#10;AI-generated content may be incorrect.">
            <a:extLst>
              <a:ext uri="{FF2B5EF4-FFF2-40B4-BE49-F238E27FC236}">
                <a16:creationId xmlns:a16="http://schemas.microsoft.com/office/drawing/2014/main" id="{AE5F0A11-E67C-016F-4842-2FB7430494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0609" y="336430"/>
            <a:ext cx="6171053" cy="631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4864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F48ED-BB16-8D13-068C-5C9E5DC3E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Clamp and border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0CB5E0-7840-0BBF-A5E8-F2FAD2C97717}"/>
              </a:ext>
            </a:extLst>
          </p:cNvPr>
          <p:cNvSpPr txBox="1"/>
          <p:nvPr/>
        </p:nvSpPr>
        <p:spPr>
          <a:xfrm>
            <a:off x="404326" y="1424473"/>
            <a:ext cx="43027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Clamp is a good default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Border is good for finding bugs</a:t>
            </a:r>
            <a:endParaRPr lang="en-BE" sz="2400" dirty="0"/>
          </a:p>
        </p:txBody>
      </p:sp>
      <p:pic>
        <p:nvPicPr>
          <p:cNvPr id="5" name="Picture 4" descr="A black and white image of a flag&#10;&#10;Description automatically generated">
            <a:extLst>
              <a:ext uri="{FF2B5EF4-FFF2-40B4-BE49-F238E27FC236}">
                <a16:creationId xmlns:a16="http://schemas.microsoft.com/office/drawing/2014/main" id="{6C8A22A9-6064-0AB1-5035-A056B7B0ED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371" y="2867608"/>
            <a:ext cx="5209359" cy="3502090"/>
          </a:xfrm>
          <a:prstGeom prst="rect">
            <a:avLst/>
          </a:prstGeom>
        </p:spPr>
      </p:pic>
      <p:pic>
        <p:nvPicPr>
          <p:cNvPr id="7" name="Picture 6" descr="A red and black squares&#10;&#10;Description automatically generated">
            <a:extLst>
              <a:ext uri="{FF2B5EF4-FFF2-40B4-BE49-F238E27FC236}">
                <a16:creationId xmlns:a16="http://schemas.microsoft.com/office/drawing/2014/main" id="{39CA5BE9-C025-338E-E2BC-E7D3C55622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167" y="3066661"/>
            <a:ext cx="4954556" cy="330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5461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57E48-85A9-BEBE-5190-F450C299C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unity, you can find this on your asset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FDDDE1-007A-7A3F-0702-D6A42E461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725" y="2202024"/>
            <a:ext cx="10380334" cy="429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4092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24C89-46B9-F869-D097-433318B50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everything clear?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9732293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BC2B9-7FFB-EFD2-BBD1-7F3727E4D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979" y="0"/>
            <a:ext cx="10515600" cy="1325563"/>
          </a:xfrm>
        </p:spPr>
        <p:txBody>
          <a:bodyPr/>
          <a:lstStyle/>
          <a:p>
            <a:r>
              <a:rPr lang="en-US" dirty="0"/>
              <a:t>Textures have some problems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0B77FE-F92B-E444-8AE8-54619D6D3758}"/>
              </a:ext>
            </a:extLst>
          </p:cNvPr>
          <p:cNvSpPr txBox="1"/>
          <p:nvPr/>
        </p:nvSpPr>
        <p:spPr>
          <a:xfrm>
            <a:off x="213343" y="1166159"/>
            <a:ext cx="1078872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For faraway objects, we need the entire texture in memory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For faraway objects, the full texture is too detailed, and creates aliasing (later class)</a:t>
            </a:r>
            <a:endParaRPr lang="en-BE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1FD137-FA38-7E1C-61F4-376F9F4A70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9578" y="2446638"/>
            <a:ext cx="7842422" cy="4411362"/>
          </a:xfrm>
          <a:prstGeom prst="rect">
            <a:avLst/>
          </a:prstGeom>
        </p:spPr>
      </p:pic>
      <p:pic>
        <p:nvPicPr>
          <p:cNvPr id="5" name="Picture 4" descr="A comparison of a black and white checkered floor&#10;&#10;AI-generated content may be incorrect.">
            <a:extLst>
              <a:ext uri="{FF2B5EF4-FFF2-40B4-BE49-F238E27FC236}">
                <a16:creationId xmlns:a16="http://schemas.microsoft.com/office/drawing/2014/main" id="{965ECBF7-069B-FEF2-0BA1-55F3763661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94363"/>
            <a:ext cx="4286390" cy="236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0037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048A7-26FC-F3D5-3E61-3E9C1CDE0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  <a:endParaRPr lang="en-BE" dirty="0"/>
          </a:p>
        </p:txBody>
      </p:sp>
      <p:pic>
        <p:nvPicPr>
          <p:cNvPr id="4" name="Picture 3" descr="A satellite in space with solar panels&#10;&#10;Description automatically generated">
            <a:extLst>
              <a:ext uri="{FF2B5EF4-FFF2-40B4-BE49-F238E27FC236}">
                <a16:creationId xmlns:a16="http://schemas.microsoft.com/office/drawing/2014/main" id="{8E34195F-C866-DD57-BD89-407469EE81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836" y="2233127"/>
            <a:ext cx="6623957" cy="44159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B1B9A30-F237-F99D-8248-4072D4E8C31B}"/>
              </a:ext>
            </a:extLst>
          </p:cNvPr>
          <p:cNvSpPr txBox="1"/>
          <p:nvPr/>
        </p:nvSpPr>
        <p:spPr>
          <a:xfrm>
            <a:off x="378996" y="1556226"/>
            <a:ext cx="475284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Create smaller versions iteratively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Often called a “pyramid”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Increases size by 33% </a:t>
            </a:r>
            <a:br>
              <a:rPr lang="en-US" sz="2400" dirty="0"/>
            </a:br>
            <a:r>
              <a:rPr lang="en-US" sz="2400" dirty="0"/>
              <a:t>(unless special implementation)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Only in memory what is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Worth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Also for 1D, cube, and 3D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8093981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D90DC-988A-D7C2-764B-07C02F9D2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don’t use this directly (in this course)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32BE34-BAB4-536D-52BC-4191E9D551FB}"/>
              </a:ext>
            </a:extLst>
          </p:cNvPr>
          <p:cNvSpPr txBox="1"/>
          <p:nvPr/>
        </p:nvSpPr>
        <p:spPr>
          <a:xfrm>
            <a:off x="964164" y="1847462"/>
            <a:ext cx="48894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Unity handles a lot under the hood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Very important concept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We’ll see more in the aliasing class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36705072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BD806-FE3C-2560-A204-D2EB5A7CC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</a:t>
            </a:r>
            <a:r>
              <a:rPr lang="en-US" dirty="0" err="1"/>
              <a:t>uv</a:t>
            </a:r>
            <a:r>
              <a:rPr lang="en-US" dirty="0"/>
              <a:t> / </a:t>
            </a:r>
            <a:r>
              <a:rPr lang="en-US" dirty="0" err="1"/>
              <a:t>texcoords</a:t>
            </a:r>
            <a:r>
              <a:rPr lang="en-US" dirty="0"/>
              <a:t> are floats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679F05-7EEF-3379-AA36-0B07F665B70F}"/>
              </a:ext>
            </a:extLst>
          </p:cNvPr>
          <p:cNvSpPr txBox="1"/>
          <p:nvPr/>
        </p:nvSpPr>
        <p:spPr>
          <a:xfrm>
            <a:off x="566057" y="1567543"/>
            <a:ext cx="669315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can sample a texture with </a:t>
            </a:r>
            <a:r>
              <a:rPr lang="en-US" sz="2400" dirty="0" err="1"/>
              <a:t>eg</a:t>
            </a:r>
            <a:r>
              <a:rPr lang="en-US" sz="2400" dirty="0"/>
              <a:t> (0.0, 0.4)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Imagine we have a 2x2 texture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What should the result be?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(Assume the border mode is set to clamp)</a:t>
            </a:r>
            <a:endParaRPr lang="en-BE" sz="2400" dirty="0"/>
          </a:p>
        </p:txBody>
      </p:sp>
      <p:pic>
        <p:nvPicPr>
          <p:cNvPr id="6" name="Picture 5" descr="A black and white checkered pattern&#10;&#10;Description automatically generated">
            <a:extLst>
              <a:ext uri="{FF2B5EF4-FFF2-40B4-BE49-F238E27FC236}">
                <a16:creationId xmlns:a16="http://schemas.microsoft.com/office/drawing/2014/main" id="{E1999D35-2BBD-6948-87CF-BE226E07D4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3551" y="1644082"/>
            <a:ext cx="5069634" cy="5069634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88663C6-1358-D42E-AAAA-0F7D1F650E68}"/>
              </a:ext>
            </a:extLst>
          </p:cNvPr>
          <p:cNvCxnSpPr>
            <a:cxnSpLocks/>
          </p:cNvCxnSpPr>
          <p:nvPr/>
        </p:nvCxnSpPr>
        <p:spPr>
          <a:xfrm>
            <a:off x="7259216" y="4764833"/>
            <a:ext cx="1772817" cy="194888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45155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4D28-AE5B-BF33-D187-B883C9114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probably said black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F5AE94-5F3C-AB2B-7E4F-BC4D0A65D3F2}"/>
              </a:ext>
            </a:extLst>
          </p:cNvPr>
          <p:cNvSpPr txBox="1"/>
          <p:nvPr/>
        </p:nvSpPr>
        <p:spPr>
          <a:xfrm>
            <a:off x="609601" y="1441872"/>
            <a:ext cx="78252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And this is true is some circumstances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Especially since we know it’s a checkerboard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call this “nearest </a:t>
            </a:r>
            <a:r>
              <a:rPr lang="en-US" sz="2400" dirty="0" err="1"/>
              <a:t>neighbour</a:t>
            </a:r>
            <a:r>
              <a:rPr lang="en-US" sz="2400" dirty="0"/>
              <a:t>” or “point” filtering</a:t>
            </a:r>
            <a:endParaRPr lang="en-BE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AFAB58-F367-9AED-1F7F-3C5D50128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283" y="2696314"/>
            <a:ext cx="4604664" cy="3796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3277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18F1C-4BE7-5FC2-62E6-B0188BE6F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580" y="365125"/>
            <a:ext cx="11055220" cy="1325563"/>
          </a:xfrm>
        </p:spPr>
        <p:txBody>
          <a:bodyPr/>
          <a:lstStyle/>
          <a:p>
            <a:r>
              <a:rPr lang="en-US" dirty="0"/>
              <a:t>We can also try to make a smoother transition</a:t>
            </a:r>
            <a:endParaRPr lang="en-B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280774-B568-B777-9E47-9F66B887A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181" y="2653764"/>
            <a:ext cx="4744112" cy="38391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9DA1B0-350A-DEC8-C50F-BD7489BDB96A}"/>
              </a:ext>
            </a:extLst>
          </p:cNvPr>
          <p:cNvSpPr txBox="1"/>
          <p:nvPr/>
        </p:nvSpPr>
        <p:spPr>
          <a:xfrm>
            <a:off x="838200" y="1459855"/>
            <a:ext cx="77680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calculate the distances between pixels of our “sample”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interpolate linearly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37239219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36792-3C38-9F62-507B-D5FDCDDC9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917" y="365125"/>
            <a:ext cx="11464213" cy="1325563"/>
          </a:xfrm>
        </p:spPr>
        <p:txBody>
          <a:bodyPr/>
          <a:lstStyle/>
          <a:p>
            <a:r>
              <a:rPr lang="en-US" dirty="0"/>
              <a:t>Point is good when you want *exact* pixel values</a:t>
            </a:r>
            <a:endParaRPr lang="en-BE" dirty="0"/>
          </a:p>
        </p:txBody>
      </p:sp>
      <p:pic>
        <p:nvPicPr>
          <p:cNvPr id="4" name="Picture 3" descr="A screenshot of a video game&#10;&#10;Description automatically generated">
            <a:extLst>
              <a:ext uri="{FF2B5EF4-FFF2-40B4-BE49-F238E27FC236}">
                <a16:creationId xmlns:a16="http://schemas.microsoft.com/office/drawing/2014/main" id="{C44A5210-34F1-0750-BF2A-FFC6BD6385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35" y="1640925"/>
            <a:ext cx="6203185" cy="51673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311B9E-A375-BE09-0998-F333C136981D}"/>
              </a:ext>
            </a:extLst>
          </p:cNvPr>
          <p:cNvSpPr txBox="1"/>
          <p:nvPr/>
        </p:nvSpPr>
        <p:spPr>
          <a:xfrm>
            <a:off x="7564016" y="2351314"/>
            <a:ext cx="17202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2D sprites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Fonts</a:t>
            </a:r>
          </a:p>
        </p:txBody>
      </p:sp>
    </p:spTree>
    <p:extLst>
      <p:ext uri="{BB962C8B-B14F-4D97-AF65-F5344CB8AC3E}">
        <p14:creationId xmlns:p14="http://schemas.microsoft.com/office/powerpoint/2010/main" val="13023338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5FB9F-3349-62F6-F531-464C75DB7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360" y="97648"/>
            <a:ext cx="10515600" cy="1325563"/>
          </a:xfrm>
        </p:spPr>
        <p:txBody>
          <a:bodyPr/>
          <a:lstStyle/>
          <a:p>
            <a:r>
              <a:rPr lang="en-US" dirty="0"/>
              <a:t>Linear is good in realistic 3D scenes</a:t>
            </a:r>
            <a:endParaRPr lang="en-BE" dirty="0"/>
          </a:p>
        </p:txBody>
      </p:sp>
      <p:pic>
        <p:nvPicPr>
          <p:cNvPr id="4" name="Picture 3" descr="A green mountain with blue sky&#10;&#10;Description automatically generated">
            <a:extLst>
              <a:ext uri="{FF2B5EF4-FFF2-40B4-BE49-F238E27FC236}">
                <a16:creationId xmlns:a16="http://schemas.microsoft.com/office/drawing/2014/main" id="{817FDC99-7C85-5D36-82CF-0540C1A4A6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7118"/>
            <a:ext cx="4559559" cy="2595441"/>
          </a:xfrm>
          <a:prstGeom prst="rect">
            <a:avLst/>
          </a:prstGeom>
        </p:spPr>
      </p:pic>
      <p:pic>
        <p:nvPicPr>
          <p:cNvPr id="8" name="Picture 7" descr="A green mountain with blue sky&#10;&#10;Description automatically generated">
            <a:extLst>
              <a:ext uri="{FF2B5EF4-FFF2-40B4-BE49-F238E27FC236}">
                <a16:creationId xmlns:a16="http://schemas.microsoft.com/office/drawing/2014/main" id="{5737DE24-785C-C69E-6071-D8BC507F5D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2559"/>
            <a:ext cx="4559559" cy="25954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5A409B6-97B9-5838-E5AE-420C7B9FDE07}"/>
              </a:ext>
            </a:extLst>
          </p:cNvPr>
          <p:cNvSpPr txBox="1"/>
          <p:nvPr/>
        </p:nvSpPr>
        <p:spPr>
          <a:xfrm flipH="1">
            <a:off x="5656525" y="1604165"/>
            <a:ext cx="407841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Less aliasing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Looks higher resolution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Above is point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Below is linear 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22856756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A5456-72D8-9E96-111C-BBFDA6A0D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BBA73-6AF8-5AF1-701A-5B10590B2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94" y="0"/>
            <a:ext cx="11055220" cy="1325563"/>
          </a:xfrm>
        </p:spPr>
        <p:txBody>
          <a:bodyPr/>
          <a:lstStyle/>
          <a:p>
            <a:r>
              <a:rPr lang="en-US" dirty="0"/>
              <a:t>BTW, I’m sweeping sampling under the rug</a:t>
            </a:r>
            <a:endParaRPr lang="en-B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4E5530-CD1A-5A37-0F44-A84FB479C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181" y="2653764"/>
            <a:ext cx="4744112" cy="38391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E48D1E-94B8-0A25-78DA-326EC98A13F5}"/>
              </a:ext>
            </a:extLst>
          </p:cNvPr>
          <p:cNvSpPr txBox="1"/>
          <p:nvPr/>
        </p:nvSpPr>
        <p:spPr>
          <a:xfrm>
            <a:off x="800877" y="987104"/>
            <a:ext cx="1131572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can see the gray line (and the texture) as a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Asking a value is called “Sampling”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There’s a ton of theory behind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 HLSL, we create a Texture (grid of values)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also create a Sampler (the way in which values are calculated for our </a:t>
            </a:r>
            <a:r>
              <a:rPr lang="en-US" sz="2400" dirty="0" err="1"/>
              <a:t>uv</a:t>
            </a:r>
            <a:r>
              <a:rPr lang="en-US" sz="2400" dirty="0"/>
              <a:t> </a:t>
            </a:r>
            <a:r>
              <a:rPr lang="en-US" sz="2400" dirty="0" err="1"/>
              <a:t>coordnates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576376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F7207-443F-5EBC-5AAE-76F98FFB7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  <a:endParaRPr lang="en-B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1E9CE9-F579-DF10-9B03-3AEA8CF090D9}"/>
              </a:ext>
            </a:extLst>
          </p:cNvPr>
          <p:cNvSpPr txBox="1"/>
          <p:nvPr/>
        </p:nvSpPr>
        <p:spPr>
          <a:xfrm>
            <a:off x="678024" y="1803919"/>
            <a:ext cx="6599179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You usually want linear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In 2D, you usually want point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Point filtering gives your exact pixel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Linear gives you smoother transition</a:t>
            </a:r>
            <a:endParaRPr lang="en-BE" sz="2800" dirty="0"/>
          </a:p>
        </p:txBody>
      </p:sp>
    </p:spTree>
    <p:extLst>
      <p:ext uri="{BB962C8B-B14F-4D97-AF65-F5344CB8AC3E}">
        <p14:creationId xmlns:p14="http://schemas.microsoft.com/office/powerpoint/2010/main" val="31574084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56B0A-5D4B-2BA3-EB29-CC143B014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Unity : Asset -&gt; Filter mode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B6813F-AE71-173D-3A9A-9088FC7C7E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231" y="2383041"/>
            <a:ext cx="8411749" cy="357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221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2BA60-A9DD-064B-7D6B-50AAF69B9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do need to care about this</a:t>
            </a:r>
            <a:endParaRPr lang="en-BE" dirty="0"/>
          </a:p>
        </p:txBody>
      </p:sp>
      <p:pic>
        <p:nvPicPr>
          <p:cNvPr id="4" name="Picture 3" descr="A pixelated square object with grass&#10;&#10;AI-generated content may be incorrect.">
            <a:extLst>
              <a:ext uri="{FF2B5EF4-FFF2-40B4-BE49-F238E27FC236}">
                <a16:creationId xmlns:a16="http://schemas.microsoft.com/office/drawing/2014/main" id="{CE24306A-DE7C-8C61-8220-B1D70EC024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1866" y="3162300"/>
            <a:ext cx="6570133" cy="3695700"/>
          </a:xfrm>
          <a:prstGeom prst="rect">
            <a:avLst/>
          </a:prstGeom>
        </p:spPr>
      </p:pic>
      <p:pic>
        <p:nvPicPr>
          <p:cNvPr id="6" name="Picture 5" descr="A video game screen shot of a cube&#10;&#10;AI-generated content may be incorrect.">
            <a:extLst>
              <a:ext uri="{FF2B5EF4-FFF2-40B4-BE49-F238E27FC236}">
                <a16:creationId xmlns:a16="http://schemas.microsoft.com/office/drawing/2014/main" id="{DE90B542-FB3C-1E31-D395-921513B9A3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28583"/>
            <a:ext cx="532130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7818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9A82B-1CCA-52C3-6ABC-461780DBC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E8552A-EDD2-5A7E-610F-6732135F024C}"/>
              </a:ext>
            </a:extLst>
          </p:cNvPr>
          <p:cNvSpPr txBox="1"/>
          <p:nvPr/>
        </p:nvSpPr>
        <p:spPr>
          <a:xfrm>
            <a:off x="590938" y="1953208"/>
            <a:ext cx="90355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Textures are used for spatially varying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They can be 1,2, and 3d. Or cubes.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They can be used for visible color, or normal, or any other parameter</a:t>
            </a:r>
          </a:p>
        </p:txBody>
      </p:sp>
    </p:spTree>
    <p:extLst>
      <p:ext uri="{BB962C8B-B14F-4D97-AF65-F5344CB8AC3E}">
        <p14:creationId xmlns:p14="http://schemas.microsoft.com/office/powerpoint/2010/main" val="661215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8FA7D-094B-0366-6739-339605098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D40AB-A21B-F174-925A-B0473B629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class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4B1ECD-E76B-1039-33DA-F73AD6BC6777}"/>
              </a:ext>
            </a:extLst>
          </p:cNvPr>
          <p:cNvSpPr txBox="1"/>
          <p:nvPr/>
        </p:nvSpPr>
        <p:spPr>
          <a:xfrm>
            <a:off x="682657" y="1969322"/>
            <a:ext cx="951707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Texture basic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Texture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Border’s, </a:t>
            </a:r>
            <a:r>
              <a:rPr lang="en-US" sz="2800" dirty="0" err="1">
                <a:sym typeface="Wingdings" panose="05000000000000000000" pitchFamily="2" charset="2"/>
              </a:rPr>
              <a:t>mips</a:t>
            </a:r>
            <a:r>
              <a:rPr lang="en-US" sz="2800" dirty="0">
                <a:sym typeface="Wingdings" panose="05000000000000000000" pitchFamily="2" charset="2"/>
              </a:rPr>
              <a:t>, and sampling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 Normal maps 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Creating normal maps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4739569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F189C-2230-3875-4553-DADD61B89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437" y="126411"/>
            <a:ext cx="10515600" cy="1325563"/>
          </a:xfrm>
        </p:spPr>
        <p:txBody>
          <a:bodyPr/>
          <a:lstStyle/>
          <a:p>
            <a:r>
              <a:rPr lang="en-US" dirty="0"/>
              <a:t>Problem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8B209E-CA1A-0B4E-C469-2AC6E14EFB26}"/>
              </a:ext>
            </a:extLst>
          </p:cNvPr>
          <p:cNvSpPr txBox="1"/>
          <p:nvPr/>
        </p:nvSpPr>
        <p:spPr>
          <a:xfrm>
            <a:off x="634483" y="1219200"/>
            <a:ext cx="69115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want as few triangles (vertices) as possible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But we do want the geometric detail normal give us</a:t>
            </a:r>
          </a:p>
        </p:txBody>
      </p:sp>
      <p:pic>
        <p:nvPicPr>
          <p:cNvPr id="5" name="Picture 4" descr="A computer screen shot of a computer screen&#10;&#10;Description automatically generated">
            <a:extLst>
              <a:ext uri="{FF2B5EF4-FFF2-40B4-BE49-F238E27FC236}">
                <a16:creationId xmlns:a16="http://schemas.microsoft.com/office/drawing/2014/main" id="{F12D1BC4-2AC5-4FD0-09EA-47C58D20DF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60306"/>
            <a:ext cx="11153192" cy="409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4453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F96C4-5C0A-17C2-AD1E-BE2EF44C9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  <a:endParaRPr lang="en-B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666785-30A7-2523-732E-89620915F878}"/>
              </a:ext>
            </a:extLst>
          </p:cNvPr>
          <p:cNvSpPr txBox="1"/>
          <p:nvPr/>
        </p:nvSpPr>
        <p:spPr>
          <a:xfrm>
            <a:off x="597159" y="1441872"/>
            <a:ext cx="332956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Less vertices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/>
              <a:t>Normals</a:t>
            </a:r>
            <a:r>
              <a:rPr lang="en-US" sz="2800" dirty="0"/>
              <a:t> in textures</a:t>
            </a:r>
            <a:endParaRPr lang="en-BE" sz="2800" dirty="0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DBA19908-3635-F619-B82E-09707132AE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2708031"/>
            <a:ext cx="8649193" cy="4149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7226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3375A-2329-5ABE-30CC-F1AB2FD42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Wait, don’t we have more data now?</a:t>
            </a:r>
            <a:endParaRPr lang="en-BE" dirty="0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D8F25698-E6A1-2217-7775-96D9F13A6E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550" y="1807986"/>
            <a:ext cx="8649193" cy="4149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0278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45D0B-744B-1EB8-D8F3-B9B26C150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029" y="130252"/>
            <a:ext cx="10515600" cy="1325563"/>
          </a:xfrm>
        </p:spPr>
        <p:txBody>
          <a:bodyPr/>
          <a:lstStyle/>
          <a:p>
            <a:r>
              <a:rPr lang="en-US" dirty="0"/>
              <a:t>Yes… but no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CEF7C1-5C33-6F43-2199-AB96AC63CEBE}"/>
              </a:ext>
            </a:extLst>
          </p:cNvPr>
          <p:cNvSpPr txBox="1"/>
          <p:nvPr/>
        </p:nvSpPr>
        <p:spPr>
          <a:xfrm>
            <a:off x="435429" y="1374711"/>
            <a:ext cx="1126135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Mesh LOD is per object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Texture LOD is per pixel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We have more data in the texture, but we may read less of it in a draw call</a:t>
            </a:r>
            <a:endParaRPr lang="en-BE" sz="2800" dirty="0"/>
          </a:p>
        </p:txBody>
      </p:sp>
      <p:pic>
        <p:nvPicPr>
          <p:cNvPr id="6" name="Picture 5" descr="A screenshot of a computer game&#10;&#10;Description automatically generated">
            <a:extLst>
              <a:ext uri="{FF2B5EF4-FFF2-40B4-BE49-F238E27FC236}">
                <a16:creationId xmlns:a16="http://schemas.microsoft.com/office/drawing/2014/main" id="{40180510-AE62-B4B8-C89B-16916476B8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8538" y="2935202"/>
            <a:ext cx="8393650" cy="3301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3122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CC6DD-3EC4-711E-756C-0D70365B4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66E56-D60E-AC55-266B-24E0C2626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029" y="130252"/>
            <a:ext cx="10515600" cy="1325563"/>
          </a:xfrm>
        </p:spPr>
        <p:txBody>
          <a:bodyPr/>
          <a:lstStyle/>
          <a:p>
            <a:r>
              <a:rPr lang="en-US" dirty="0"/>
              <a:t>Yes… but no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698A9E-1730-9B57-B469-4DA5C46CB10F}"/>
              </a:ext>
            </a:extLst>
          </p:cNvPr>
          <p:cNvSpPr txBox="1"/>
          <p:nvPr/>
        </p:nvSpPr>
        <p:spPr>
          <a:xfrm>
            <a:off x="435429" y="1374711"/>
            <a:ext cx="38724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Mesh LOD is per object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Texture LOD is per pixel</a:t>
            </a:r>
            <a:endParaRPr lang="en-BE" sz="2800" dirty="0"/>
          </a:p>
        </p:txBody>
      </p:sp>
      <p:pic>
        <p:nvPicPr>
          <p:cNvPr id="5" name="Picture 4" descr="A black and white checkered surface with a rainbow&#10;&#10;Description automatically generated">
            <a:extLst>
              <a:ext uri="{FF2B5EF4-FFF2-40B4-BE49-F238E27FC236}">
                <a16:creationId xmlns:a16="http://schemas.microsoft.com/office/drawing/2014/main" id="{1B76BAB9-24B1-6D5D-9396-CBFC20B389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5492" y="3054220"/>
            <a:ext cx="6427959" cy="3213979"/>
          </a:xfrm>
          <a:prstGeom prst="rect">
            <a:avLst/>
          </a:prstGeom>
        </p:spPr>
      </p:pic>
      <p:pic>
        <p:nvPicPr>
          <p:cNvPr id="8" name="Picture 7" descr="A group of squares in different sizes&#10;&#10;Description automatically generated">
            <a:extLst>
              <a:ext uri="{FF2B5EF4-FFF2-40B4-BE49-F238E27FC236}">
                <a16:creationId xmlns:a16="http://schemas.microsoft.com/office/drawing/2014/main" id="{434DEF51-21E2-D2B5-F960-E874A143FF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63" y="3164341"/>
            <a:ext cx="4876800" cy="261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2930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72E79-4376-BFC6-B231-169062901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tally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002B8A-0354-DAE7-9682-69005CC3F3A7}"/>
              </a:ext>
            </a:extLst>
          </p:cNvPr>
          <p:cNvSpPr txBox="1"/>
          <p:nvPr/>
        </p:nvSpPr>
        <p:spPr>
          <a:xfrm>
            <a:off x="702906" y="2152261"/>
            <a:ext cx="8427115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More data on disk (in most cases)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Maybe more in RAM (if all </a:t>
            </a:r>
            <a:r>
              <a:rPr lang="en-US" sz="2800" dirty="0" err="1"/>
              <a:t>mips</a:t>
            </a:r>
            <a:r>
              <a:rPr lang="en-US" sz="2800" dirty="0"/>
              <a:t> are loaded are loaded)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Maybe less in ram (with advanced texture streaming)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Most important : less read from RAM (“</a:t>
            </a:r>
            <a:r>
              <a:rPr lang="en-US" sz="2800" dirty="0" err="1"/>
              <a:t>fillrate</a:t>
            </a:r>
            <a:r>
              <a:rPr lang="en-US" sz="2800" dirty="0"/>
              <a:t>”)</a:t>
            </a:r>
            <a:endParaRPr lang="en-BE" sz="2800" dirty="0"/>
          </a:p>
        </p:txBody>
      </p:sp>
    </p:spTree>
    <p:extLst>
      <p:ext uri="{BB962C8B-B14F-4D97-AF65-F5344CB8AC3E}">
        <p14:creationId xmlns:p14="http://schemas.microsoft.com/office/powerpoint/2010/main" val="11048295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24B69-0FCB-2325-F569-9C45C8689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164" y="433549"/>
            <a:ext cx="10515600" cy="1325563"/>
          </a:xfrm>
        </p:spPr>
        <p:txBody>
          <a:bodyPr/>
          <a:lstStyle/>
          <a:p>
            <a:r>
              <a:rPr lang="en-US" dirty="0"/>
              <a:t>Triangle vs vertex </a:t>
            </a:r>
            <a:r>
              <a:rPr lang="en-US" dirty="0" err="1"/>
              <a:t>normals</a:t>
            </a:r>
            <a:endParaRPr lang="en-BE" dirty="0"/>
          </a:p>
        </p:txBody>
      </p:sp>
      <p:pic>
        <p:nvPicPr>
          <p:cNvPr id="11" name="Picture 10" descr="A pair of cylinder shaped objects&#10;&#10;Description automatically generated">
            <a:extLst>
              <a:ext uri="{FF2B5EF4-FFF2-40B4-BE49-F238E27FC236}">
                <a16:creationId xmlns:a16="http://schemas.microsoft.com/office/drawing/2014/main" id="{DD8A039E-546C-B486-A669-EF4CA486EB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4534" y="1532836"/>
            <a:ext cx="7605050" cy="532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6682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05FF-6593-6D2A-EF06-A071F7DE4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Without a normal map</a:t>
            </a:r>
            <a:endParaRPr lang="en-BE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526F200-617D-287F-0075-106C60833C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3669" y="1940767"/>
            <a:ext cx="11428543" cy="406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92115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5B873-9AD6-DDB3-7B85-AD8886EB4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 a normal map</a:t>
            </a:r>
            <a:endParaRPr lang="en-BE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EA3DD77-2C41-FE3B-D36F-5A5260A407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9701" y="2326433"/>
            <a:ext cx="11333230" cy="40295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FB9E1D4-4B43-AF78-147C-1301BD3F19A8}"/>
              </a:ext>
            </a:extLst>
          </p:cNvPr>
          <p:cNvSpPr txBox="1"/>
          <p:nvPr/>
        </p:nvSpPr>
        <p:spPr>
          <a:xfrm>
            <a:off x="7498080" y="899160"/>
            <a:ext cx="39651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Green: apparent geometry, not triangles</a:t>
            </a:r>
            <a:br>
              <a:rPr lang="en-US" dirty="0"/>
            </a:br>
            <a:r>
              <a:rPr lang="en-US" dirty="0"/>
              <a:t>Orange: mapped normal</a:t>
            </a:r>
          </a:p>
          <a:p>
            <a:r>
              <a:rPr lang="en-US" dirty="0"/>
              <a:t>Red: Vertex normal</a:t>
            </a:r>
          </a:p>
          <a:p>
            <a:r>
              <a:rPr lang="en-US" dirty="0"/>
              <a:t>Black: actual geometry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420316160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9BE28-B98B-1CA1-5B5A-1F8EDD84A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</a:t>
            </a:r>
            <a:endParaRPr lang="en-BE" dirty="0"/>
          </a:p>
        </p:txBody>
      </p:sp>
      <p:pic>
        <p:nvPicPr>
          <p:cNvPr id="4" name="Picture 3" descr="A blue background with text&#10;&#10;Description automatically generated">
            <a:extLst>
              <a:ext uri="{FF2B5EF4-FFF2-40B4-BE49-F238E27FC236}">
                <a16:creationId xmlns:a16="http://schemas.microsoft.com/office/drawing/2014/main" id="{066B31D3-0B89-8DA2-AA3C-0F81CCEC61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99" y="2251788"/>
            <a:ext cx="3920582" cy="3920582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21874134-F943-8CCA-9D96-2C66DC5CEC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3544" y="2189583"/>
            <a:ext cx="7007090" cy="3726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54911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E0653-953D-2F3D-869E-53CA69CAE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someone explain why it’s purple?</a:t>
            </a:r>
            <a:endParaRPr lang="en-BE" dirty="0"/>
          </a:p>
        </p:txBody>
      </p:sp>
      <p:pic>
        <p:nvPicPr>
          <p:cNvPr id="3" name="Picture 2" descr="A blue background with text&#10;&#10;Description automatically generated">
            <a:extLst>
              <a:ext uri="{FF2B5EF4-FFF2-40B4-BE49-F238E27FC236}">
                <a16:creationId xmlns:a16="http://schemas.microsoft.com/office/drawing/2014/main" id="{9B5D1E66-3ABC-6520-22BA-6F53A4088A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899" y="2139820"/>
            <a:ext cx="4353055" cy="4353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46145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932B5-29D5-D4BF-38B1-3CD3ADC28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DA2B-620B-A2E8-862D-373894EB5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class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8444D5-8B14-9A5B-A2E5-7C34810ACF75}"/>
              </a:ext>
            </a:extLst>
          </p:cNvPr>
          <p:cNvSpPr txBox="1"/>
          <p:nvPr/>
        </p:nvSpPr>
        <p:spPr>
          <a:xfrm>
            <a:off x="682657" y="1969322"/>
            <a:ext cx="951707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Texture basic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Texture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Border’s, </a:t>
            </a:r>
            <a:r>
              <a:rPr lang="en-US" sz="2800" dirty="0" err="1">
                <a:sym typeface="Wingdings" panose="05000000000000000000" pitchFamily="2" charset="2"/>
              </a:rPr>
              <a:t>mips</a:t>
            </a:r>
            <a:r>
              <a:rPr lang="en-US" sz="2800" dirty="0">
                <a:sym typeface="Wingdings" panose="05000000000000000000" pitchFamily="2" charset="2"/>
              </a:rPr>
              <a:t>, and sampling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Normal maps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 Creating normal maps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56407594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64744-9B1B-9CE0-235A-97131FFCD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the real world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720374-D312-AA85-1BBB-63998D57ED8D}"/>
              </a:ext>
            </a:extLst>
          </p:cNvPr>
          <p:cNvSpPr txBox="1"/>
          <p:nvPr/>
        </p:nvSpPr>
        <p:spPr>
          <a:xfrm>
            <a:off x="1013460" y="1866900"/>
            <a:ext cx="56505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 high detail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Compare differences with a low detail model (distance)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BE" dirty="0"/>
          </a:p>
        </p:txBody>
      </p:sp>
      <p:pic>
        <p:nvPicPr>
          <p:cNvPr id="5" name="Picture 4" descr="A collage of a person's face&#10;&#10;AI-generated content may be incorrect.">
            <a:extLst>
              <a:ext uri="{FF2B5EF4-FFF2-40B4-BE49-F238E27FC236}">
                <a16:creationId xmlns:a16="http://schemas.microsoft.com/office/drawing/2014/main" id="{9525350D-074C-50C6-A1A0-A33BA96165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25" y="4168140"/>
            <a:ext cx="6172606" cy="2607309"/>
          </a:xfrm>
          <a:prstGeom prst="rect">
            <a:avLst/>
          </a:prstGeom>
        </p:spPr>
      </p:pic>
      <p:pic>
        <p:nvPicPr>
          <p:cNvPr id="7" name="Picture 6" descr="A diagram of different types of lines&#10;&#10;AI-generated content may be incorrect.">
            <a:extLst>
              <a:ext uri="{FF2B5EF4-FFF2-40B4-BE49-F238E27FC236}">
                <a16:creationId xmlns:a16="http://schemas.microsoft.com/office/drawing/2014/main" id="{87E248CC-F7AD-6F36-46BB-446D41C958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9891" y="2714047"/>
            <a:ext cx="2572109" cy="414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81285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A4B84-F01D-AA0A-74E2-83D22CF51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how do we go from heightmap to normal?</a:t>
            </a:r>
            <a:endParaRPr lang="en-BE" dirty="0"/>
          </a:p>
        </p:txBody>
      </p:sp>
      <p:pic>
        <p:nvPicPr>
          <p:cNvPr id="3" name="Picture 2" descr="A diagram of different types of lines&#10;&#10;AI-generated content may be incorrect.">
            <a:extLst>
              <a:ext uri="{FF2B5EF4-FFF2-40B4-BE49-F238E27FC236}">
                <a16:creationId xmlns:a16="http://schemas.microsoft.com/office/drawing/2014/main" id="{52EBD8B4-1FDD-B9DE-E55D-30136F5C14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971" y="2714047"/>
            <a:ext cx="2572109" cy="4143953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2F3C7FC-8D34-29AA-ED35-F58DC5A3371F}"/>
              </a:ext>
            </a:extLst>
          </p:cNvPr>
          <p:cNvCxnSpPr/>
          <p:nvPr/>
        </p:nvCxnSpPr>
        <p:spPr>
          <a:xfrm flipV="1">
            <a:off x="2369820" y="3741420"/>
            <a:ext cx="3810000" cy="138684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F66A123-608B-97C0-874D-1A58DA548B5D}"/>
              </a:ext>
            </a:extLst>
          </p:cNvPr>
          <p:cNvSpPr txBox="1"/>
          <p:nvPr/>
        </p:nvSpPr>
        <p:spPr>
          <a:xfrm>
            <a:off x="6499860" y="3510587"/>
            <a:ext cx="46410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How do we calculate these vectors?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231428227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177C4-22F5-3A63-655D-CC57D7606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can do this ‘blindly’ by finite differencing</a:t>
            </a:r>
            <a:endParaRPr lang="en-B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4940CF-E7F5-0F66-C2DC-9F6973ECB7F2}"/>
              </a:ext>
            </a:extLst>
          </p:cNvPr>
          <p:cNvSpPr txBox="1"/>
          <p:nvPr/>
        </p:nvSpPr>
        <p:spPr>
          <a:xfrm>
            <a:off x="617220" y="1531620"/>
            <a:ext cx="917385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Attractive method because we don’t need to integrate (think about it)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Evaluate the function twice (in 2D)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Gives us the slope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Perpendicular = N</a:t>
            </a:r>
            <a:endParaRPr lang="en-BE" sz="24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AC27813-BD4D-7DBD-99CE-4B787505F949}"/>
              </a:ext>
            </a:extLst>
          </p:cNvPr>
          <p:cNvCxnSpPr/>
          <p:nvPr/>
        </p:nvCxnSpPr>
        <p:spPr>
          <a:xfrm>
            <a:off x="731520" y="4290060"/>
            <a:ext cx="6057900" cy="225552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7A06DB4A-056E-2A9D-7701-475CE206A80B}"/>
              </a:ext>
            </a:extLst>
          </p:cNvPr>
          <p:cNvSpPr/>
          <p:nvPr/>
        </p:nvSpPr>
        <p:spPr>
          <a:xfrm>
            <a:off x="2377440" y="4663440"/>
            <a:ext cx="645096" cy="57912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62B7F76-3938-C7A2-85CC-44364A339F42}"/>
              </a:ext>
            </a:extLst>
          </p:cNvPr>
          <p:cNvSpPr/>
          <p:nvPr/>
        </p:nvSpPr>
        <p:spPr>
          <a:xfrm>
            <a:off x="4559053" y="5543550"/>
            <a:ext cx="645096" cy="57912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9DD86A4-DD0A-6687-7110-F66ACF04860D}"/>
              </a:ext>
            </a:extLst>
          </p:cNvPr>
          <p:cNvCxnSpPr>
            <a:cxnSpLocks/>
          </p:cNvCxnSpPr>
          <p:nvPr/>
        </p:nvCxnSpPr>
        <p:spPr>
          <a:xfrm>
            <a:off x="3022536" y="4290060"/>
            <a:ext cx="2181613" cy="830580"/>
          </a:xfrm>
          <a:prstGeom prst="straightConnector1">
            <a:avLst/>
          </a:prstGeom>
          <a:ln w="762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4ADF23D-AB22-49B0-7CC0-6D8CF16DCF0C}"/>
              </a:ext>
            </a:extLst>
          </p:cNvPr>
          <p:cNvCxnSpPr>
            <a:cxnSpLocks/>
          </p:cNvCxnSpPr>
          <p:nvPr/>
        </p:nvCxnSpPr>
        <p:spPr>
          <a:xfrm>
            <a:off x="7136130" y="4705350"/>
            <a:ext cx="982980" cy="0"/>
          </a:xfrm>
          <a:prstGeom prst="straightConnector1">
            <a:avLst/>
          </a:prstGeom>
          <a:ln w="762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17DCB7F-B1C5-F7A2-48E8-D4ACD7203EBC}"/>
              </a:ext>
            </a:extLst>
          </p:cNvPr>
          <p:cNvSpPr txBox="1"/>
          <p:nvPr/>
        </p:nvSpPr>
        <p:spPr>
          <a:xfrm>
            <a:off x="8264065" y="3003648"/>
            <a:ext cx="3927935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B 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B – A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Perpendicular(B-A) == Normal</a:t>
            </a:r>
            <a:endParaRPr lang="en-BE" sz="24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276E493-D8F9-5A57-7A0F-638DF26ADE35}"/>
              </a:ext>
            </a:extLst>
          </p:cNvPr>
          <p:cNvCxnSpPr>
            <a:cxnSpLocks/>
          </p:cNvCxnSpPr>
          <p:nvPr/>
        </p:nvCxnSpPr>
        <p:spPr>
          <a:xfrm>
            <a:off x="7136130" y="5469344"/>
            <a:ext cx="982980" cy="0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A938F7F-0761-BAB6-346A-49B1AE0C460F}"/>
              </a:ext>
            </a:extLst>
          </p:cNvPr>
          <p:cNvCxnSpPr>
            <a:cxnSpLocks/>
          </p:cNvCxnSpPr>
          <p:nvPr/>
        </p:nvCxnSpPr>
        <p:spPr>
          <a:xfrm flipV="1">
            <a:off x="2948940" y="2438400"/>
            <a:ext cx="811530" cy="1851660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436F50B5-867E-8103-FE3E-B71CE6D91709}"/>
              </a:ext>
            </a:extLst>
          </p:cNvPr>
          <p:cNvSpPr/>
          <p:nvPr/>
        </p:nvSpPr>
        <p:spPr>
          <a:xfrm>
            <a:off x="7474014" y="3651797"/>
            <a:ext cx="645096" cy="57912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FBD843D-529E-81DF-0572-BE2014EB4CA3}"/>
              </a:ext>
            </a:extLst>
          </p:cNvPr>
          <p:cNvSpPr/>
          <p:nvPr/>
        </p:nvSpPr>
        <p:spPr>
          <a:xfrm>
            <a:off x="7474014" y="2887804"/>
            <a:ext cx="645096" cy="57912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9802646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C6887-67AC-B9CD-BB38-1B4C7E369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7E420-C737-E5ED-07C5-D9578BFE5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Same for texture</a:t>
            </a:r>
            <a:endParaRPr lang="en-BE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09EE293-A12F-B780-BCD2-8E758CD94DAE}"/>
              </a:ext>
            </a:extLst>
          </p:cNvPr>
          <p:cNvCxnSpPr>
            <a:cxnSpLocks/>
          </p:cNvCxnSpPr>
          <p:nvPr/>
        </p:nvCxnSpPr>
        <p:spPr>
          <a:xfrm>
            <a:off x="1905000" y="4968240"/>
            <a:ext cx="15240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9DD8BC15-9782-6D7C-D4FE-67E71C46C30E}"/>
              </a:ext>
            </a:extLst>
          </p:cNvPr>
          <p:cNvSpPr/>
          <p:nvPr/>
        </p:nvSpPr>
        <p:spPr>
          <a:xfrm>
            <a:off x="2377440" y="4663440"/>
            <a:ext cx="645096" cy="57912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578655C-EE67-BE9B-72B1-FD15D0682D69}"/>
              </a:ext>
            </a:extLst>
          </p:cNvPr>
          <p:cNvSpPr/>
          <p:nvPr/>
        </p:nvSpPr>
        <p:spPr>
          <a:xfrm>
            <a:off x="3927936" y="5547360"/>
            <a:ext cx="645096" cy="57912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2E827C2-C7FF-28D6-92BB-D2BCB1A533BC}"/>
              </a:ext>
            </a:extLst>
          </p:cNvPr>
          <p:cNvCxnSpPr>
            <a:cxnSpLocks/>
          </p:cNvCxnSpPr>
          <p:nvPr/>
        </p:nvCxnSpPr>
        <p:spPr>
          <a:xfrm>
            <a:off x="2639786" y="4966632"/>
            <a:ext cx="1673134" cy="870288"/>
          </a:xfrm>
          <a:prstGeom prst="straightConnector1">
            <a:avLst/>
          </a:prstGeom>
          <a:ln w="762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24383C2-07DA-71FF-99C1-7D68CD4AFD30}"/>
              </a:ext>
            </a:extLst>
          </p:cNvPr>
          <p:cNvCxnSpPr>
            <a:cxnSpLocks/>
          </p:cNvCxnSpPr>
          <p:nvPr/>
        </p:nvCxnSpPr>
        <p:spPr>
          <a:xfrm>
            <a:off x="7136130" y="4705350"/>
            <a:ext cx="982980" cy="0"/>
          </a:xfrm>
          <a:prstGeom prst="straightConnector1">
            <a:avLst/>
          </a:prstGeom>
          <a:ln w="762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44E3832-1818-5884-54C7-57995705F48E}"/>
              </a:ext>
            </a:extLst>
          </p:cNvPr>
          <p:cNvSpPr txBox="1"/>
          <p:nvPr/>
        </p:nvSpPr>
        <p:spPr>
          <a:xfrm>
            <a:off x="8264065" y="3003648"/>
            <a:ext cx="3927935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B 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B – A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Perpendicular(B-A) == Normal</a:t>
            </a:r>
            <a:endParaRPr lang="en-BE" sz="24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94D870C-C054-75E0-4926-67C9FAB3BC91}"/>
              </a:ext>
            </a:extLst>
          </p:cNvPr>
          <p:cNvCxnSpPr>
            <a:cxnSpLocks/>
          </p:cNvCxnSpPr>
          <p:nvPr/>
        </p:nvCxnSpPr>
        <p:spPr>
          <a:xfrm>
            <a:off x="7136130" y="5469344"/>
            <a:ext cx="982980" cy="0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AB5E9D1-8598-864A-A515-73B7CB7594BC}"/>
              </a:ext>
            </a:extLst>
          </p:cNvPr>
          <p:cNvCxnSpPr>
            <a:cxnSpLocks/>
          </p:cNvCxnSpPr>
          <p:nvPr/>
        </p:nvCxnSpPr>
        <p:spPr>
          <a:xfrm flipV="1">
            <a:off x="2667000" y="3139088"/>
            <a:ext cx="811530" cy="1851660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1BF8BEBF-4E30-9378-D24D-527011BE7295}"/>
              </a:ext>
            </a:extLst>
          </p:cNvPr>
          <p:cNvSpPr/>
          <p:nvPr/>
        </p:nvSpPr>
        <p:spPr>
          <a:xfrm>
            <a:off x="7474014" y="3651797"/>
            <a:ext cx="645096" cy="57912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11D095A-92E0-FCD2-5B3B-E4BBDE79B462}"/>
              </a:ext>
            </a:extLst>
          </p:cNvPr>
          <p:cNvSpPr/>
          <p:nvPr/>
        </p:nvSpPr>
        <p:spPr>
          <a:xfrm>
            <a:off x="7474014" y="2887804"/>
            <a:ext cx="645096" cy="57912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0656400-0ED6-2CA8-9ED2-80BF390997A4}"/>
              </a:ext>
            </a:extLst>
          </p:cNvPr>
          <p:cNvCxnSpPr>
            <a:cxnSpLocks/>
          </p:cNvCxnSpPr>
          <p:nvPr/>
        </p:nvCxnSpPr>
        <p:spPr>
          <a:xfrm flipV="1">
            <a:off x="3444240" y="4926924"/>
            <a:ext cx="0" cy="187773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0E3ECE6-7A7C-8FAF-9D23-E27D4D1BC051}"/>
              </a:ext>
            </a:extLst>
          </p:cNvPr>
          <p:cNvCxnSpPr>
            <a:cxnSpLocks/>
          </p:cNvCxnSpPr>
          <p:nvPr/>
        </p:nvCxnSpPr>
        <p:spPr>
          <a:xfrm>
            <a:off x="3406140" y="5836920"/>
            <a:ext cx="153162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48ED8DC-D4AD-A351-7ECD-E6BBDCB24737}"/>
              </a:ext>
            </a:extLst>
          </p:cNvPr>
          <p:cNvCxnSpPr>
            <a:cxnSpLocks/>
          </p:cNvCxnSpPr>
          <p:nvPr/>
        </p:nvCxnSpPr>
        <p:spPr>
          <a:xfrm flipV="1">
            <a:off x="1943100" y="4968240"/>
            <a:ext cx="0" cy="187773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74A311C-96B4-DF5C-F1A4-6CB4FF1A6B97}"/>
              </a:ext>
            </a:extLst>
          </p:cNvPr>
          <p:cNvCxnSpPr>
            <a:cxnSpLocks/>
          </p:cNvCxnSpPr>
          <p:nvPr/>
        </p:nvCxnSpPr>
        <p:spPr>
          <a:xfrm flipH="1" flipV="1">
            <a:off x="4907280" y="5836920"/>
            <a:ext cx="30480" cy="96774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766684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56E70-C966-A25D-B838-E41453BE4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am I explaining this method if you already know how to make normal?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73006836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90D34-642C-16FF-6242-5B45C2DBC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5E996-FB02-648B-0119-BE7F4FCA9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 on the GPU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87966C-A19D-9DC7-D62C-50A47FFD9D0F}"/>
              </a:ext>
            </a:extLst>
          </p:cNvPr>
          <p:cNvSpPr txBox="1"/>
          <p:nvPr/>
        </p:nvSpPr>
        <p:spPr>
          <a:xfrm>
            <a:off x="838200" y="1459855"/>
            <a:ext cx="70698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You’ll be making water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Why doesn’t the previous method work on the GPU?</a:t>
            </a:r>
            <a:endParaRPr lang="en-BE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685E12-5239-331E-D87A-54612D6A3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43472"/>
            <a:ext cx="7658100" cy="15249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F8CD34-3335-80F1-1815-3B42BA2A77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3238" y="2916907"/>
            <a:ext cx="2385318" cy="19806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C6B2800-7312-8BE7-7B5D-DBC10159C0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091" y="1690688"/>
            <a:ext cx="4141909" cy="3206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471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F0095-7EB3-71F3-3745-EC8A57434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Exam questions (not exhaustive)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62E1-E469-56AC-888E-160C1232CF60}"/>
              </a:ext>
            </a:extLst>
          </p:cNvPr>
          <p:cNvSpPr txBox="1"/>
          <p:nvPr/>
        </p:nvSpPr>
        <p:spPr>
          <a:xfrm>
            <a:off x="1318260" y="2506980"/>
            <a:ext cx="635795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can you calculate normal from a heightmap on the </a:t>
            </a:r>
            <a:r>
              <a:rPr lang="en-US" dirty="0" err="1"/>
              <a:t>gpu</a:t>
            </a:r>
            <a:r>
              <a:rPr lang="en-US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Explain the finite differencing algorithm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are </a:t>
            </a:r>
            <a:r>
              <a:rPr lang="en-US" dirty="0" err="1"/>
              <a:t>mip</a:t>
            </a:r>
            <a:r>
              <a:rPr lang="en-US" dirty="0"/>
              <a:t> maps?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Explain sampling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Name a </a:t>
            </a:r>
            <a:r>
              <a:rPr lang="en-US" dirty="0" err="1"/>
              <a:t>texturetype</a:t>
            </a:r>
            <a:r>
              <a:rPr lang="en-US" dirty="0"/>
              <a:t> other than Texture2D and give me a usage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65645421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95785-1A60-E957-5F06-2FB2F1601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class 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5E26AD-AFC5-8E33-C5E6-454F231D6F36}"/>
              </a:ext>
            </a:extLst>
          </p:cNvPr>
          <p:cNvSpPr txBox="1"/>
          <p:nvPr/>
        </p:nvSpPr>
        <p:spPr>
          <a:xfrm>
            <a:off x="838200" y="1690688"/>
            <a:ext cx="96912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Advanced pipeline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This is going to be a hard 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Learn about camera’s, lights, shadows, and how most games are rendered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5204248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e1" id="{6849F4D6-1FB7-4CEB-8CC6-E456C34ADDA4}" vid="{0A04E370-2E7A-4A97-A218-FEC8E52F4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slides_theme</Template>
  <TotalTime>30613</TotalTime>
  <Words>2725</Words>
  <Application>Microsoft Office PowerPoint</Application>
  <PresentationFormat>Widescreen</PresentationFormat>
  <Paragraphs>387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1" baseType="lpstr">
      <vt:lpstr>Arial</vt:lpstr>
      <vt:lpstr>Calibri</vt:lpstr>
      <vt:lpstr>Calibri Light</vt:lpstr>
      <vt:lpstr>Cascadia Mono</vt:lpstr>
      <vt:lpstr>Tahoma</vt:lpstr>
      <vt:lpstr>Wingdings</vt:lpstr>
      <vt:lpstr>Kantoorthema</vt:lpstr>
      <vt:lpstr>PowerPoint Presentation</vt:lpstr>
      <vt:lpstr>Quick detour</vt:lpstr>
      <vt:lpstr>Project</vt:lpstr>
      <vt:lpstr>Last class</vt:lpstr>
      <vt:lpstr>Course schedule</vt:lpstr>
      <vt:lpstr>This class</vt:lpstr>
      <vt:lpstr>Textures</vt:lpstr>
      <vt:lpstr>Textures </vt:lpstr>
      <vt:lpstr>Textures : 2D grid of colors</vt:lpstr>
      <vt:lpstr>Spatially varying</vt:lpstr>
      <vt:lpstr>2D coordinate system on a 3D model</vt:lpstr>
      <vt:lpstr>PowerPoint Presentation</vt:lpstr>
      <vt:lpstr>PowerPoint Presentation</vt:lpstr>
      <vt:lpstr>In code</vt:lpstr>
      <vt:lpstr>Why not put this information in a vertex?</vt:lpstr>
      <vt:lpstr>Any questions?</vt:lpstr>
      <vt:lpstr>This class</vt:lpstr>
      <vt:lpstr>We just saw 2D textures as an example</vt:lpstr>
      <vt:lpstr>Texture 1D</vt:lpstr>
      <vt:lpstr>Texture 1D example: blackbody</vt:lpstr>
      <vt:lpstr>Texture3D</vt:lpstr>
      <vt:lpstr>PowerPoint Presentation</vt:lpstr>
      <vt:lpstr>TextureCube</vt:lpstr>
      <vt:lpstr>PowerPoint Presentation</vt:lpstr>
      <vt:lpstr>This class</vt:lpstr>
      <vt:lpstr>We said UV’s typically go 0.0-&gt;1.0</vt:lpstr>
      <vt:lpstr>Wrap and mirror</vt:lpstr>
      <vt:lpstr>Clamp and border</vt:lpstr>
      <vt:lpstr>In unity, you can find this on your asset</vt:lpstr>
      <vt:lpstr>Is everything clear?</vt:lpstr>
      <vt:lpstr>Textures have some problems</vt:lpstr>
      <vt:lpstr>Solution</vt:lpstr>
      <vt:lpstr>We don’t use this directly (in this course)</vt:lpstr>
      <vt:lpstr>Our uv / texcoords are floats</vt:lpstr>
      <vt:lpstr>You probably said black</vt:lpstr>
      <vt:lpstr>We can also try to make a smoother transition</vt:lpstr>
      <vt:lpstr>Point is good when you want *exact* pixel values</vt:lpstr>
      <vt:lpstr>Linear is good in realistic 3D scenes</vt:lpstr>
      <vt:lpstr>BTW, I’m sweeping sampling under the rug</vt:lpstr>
      <vt:lpstr>Recap</vt:lpstr>
      <vt:lpstr>In Unity : Asset -&gt; Filter mode</vt:lpstr>
      <vt:lpstr>You do need to care about this</vt:lpstr>
      <vt:lpstr>Recap</vt:lpstr>
      <vt:lpstr>This class</vt:lpstr>
      <vt:lpstr>Problem</vt:lpstr>
      <vt:lpstr>Solution</vt:lpstr>
      <vt:lpstr>Wait, don’t we have more data now?</vt:lpstr>
      <vt:lpstr>Yes… but no</vt:lpstr>
      <vt:lpstr>Yes… but no</vt:lpstr>
      <vt:lpstr>Final tally</vt:lpstr>
      <vt:lpstr>Triangle vs vertex normals</vt:lpstr>
      <vt:lpstr>Without a normal map</vt:lpstr>
      <vt:lpstr>With a normal map</vt:lpstr>
      <vt:lpstr>Result</vt:lpstr>
      <vt:lpstr>Can someone explain why it’s purple?</vt:lpstr>
      <vt:lpstr>This class</vt:lpstr>
      <vt:lpstr>In the real world</vt:lpstr>
      <vt:lpstr>But how do we go from heightmap to normal?</vt:lpstr>
      <vt:lpstr>We can do this ‘blindly’ by finite differencing</vt:lpstr>
      <vt:lpstr>Same for texture</vt:lpstr>
      <vt:lpstr>Why am I explaining this method if you already know how to make normal?</vt:lpstr>
      <vt:lpstr>Works on the GPU</vt:lpstr>
      <vt:lpstr>Possible Exam questions (not exhaustive)</vt:lpstr>
      <vt:lpstr>Next class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Daan Nijs</dc:creator>
  <cp:lastModifiedBy>Nijs, Daan (246888)</cp:lastModifiedBy>
  <cp:revision>80</cp:revision>
  <dcterms:created xsi:type="dcterms:W3CDTF">2024-01-29T23:06:06Z</dcterms:created>
  <dcterms:modified xsi:type="dcterms:W3CDTF">2025-04-04T15:34:51Z</dcterms:modified>
</cp:coreProperties>
</file>