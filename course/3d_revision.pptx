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5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23DE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660"/>
  </p:normalViewPr>
  <p:slideViewPr>
    <p:cSldViewPr snapToGrid="0">
      <p:cViewPr varScale="1">
        <p:scale>
          <a:sx n="137" d="100"/>
          <a:sy n="137" d="100"/>
        </p:scale>
        <p:origin x="132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484BD-A9A3-4CBB-88D6-39267B7F5B46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F9D2B-EF00-4575-9013-113DEEFD58F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835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41A99A4F-35CE-47F0-8C3E-203AE094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640" y="203420"/>
            <a:ext cx="3297850" cy="12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Ondertitel 2">
            <a:extLst>
              <a:ext uri="{FF2B5EF4-FFF2-40B4-BE49-F238E27FC236}">
                <a16:creationId xmlns:a16="http://schemas.microsoft.com/office/drawing/2014/main" id="{7A68A714-4E45-4A04-B828-B282FA62E7BB}"/>
              </a:ext>
            </a:extLst>
          </p:cNvPr>
          <p:cNvSpPr txBox="1">
            <a:spLocks/>
          </p:cNvSpPr>
          <p:nvPr/>
        </p:nvSpPr>
        <p:spPr>
          <a:xfrm>
            <a:off x="1450282" y="5343926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28" name="Ondertitel 2">
            <a:extLst>
              <a:ext uri="{FF2B5EF4-FFF2-40B4-BE49-F238E27FC236}">
                <a16:creationId xmlns:a16="http://schemas.microsoft.com/office/drawing/2014/main" id="{8A446F7F-F106-4612-85BC-FC020C0B34DC}"/>
              </a:ext>
            </a:extLst>
          </p:cNvPr>
          <p:cNvSpPr txBox="1">
            <a:spLocks/>
          </p:cNvSpPr>
          <p:nvPr/>
        </p:nvSpPr>
        <p:spPr>
          <a:xfrm>
            <a:off x="1450282" y="5898693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36" name="Ondertitel 2">
            <a:extLst>
              <a:ext uri="{FF2B5EF4-FFF2-40B4-BE49-F238E27FC236}">
                <a16:creationId xmlns:a16="http://schemas.microsoft.com/office/drawing/2014/main" id="{DB1150AE-9B1F-43AF-B4A6-C1581C0B3127}"/>
              </a:ext>
            </a:extLst>
          </p:cNvPr>
          <p:cNvSpPr txBox="1">
            <a:spLocks/>
          </p:cNvSpPr>
          <p:nvPr/>
        </p:nvSpPr>
        <p:spPr>
          <a:xfrm>
            <a:off x="1" y="462498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200" dirty="0"/>
              <a:t>Toegepaste Informatica</a:t>
            </a:r>
          </a:p>
        </p:txBody>
      </p:sp>
      <p:sp>
        <p:nvSpPr>
          <p:cNvPr id="38" name="Minteken 37">
            <a:extLst>
              <a:ext uri="{FF2B5EF4-FFF2-40B4-BE49-F238E27FC236}">
                <a16:creationId xmlns:a16="http://schemas.microsoft.com/office/drawing/2014/main" id="{FFEC5E01-43EA-497E-BCC0-939DBCAFA0AC}"/>
              </a:ext>
            </a:extLst>
          </p:cNvPr>
          <p:cNvSpPr/>
          <p:nvPr/>
        </p:nvSpPr>
        <p:spPr>
          <a:xfrm rot="5400000">
            <a:off x="-183168" y="5307680"/>
            <a:ext cx="2851263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1" name="Ondertitel 2">
            <a:extLst>
              <a:ext uri="{FF2B5EF4-FFF2-40B4-BE49-F238E27FC236}">
                <a16:creationId xmlns:a16="http://schemas.microsoft.com/office/drawing/2014/main" id="{DCD259FC-79B5-41AB-BBC2-4D07C62B0949}"/>
              </a:ext>
            </a:extLst>
          </p:cNvPr>
          <p:cNvSpPr txBox="1">
            <a:spLocks/>
          </p:cNvSpPr>
          <p:nvPr/>
        </p:nvSpPr>
        <p:spPr>
          <a:xfrm>
            <a:off x="-31204" y="1442735"/>
            <a:ext cx="1481486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kern="1200" cap="none" baseline="0" dirty="0">
              <a:solidFill>
                <a:srgbClr val="00275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2" name="Minteken 41">
            <a:extLst>
              <a:ext uri="{FF2B5EF4-FFF2-40B4-BE49-F238E27FC236}">
                <a16:creationId xmlns:a16="http://schemas.microsoft.com/office/drawing/2014/main" id="{FB0D61FF-F819-41D6-9F0E-2A87A96AF34A}"/>
              </a:ext>
            </a:extLst>
          </p:cNvPr>
          <p:cNvSpPr/>
          <p:nvPr/>
        </p:nvSpPr>
        <p:spPr>
          <a:xfrm>
            <a:off x="-353435" y="166756"/>
            <a:ext cx="2776160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3" name="Minteken 42">
            <a:extLst>
              <a:ext uri="{FF2B5EF4-FFF2-40B4-BE49-F238E27FC236}">
                <a16:creationId xmlns:a16="http://schemas.microsoft.com/office/drawing/2014/main" id="{1A9D60B7-98CA-44B4-A342-238265272E5D}"/>
              </a:ext>
            </a:extLst>
          </p:cNvPr>
          <p:cNvSpPr/>
          <p:nvPr/>
        </p:nvSpPr>
        <p:spPr>
          <a:xfrm>
            <a:off x="-221962" y="626338"/>
            <a:ext cx="1762587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4" name="Minteken 43">
            <a:extLst>
              <a:ext uri="{FF2B5EF4-FFF2-40B4-BE49-F238E27FC236}">
                <a16:creationId xmlns:a16="http://schemas.microsoft.com/office/drawing/2014/main" id="{2AD40B60-09F3-42CA-BFC7-F232D5069233}"/>
              </a:ext>
            </a:extLst>
          </p:cNvPr>
          <p:cNvSpPr/>
          <p:nvPr/>
        </p:nvSpPr>
        <p:spPr>
          <a:xfrm>
            <a:off x="-155460" y="1111987"/>
            <a:ext cx="1256606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14" name="Ondertitel 2">
            <a:extLst>
              <a:ext uri="{FF2B5EF4-FFF2-40B4-BE49-F238E27FC236}">
                <a16:creationId xmlns:a16="http://schemas.microsoft.com/office/drawing/2014/main" id="{DA9D40DB-B7E8-4A33-B5FB-9DD5105C49A1}"/>
              </a:ext>
            </a:extLst>
          </p:cNvPr>
          <p:cNvSpPr txBox="1">
            <a:spLocks/>
          </p:cNvSpPr>
          <p:nvPr/>
        </p:nvSpPr>
        <p:spPr>
          <a:xfrm>
            <a:off x="-31204" y="957086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684198A2-C59F-4C38-9F72-765E48FA82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5855" y="4825632"/>
            <a:ext cx="1853739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3D Graphics</a:t>
            </a:r>
          </a:p>
        </p:txBody>
      </p:sp>
      <p:sp>
        <p:nvSpPr>
          <p:cNvPr id="29" name="Tijdelijke aanduiding voor tekst 11">
            <a:extLst>
              <a:ext uri="{FF2B5EF4-FFF2-40B4-BE49-F238E27FC236}">
                <a16:creationId xmlns:a16="http://schemas.microsoft.com/office/drawing/2014/main" id="{9B9004F5-4339-48FE-B04B-599527A635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95855" y="5411372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Week 1a</a:t>
            </a:r>
          </a:p>
        </p:txBody>
      </p:sp>
      <p:sp>
        <p:nvSpPr>
          <p:cNvPr id="30" name="Tijdelijke aanduiding voor tekst 11">
            <a:extLst>
              <a:ext uri="{FF2B5EF4-FFF2-40B4-BE49-F238E27FC236}">
                <a16:creationId xmlns:a16="http://schemas.microsoft.com/office/drawing/2014/main" id="{73EE6705-1665-43A1-AB37-E50C48AA3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95855" y="5993878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Daan Nijs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B2803BC5-4FBF-4FFC-8CD7-56A7494327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37" y="923475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nl-NL" dirty="0"/>
              <a:t>DE</a:t>
            </a:r>
            <a:endParaRPr lang="nl-BE" dirty="0"/>
          </a:p>
        </p:txBody>
      </p:sp>
      <p:sp>
        <p:nvSpPr>
          <p:cNvPr id="32" name="Tijdelijke aanduiding voor tekst 16">
            <a:extLst>
              <a:ext uri="{FF2B5EF4-FFF2-40B4-BE49-F238E27FC236}">
                <a16:creationId xmlns:a16="http://schemas.microsoft.com/office/drawing/2014/main" id="{2F60E031-BF26-44A1-A0B6-D48454BFD9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936" y="1429630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sz="1200" kern="1200" cap="none" baseline="0" dirty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2023</a:t>
            </a:r>
          </a:p>
        </p:txBody>
      </p:sp>
      <p:pic>
        <p:nvPicPr>
          <p:cNvPr id="3" name="Picture 2" descr="A room with a white cube and red and green walls&#10;&#10;Description automatically generated">
            <a:extLst>
              <a:ext uri="{FF2B5EF4-FFF2-40B4-BE49-F238E27FC236}">
                <a16:creationId xmlns:a16="http://schemas.microsoft.com/office/drawing/2014/main" id="{52382748-B3A1-4041-F0B7-3FD688D997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7310" y="1463310"/>
            <a:ext cx="5394690" cy="539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24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641C2-BF9B-4FDD-914E-B64C21E00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DFE554-7232-4244-8A56-332314AEE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EC717CF-2817-47D4-8B6A-AC3FF571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E2D9812-56C8-4D19-8865-A6D4C4A6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42795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78E84-41E7-4C0B-9876-95A81A82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DAD563-D612-4769-9B0D-FF5F1C302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2BECD8B-CD05-4F1D-A5CC-3FEA703F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562C523-B3D7-4EB4-A7D6-382F9B9C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9EF5C4-6487-432E-AB47-26229FE0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05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F1C78-2104-4398-AD52-6781C48DD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E324310-16AB-4268-B0C6-CF8B77613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CD69EF-E63A-4D9C-8EFE-E80749E03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547F23-F0D7-4208-A013-9AE0FF2EA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4AE972C-86E8-4E5F-8E59-2FB14076C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631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DCFF4-3B50-4930-AEAE-782904E7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E7AE46-BCF9-47C8-9BCC-B7B1F520A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C2F997-1F41-4A6F-9193-4DE7735AC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B370E2F-2B3F-41AC-9A34-276EA745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D63B9D7-3594-4F78-B540-B15463859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79CDB93-518D-4FDA-849A-10DC0942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087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94D81-B112-42DA-9826-23E1C611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B25F2C9-29C7-4222-81BA-825176D7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7496213-5C84-46EC-B711-CDF9FF6B6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0DE4F81-0BA7-4244-BB5B-492AB97EF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79B47A1-EE33-4FAB-B7C3-E0E137931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4D9D81A-0C3E-473B-ACBE-F498DB484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8E84A63-52E6-431C-9002-3F2381DF1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27C1939-B8AA-4E0F-96C6-B7E933D9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08474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ECCACC-50FC-4D5D-B072-A22D8C73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6B9E831-EE77-4B49-A32D-C50EA5628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471B315-B360-4DC4-BA25-C0DA3FE0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86BE35D-89CF-4C78-936F-3A422D2B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7937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2371665-6504-46CE-8623-7D4BFBF0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4B7614-A5E9-4A26-93ED-1BD77888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6192D73-DEF2-4B61-8197-3941A2083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7551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ACD61-1A8D-412E-A5FB-A8531A8CE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B81E522-E269-4346-BBFB-AA9518F2B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5BB402B-825A-444A-8506-A9ADBFE65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827B8B6-F476-41CE-A0FB-94F76E07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C2B97C-695E-461A-825C-FBD17E16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A72EF0F-A630-466B-B88F-96526CAB1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970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D0E7DD-EE9A-4CC9-8C25-676E51EFE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48A5BBD-EB4E-45D6-AE42-E48427169E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66EB8EC-DE0A-4D55-BC4C-614275BE1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0F5DBFE-351E-4EE8-ADAB-1EEF823A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E0E090A-C01F-416E-BF13-483497611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0A0E5-2670-4891-8045-AB40C835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2779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EACC51-F7E5-40B9-80E8-1EF2107F0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CEA346F-2455-4321-99FC-0F55ECBC5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DD5A672-E901-441A-AA8C-342314F34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36B37C-979A-4CE2-BFB9-1CEE33789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66F279E-64B7-4995-8B2D-9E98200D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69102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4A3048B-7CB7-4CB7-9036-E1072F656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77AF696-8160-4BEE-B594-08AA6ED4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0B8EA8-32FF-45D6-BDF4-DEC9D566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1F5F5D-B431-4297-94E5-5C3E6345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D29EC59-10E4-4E90-AEF4-F74EC07C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6C0F430-02B8-470E-88C4-D3F6A6EE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BDBA69-9857-4F89-AB15-40D66350F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700B282-C115-4189-B97C-2C968D73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044C9-3718-44C4-9063-5DAD08408240}" type="datetimeFigureOut">
              <a:rPr lang="en-BE" smtClean="0"/>
              <a:t>03/06/2025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35CFB0-104D-43DF-ABAD-E8ED1A7E0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5331830-0F71-46FB-910E-F57D488F68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1883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gif"/><Relationship Id="rId4" Type="http://schemas.openxmlformats.org/officeDocument/2006/relationships/image" Target="../media/image1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F5DD37-2212-916B-E357-43E8D3EA5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0F862-7245-5FF3-F9FF-A37F0519F7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X : Revision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0B0F53-1B0B-247E-5331-DFF63A59F5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906C7B-D22F-6554-53F2-0FB13D199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DE/AR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FE3868-CBE1-5055-4906-5E64ED6ECD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2024</a:t>
            </a:r>
            <a:endParaRPr lang="en-BE" dirty="0"/>
          </a:p>
        </p:txBody>
      </p:sp>
      <p:pic>
        <p:nvPicPr>
          <p:cNvPr id="8" name="Picture 7" descr="A video game of a video game&#10;&#10;AI-generated content may be incorrect.">
            <a:extLst>
              <a:ext uri="{FF2B5EF4-FFF2-40B4-BE49-F238E27FC236}">
                <a16:creationId xmlns:a16="http://schemas.microsoft.com/office/drawing/2014/main" id="{2040FA95-7401-B039-05F6-3128F62D5A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189" y="1806754"/>
            <a:ext cx="8260811" cy="464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50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CB807-1E75-F3F8-CA4B-1F7711AFC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 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D2761A-3BDC-EDBA-A395-E660E1F12D93}"/>
              </a:ext>
            </a:extLst>
          </p:cNvPr>
          <p:cNvSpPr txBox="1"/>
          <p:nvPr/>
        </p:nvSpPr>
        <p:spPr>
          <a:xfrm>
            <a:off x="466165" y="1690688"/>
            <a:ext cx="496148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Do a high level overview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(Dig into some problem topics)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QA / problem topics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62857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161EC-6B9E-9626-DA4C-12B53AD05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overview</a:t>
            </a:r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53DD9C-C9B0-A16F-9EB6-C08CAB15C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858" y="1988309"/>
            <a:ext cx="4559277" cy="45045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72840B-9BD6-8E6F-7B12-50432571514C}"/>
              </a:ext>
            </a:extLst>
          </p:cNvPr>
          <p:cNvSpPr txBox="1"/>
          <p:nvPr/>
        </p:nvSpPr>
        <p:spPr>
          <a:xfrm>
            <a:off x="254464" y="1954899"/>
            <a:ext cx="624793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 whole semester we’ve understood things bottom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Let’s got top down (for the most important part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Let’s start at the start (week 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What’s the image on the right again?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319666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DC966-E4FC-E4F5-D211-2ADE4C502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A22CB-D26A-33E8-1271-73CC33E6E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overview</a:t>
            </a:r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28E88B-7DA0-D8B9-FE76-290DC8222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3" y="1988309"/>
            <a:ext cx="4559277" cy="45045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67B870-EF6F-B941-D5F7-6BCEC74C5A56}"/>
              </a:ext>
            </a:extLst>
          </p:cNvPr>
          <p:cNvSpPr txBox="1"/>
          <p:nvPr/>
        </p:nvSpPr>
        <p:spPr>
          <a:xfrm>
            <a:off x="254465" y="1954899"/>
            <a:ext cx="584153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is a render (in Unity) of a plastic blue sphere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Rendering is writing the algorithms to make virtual objects look like they’re in a 3D environment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To understand these algorithms, we look at real life, and how our eyes see the world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3860181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33E4C-02E0-3B0F-FA9C-E4577ED32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32DC7-F864-7602-D8A0-2CCAB47B3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overview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363AFA-7CED-7815-865F-FB06EC8AC9F2}"/>
              </a:ext>
            </a:extLst>
          </p:cNvPr>
          <p:cNvSpPr txBox="1"/>
          <p:nvPr/>
        </p:nvSpPr>
        <p:spPr>
          <a:xfrm>
            <a:off x="786933" y="1977558"/>
            <a:ext cx="5518306" cy="4216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How reality works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Primary visibility (aka geometry)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rendering equation (aka color)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it fits into GPU’s and 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51639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5BF85-39A8-75D3-A0FB-9E4D289F3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E40AF-EB91-CAC7-8A4F-657C725EC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3486"/>
            <a:ext cx="10515600" cy="1325563"/>
          </a:xfrm>
        </p:spPr>
        <p:txBody>
          <a:bodyPr/>
          <a:lstStyle/>
          <a:p>
            <a:r>
              <a:rPr lang="en-US" dirty="0"/>
              <a:t>How reality works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D61B0-9597-BD64-D5F3-B61E5A5C145B}"/>
              </a:ext>
            </a:extLst>
          </p:cNvPr>
          <p:cNvSpPr txBox="1"/>
          <p:nvPr/>
        </p:nvSpPr>
        <p:spPr>
          <a:xfrm>
            <a:off x="0" y="1000838"/>
            <a:ext cx="4927988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Taking a real picture resembles rendering (3D scene -&gt; 2D image)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If we understand this, it allows us to get an idea on how to divide the problem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  <p:pic>
        <p:nvPicPr>
          <p:cNvPr id="4" name="Picture 3" descr="A person in boxing gloves standing on another person in a ring&#10;&#10;AI-generated content may be incorrect.">
            <a:extLst>
              <a:ext uri="{FF2B5EF4-FFF2-40B4-BE49-F238E27FC236}">
                <a16:creationId xmlns:a16="http://schemas.microsoft.com/office/drawing/2014/main" id="{2C126288-B6C6-F48F-1D10-52F138E43E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6883" y="-65742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321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8FE79-5B35-1575-7288-5560E61E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81672-65A3-0E76-5A96-20059EA0B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3486"/>
            <a:ext cx="10515600" cy="1325563"/>
          </a:xfrm>
        </p:spPr>
        <p:txBody>
          <a:bodyPr/>
          <a:lstStyle/>
          <a:p>
            <a:r>
              <a:rPr lang="en-US" dirty="0"/>
              <a:t>How reality works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803EF-A004-8EF2-6A75-0A595FC8DE50}"/>
              </a:ext>
            </a:extLst>
          </p:cNvPr>
          <p:cNvSpPr txBox="1"/>
          <p:nvPr/>
        </p:nvSpPr>
        <p:spPr>
          <a:xfrm>
            <a:off x="-1" y="1000838"/>
            <a:ext cx="6016229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Light bounces off surfaces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see the light that hits the camera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It comes from the closest object </a:t>
            </a:r>
            <a:br>
              <a:rPr lang="en-US" sz="2800" dirty="0"/>
            </a:br>
            <a:r>
              <a:rPr lang="en-US" sz="2800" dirty="0"/>
              <a:t>to the camera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  <p:pic>
        <p:nvPicPr>
          <p:cNvPr id="3" name="Picture 2" descr="A yellow light bulb with black lines&#10;&#10;Description automatically generated">
            <a:extLst>
              <a:ext uri="{FF2B5EF4-FFF2-40B4-BE49-F238E27FC236}">
                <a16:creationId xmlns:a16="http://schemas.microsoft.com/office/drawing/2014/main" id="{5A9DC8E7-A870-6458-6002-86998D6436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702" y="2031390"/>
            <a:ext cx="1561298" cy="1607976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32D6D956-F074-621F-469E-33195FE96694}"/>
              </a:ext>
            </a:extLst>
          </p:cNvPr>
          <p:cNvSpPr/>
          <p:nvPr/>
        </p:nvSpPr>
        <p:spPr>
          <a:xfrm>
            <a:off x="7556373" y="3923473"/>
            <a:ext cx="2002971" cy="20029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CA9FB4-EEFC-BBF0-FB23-DD34C5CA807F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6970089" y="3086828"/>
            <a:ext cx="1587770" cy="836645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6D5012B-83A0-E754-427A-AD5BCBC6E5F0}"/>
              </a:ext>
            </a:extLst>
          </p:cNvPr>
          <p:cNvCxnSpPr>
            <a:cxnSpLocks/>
          </p:cNvCxnSpPr>
          <p:nvPr/>
        </p:nvCxnSpPr>
        <p:spPr>
          <a:xfrm flipV="1">
            <a:off x="8605483" y="2634293"/>
            <a:ext cx="1739788" cy="1289180"/>
          </a:xfrm>
          <a:prstGeom prst="straightConnector1">
            <a:avLst/>
          </a:prstGeom>
          <a:ln w="762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close-up of a camera&#10;&#10;Description automatically generated">
            <a:extLst>
              <a:ext uri="{FF2B5EF4-FFF2-40B4-BE49-F238E27FC236}">
                <a16:creationId xmlns:a16="http://schemas.microsoft.com/office/drawing/2014/main" id="{ACBE2DA1-B8AD-975C-275F-143FC475A3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293663" flipH="1">
            <a:off x="10120011" y="1312735"/>
            <a:ext cx="1453710" cy="12917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95334865-97F4-28E3-C239-5BFF5644074F}"/>
              </a:ext>
            </a:extLst>
          </p:cNvPr>
          <p:cNvSpPr/>
          <p:nvPr/>
        </p:nvSpPr>
        <p:spPr>
          <a:xfrm>
            <a:off x="4588003" y="4722133"/>
            <a:ext cx="2002971" cy="200297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DD4CD7F-323A-A018-07ED-7FA2FFE88A1D}"/>
              </a:ext>
            </a:extLst>
          </p:cNvPr>
          <p:cNvCxnSpPr>
            <a:cxnSpLocks/>
          </p:cNvCxnSpPr>
          <p:nvPr/>
        </p:nvCxnSpPr>
        <p:spPr>
          <a:xfrm>
            <a:off x="6303601" y="3530177"/>
            <a:ext cx="179121" cy="173747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8D01476-CF17-3F53-E9BE-652A107E692A}"/>
              </a:ext>
            </a:extLst>
          </p:cNvPr>
          <p:cNvCxnSpPr>
            <a:cxnSpLocks/>
          </p:cNvCxnSpPr>
          <p:nvPr/>
        </p:nvCxnSpPr>
        <p:spPr>
          <a:xfrm flipV="1">
            <a:off x="6482723" y="4422588"/>
            <a:ext cx="1328876" cy="84506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713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C999E-9ED7-EAC7-BBDC-6899A5E0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D0882-1C82-6DEA-CB60-72A29C7FA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3486"/>
            <a:ext cx="10515600" cy="1325563"/>
          </a:xfrm>
        </p:spPr>
        <p:txBody>
          <a:bodyPr/>
          <a:lstStyle/>
          <a:p>
            <a:r>
              <a:rPr lang="en-US" dirty="0"/>
              <a:t>How reality works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353271-5365-6BE9-E2B5-FFE2FEDE9DD9}"/>
              </a:ext>
            </a:extLst>
          </p:cNvPr>
          <p:cNvSpPr txBox="1"/>
          <p:nvPr/>
        </p:nvSpPr>
        <p:spPr>
          <a:xfrm>
            <a:off x="0" y="1000838"/>
            <a:ext cx="492798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  <p:pic>
        <p:nvPicPr>
          <p:cNvPr id="4" name="Picture 3" descr="A person in boxing gloves standing on another person in a ring&#10;&#10;AI-generated content may be incorrect.">
            <a:extLst>
              <a:ext uri="{FF2B5EF4-FFF2-40B4-BE49-F238E27FC236}">
                <a16:creationId xmlns:a16="http://schemas.microsoft.com/office/drawing/2014/main" id="{37884CFF-4DD8-7CB2-294E-A373DD542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6883" y="-65742"/>
            <a:ext cx="6858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0619A9-2093-45D1-6F81-4DC04F2B8D50}"/>
              </a:ext>
            </a:extLst>
          </p:cNvPr>
          <p:cNvSpPr txBox="1"/>
          <p:nvPr/>
        </p:nvSpPr>
        <p:spPr>
          <a:xfrm>
            <a:off x="0" y="1000838"/>
            <a:ext cx="4927988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do we calculate what geometry is visible (closest to the camera)?</a:t>
            </a:r>
            <a:br>
              <a:rPr lang="en-US" sz="2800" dirty="0"/>
            </a:br>
            <a:r>
              <a:rPr lang="en-US" sz="2800" dirty="0"/>
              <a:t>This is called the “</a:t>
            </a:r>
            <a:r>
              <a:rPr lang="en-US" sz="2800" b="1" dirty="0"/>
              <a:t>primary visibility</a:t>
            </a:r>
            <a:r>
              <a:rPr lang="en-US" sz="2800" dirty="0"/>
              <a:t>” problem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do we calculate the exact color at that point? </a:t>
            </a:r>
            <a:br>
              <a:rPr lang="en-US" sz="2800" dirty="0"/>
            </a:br>
            <a:r>
              <a:rPr lang="en-US" sz="2800" dirty="0"/>
              <a:t>This is solved in the “</a:t>
            </a:r>
            <a:r>
              <a:rPr lang="en-US" sz="2800" b="1" dirty="0"/>
              <a:t>rendering equation</a:t>
            </a:r>
            <a:r>
              <a:rPr lang="en-US" sz="2800" dirty="0"/>
              <a:t>” which is specific </a:t>
            </a:r>
            <a:r>
              <a:rPr lang="en-US" sz="2800" b="1" dirty="0"/>
              <a:t>materials</a:t>
            </a:r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AF92CA-3C37-F761-FB92-5D9408463499}"/>
              </a:ext>
            </a:extLst>
          </p:cNvPr>
          <p:cNvSpPr/>
          <p:nvPr/>
        </p:nvSpPr>
        <p:spPr>
          <a:xfrm>
            <a:off x="8373035" y="1362635"/>
            <a:ext cx="233083" cy="227106"/>
          </a:xfrm>
          <a:prstGeom prst="rect">
            <a:avLst/>
          </a:prstGeom>
          <a:noFill/>
          <a:ln w="76200">
            <a:solidFill>
              <a:srgbClr val="FD23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748395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F6A38-FFC5-C973-C779-EB1AE709D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90F9D-8EAB-AF1D-8078-DBA16F3A0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overview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BC345A-32FF-DB3D-13B5-A99E87951A44}"/>
              </a:ext>
            </a:extLst>
          </p:cNvPr>
          <p:cNvSpPr txBox="1"/>
          <p:nvPr/>
        </p:nvSpPr>
        <p:spPr>
          <a:xfrm>
            <a:off x="786933" y="1977558"/>
            <a:ext cx="6111417" cy="46474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reality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Primary visibility (aka geometry)</a:t>
            </a:r>
            <a:r>
              <a:rPr lang="en-US" sz="2800" dirty="0">
                <a:sym typeface="Wingdings" panose="05000000000000000000" pitchFamily="2" charset="2"/>
              </a:rPr>
              <a:t> </a:t>
            </a:r>
            <a:r>
              <a:rPr lang="en-US" sz="2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rendering equation (aka color)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it fits into GPU’s and 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175852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31E7-8F91-B883-8BA1-5B72F19D5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visibility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8BCC58-8D75-E44A-838B-75865060EEE9}"/>
              </a:ext>
            </a:extLst>
          </p:cNvPr>
          <p:cNvSpPr txBox="1"/>
          <p:nvPr/>
        </p:nvSpPr>
        <p:spPr>
          <a:xfrm>
            <a:off x="412377" y="1320800"/>
            <a:ext cx="11684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/>
              <a:t>The </a:t>
            </a:r>
            <a:r>
              <a:rPr lang="en-US" sz="2800" dirty="0"/>
              <a:t>fundamental difference between raytracing and rasterizers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Raytracing : shoot a line from the camera, find nearest triangle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Rasterizer : for each triangle, make pixels, use depth buffer to have the closest pixel color at the end.</a:t>
            </a:r>
            <a:endParaRPr lang="en-BE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6303D9-8AFE-5E62-86EE-7099F12E88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3631" y="4823285"/>
            <a:ext cx="5648369" cy="2034715"/>
          </a:xfrm>
          <a:prstGeom prst="rect">
            <a:avLst/>
          </a:prstGeom>
        </p:spPr>
      </p:pic>
      <p:pic>
        <p:nvPicPr>
          <p:cNvPr id="5" name="Picture 4" descr="A diagram of a satellite and a camera&#10;&#10;AI-generated content may be incorrect.">
            <a:extLst>
              <a:ext uri="{FF2B5EF4-FFF2-40B4-BE49-F238E27FC236}">
                <a16:creationId xmlns:a16="http://schemas.microsoft.com/office/drawing/2014/main" id="{7F0031A1-E448-1849-BC1E-77BD882397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476" y="3035300"/>
            <a:ext cx="5080000" cy="382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831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A0173-E902-BFB3-65EE-41C47A321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567CA-9879-27D4-D7D8-F7DF18343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overview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42602E-2FFD-AE68-8002-732704C98ADF}"/>
              </a:ext>
            </a:extLst>
          </p:cNvPr>
          <p:cNvSpPr txBox="1"/>
          <p:nvPr/>
        </p:nvSpPr>
        <p:spPr>
          <a:xfrm>
            <a:off x="786933" y="1977558"/>
            <a:ext cx="6383927" cy="46474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reality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Primary visibility (aka geometry)</a:t>
            </a:r>
            <a:r>
              <a:rPr lang="en-US" sz="2800" dirty="0">
                <a:sym typeface="Wingdings" panose="05000000000000000000" pitchFamily="2" charset="2"/>
              </a:rPr>
              <a:t> 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The rendering equation (aka color)</a:t>
            </a:r>
            <a:r>
              <a:rPr lang="en-US" sz="2800" dirty="0">
                <a:sym typeface="Wingdings" panose="05000000000000000000" pitchFamily="2" charset="2"/>
              </a:rPr>
              <a:t> 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it fits into GPU’s and 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180914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6172-DE11-3708-9A21-65AFEE041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9FA00-EFA5-CC25-43E9-7B16B3E73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376" y="17082"/>
            <a:ext cx="10515600" cy="1325563"/>
          </a:xfrm>
        </p:spPr>
        <p:txBody>
          <a:bodyPr/>
          <a:lstStyle/>
          <a:p>
            <a:r>
              <a:rPr lang="en-US" dirty="0"/>
              <a:t>Rendering equation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FA8DF4-E85D-7518-C96D-24C369EF55B7}"/>
              </a:ext>
            </a:extLst>
          </p:cNvPr>
          <p:cNvSpPr txBox="1"/>
          <p:nvPr/>
        </p:nvSpPr>
        <p:spPr>
          <a:xfrm>
            <a:off x="458227" y="1400324"/>
            <a:ext cx="9523633" cy="4216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Don’t know this in detail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It describes how much light goes to the camera from a surface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Simplified, it’s </a:t>
            </a:r>
            <a:br>
              <a:rPr lang="en-US" sz="2800" dirty="0"/>
            </a:br>
            <a:r>
              <a:rPr lang="en-US" sz="2800" dirty="0"/>
              <a:t>foreach light:</a:t>
            </a:r>
            <a:br>
              <a:rPr lang="en-US" sz="2800" dirty="0"/>
            </a:br>
            <a:r>
              <a:rPr lang="en-US" sz="2800" dirty="0"/>
              <a:t>    </a:t>
            </a:r>
            <a:r>
              <a:rPr lang="en-US" sz="2800" dirty="0" err="1"/>
              <a:t>output_light</a:t>
            </a:r>
            <a:r>
              <a:rPr lang="en-US" sz="2800" dirty="0"/>
              <a:t> += material(dot(N,L) * </a:t>
            </a:r>
            <a:r>
              <a:rPr lang="en-US" sz="2800" dirty="0" err="1"/>
              <a:t>light_intensity</a:t>
            </a:r>
            <a:r>
              <a:rPr lang="en-US" sz="28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  <p:pic>
        <p:nvPicPr>
          <p:cNvPr id="3" name="Picture 2" descr="A yellow light bulb with black lines&#10;&#10;Description automatically generated">
            <a:extLst>
              <a:ext uri="{FF2B5EF4-FFF2-40B4-BE49-F238E27FC236}">
                <a16:creationId xmlns:a16="http://schemas.microsoft.com/office/drawing/2014/main" id="{7255339D-B0E9-C7DE-BC5E-65E7FB56BD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6955" y="4084140"/>
            <a:ext cx="1156948" cy="119153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C027BFA0-346D-623C-DA14-8712BE5AB07F}"/>
              </a:ext>
            </a:extLst>
          </p:cNvPr>
          <p:cNvSpPr/>
          <p:nvPr/>
        </p:nvSpPr>
        <p:spPr>
          <a:xfrm>
            <a:off x="4611765" y="5275677"/>
            <a:ext cx="1484235" cy="14842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061E47-1766-8134-6CE2-2B9586137A4C}"/>
              </a:ext>
            </a:extLst>
          </p:cNvPr>
          <p:cNvCxnSpPr>
            <a:cxnSpLocks/>
          </p:cNvCxnSpPr>
          <p:nvPr/>
        </p:nvCxnSpPr>
        <p:spPr>
          <a:xfrm>
            <a:off x="3968376" y="4785142"/>
            <a:ext cx="1251667" cy="490535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D5DAD2F-E3B1-D5EF-9060-6A28F0374300}"/>
              </a:ext>
            </a:extLst>
          </p:cNvPr>
          <p:cNvCxnSpPr>
            <a:cxnSpLocks/>
          </p:cNvCxnSpPr>
          <p:nvPr/>
        </p:nvCxnSpPr>
        <p:spPr>
          <a:xfrm flipV="1">
            <a:off x="5169647" y="5048968"/>
            <a:ext cx="992095" cy="226709"/>
          </a:xfrm>
          <a:prstGeom prst="straightConnector1">
            <a:avLst/>
          </a:prstGeom>
          <a:ln w="762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close-up of a camera&#10;&#10;Description automatically generated">
            <a:extLst>
              <a:ext uri="{FF2B5EF4-FFF2-40B4-BE49-F238E27FC236}">
                <a16:creationId xmlns:a16="http://schemas.microsoft.com/office/drawing/2014/main" id="{32674078-DEEC-DF6F-661F-D6ACAEE8C1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293663" flipH="1">
            <a:off x="6035737" y="4175202"/>
            <a:ext cx="1077223" cy="95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100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B8AB2-82B4-708C-9AD7-8F9172F7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6497F-C268-8095-7061-A2981FA42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overview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7F5F25-767F-7722-F70D-275E4545D1E2}"/>
              </a:ext>
            </a:extLst>
          </p:cNvPr>
          <p:cNvSpPr txBox="1"/>
          <p:nvPr/>
        </p:nvSpPr>
        <p:spPr>
          <a:xfrm>
            <a:off x="786933" y="1977558"/>
            <a:ext cx="5910849" cy="4216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reality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Primary visibility (aka geometry)</a:t>
            </a:r>
            <a:r>
              <a:rPr lang="en-US" sz="2800" dirty="0">
                <a:sym typeface="Wingdings" panose="05000000000000000000" pitchFamily="2" charset="2"/>
              </a:rPr>
              <a:t> 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rendering equation (aka color)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How it fits into GPU’s and Unity</a:t>
            </a:r>
            <a:r>
              <a:rPr lang="en-US" sz="2800" dirty="0">
                <a:sym typeface="Wingdings" panose="05000000000000000000" pitchFamily="2" charset="2"/>
              </a:rPr>
              <a:t> 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841787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56E62-9579-1D13-8B80-603A2EBD1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GPU’s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D02DBC-AD09-3B15-57E8-AC8EF47F88E7}"/>
              </a:ext>
            </a:extLst>
          </p:cNvPr>
          <p:cNvSpPr txBox="1"/>
          <p:nvPr/>
        </p:nvSpPr>
        <p:spPr>
          <a:xfrm>
            <a:off x="472140" y="1404470"/>
            <a:ext cx="988764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Specifically made to do </a:t>
            </a:r>
            <a:r>
              <a:rPr lang="en-US" sz="2800" dirty="0" err="1"/>
              <a:t>realtime</a:t>
            </a:r>
            <a:r>
              <a:rPr lang="en-US" sz="2800" dirty="0"/>
              <a:t> rendering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Using rasterization and triangles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Can run custom code called “</a:t>
            </a:r>
            <a:r>
              <a:rPr lang="en-US" sz="2800" b="1" dirty="0"/>
              <a:t>shaders</a:t>
            </a:r>
            <a:r>
              <a:rPr lang="en-US" sz="2800" dirty="0"/>
              <a:t>” on vertices and fragments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want to use the </a:t>
            </a:r>
            <a:r>
              <a:rPr lang="en-US" sz="2800" dirty="0" err="1"/>
              <a:t>gpu</a:t>
            </a:r>
            <a:r>
              <a:rPr lang="en-US" sz="2800" dirty="0"/>
              <a:t> as much as possible</a:t>
            </a:r>
            <a:endParaRPr lang="en-BE" sz="2800" dirty="0"/>
          </a:p>
        </p:txBody>
      </p:sp>
      <p:pic>
        <p:nvPicPr>
          <p:cNvPr id="4" name="Picture 3" descr="A picture containing traffic light&#10;&#10;Description automatically generated">
            <a:extLst>
              <a:ext uri="{FF2B5EF4-FFF2-40B4-BE49-F238E27FC236}">
                <a16:creationId xmlns:a16="http://schemas.microsoft.com/office/drawing/2014/main" id="{5D83D50B-0622-92A0-703B-1C0EF92AC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70" y="4728414"/>
            <a:ext cx="2142478" cy="1067344"/>
          </a:xfrm>
          <a:prstGeom prst="rect">
            <a:avLst/>
          </a:prstGeom>
        </p:spPr>
      </p:pic>
      <p:pic>
        <p:nvPicPr>
          <p:cNvPr id="5" name="Picture 4" descr="A picture containing object&#10;&#10;Description automatically generated">
            <a:extLst>
              <a:ext uri="{FF2B5EF4-FFF2-40B4-BE49-F238E27FC236}">
                <a16:creationId xmlns:a16="http://schemas.microsoft.com/office/drawing/2014/main" id="{419B1632-C652-62B0-1B74-F121AB4A7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1863" y="4691978"/>
            <a:ext cx="2009186" cy="1143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96C504-4FE9-A5C2-33A8-CB623DFD47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031" y="4691979"/>
            <a:ext cx="1933806" cy="1014596"/>
          </a:xfrm>
          <a:prstGeom prst="rect">
            <a:avLst/>
          </a:prstGeom>
        </p:spPr>
      </p:pic>
      <p:pic>
        <p:nvPicPr>
          <p:cNvPr id="7" name="Picture 6" descr="A picture containing building&#10;&#10;Description automatically generated">
            <a:extLst>
              <a:ext uri="{FF2B5EF4-FFF2-40B4-BE49-F238E27FC236}">
                <a16:creationId xmlns:a16="http://schemas.microsoft.com/office/drawing/2014/main" id="{A1A2E248-D24A-E6B8-FB88-04AFC429F6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6525" y="4700871"/>
            <a:ext cx="1933806" cy="10145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5CA7C8BF-F6A7-A665-86C2-D26D370F3A66}"/>
              </a:ext>
            </a:extLst>
          </p:cNvPr>
          <p:cNvSpPr/>
          <p:nvPr/>
        </p:nvSpPr>
        <p:spPr>
          <a:xfrm>
            <a:off x="2981247" y="5171522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D035FA5-8FCC-78E9-C496-65235CA218D1}"/>
              </a:ext>
            </a:extLst>
          </p:cNvPr>
          <p:cNvSpPr/>
          <p:nvPr/>
        </p:nvSpPr>
        <p:spPr>
          <a:xfrm>
            <a:off x="6090354" y="5129869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04DA419-D114-C21E-A665-391CCE6C5B5B}"/>
              </a:ext>
            </a:extLst>
          </p:cNvPr>
          <p:cNvSpPr/>
          <p:nvPr/>
        </p:nvSpPr>
        <p:spPr>
          <a:xfrm>
            <a:off x="9131837" y="5126081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8A37CB-5344-F71B-D4FA-55ACC909419C}"/>
              </a:ext>
            </a:extLst>
          </p:cNvPr>
          <p:cNvSpPr txBox="1"/>
          <p:nvPr/>
        </p:nvSpPr>
        <p:spPr>
          <a:xfrm>
            <a:off x="2497796" y="6159796"/>
            <a:ext cx="1503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Vertex shader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5D1ED5-DBC8-95C5-2FFD-3C3E3CA65CCE}"/>
              </a:ext>
            </a:extLst>
          </p:cNvPr>
          <p:cNvSpPr txBox="1"/>
          <p:nvPr/>
        </p:nvSpPr>
        <p:spPr>
          <a:xfrm>
            <a:off x="8611674" y="6220596"/>
            <a:ext cx="1796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Fragment shader</a:t>
            </a:r>
          </a:p>
        </p:txBody>
      </p:sp>
    </p:spTree>
    <p:extLst>
      <p:ext uri="{BB962C8B-B14F-4D97-AF65-F5344CB8AC3E}">
        <p14:creationId xmlns:p14="http://schemas.microsoft.com/office/powerpoint/2010/main" val="2022850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E27E8-9AE4-3544-78E1-75C10FB5C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29" y="76356"/>
            <a:ext cx="10515600" cy="1325563"/>
          </a:xfrm>
        </p:spPr>
        <p:txBody>
          <a:bodyPr/>
          <a:lstStyle/>
          <a:p>
            <a:r>
              <a:rPr lang="en-US" dirty="0"/>
              <a:t>Forward rendering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224518-66D0-A33B-536D-D688D0AFEC9B}"/>
              </a:ext>
            </a:extLst>
          </p:cNvPr>
          <p:cNvSpPr txBox="1"/>
          <p:nvPr/>
        </p:nvSpPr>
        <p:spPr>
          <a:xfrm>
            <a:off x="67927" y="950646"/>
            <a:ext cx="7865871" cy="3354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Old way of doings things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Supported in Unity when you make an unlit shader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Calculate all the lights/shadows in the material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  <p:pic>
        <p:nvPicPr>
          <p:cNvPr id="4" name="Picture 3" descr="A picture containing traffic light&#10;&#10;Description automatically generated">
            <a:extLst>
              <a:ext uri="{FF2B5EF4-FFF2-40B4-BE49-F238E27FC236}">
                <a16:creationId xmlns:a16="http://schemas.microsoft.com/office/drawing/2014/main" id="{35316D54-1C65-8D88-861B-2262687E47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87" y="2726501"/>
            <a:ext cx="2142478" cy="1067344"/>
          </a:xfrm>
          <a:prstGeom prst="rect">
            <a:avLst/>
          </a:prstGeom>
        </p:spPr>
      </p:pic>
      <p:pic>
        <p:nvPicPr>
          <p:cNvPr id="5" name="Picture 4" descr="A picture containing object&#10;&#10;Description automatically generated">
            <a:extLst>
              <a:ext uri="{FF2B5EF4-FFF2-40B4-BE49-F238E27FC236}">
                <a16:creationId xmlns:a16="http://schemas.microsoft.com/office/drawing/2014/main" id="{B435AE73-4816-22C3-E8CB-9FA0C8CA68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880" y="2690065"/>
            <a:ext cx="2009186" cy="1143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F49CB07-B77C-C15D-6E54-A5AE185E1F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048" y="2690066"/>
            <a:ext cx="1933806" cy="1014596"/>
          </a:xfrm>
          <a:prstGeom prst="rect">
            <a:avLst/>
          </a:prstGeom>
        </p:spPr>
      </p:pic>
      <p:pic>
        <p:nvPicPr>
          <p:cNvPr id="7" name="Picture 6" descr="A picture containing building&#10;&#10;Description automatically generated">
            <a:extLst>
              <a:ext uri="{FF2B5EF4-FFF2-40B4-BE49-F238E27FC236}">
                <a16:creationId xmlns:a16="http://schemas.microsoft.com/office/drawing/2014/main" id="{6F1A2EE3-8041-DC55-2ABA-EB5F27E8DD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542" y="2698958"/>
            <a:ext cx="1933806" cy="10145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270840A-5ADC-ACD5-2402-7D440BBAF3B9}"/>
              </a:ext>
            </a:extLst>
          </p:cNvPr>
          <p:cNvSpPr/>
          <p:nvPr/>
        </p:nvSpPr>
        <p:spPr>
          <a:xfrm>
            <a:off x="2584264" y="3169609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98B7CBD-4D67-14B1-C833-1277DC8E1D55}"/>
              </a:ext>
            </a:extLst>
          </p:cNvPr>
          <p:cNvSpPr/>
          <p:nvPr/>
        </p:nvSpPr>
        <p:spPr>
          <a:xfrm>
            <a:off x="5693371" y="3127956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CB2F599-0571-25D1-3403-7642E21E0AE3}"/>
              </a:ext>
            </a:extLst>
          </p:cNvPr>
          <p:cNvSpPr/>
          <p:nvPr/>
        </p:nvSpPr>
        <p:spPr>
          <a:xfrm>
            <a:off x="8734854" y="3124168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375F35-489F-DB7C-E55D-AAA7591852B8}"/>
              </a:ext>
            </a:extLst>
          </p:cNvPr>
          <p:cNvSpPr txBox="1"/>
          <p:nvPr/>
        </p:nvSpPr>
        <p:spPr>
          <a:xfrm>
            <a:off x="2100813" y="4157883"/>
            <a:ext cx="18528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Vertex shader</a:t>
            </a:r>
          </a:p>
          <a:p>
            <a:endParaRPr lang="en-US" b="1" dirty="0"/>
          </a:p>
          <a:p>
            <a:r>
              <a:rPr lang="en-US" dirty="0"/>
              <a:t>(Apply animation)</a:t>
            </a:r>
          </a:p>
          <a:p>
            <a:r>
              <a:rPr lang="en-US" dirty="0"/>
              <a:t>Apply </a:t>
            </a:r>
            <a:r>
              <a:rPr lang="en-US" dirty="0" err="1"/>
              <a:t>mvp</a:t>
            </a:r>
            <a:r>
              <a:rPr lang="en-US" dirty="0"/>
              <a:t> matrix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173A80-6CAE-069E-4805-8F2F64E3C2C9}"/>
              </a:ext>
            </a:extLst>
          </p:cNvPr>
          <p:cNvSpPr txBox="1"/>
          <p:nvPr/>
        </p:nvSpPr>
        <p:spPr>
          <a:xfrm>
            <a:off x="7816612" y="3995678"/>
            <a:ext cx="3358099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Fragment shader</a:t>
            </a:r>
          </a:p>
          <a:p>
            <a:endParaRPr lang="en-US" b="1" dirty="0"/>
          </a:p>
          <a:p>
            <a:r>
              <a:rPr lang="en-US" dirty="0"/>
              <a:t>Light lights; (from </a:t>
            </a:r>
            <a:r>
              <a:rPr lang="en-US" dirty="0" err="1"/>
              <a:t>cpu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Float4 </a:t>
            </a:r>
            <a:r>
              <a:rPr lang="en-US" dirty="0" err="1"/>
              <a:t>outputColor</a:t>
            </a:r>
            <a:r>
              <a:rPr lang="en-US" dirty="0"/>
              <a:t> = 0;</a:t>
            </a:r>
          </a:p>
          <a:p>
            <a:r>
              <a:rPr lang="en-US" dirty="0"/>
              <a:t>For each light:</a:t>
            </a:r>
          </a:p>
          <a:p>
            <a:r>
              <a:rPr lang="en-US" dirty="0"/>
              <a:t>   if (</a:t>
            </a:r>
            <a:r>
              <a:rPr lang="en-US" dirty="0" err="1"/>
              <a:t>inShadow</a:t>
            </a:r>
            <a:r>
              <a:rPr lang="en-US" dirty="0"/>
              <a:t>(</a:t>
            </a:r>
            <a:r>
              <a:rPr lang="en-US" dirty="0" err="1"/>
              <a:t>shadowMap</a:t>
            </a:r>
            <a:r>
              <a:rPr lang="en-US" dirty="0"/>
              <a:t>))</a:t>
            </a:r>
          </a:p>
          <a:p>
            <a:r>
              <a:rPr lang="en-US" dirty="0"/>
              <a:t>       continue</a:t>
            </a:r>
          </a:p>
          <a:p>
            <a:r>
              <a:rPr lang="en-US" dirty="0"/>
              <a:t>   </a:t>
            </a:r>
            <a:r>
              <a:rPr lang="en-US" dirty="0" err="1"/>
              <a:t>outputColor</a:t>
            </a:r>
            <a:r>
              <a:rPr lang="en-US" dirty="0"/>
              <a:t> += BRDF(N, light) *</a:t>
            </a:r>
          </a:p>
          <a:p>
            <a:r>
              <a:rPr lang="en-US" dirty="0"/>
              <a:t>Return </a:t>
            </a:r>
            <a:r>
              <a:rPr lang="en-US" dirty="0" err="1"/>
              <a:t>outputColor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1417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69DC2-47EE-1EE0-AB7D-D44079FC7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Deferred rendering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13164D-0A93-66DD-A970-DB23780DB1A0}"/>
              </a:ext>
            </a:extLst>
          </p:cNvPr>
          <p:cNvSpPr txBox="1"/>
          <p:nvPr/>
        </p:nvSpPr>
        <p:spPr>
          <a:xfrm>
            <a:off x="205386" y="1291305"/>
            <a:ext cx="10209911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way of doings things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Supported in Unity when you make a lit shader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Calculate only base color, normal in material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Lights calculated in a later stage (usually inaccessible in the engine)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D528B8-B7E3-9685-3F15-7A6988738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703" y="3402907"/>
            <a:ext cx="6719560" cy="33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3981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7B09-E3B5-C6C4-8A35-ACB89858F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94F91D-76D1-999B-670E-03D7EA30BA3C}"/>
              </a:ext>
            </a:extLst>
          </p:cNvPr>
          <p:cNvSpPr txBox="1"/>
          <p:nvPr/>
        </p:nvSpPr>
        <p:spPr>
          <a:xfrm>
            <a:off x="579352" y="1690688"/>
            <a:ext cx="859575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skipped a lot of essential stuff: geometry, normal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was just to connect everything for the pipeline part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rest is (relatively) </a:t>
            </a:r>
            <a:r>
              <a:rPr lang="en-US" sz="2800" dirty="0" err="1"/>
              <a:t>selfcontained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32998954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F166C-8CBA-913C-7BEC-B6E175E97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A49D-5689-B6FE-7829-4CF7E53F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 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2DB1D1-7044-BC2B-10B2-D74BA859ED61}"/>
              </a:ext>
            </a:extLst>
          </p:cNvPr>
          <p:cNvSpPr txBox="1"/>
          <p:nvPr/>
        </p:nvSpPr>
        <p:spPr>
          <a:xfrm>
            <a:off x="466165" y="1690688"/>
            <a:ext cx="5795048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 a high level overview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</a:t>
            </a:r>
            <a:r>
              <a:rPr lang="en-US" sz="2800" dirty="0"/>
              <a:t>(Dig into some problem topics)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QA / problem topics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1972983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8D0B0-0D6E-9C59-9406-9EF8105A1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0A6D4-B741-AFFF-0D62-9B0C63B8A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 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D60F1-5480-B7FA-15A9-122374D4347C}"/>
              </a:ext>
            </a:extLst>
          </p:cNvPr>
          <p:cNvSpPr txBox="1"/>
          <p:nvPr/>
        </p:nvSpPr>
        <p:spPr>
          <a:xfrm>
            <a:off x="466165" y="1690688"/>
            <a:ext cx="504324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 a high level overview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(Dig into some problem topics)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Break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QA / problem topics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700261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60B38-DBC3-E8E2-AC5E-6714D030C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C0880-8FD3-443D-4C47-53A141E73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 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774B9-2591-EA5B-A008-F8C369FC54C8}"/>
              </a:ext>
            </a:extLst>
          </p:cNvPr>
          <p:cNvSpPr txBox="1"/>
          <p:nvPr/>
        </p:nvSpPr>
        <p:spPr>
          <a:xfrm>
            <a:off x="466165" y="1690688"/>
            <a:ext cx="496148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 a high level overview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(Dig into some problem topics)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QA / problem topics</a:t>
            </a:r>
            <a:r>
              <a:rPr lang="en-US" sz="2800" dirty="0">
                <a:sym typeface="Wingdings" panose="05000000000000000000" pitchFamily="2" charset="2"/>
              </a:rPr>
              <a:t> 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63947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EF540-0137-B5AF-C08F-2D64A5AA0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GOOD LUCK!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6545D-7C13-CC9B-822A-EB3B5E429864}"/>
              </a:ext>
            </a:extLst>
          </p:cNvPr>
          <p:cNvSpPr txBox="1"/>
          <p:nvPr/>
        </p:nvSpPr>
        <p:spPr>
          <a:xfrm>
            <a:off x="388471" y="1464236"/>
            <a:ext cx="6556988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Exam slots posted Friday 1700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If they’re full, just email me, it’s expected </a:t>
            </a:r>
          </a:p>
          <a:p>
            <a:endParaRPr lang="en-US" dirty="0"/>
          </a:p>
        </p:txBody>
      </p:sp>
      <p:pic>
        <p:nvPicPr>
          <p:cNvPr id="5" name="Picture 4" descr="A person standing next to a wall of metal&#10;&#10;AI-generated content may be incorrect.">
            <a:extLst>
              <a:ext uri="{FF2B5EF4-FFF2-40B4-BE49-F238E27FC236}">
                <a16:creationId xmlns:a16="http://schemas.microsoft.com/office/drawing/2014/main" id="{74D429BE-2751-D596-6DA1-8C43CB2FB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724" y="4205108"/>
            <a:ext cx="4709276" cy="2652892"/>
          </a:xfrm>
          <a:prstGeom prst="rect">
            <a:avLst/>
          </a:prstGeom>
        </p:spPr>
      </p:pic>
      <p:pic>
        <p:nvPicPr>
          <p:cNvPr id="7" name="Picture 6" descr="A spaceship in a tunnel&#10;&#10;AI-generated content may be incorrect.">
            <a:extLst>
              <a:ext uri="{FF2B5EF4-FFF2-40B4-BE49-F238E27FC236}">
                <a16:creationId xmlns:a16="http://schemas.microsoft.com/office/drawing/2014/main" id="{70266FF8-5719-3C2E-4A61-060307B28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67842"/>
            <a:ext cx="4830266" cy="2430419"/>
          </a:xfrm>
          <a:prstGeom prst="rect">
            <a:avLst/>
          </a:prstGeom>
        </p:spPr>
      </p:pic>
      <p:pic>
        <p:nvPicPr>
          <p:cNvPr id="9" name="Picture 8" descr="A person in a helmet&#10;&#10;AI-generated content may be incorrect.">
            <a:extLst>
              <a:ext uri="{FF2B5EF4-FFF2-40B4-BE49-F238E27FC236}">
                <a16:creationId xmlns:a16="http://schemas.microsoft.com/office/drawing/2014/main" id="{AE8E03AC-E33D-18CE-B49B-A05B6ABAF4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5459" y="-23813"/>
            <a:ext cx="5030814" cy="2829833"/>
          </a:xfrm>
          <a:prstGeom prst="rect">
            <a:avLst/>
          </a:prstGeom>
        </p:spPr>
      </p:pic>
      <p:pic>
        <p:nvPicPr>
          <p:cNvPr id="11" name="Picture 10" descr="A person wearing a helmet&#10;&#10;AI-generated content may be incorrect.">
            <a:extLst>
              <a:ext uri="{FF2B5EF4-FFF2-40B4-BE49-F238E27FC236}">
                <a16:creationId xmlns:a16="http://schemas.microsoft.com/office/drawing/2014/main" id="{5AAC4D58-AF69-F3E7-2040-FAB9A8797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8745" y="4674412"/>
            <a:ext cx="2095500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80756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1" id="{6849F4D6-1FB7-4CEB-8CC6-E456C34ADDA4}" vid="{0A04E370-2E7A-4A97-A218-FEC8E52F4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slides_theme</Template>
  <TotalTime>19391</TotalTime>
  <Words>719</Words>
  <Application>Microsoft Office PowerPoint</Application>
  <PresentationFormat>Widescreen</PresentationFormat>
  <Paragraphs>161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Tahoma</vt:lpstr>
      <vt:lpstr>Wingdings</vt:lpstr>
      <vt:lpstr>Kantoorthema</vt:lpstr>
      <vt:lpstr>PowerPoint Presentation</vt:lpstr>
      <vt:lpstr>This class </vt:lpstr>
      <vt:lpstr>High level overview</vt:lpstr>
      <vt:lpstr>High level overview</vt:lpstr>
      <vt:lpstr>High level overview</vt:lpstr>
      <vt:lpstr>How reality works</vt:lpstr>
      <vt:lpstr>How reality works</vt:lpstr>
      <vt:lpstr>How reality works</vt:lpstr>
      <vt:lpstr>High level overview</vt:lpstr>
      <vt:lpstr>Primary visibility</vt:lpstr>
      <vt:lpstr>High level overview</vt:lpstr>
      <vt:lpstr>Rendering equation</vt:lpstr>
      <vt:lpstr>High level overview</vt:lpstr>
      <vt:lpstr>GPU’s</vt:lpstr>
      <vt:lpstr>Forward rendering</vt:lpstr>
      <vt:lpstr>Deferred rendering</vt:lpstr>
      <vt:lpstr>Questions?</vt:lpstr>
      <vt:lpstr>This class </vt:lpstr>
      <vt:lpstr>This class </vt:lpstr>
      <vt:lpstr>This class </vt:lpstr>
      <vt:lpstr>GOOD LUCK!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Daan Nijs</dc:creator>
  <cp:lastModifiedBy>Daan Nijs</cp:lastModifiedBy>
  <cp:revision>20</cp:revision>
  <dcterms:created xsi:type="dcterms:W3CDTF">2024-01-29T23:06:06Z</dcterms:created>
  <dcterms:modified xsi:type="dcterms:W3CDTF">2025-06-03T07:27:39Z</dcterms:modified>
</cp:coreProperties>
</file>