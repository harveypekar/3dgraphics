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61" r:id="rId3"/>
    <p:sldId id="266" r:id="rId4"/>
    <p:sldId id="273" r:id="rId5"/>
    <p:sldId id="360" r:id="rId6"/>
    <p:sldId id="282" r:id="rId7"/>
    <p:sldId id="361" r:id="rId8"/>
    <p:sldId id="323" r:id="rId9"/>
    <p:sldId id="327" r:id="rId10"/>
    <p:sldId id="328" r:id="rId11"/>
    <p:sldId id="329" r:id="rId12"/>
    <p:sldId id="348" r:id="rId13"/>
    <p:sldId id="352" r:id="rId14"/>
    <p:sldId id="365" r:id="rId15"/>
    <p:sldId id="412" r:id="rId16"/>
    <p:sldId id="395" r:id="rId17"/>
    <p:sldId id="396" r:id="rId18"/>
    <p:sldId id="405" r:id="rId19"/>
    <p:sldId id="406" r:id="rId20"/>
    <p:sldId id="407" r:id="rId21"/>
    <p:sldId id="409" r:id="rId2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78594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6FD8B-BF77-701A-F026-E313EFB0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4970F-997C-AAE0-055F-42B69D176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C3886-B580-9346-E152-B94497BD5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FBF15-2E32-F045-0FD4-C37314A5B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20303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70229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05/14/2025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X : Revision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BD7E-C8DE-549B-E4A5-A5EBA69F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“3D graphics”?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69A5B-49F7-5A06-22F9-1AD9FD3EB918}"/>
              </a:ext>
            </a:extLst>
          </p:cNvPr>
          <p:cNvSpPr txBox="1"/>
          <p:nvPr/>
        </p:nvSpPr>
        <p:spPr>
          <a:xfrm>
            <a:off x="1909720" y="30506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5" name="Picture 4" descr="A computer screen shot of a room&#10;&#10;Description automatically generated">
            <a:extLst>
              <a:ext uri="{FF2B5EF4-FFF2-40B4-BE49-F238E27FC236}">
                <a16:creationId xmlns:a16="http://schemas.microsoft.com/office/drawing/2014/main" id="{16755635-A9D6-F736-E552-14D91DFC8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660" y="3162044"/>
            <a:ext cx="5381340" cy="3695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02DFDD-E30F-8249-6891-F1FB635F4A05}"/>
              </a:ext>
            </a:extLst>
          </p:cNvPr>
          <p:cNvSpPr txBox="1"/>
          <p:nvPr/>
        </p:nvSpPr>
        <p:spPr>
          <a:xfrm>
            <a:off x="250166" y="1613118"/>
            <a:ext cx="108564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“Images representing a 3d scene created by transforming 3d models and textures using algorithms”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is not *the* definition, this is my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It’s a badly defined term</a:t>
            </a:r>
            <a:endParaRPr lang="nl-BE" sz="2800" dirty="0"/>
          </a:p>
        </p:txBody>
      </p:sp>
    </p:spTree>
    <p:extLst>
      <p:ext uri="{BB962C8B-B14F-4D97-AF65-F5344CB8AC3E}">
        <p14:creationId xmlns:p14="http://schemas.microsoft.com/office/powerpoint/2010/main" val="2121232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79B5-F349-56AB-570D-D7F8B56E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25" y="118225"/>
            <a:ext cx="11492917" cy="1325563"/>
          </a:xfrm>
        </p:spPr>
        <p:txBody>
          <a:bodyPr/>
          <a:lstStyle/>
          <a:p>
            <a:r>
              <a:rPr lang="en-US" dirty="0"/>
              <a:t>This course should actually be called 3D rendering</a:t>
            </a:r>
            <a:endParaRPr lang="nl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D3289-0DC4-D006-6205-E173C89CDDF1}"/>
              </a:ext>
            </a:extLst>
          </p:cNvPr>
          <p:cNvSpPr txBox="1"/>
          <p:nvPr/>
        </p:nvSpPr>
        <p:spPr>
          <a:xfrm>
            <a:off x="90236" y="1443788"/>
            <a:ext cx="108141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Rendering : creating an image, based on a description of a scene, using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Description is models, textures, animations, camera settings…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Rendering is the process of creating images from input data</a:t>
            </a:r>
          </a:p>
        </p:txBody>
      </p:sp>
    </p:spTree>
    <p:extLst>
      <p:ext uri="{BB962C8B-B14F-4D97-AF65-F5344CB8AC3E}">
        <p14:creationId xmlns:p14="http://schemas.microsoft.com/office/powerpoint/2010/main" val="4008485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two kinds of rendering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5" name="Picture 4" descr="A cartoon character on a beach&#10;&#10;Description automatically generated">
            <a:extLst>
              <a:ext uri="{FF2B5EF4-FFF2-40B4-BE49-F238E27FC236}">
                <a16:creationId xmlns:a16="http://schemas.microsoft.com/office/drawing/2014/main" id="{8F6EF9FA-7974-42B2-378D-39224235F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30667"/>
            <a:ext cx="4920018" cy="3280012"/>
          </a:xfrm>
          <a:prstGeom prst="rect">
            <a:avLst/>
          </a:prstGeom>
        </p:spPr>
      </p:pic>
      <p:pic>
        <p:nvPicPr>
          <p:cNvPr id="7" name="Picture 6" descr="A person walking a horse on a mountain&#10;&#10;Description automatically generated">
            <a:extLst>
              <a:ext uri="{FF2B5EF4-FFF2-40B4-BE49-F238E27FC236}">
                <a16:creationId xmlns:a16="http://schemas.microsoft.com/office/drawing/2014/main" id="{8D24F97A-8AE4-82BC-F0D8-518E7D89A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1530667"/>
            <a:ext cx="5715000" cy="3200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ED9262-AB95-3676-EA45-87818901D663}"/>
              </a:ext>
            </a:extLst>
          </p:cNvPr>
          <p:cNvCxnSpPr/>
          <p:nvPr/>
        </p:nvCxnSpPr>
        <p:spPr>
          <a:xfrm>
            <a:off x="5125452" y="3031958"/>
            <a:ext cx="1152000" cy="0"/>
          </a:xfrm>
          <a:prstGeom prst="straightConnector1">
            <a:avLst/>
          </a:prstGeom>
          <a:ln w="1270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6459B4-6E6B-E5D9-0C9B-8FBF9B675BCF}"/>
              </a:ext>
            </a:extLst>
          </p:cNvPr>
          <p:cNvSpPr txBox="1"/>
          <p:nvPr/>
        </p:nvSpPr>
        <p:spPr>
          <a:xfrm>
            <a:off x="149642" y="5022114"/>
            <a:ext cx="46207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Offline rendering: rendering is done once, usually with a rendering farm. An example is a Pixar movie</a:t>
            </a:r>
            <a:endParaRPr lang="en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FC5E8-6B1B-2AA6-C6AA-DF0B31BFF300}"/>
              </a:ext>
            </a:extLst>
          </p:cNvPr>
          <p:cNvSpPr txBox="1"/>
          <p:nvPr/>
        </p:nvSpPr>
        <p:spPr>
          <a:xfrm>
            <a:off x="6593785" y="5022114"/>
            <a:ext cx="46207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Realtime rendering: rendering is done continuously, on the user’s machine. An example is a 3D game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203840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70B94-D095-6BBB-091A-BA2CBEF6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56EA-9464-E3F9-6E38-6DBDEEC4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two kinds of rendering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851F4-5FC9-C487-A1D2-4978B8F557EE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pic>
        <p:nvPicPr>
          <p:cNvPr id="5" name="Picture 4" descr="A cartoon character on a beach&#10;&#10;Description automatically generated">
            <a:extLst>
              <a:ext uri="{FF2B5EF4-FFF2-40B4-BE49-F238E27FC236}">
                <a16:creationId xmlns:a16="http://schemas.microsoft.com/office/drawing/2014/main" id="{D9B9A60A-0DDC-B1F0-2F2E-0369987CA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30667"/>
            <a:ext cx="4920018" cy="3280012"/>
          </a:xfrm>
          <a:prstGeom prst="rect">
            <a:avLst/>
          </a:prstGeom>
        </p:spPr>
      </p:pic>
      <p:pic>
        <p:nvPicPr>
          <p:cNvPr id="7" name="Picture 6" descr="A person walking a horse on a mountain&#10;&#10;Description automatically generated">
            <a:extLst>
              <a:ext uri="{FF2B5EF4-FFF2-40B4-BE49-F238E27FC236}">
                <a16:creationId xmlns:a16="http://schemas.microsoft.com/office/drawing/2014/main" id="{2E699F33-68AB-D57A-7341-90E892D65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1530667"/>
            <a:ext cx="5715000" cy="3200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7ED8E1-EC74-1172-9B84-E05F97592952}"/>
              </a:ext>
            </a:extLst>
          </p:cNvPr>
          <p:cNvCxnSpPr/>
          <p:nvPr/>
        </p:nvCxnSpPr>
        <p:spPr>
          <a:xfrm>
            <a:off x="5125452" y="3031958"/>
            <a:ext cx="1152000" cy="0"/>
          </a:xfrm>
          <a:prstGeom prst="straightConnector1">
            <a:avLst/>
          </a:prstGeom>
          <a:ln w="1270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AE30D7C-86C9-1375-6B86-69F021AD3DF1}"/>
              </a:ext>
            </a:extLst>
          </p:cNvPr>
          <p:cNvSpPr txBox="1"/>
          <p:nvPr/>
        </p:nvSpPr>
        <p:spPr>
          <a:xfrm>
            <a:off x="149642" y="5022114"/>
            <a:ext cx="46207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Not interactive : can spend 10’s to 1000’s of hours rendering a frame</a:t>
            </a:r>
            <a:endParaRPr lang="en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E5C82-9B0C-48C9-74F8-17BA6A24AE28}"/>
              </a:ext>
            </a:extLst>
          </p:cNvPr>
          <p:cNvSpPr txBox="1"/>
          <p:nvPr/>
        </p:nvSpPr>
        <p:spPr>
          <a:xfrm>
            <a:off x="6593785" y="5022114"/>
            <a:ext cx="46207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Interactive: needs to run at 30+ frames per second. We have less than 34 milliseconds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68819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9E65-A87D-4AC7-139F-C565989D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Trick question! It doesn’t matter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DFDA6-B483-67D8-840E-23BFD16D157D}"/>
              </a:ext>
            </a:extLst>
          </p:cNvPr>
          <p:cNvSpPr txBox="1"/>
          <p:nvPr/>
        </p:nvSpPr>
        <p:spPr>
          <a:xfrm>
            <a:off x="1197142" y="2261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91D92-F9FA-89DB-7DB8-32C553DA6203}"/>
              </a:ext>
            </a:extLst>
          </p:cNvPr>
          <p:cNvSpPr txBox="1"/>
          <p:nvPr/>
        </p:nvSpPr>
        <p:spPr>
          <a:xfrm>
            <a:off x="5715001" y="3374084"/>
            <a:ext cx="6411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only need to render once (no user input)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Anecdotally, about 80-400 hours on a single pc for one frame, but is always rendered on a farm</a:t>
            </a:r>
            <a:endParaRPr lang="en-BE" sz="2400" dirty="0"/>
          </a:p>
        </p:txBody>
      </p:sp>
      <p:pic>
        <p:nvPicPr>
          <p:cNvPr id="4" name="Picture 3" descr="A cartoon character on a beach&#10;&#10;Description automatically generated">
            <a:extLst>
              <a:ext uri="{FF2B5EF4-FFF2-40B4-BE49-F238E27FC236}">
                <a16:creationId xmlns:a16="http://schemas.microsoft.com/office/drawing/2014/main" id="{2C7A1191-91F1-8B1F-EBC5-41984E8BA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0341"/>
            <a:ext cx="5670410" cy="378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45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2407-C9CA-8B54-9C87-1B19F9396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simplest render</a:t>
            </a: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9C7A9-08BB-BACF-5BE7-DF3D3DFB6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725" y="3023038"/>
            <a:ext cx="3572374" cy="3057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28FED7-0C57-4C51-98F4-E86AAAB9E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636" y="3429000"/>
            <a:ext cx="3970364" cy="2651990"/>
          </a:xfrm>
          <a:prstGeom prst="rect">
            <a:avLst/>
          </a:prstGeom>
        </p:spPr>
      </p:pic>
      <p:pic>
        <p:nvPicPr>
          <p:cNvPr id="6" name="Picture 5" descr="A sun and arrows pointing to the sun&#10;&#10;Description automatically generated">
            <a:extLst>
              <a:ext uri="{FF2B5EF4-FFF2-40B4-BE49-F238E27FC236}">
                <a16:creationId xmlns:a16="http://schemas.microsoft.com/office/drawing/2014/main" id="{E7A6D806-9B6B-FC13-B159-E15B0BB6B1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47" y="1946511"/>
            <a:ext cx="2964977" cy="296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15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E000-A26E-6FB8-5E7D-6E5E987B2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N is the vector perpendicular to the surface</a:t>
            </a:r>
            <a:endParaRPr lang="en-B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B1BAE2-5E40-1E20-0F32-F4CFC24E1F6A}"/>
              </a:ext>
            </a:extLst>
          </p:cNvPr>
          <p:cNvSpPr/>
          <p:nvPr/>
        </p:nvSpPr>
        <p:spPr>
          <a:xfrm>
            <a:off x="2351313" y="2967134"/>
            <a:ext cx="3116425" cy="3116425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F5130E-3CAB-4B9E-C471-9557DFA80C20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3909525" y="2065176"/>
            <a:ext cx="1" cy="90195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9ECA0F-B674-73AC-3692-2D6B5A63FB8A}"/>
              </a:ext>
            </a:extLst>
          </p:cNvPr>
          <p:cNvCxnSpPr>
            <a:cxnSpLocks/>
          </p:cNvCxnSpPr>
          <p:nvPr/>
        </p:nvCxnSpPr>
        <p:spPr>
          <a:xfrm flipV="1">
            <a:off x="5467738" y="4211216"/>
            <a:ext cx="895740" cy="5909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F83515-FF8A-F280-C603-70D0FFA87D92}"/>
              </a:ext>
            </a:extLst>
          </p:cNvPr>
          <p:cNvCxnSpPr>
            <a:cxnSpLocks/>
          </p:cNvCxnSpPr>
          <p:nvPr/>
        </p:nvCxnSpPr>
        <p:spPr>
          <a:xfrm flipH="1">
            <a:off x="1897224" y="5427304"/>
            <a:ext cx="727788" cy="59405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883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75F5A-A7ED-605C-1673-30B073D3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The light direction </a:t>
            </a:r>
            <a:endParaRPr lang="en-BE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C3A9B36-4EC2-E24B-7854-311F3E1117D8}"/>
              </a:ext>
            </a:extLst>
          </p:cNvPr>
          <p:cNvCxnSpPr/>
          <p:nvPr/>
        </p:nvCxnSpPr>
        <p:spPr>
          <a:xfrm>
            <a:off x="1399592" y="5393094"/>
            <a:ext cx="357051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7FF57C-5D21-8974-60D5-AC2CA1B3E4E2}"/>
              </a:ext>
            </a:extLst>
          </p:cNvPr>
          <p:cNvCxnSpPr/>
          <p:nvPr/>
        </p:nvCxnSpPr>
        <p:spPr>
          <a:xfrm flipV="1">
            <a:off x="3346579" y="3016896"/>
            <a:ext cx="0" cy="23326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FAF8E4-B916-8F42-2E88-F176FBD820D8}"/>
              </a:ext>
            </a:extLst>
          </p:cNvPr>
          <p:cNvSpPr txBox="1"/>
          <p:nvPr/>
        </p:nvSpPr>
        <p:spPr>
          <a:xfrm>
            <a:off x="3670041" y="4285861"/>
            <a:ext cx="417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</a:t>
            </a:r>
            <a:endParaRPr lang="en-BE" sz="2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94146-5FE7-6B42-CBFF-491240B3D927}"/>
              </a:ext>
            </a:extLst>
          </p:cNvPr>
          <p:cNvCxnSpPr/>
          <p:nvPr/>
        </p:nvCxnSpPr>
        <p:spPr>
          <a:xfrm>
            <a:off x="7539135" y="5349551"/>
            <a:ext cx="3570514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22417D-FE4A-A440-0F0B-C2E6CE30694A}"/>
              </a:ext>
            </a:extLst>
          </p:cNvPr>
          <p:cNvCxnSpPr/>
          <p:nvPr/>
        </p:nvCxnSpPr>
        <p:spPr>
          <a:xfrm flipV="1">
            <a:off x="9486122" y="2973353"/>
            <a:ext cx="0" cy="23326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01E949-F938-D7E8-018C-77704F608852}"/>
              </a:ext>
            </a:extLst>
          </p:cNvPr>
          <p:cNvSpPr txBox="1"/>
          <p:nvPr/>
        </p:nvSpPr>
        <p:spPr>
          <a:xfrm>
            <a:off x="9809584" y="4242318"/>
            <a:ext cx="417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</a:t>
            </a:r>
            <a:endParaRPr lang="en-BE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D18AE0-7A25-3DCD-4C7E-98F621F0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22" y="2423195"/>
            <a:ext cx="1503836" cy="14229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E8A567-4877-A512-72ED-80CDB584A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447" y="2129624"/>
            <a:ext cx="2124371" cy="201005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125C06-B4E2-7FD2-C4C8-427101F703C4}"/>
              </a:ext>
            </a:extLst>
          </p:cNvPr>
          <p:cNvCxnSpPr>
            <a:cxnSpLocks/>
          </p:cNvCxnSpPr>
          <p:nvPr/>
        </p:nvCxnSpPr>
        <p:spPr>
          <a:xfrm>
            <a:off x="1841241" y="3713584"/>
            <a:ext cx="1443135" cy="1592424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DBFB80-4DE1-E400-18C8-96EC116B7C4B}"/>
              </a:ext>
            </a:extLst>
          </p:cNvPr>
          <p:cNvSpPr txBox="1"/>
          <p:nvPr/>
        </p:nvSpPr>
        <p:spPr>
          <a:xfrm>
            <a:off x="538682" y="4101561"/>
            <a:ext cx="18051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Main Light </a:t>
            </a:r>
          </a:p>
          <a:p>
            <a:r>
              <a:rPr lang="en-US" sz="2800" dirty="0"/>
              <a:t>Direction</a:t>
            </a:r>
            <a:endParaRPr lang="en-BE" sz="28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726924-141E-7A6E-76B2-942CFB4CAADF}"/>
              </a:ext>
            </a:extLst>
          </p:cNvPr>
          <p:cNvCxnSpPr>
            <a:cxnSpLocks/>
          </p:cNvCxnSpPr>
          <p:nvPr/>
        </p:nvCxnSpPr>
        <p:spPr>
          <a:xfrm flipH="1" flipV="1">
            <a:off x="7794171" y="3999722"/>
            <a:ext cx="1691951" cy="1306286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793C443-AC9F-9B43-5B9B-B7CF4186EC3F}"/>
              </a:ext>
            </a:extLst>
          </p:cNvPr>
          <p:cNvSpPr txBox="1"/>
          <p:nvPr/>
        </p:nvSpPr>
        <p:spPr>
          <a:xfrm>
            <a:off x="8326183" y="3956179"/>
            <a:ext cx="335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153169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FDF0-D569-2ADC-8F46-16965B7D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The dot product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98377-AF81-2049-899F-B93A850E96CE}"/>
              </a:ext>
            </a:extLst>
          </p:cNvPr>
          <p:cNvSpPr txBox="1"/>
          <p:nvPr/>
        </p:nvSpPr>
        <p:spPr>
          <a:xfrm>
            <a:off x="1225421" y="1461795"/>
            <a:ext cx="599189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Takes two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Outputs how “similar” the vectors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Goes from -1 to +1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27155C-3D14-F4D4-0A75-23CB3C9C638B}"/>
              </a:ext>
            </a:extLst>
          </p:cNvPr>
          <p:cNvCxnSpPr/>
          <p:nvPr/>
        </p:nvCxnSpPr>
        <p:spPr>
          <a:xfrm>
            <a:off x="881743" y="3253274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567D28-2147-0FC7-F55B-128ACACF6847}"/>
              </a:ext>
            </a:extLst>
          </p:cNvPr>
          <p:cNvCxnSpPr/>
          <p:nvPr/>
        </p:nvCxnSpPr>
        <p:spPr>
          <a:xfrm>
            <a:off x="934616" y="3355911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B43F11-1101-EE48-2BEA-F480A09B0430}"/>
              </a:ext>
            </a:extLst>
          </p:cNvPr>
          <p:cNvCxnSpPr>
            <a:cxnSpLocks/>
          </p:cNvCxnSpPr>
          <p:nvPr/>
        </p:nvCxnSpPr>
        <p:spPr>
          <a:xfrm>
            <a:off x="8212494" y="3355911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9B567F-86F4-992C-3CC5-8D5D12C07907}"/>
              </a:ext>
            </a:extLst>
          </p:cNvPr>
          <p:cNvCxnSpPr>
            <a:cxnSpLocks/>
          </p:cNvCxnSpPr>
          <p:nvPr/>
        </p:nvCxnSpPr>
        <p:spPr>
          <a:xfrm flipH="1">
            <a:off x="6313714" y="3355911"/>
            <a:ext cx="176504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F98F25-601D-88BB-8B5F-3507697252E4}"/>
              </a:ext>
            </a:extLst>
          </p:cNvPr>
          <p:cNvCxnSpPr>
            <a:cxnSpLocks/>
          </p:cNvCxnSpPr>
          <p:nvPr/>
        </p:nvCxnSpPr>
        <p:spPr>
          <a:xfrm flipV="1">
            <a:off x="931506" y="4236098"/>
            <a:ext cx="0" cy="1782147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A58CA8-2566-5906-39B0-8C61797C8345}"/>
              </a:ext>
            </a:extLst>
          </p:cNvPr>
          <p:cNvCxnSpPr>
            <a:cxnSpLocks/>
          </p:cNvCxnSpPr>
          <p:nvPr/>
        </p:nvCxnSpPr>
        <p:spPr>
          <a:xfrm>
            <a:off x="984379" y="6120882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9D7EBC-3FE9-129A-CB03-28F334E4EA4A}"/>
              </a:ext>
            </a:extLst>
          </p:cNvPr>
          <p:cNvCxnSpPr>
            <a:cxnSpLocks/>
          </p:cNvCxnSpPr>
          <p:nvPr/>
        </p:nvCxnSpPr>
        <p:spPr>
          <a:xfrm flipV="1">
            <a:off x="7273212" y="4460033"/>
            <a:ext cx="1391817" cy="1455575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EC95C9-0E62-206E-C347-CB7ACBEA03B2}"/>
              </a:ext>
            </a:extLst>
          </p:cNvPr>
          <p:cNvCxnSpPr>
            <a:cxnSpLocks/>
          </p:cNvCxnSpPr>
          <p:nvPr/>
        </p:nvCxnSpPr>
        <p:spPr>
          <a:xfrm>
            <a:off x="7326085" y="6018245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9B7927F-5E9B-2A54-98F8-E146BD9D0367}"/>
              </a:ext>
            </a:extLst>
          </p:cNvPr>
          <p:cNvSpPr txBox="1"/>
          <p:nvPr/>
        </p:nvSpPr>
        <p:spPr>
          <a:xfrm>
            <a:off x="3788228" y="3143068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Dot = 1.0</a:t>
            </a:r>
            <a:endParaRPr lang="en-B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61523E-BE64-444B-A809-FAF6877D2BC0}"/>
              </a:ext>
            </a:extLst>
          </p:cNvPr>
          <p:cNvSpPr txBox="1"/>
          <p:nvPr/>
        </p:nvSpPr>
        <p:spPr>
          <a:xfrm>
            <a:off x="3788227" y="5833579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Dot = 0.0</a:t>
            </a:r>
            <a:endParaRPr lang="en-B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EFC46B-80F6-78EE-A112-A5ADC63B43C5}"/>
              </a:ext>
            </a:extLst>
          </p:cNvPr>
          <p:cNvSpPr txBox="1"/>
          <p:nvPr/>
        </p:nvSpPr>
        <p:spPr>
          <a:xfrm>
            <a:off x="10574694" y="3171245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Dot = -1.0</a:t>
            </a:r>
            <a:endParaRPr lang="en-B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4155E9-9295-6D20-F997-D35D66E624AC}"/>
              </a:ext>
            </a:extLst>
          </p:cNvPr>
          <p:cNvSpPr txBox="1"/>
          <p:nvPr/>
        </p:nvSpPr>
        <p:spPr>
          <a:xfrm>
            <a:off x="10475989" y="5833579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Dot = 0.7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559597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119B-33C7-A425-463E-82BA28D0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969"/>
            <a:ext cx="10515600" cy="1325563"/>
          </a:xfrm>
        </p:spPr>
        <p:txBody>
          <a:bodyPr/>
          <a:lstStyle/>
          <a:p>
            <a:r>
              <a:rPr lang="en-US" dirty="0"/>
              <a:t>So now we should understand this image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022AAA-FF26-BE95-8988-35595FFE7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20" y="2541257"/>
            <a:ext cx="4745587" cy="406222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0E2618-AFC4-651F-4D40-86EFFCE153A5}"/>
              </a:ext>
            </a:extLst>
          </p:cNvPr>
          <p:cNvCxnSpPr>
            <a:cxnSpLocks/>
          </p:cNvCxnSpPr>
          <p:nvPr/>
        </p:nvCxnSpPr>
        <p:spPr>
          <a:xfrm flipH="1" flipV="1">
            <a:off x="3608420" y="1924174"/>
            <a:ext cx="1517197" cy="144192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2770B8-81FE-5A9C-E2D7-5CE20210106A}"/>
              </a:ext>
            </a:extLst>
          </p:cNvPr>
          <p:cNvCxnSpPr>
            <a:cxnSpLocks/>
          </p:cNvCxnSpPr>
          <p:nvPr/>
        </p:nvCxnSpPr>
        <p:spPr>
          <a:xfrm flipV="1">
            <a:off x="7145463" y="2307771"/>
            <a:ext cx="1618861" cy="133427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C77078-AA36-A3FD-CD3A-54C56B803840}"/>
              </a:ext>
            </a:extLst>
          </p:cNvPr>
          <p:cNvCxnSpPr>
            <a:cxnSpLocks/>
          </p:cNvCxnSpPr>
          <p:nvPr/>
        </p:nvCxnSpPr>
        <p:spPr>
          <a:xfrm flipH="1" flipV="1">
            <a:off x="3788229" y="1735494"/>
            <a:ext cx="1511559" cy="1449817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40929A-A24E-1F04-3AA2-22496573D883}"/>
              </a:ext>
            </a:extLst>
          </p:cNvPr>
          <p:cNvSpPr txBox="1"/>
          <p:nvPr/>
        </p:nvSpPr>
        <p:spPr>
          <a:xfrm>
            <a:off x="659363" y="2923592"/>
            <a:ext cx="1159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Blue = N</a:t>
            </a:r>
          </a:p>
          <a:p>
            <a:r>
              <a:rPr lang="en-US" dirty="0"/>
              <a:t>Yellow = L </a:t>
            </a:r>
            <a:endParaRPr lang="en-BE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3C9F3E-219F-2015-15A3-7F52AFCAC556}"/>
              </a:ext>
            </a:extLst>
          </p:cNvPr>
          <p:cNvCxnSpPr>
            <a:cxnSpLocks/>
          </p:cNvCxnSpPr>
          <p:nvPr/>
        </p:nvCxnSpPr>
        <p:spPr>
          <a:xfrm flipH="1" flipV="1">
            <a:off x="5610498" y="2202628"/>
            <a:ext cx="1517197" cy="144192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345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B747-33A1-C906-E5EA-C9831BBA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</a:t>
            </a:r>
            <a:endParaRPr lang="en-BE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FC71B0-5D4B-A82E-ED6A-6E29F5F2726C}"/>
              </a:ext>
            </a:extLst>
          </p:cNvPr>
          <p:cNvCxnSpPr>
            <a:cxnSpLocks/>
          </p:cNvCxnSpPr>
          <p:nvPr/>
        </p:nvCxnSpPr>
        <p:spPr>
          <a:xfrm>
            <a:off x="838200" y="5517502"/>
            <a:ext cx="298113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1EEFD8-6C6F-8F3B-DCB4-E06F4FB7680E}"/>
              </a:ext>
            </a:extLst>
          </p:cNvPr>
          <p:cNvCxnSpPr/>
          <p:nvPr/>
        </p:nvCxnSpPr>
        <p:spPr>
          <a:xfrm flipV="1">
            <a:off x="838200" y="2676293"/>
            <a:ext cx="0" cy="284120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A2C3DC-6C15-5D82-4C4A-C2FCC9E69976}"/>
              </a:ext>
            </a:extLst>
          </p:cNvPr>
          <p:cNvCxnSpPr>
            <a:cxnSpLocks/>
          </p:cNvCxnSpPr>
          <p:nvPr/>
        </p:nvCxnSpPr>
        <p:spPr>
          <a:xfrm flipV="1">
            <a:off x="838199" y="3568390"/>
            <a:ext cx="1490566" cy="194911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8681FB3-E011-FD2A-C699-DFFCAC8CA1FD}"/>
              </a:ext>
            </a:extLst>
          </p:cNvPr>
          <p:cNvSpPr txBox="1"/>
          <p:nvPr/>
        </p:nvSpPr>
        <p:spPr>
          <a:xfrm>
            <a:off x="3842227" y="5255892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endParaRPr lang="en-BE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9641ED-CE00-414A-9DB1-32319C828539}"/>
              </a:ext>
            </a:extLst>
          </p:cNvPr>
          <p:cNvSpPr txBox="1"/>
          <p:nvPr/>
        </p:nvSpPr>
        <p:spPr>
          <a:xfrm>
            <a:off x="622623" y="2089302"/>
            <a:ext cx="215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Y</a:t>
            </a:r>
            <a:endParaRPr lang="en-BE" sz="28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5A10E0-D05D-4A30-A5D6-7BBA0B5E810E}"/>
              </a:ext>
            </a:extLst>
          </p:cNvPr>
          <p:cNvSpPr txBox="1"/>
          <p:nvPr/>
        </p:nvSpPr>
        <p:spPr>
          <a:xfrm>
            <a:off x="2255037" y="3116580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Z</a:t>
            </a:r>
            <a:endParaRPr lang="en-BE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FC11E5-068E-5FDD-9D33-F1B769A10F29}"/>
              </a:ext>
            </a:extLst>
          </p:cNvPr>
          <p:cNvSpPr txBox="1"/>
          <p:nvPr/>
        </p:nvSpPr>
        <p:spPr>
          <a:xfrm>
            <a:off x="4773048" y="2612522"/>
            <a:ext cx="719671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RGB -&gt; XYZ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X is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 is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Z is “into”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Try putting your thumb as the x 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Put your index on the Y 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Hold your middle finger perpendicular to both</a:t>
            </a:r>
          </a:p>
        </p:txBody>
      </p:sp>
    </p:spTree>
    <p:extLst>
      <p:ext uri="{BB962C8B-B14F-4D97-AF65-F5344CB8AC3E}">
        <p14:creationId xmlns:p14="http://schemas.microsoft.com/office/powerpoint/2010/main" val="61683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BF34-B399-EAA1-A6E5-9A845026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9647B1-0C0B-A777-5FFA-ED2E48B773AF}"/>
              </a:ext>
            </a:extLst>
          </p:cNvPr>
          <p:cNvSpPr txBox="1"/>
          <p:nvPr/>
        </p:nvSpPr>
        <p:spPr>
          <a:xfrm>
            <a:off x="453483" y="1393321"/>
            <a:ext cx="61034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Is an annoying concept to explain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You know it as an array that can grow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also a 3D offset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also a tuple of 3 floats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Or 4 :/</a:t>
            </a:r>
            <a:endParaRPr lang="en-BE" sz="2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0E4630A-9205-DD19-2F98-A28196492C56}"/>
              </a:ext>
            </a:extLst>
          </p:cNvPr>
          <p:cNvCxnSpPr>
            <a:cxnSpLocks/>
          </p:cNvCxnSpPr>
          <p:nvPr/>
        </p:nvCxnSpPr>
        <p:spPr>
          <a:xfrm>
            <a:off x="6711176" y="5837170"/>
            <a:ext cx="298113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52F658F-00C6-A415-20C6-77F4A508B9ED}"/>
              </a:ext>
            </a:extLst>
          </p:cNvPr>
          <p:cNvCxnSpPr/>
          <p:nvPr/>
        </p:nvCxnSpPr>
        <p:spPr>
          <a:xfrm flipV="1">
            <a:off x="6711176" y="2995961"/>
            <a:ext cx="0" cy="284120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AE3B57-53CB-BF3D-0E86-E6DDF339B807}"/>
              </a:ext>
            </a:extLst>
          </p:cNvPr>
          <p:cNvCxnSpPr>
            <a:cxnSpLocks/>
          </p:cNvCxnSpPr>
          <p:nvPr/>
        </p:nvCxnSpPr>
        <p:spPr>
          <a:xfrm flipV="1">
            <a:off x="6711175" y="3888058"/>
            <a:ext cx="1490566" cy="194911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321ACE5-DBE3-FA78-5122-1FC63140BA87}"/>
              </a:ext>
            </a:extLst>
          </p:cNvPr>
          <p:cNvSpPr txBox="1"/>
          <p:nvPr/>
        </p:nvSpPr>
        <p:spPr>
          <a:xfrm>
            <a:off x="9715203" y="5575560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endParaRPr lang="en-B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07B33-C0D0-5F9D-0D89-65F4F16F7F73}"/>
              </a:ext>
            </a:extLst>
          </p:cNvPr>
          <p:cNvSpPr txBox="1"/>
          <p:nvPr/>
        </p:nvSpPr>
        <p:spPr>
          <a:xfrm>
            <a:off x="6495599" y="2408970"/>
            <a:ext cx="215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Y</a:t>
            </a:r>
            <a:endParaRPr lang="en-BE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41FC9-4DC7-F551-9744-A4FA00CD45C1}"/>
              </a:ext>
            </a:extLst>
          </p:cNvPr>
          <p:cNvSpPr txBox="1"/>
          <p:nvPr/>
        </p:nvSpPr>
        <p:spPr>
          <a:xfrm>
            <a:off x="8128013" y="3436248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Z</a:t>
            </a:r>
            <a:endParaRPr lang="en-BE" sz="28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E20993-0D40-7066-60B2-D90CE692F917}"/>
              </a:ext>
            </a:extLst>
          </p:cNvPr>
          <p:cNvCxnSpPr/>
          <p:nvPr/>
        </p:nvCxnSpPr>
        <p:spPr>
          <a:xfrm flipV="1">
            <a:off x="6802244" y="4512527"/>
            <a:ext cx="2438400" cy="1324643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F4EFD7-018D-EDE8-5073-F48ABED12B04}"/>
              </a:ext>
            </a:extLst>
          </p:cNvPr>
          <p:cNvSpPr txBox="1"/>
          <p:nvPr/>
        </p:nvSpPr>
        <p:spPr>
          <a:xfrm>
            <a:off x="9692307" y="4594302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(3.0, 1.0, 0.0)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940820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CA96-A878-7A6D-81F2-C56898EF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coordinate system</a:t>
            </a:r>
            <a:endParaRPr lang="en-BE" dirty="0"/>
          </a:p>
        </p:txBody>
      </p:sp>
      <p:pic>
        <p:nvPicPr>
          <p:cNvPr id="8" name="Picture 7" descr="A graph of colored arrows&#10;&#10;Description automatically generated with medium confidence">
            <a:extLst>
              <a:ext uri="{FF2B5EF4-FFF2-40B4-BE49-F238E27FC236}">
                <a16:creationId xmlns:a16="http://schemas.microsoft.com/office/drawing/2014/main" id="{8E867927-E177-56F0-EF0D-B042E977C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448" y="1629747"/>
            <a:ext cx="5006458" cy="5067963"/>
          </a:xfrm>
          <a:prstGeom prst="rect">
            <a:avLst/>
          </a:prstGeom>
        </p:spPr>
      </p:pic>
      <p:pic>
        <p:nvPicPr>
          <p:cNvPr id="10" name="Picture 9" descr="A hand with a finger extended&#10;&#10;Description automatically generated">
            <a:extLst>
              <a:ext uri="{FF2B5EF4-FFF2-40B4-BE49-F238E27FC236}">
                <a16:creationId xmlns:a16="http://schemas.microsoft.com/office/drawing/2014/main" id="{C0B353B6-DAA7-B5AE-15EB-694210DDA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677" y="1447915"/>
            <a:ext cx="2408082" cy="22664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1C85A2-172A-68EE-42B5-6DDE157EDDD2}"/>
              </a:ext>
            </a:extLst>
          </p:cNvPr>
          <p:cNvSpPr txBox="1"/>
          <p:nvPr/>
        </p:nvSpPr>
        <p:spPr>
          <a:xfrm>
            <a:off x="373226" y="1508256"/>
            <a:ext cx="49898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Left-handed coordinate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 is up</a:t>
            </a:r>
          </a:p>
        </p:txBody>
      </p:sp>
    </p:spTree>
    <p:extLst>
      <p:ext uri="{BB962C8B-B14F-4D97-AF65-F5344CB8AC3E}">
        <p14:creationId xmlns:p14="http://schemas.microsoft.com/office/powerpoint/2010/main" val="4160690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8224-1FB2-B28A-C2E8-A21702E1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/ division changes length</a:t>
            </a:r>
            <a:endParaRPr lang="en-BE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6D38AD9-979A-FFEB-C2F0-B6DB89DFE8B1}"/>
              </a:ext>
            </a:extLst>
          </p:cNvPr>
          <p:cNvCxnSpPr/>
          <p:nvPr/>
        </p:nvCxnSpPr>
        <p:spPr>
          <a:xfrm>
            <a:off x="1511559" y="2948473"/>
            <a:ext cx="274942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49E8E8-54C4-800F-38CA-99DA1E50E6D9}"/>
              </a:ext>
            </a:extLst>
          </p:cNvPr>
          <p:cNvCxnSpPr>
            <a:cxnSpLocks/>
          </p:cNvCxnSpPr>
          <p:nvPr/>
        </p:nvCxnSpPr>
        <p:spPr>
          <a:xfrm>
            <a:off x="1511559" y="3505200"/>
            <a:ext cx="577875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6DDD4C-3943-0A7F-8204-1EDB6813F195}"/>
              </a:ext>
            </a:extLst>
          </p:cNvPr>
          <p:cNvCxnSpPr>
            <a:cxnSpLocks/>
          </p:cNvCxnSpPr>
          <p:nvPr/>
        </p:nvCxnSpPr>
        <p:spPr>
          <a:xfrm>
            <a:off x="1511559" y="4065036"/>
            <a:ext cx="136226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C04DE3-156E-593C-F42C-91BF9400CA08}"/>
              </a:ext>
            </a:extLst>
          </p:cNvPr>
          <p:cNvSpPr txBox="1"/>
          <p:nvPr/>
        </p:nvSpPr>
        <p:spPr>
          <a:xfrm>
            <a:off x="671804" y="2768082"/>
            <a:ext cx="6623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A * 2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A / 2</a:t>
            </a:r>
            <a:endParaRPr lang="en-BE" b="1" dirty="0"/>
          </a:p>
        </p:txBody>
      </p:sp>
    </p:spTree>
    <p:extLst>
      <p:ext uri="{BB962C8B-B14F-4D97-AF65-F5344CB8AC3E}">
        <p14:creationId xmlns:p14="http://schemas.microsoft.com/office/powerpoint/2010/main" val="456969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E44E-FE33-0D3E-7510-99B8A88E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bunny has it’s own coordinate space</a:t>
            </a:r>
            <a:endParaRPr lang="en-BE" dirty="0"/>
          </a:p>
        </p:txBody>
      </p:sp>
      <p:pic>
        <p:nvPicPr>
          <p:cNvPr id="4" name="Picture 3" descr="A screen shot of a video game&#10;&#10;Description automatically generated">
            <a:extLst>
              <a:ext uri="{FF2B5EF4-FFF2-40B4-BE49-F238E27FC236}">
                <a16:creationId xmlns:a16="http://schemas.microsoft.com/office/drawing/2014/main" id="{DB5160B1-C447-9658-43FC-116F9534B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759" y="1144555"/>
            <a:ext cx="681459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B4A0A6-0A67-E9D6-82AE-E21CE7111AC6}"/>
              </a:ext>
            </a:extLst>
          </p:cNvPr>
          <p:cNvSpPr txBox="1"/>
          <p:nvPr/>
        </p:nvSpPr>
        <p:spPr>
          <a:xfrm>
            <a:off x="391887" y="2220686"/>
            <a:ext cx="684187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It’s called object or model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All the triangles are defined in this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They are static (never change)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transform them to view space to render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243442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7D1A0-A5E3-1138-AAC0-67E29CA5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These all exist at the same time</a:t>
            </a:r>
            <a:endParaRPr lang="en-BE" dirty="0"/>
          </a:p>
        </p:txBody>
      </p:sp>
      <p:pic>
        <p:nvPicPr>
          <p:cNvPr id="3" name="Picture 2" descr="A screenshot of a video camera and a rabbit&#10;&#10;Description automatically generated">
            <a:extLst>
              <a:ext uri="{FF2B5EF4-FFF2-40B4-BE49-F238E27FC236}">
                <a16:creationId xmlns:a16="http://schemas.microsoft.com/office/drawing/2014/main" id="{1983B0F0-111C-ED7C-96B2-45F1FB109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55" y="3429000"/>
            <a:ext cx="2990924" cy="3027668"/>
          </a:xfrm>
          <a:prstGeom prst="rect">
            <a:avLst/>
          </a:prstGeom>
        </p:spPr>
      </p:pic>
      <p:pic>
        <p:nvPicPr>
          <p:cNvPr id="4" name="Picture 3" descr="A cartoon of a rabbit and a camera&#10;&#10;Description automatically generated">
            <a:extLst>
              <a:ext uri="{FF2B5EF4-FFF2-40B4-BE49-F238E27FC236}">
                <a16:creationId xmlns:a16="http://schemas.microsoft.com/office/drawing/2014/main" id="{4E9B9811-816C-429C-5F31-7898A5873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003" y="2537927"/>
            <a:ext cx="5751457" cy="5788090"/>
          </a:xfrm>
          <a:prstGeom prst="rect">
            <a:avLst/>
          </a:prstGeom>
        </p:spPr>
      </p:pic>
      <p:pic>
        <p:nvPicPr>
          <p:cNvPr id="5" name="Picture 4" descr="A screen shot of a video game&#10;&#10;Description automatically generated">
            <a:extLst>
              <a:ext uri="{FF2B5EF4-FFF2-40B4-BE49-F238E27FC236}">
                <a16:creationId xmlns:a16="http://schemas.microsoft.com/office/drawing/2014/main" id="{F6AD42B0-EBF4-7427-EF6E-A8C403AAC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787" y="3202609"/>
            <a:ext cx="4769567" cy="4799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AC777F-F21C-22AD-8978-DBD7142FBCF2}"/>
              </a:ext>
            </a:extLst>
          </p:cNvPr>
          <p:cNvSpPr txBox="1"/>
          <p:nvPr/>
        </p:nvSpPr>
        <p:spPr>
          <a:xfrm>
            <a:off x="1468016" y="2537927"/>
            <a:ext cx="1987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World space</a:t>
            </a:r>
            <a:endParaRPr lang="en-BE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2CCB0-129C-ED06-5543-54FD42168457}"/>
              </a:ext>
            </a:extLst>
          </p:cNvPr>
          <p:cNvSpPr txBox="1"/>
          <p:nvPr/>
        </p:nvSpPr>
        <p:spPr>
          <a:xfrm>
            <a:off x="5304780" y="2537927"/>
            <a:ext cx="1816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View space</a:t>
            </a:r>
            <a:endParaRPr lang="en-B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24E43-0E54-804A-204B-FF0DB26D00A2}"/>
              </a:ext>
            </a:extLst>
          </p:cNvPr>
          <p:cNvSpPr txBox="1"/>
          <p:nvPr/>
        </p:nvSpPr>
        <p:spPr>
          <a:xfrm>
            <a:off x="9501674" y="2537927"/>
            <a:ext cx="2061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Object space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990264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88C00-ACD9-BB3F-694D-F9286156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D8952-0F3F-E1D8-BEE6-051C5AFE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55" y="371345"/>
            <a:ext cx="12123575" cy="1325563"/>
          </a:xfrm>
        </p:spPr>
        <p:txBody>
          <a:bodyPr/>
          <a:lstStyle/>
          <a:p>
            <a:r>
              <a:rPr lang="en-US" dirty="0"/>
              <a:t>Dot product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51DE02-48C2-DFFE-01EE-427819FA2A14}"/>
              </a:ext>
            </a:extLst>
          </p:cNvPr>
          <p:cNvSpPr txBox="1"/>
          <p:nvPr/>
        </p:nvSpPr>
        <p:spPr>
          <a:xfrm>
            <a:off x="326571" y="4460032"/>
            <a:ext cx="115388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Definition 1 : Dot(A,B) = </a:t>
            </a:r>
            <a:r>
              <a:rPr lang="en-US" sz="2800" dirty="0" err="1"/>
              <a:t>A.length</a:t>
            </a:r>
            <a:r>
              <a:rPr lang="en-US" sz="2800" dirty="0"/>
              <a:t>() * </a:t>
            </a:r>
            <a:r>
              <a:rPr lang="en-US" sz="2800" dirty="0" err="1"/>
              <a:t>B.length</a:t>
            </a:r>
            <a:r>
              <a:rPr lang="en-US" sz="2800" dirty="0"/>
              <a:t>() * cos(angle) </a:t>
            </a:r>
          </a:p>
          <a:p>
            <a:r>
              <a:rPr lang="en-US" sz="2800" dirty="0"/>
              <a:t>Definition 2 : </a:t>
            </a:r>
            <a:r>
              <a:rPr lang="en-US" sz="2800" dirty="0" err="1"/>
              <a:t>A.x</a:t>
            </a:r>
            <a:r>
              <a:rPr lang="en-US" sz="2800" dirty="0"/>
              <a:t> * </a:t>
            </a:r>
            <a:r>
              <a:rPr lang="en-US" sz="2800" dirty="0" err="1"/>
              <a:t>B.x</a:t>
            </a:r>
            <a:r>
              <a:rPr lang="en-US" sz="2800" dirty="0"/>
              <a:t> + </a:t>
            </a:r>
            <a:r>
              <a:rPr lang="en-US" sz="2800" dirty="0" err="1"/>
              <a:t>A.y</a:t>
            </a:r>
            <a:r>
              <a:rPr lang="en-US" sz="2800" dirty="0"/>
              <a:t> * </a:t>
            </a:r>
            <a:r>
              <a:rPr lang="en-US" sz="2800" dirty="0" err="1"/>
              <a:t>B.y</a:t>
            </a:r>
            <a:r>
              <a:rPr lang="en-US" sz="2800" dirty="0"/>
              <a:t> + </a:t>
            </a:r>
            <a:r>
              <a:rPr lang="en-US" sz="2800" dirty="0" err="1"/>
              <a:t>A.z</a:t>
            </a:r>
            <a:r>
              <a:rPr lang="en-US" sz="2800" dirty="0"/>
              <a:t> * </a:t>
            </a:r>
            <a:r>
              <a:rPr lang="en-US" sz="2800" dirty="0" err="1"/>
              <a:t>B.z</a:t>
            </a:r>
            <a:endParaRPr lang="en-BE" sz="2800" dirty="0"/>
          </a:p>
          <a:p>
            <a:endParaRPr lang="en-US" sz="2800" dirty="0"/>
          </a:p>
          <a:p>
            <a:r>
              <a:rPr lang="en-US" sz="2800" dirty="0"/>
              <a:t>Unit vectors: Dot(A,B) =  cos(angle)</a:t>
            </a:r>
          </a:p>
          <a:p>
            <a:r>
              <a:rPr lang="en-US" sz="2800" b="1" dirty="0"/>
              <a:t>Measure of closeness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E651D1-14F8-6D1F-BE9E-FD1DF6EA5087}"/>
              </a:ext>
            </a:extLst>
          </p:cNvPr>
          <p:cNvCxnSpPr/>
          <p:nvPr/>
        </p:nvCxnSpPr>
        <p:spPr>
          <a:xfrm flipV="1">
            <a:off x="4609323" y="1866122"/>
            <a:ext cx="1337388" cy="1517779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0F47BF3-2AAB-85FD-7D70-7F7FEB2D34A3}"/>
              </a:ext>
            </a:extLst>
          </p:cNvPr>
          <p:cNvSpPr txBox="1"/>
          <p:nvPr/>
        </p:nvSpPr>
        <p:spPr>
          <a:xfrm>
            <a:off x="4307872" y="214240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B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3F152F-7996-05C9-2024-0EC8C1E9A6C3}"/>
              </a:ext>
            </a:extLst>
          </p:cNvPr>
          <p:cNvCxnSpPr>
            <a:cxnSpLocks/>
          </p:cNvCxnSpPr>
          <p:nvPr/>
        </p:nvCxnSpPr>
        <p:spPr>
          <a:xfrm>
            <a:off x="4609323" y="3383901"/>
            <a:ext cx="2146040" cy="0"/>
          </a:xfrm>
          <a:prstGeom prst="line">
            <a:avLst/>
          </a:prstGeom>
          <a:ln w="762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FBCD85-8BEE-487E-B131-B4D3C12BB3CF}"/>
              </a:ext>
            </a:extLst>
          </p:cNvPr>
          <p:cNvSpPr txBox="1"/>
          <p:nvPr/>
        </p:nvSpPr>
        <p:spPr>
          <a:xfrm>
            <a:off x="6192417" y="355263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BE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48D35A8-B889-862C-95F0-B0DBB9FB3FF4}"/>
              </a:ext>
            </a:extLst>
          </p:cNvPr>
          <p:cNvSpPr/>
          <p:nvPr/>
        </p:nvSpPr>
        <p:spPr>
          <a:xfrm>
            <a:off x="4578208" y="2773038"/>
            <a:ext cx="1181886" cy="1158261"/>
          </a:xfrm>
          <a:prstGeom prst="arc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A3D0D-F0ED-86B7-D27B-E8660C773DE0}"/>
              </a:ext>
            </a:extLst>
          </p:cNvPr>
          <p:cNvSpPr txBox="1"/>
          <p:nvPr/>
        </p:nvSpPr>
        <p:spPr>
          <a:xfrm>
            <a:off x="5552137" y="2625011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804158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C9699-AB74-7C51-97FC-5CBABCA04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74A7-184C-E194-7AC6-D35DD54C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55" y="371345"/>
            <a:ext cx="12123575" cy="1325563"/>
          </a:xfrm>
        </p:spPr>
        <p:txBody>
          <a:bodyPr/>
          <a:lstStyle/>
          <a:p>
            <a:r>
              <a:rPr lang="en-US" dirty="0"/>
              <a:t>Unit vectors </a:t>
            </a:r>
            <a:r>
              <a:rPr lang="en-US" dirty="0">
                <a:sym typeface="Wingdings" panose="05000000000000000000" pitchFamily="2" charset="2"/>
              </a:rPr>
              <a:t> just the cosine</a:t>
            </a:r>
            <a:endParaRPr lang="en-BE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327155C-3D14-F4D4-0A75-23CB3C9C638B}"/>
              </a:ext>
            </a:extLst>
          </p:cNvPr>
          <p:cNvCxnSpPr/>
          <p:nvPr/>
        </p:nvCxnSpPr>
        <p:spPr>
          <a:xfrm>
            <a:off x="547769" y="3471081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567D28-2147-0FC7-F55B-128ACACF6847}"/>
              </a:ext>
            </a:extLst>
          </p:cNvPr>
          <p:cNvCxnSpPr/>
          <p:nvPr/>
        </p:nvCxnSpPr>
        <p:spPr>
          <a:xfrm>
            <a:off x="600642" y="3573718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B43F11-1101-EE48-2BEA-F480A09B0430}"/>
              </a:ext>
            </a:extLst>
          </p:cNvPr>
          <p:cNvCxnSpPr>
            <a:cxnSpLocks/>
          </p:cNvCxnSpPr>
          <p:nvPr/>
        </p:nvCxnSpPr>
        <p:spPr>
          <a:xfrm>
            <a:off x="7878520" y="3573718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9B567F-86F4-992C-3CC5-8D5D12C07907}"/>
              </a:ext>
            </a:extLst>
          </p:cNvPr>
          <p:cNvCxnSpPr>
            <a:cxnSpLocks/>
          </p:cNvCxnSpPr>
          <p:nvPr/>
        </p:nvCxnSpPr>
        <p:spPr>
          <a:xfrm flipH="1">
            <a:off x="5979740" y="3573718"/>
            <a:ext cx="176504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F98F25-601D-88BB-8B5F-3507697252E4}"/>
              </a:ext>
            </a:extLst>
          </p:cNvPr>
          <p:cNvCxnSpPr>
            <a:cxnSpLocks/>
          </p:cNvCxnSpPr>
          <p:nvPr/>
        </p:nvCxnSpPr>
        <p:spPr>
          <a:xfrm flipV="1">
            <a:off x="650405" y="4556542"/>
            <a:ext cx="0" cy="1782147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A58CA8-2566-5906-39B0-8C61797C8345}"/>
              </a:ext>
            </a:extLst>
          </p:cNvPr>
          <p:cNvCxnSpPr>
            <a:cxnSpLocks/>
          </p:cNvCxnSpPr>
          <p:nvPr/>
        </p:nvCxnSpPr>
        <p:spPr>
          <a:xfrm>
            <a:off x="650405" y="6338689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9D7EBC-3FE9-129A-CB03-28F334E4EA4A}"/>
              </a:ext>
            </a:extLst>
          </p:cNvPr>
          <p:cNvCxnSpPr>
            <a:cxnSpLocks/>
          </p:cNvCxnSpPr>
          <p:nvPr/>
        </p:nvCxnSpPr>
        <p:spPr>
          <a:xfrm flipV="1">
            <a:off x="6939238" y="4677840"/>
            <a:ext cx="1391817" cy="1455575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EC95C9-0E62-206E-C347-CB7ACBEA03B2}"/>
              </a:ext>
            </a:extLst>
          </p:cNvPr>
          <p:cNvCxnSpPr>
            <a:cxnSpLocks/>
          </p:cNvCxnSpPr>
          <p:nvPr/>
        </p:nvCxnSpPr>
        <p:spPr>
          <a:xfrm>
            <a:off x="6992111" y="6236052"/>
            <a:ext cx="222846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8">
            <a:extLst>
              <a:ext uri="{FF2B5EF4-FFF2-40B4-BE49-F238E27FC236}">
                <a16:creationId xmlns:a16="http://schemas.microsoft.com/office/drawing/2014/main" id="{69B7927F-5E9B-2A54-98F8-E146BD9D0367}"/>
              </a:ext>
            </a:extLst>
          </p:cNvPr>
          <p:cNvSpPr txBox="1"/>
          <p:nvPr/>
        </p:nvSpPr>
        <p:spPr>
          <a:xfrm>
            <a:off x="3454254" y="3360875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Dot = 1.0</a:t>
            </a:r>
            <a:endParaRPr lang="en-BE" dirty="0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E61523E-BE64-444B-A809-FAF6877D2BC0}"/>
              </a:ext>
            </a:extLst>
          </p:cNvPr>
          <p:cNvSpPr txBox="1"/>
          <p:nvPr/>
        </p:nvSpPr>
        <p:spPr>
          <a:xfrm>
            <a:off x="3454253" y="605138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Dot = 0.0</a:t>
            </a:r>
            <a:endParaRPr lang="en-BE" dirty="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0EFC46B-80F6-78EE-A112-A5ADC63B43C5}"/>
              </a:ext>
            </a:extLst>
          </p:cNvPr>
          <p:cNvSpPr txBox="1"/>
          <p:nvPr/>
        </p:nvSpPr>
        <p:spPr>
          <a:xfrm>
            <a:off x="10240720" y="3389052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Dot = -1.0</a:t>
            </a:r>
            <a:endParaRPr lang="en-BE" dirty="0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54155E9-9295-6D20-F997-D35D66E624AC}"/>
              </a:ext>
            </a:extLst>
          </p:cNvPr>
          <p:cNvSpPr txBox="1"/>
          <p:nvPr/>
        </p:nvSpPr>
        <p:spPr>
          <a:xfrm>
            <a:off x="10142015" y="605138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nl-B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Dot = 0.7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763233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8649-ADF2-F7E3-220A-EA084FB4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product</a:t>
            </a:r>
            <a:endParaRPr lang="en-BE" dirty="0"/>
          </a:p>
        </p:txBody>
      </p:sp>
      <p:pic>
        <p:nvPicPr>
          <p:cNvPr id="4" name="Picture 3" descr="A hand with a hand raised and a hand with a hand raised&#10;&#10;Description automatically generated">
            <a:extLst>
              <a:ext uri="{FF2B5EF4-FFF2-40B4-BE49-F238E27FC236}">
                <a16:creationId xmlns:a16="http://schemas.microsoft.com/office/drawing/2014/main" id="{A10C9703-CC92-BE02-19C8-AADF00316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51" y="2541979"/>
            <a:ext cx="7608243" cy="43160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79C42A-7751-ADD7-C73D-8636A4575A88}"/>
              </a:ext>
            </a:extLst>
          </p:cNvPr>
          <p:cNvSpPr txBox="1"/>
          <p:nvPr/>
        </p:nvSpPr>
        <p:spPr>
          <a:xfrm>
            <a:off x="298579" y="1365826"/>
            <a:ext cx="845994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Creates a third vector perpendicular to two given vectors</a:t>
            </a:r>
          </a:p>
          <a:p>
            <a:r>
              <a:rPr lang="en-US" sz="2800" dirty="0"/>
              <a:t>Order matters! </a:t>
            </a:r>
            <a:r>
              <a:rPr lang="en-US" sz="2800" dirty="0" err="1"/>
              <a:t>AxB</a:t>
            </a:r>
            <a:r>
              <a:rPr lang="en-US" sz="2800" dirty="0"/>
              <a:t> = -</a:t>
            </a:r>
            <a:r>
              <a:rPr lang="en-US" sz="2800" dirty="0" err="1"/>
              <a:t>BxA</a:t>
            </a:r>
            <a:r>
              <a:rPr lang="en-US" sz="2800" dirty="0"/>
              <a:t> (result is flipped)</a:t>
            </a:r>
          </a:p>
          <a:p>
            <a:r>
              <a:rPr lang="en-US" sz="2800" dirty="0"/>
              <a:t>Length depends on angle, length of A and B</a:t>
            </a:r>
          </a:p>
          <a:p>
            <a:r>
              <a:rPr lang="en-US" sz="2800" dirty="0"/>
              <a:t>Perpendicular A and B, A and B are unit vectors : length 1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362952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C7E9-B18A-62B8-D16E-7C2D2F08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product uses : calculate normal </a:t>
            </a:r>
            <a:endParaRPr lang="en-BE" dirty="0"/>
          </a:p>
        </p:txBody>
      </p:sp>
      <p:pic>
        <p:nvPicPr>
          <p:cNvPr id="4" name="Picture 3" descr="A diagram of a triangle with a line and a line&#10;&#10;Description automatically generated">
            <a:extLst>
              <a:ext uri="{FF2B5EF4-FFF2-40B4-BE49-F238E27FC236}">
                <a16:creationId xmlns:a16="http://schemas.microsoft.com/office/drawing/2014/main" id="{6CAFDAB8-B98A-C915-799E-5F9CFAAC5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427" y="1635968"/>
            <a:ext cx="7862482" cy="517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2626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18712</TotalTime>
  <Words>581</Words>
  <Application>Microsoft Office PowerPoint</Application>
  <PresentationFormat>Widescreen</PresentationFormat>
  <Paragraphs>98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Tahoma</vt:lpstr>
      <vt:lpstr>Wingdings</vt:lpstr>
      <vt:lpstr>Kantoorthema</vt:lpstr>
      <vt:lpstr>PowerPoint Presentation</vt:lpstr>
      <vt:lpstr>What are “3D graphics”?</vt:lpstr>
      <vt:lpstr>This course should actually be called 3D rendering</vt:lpstr>
      <vt:lpstr>There are two kinds of rendering</vt:lpstr>
      <vt:lpstr>There are two kinds of rendering</vt:lpstr>
      <vt:lpstr>Trick question! It doesn’t matter</vt:lpstr>
      <vt:lpstr>The simplest render</vt:lpstr>
      <vt:lpstr>1 N is the vector perpendicular to the surface</vt:lpstr>
      <vt:lpstr>2 The light direction </vt:lpstr>
      <vt:lpstr>3 The dot product</vt:lpstr>
      <vt:lpstr>So now we should understand this image</vt:lpstr>
      <vt:lpstr>Coordinate system</vt:lpstr>
      <vt:lpstr>Vectors</vt:lpstr>
      <vt:lpstr>3D coordinate system</vt:lpstr>
      <vt:lpstr>Multiplication / division changes length</vt:lpstr>
      <vt:lpstr>The bunny has it’s own coordinate space</vt:lpstr>
      <vt:lpstr>These all exist at the same time</vt:lpstr>
      <vt:lpstr>Dot product</vt:lpstr>
      <vt:lpstr>Unit vectors  just the cosine</vt:lpstr>
      <vt:lpstr>Cross product</vt:lpstr>
      <vt:lpstr>Cross product uses : calculate normal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17</cp:revision>
  <dcterms:created xsi:type="dcterms:W3CDTF">2024-01-29T23:06:06Z</dcterms:created>
  <dcterms:modified xsi:type="dcterms:W3CDTF">2025-05-14T18:42:28Z</dcterms:modified>
</cp:coreProperties>
</file>