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672" r:id="rId3"/>
    <p:sldId id="673" r:id="rId4"/>
    <p:sldId id="625" r:id="rId5"/>
    <p:sldId id="364" r:id="rId6"/>
    <p:sldId id="659" r:id="rId7"/>
    <p:sldId id="674" r:id="rId8"/>
    <p:sldId id="675" r:id="rId9"/>
    <p:sldId id="676" r:id="rId10"/>
    <p:sldId id="677" r:id="rId11"/>
    <p:sldId id="678" r:id="rId12"/>
    <p:sldId id="679" r:id="rId13"/>
    <p:sldId id="680" r:id="rId14"/>
    <p:sldId id="682" r:id="rId15"/>
    <p:sldId id="577" r:id="rId16"/>
    <p:sldId id="578" r:id="rId17"/>
    <p:sldId id="579" r:id="rId18"/>
    <p:sldId id="580" r:id="rId19"/>
    <p:sldId id="581" r:id="rId20"/>
    <p:sldId id="583" r:id="rId21"/>
    <p:sldId id="681" r:id="rId22"/>
    <p:sldId id="627" r:id="rId2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  <a:srgbClr val="0000FF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801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7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471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5886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335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83300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2864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47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84824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03854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31593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a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MyShader_1Point_2Spot shader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 mean that instead of these for loops, we implement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 err="1">
                <a:latin typeface="Consolas" panose="020B0609020204030204" pitchFamily="49" charset="0"/>
              </a:rPr>
              <a:t>outColor</a:t>
            </a:r>
            <a:r>
              <a:rPr lang="en-US" sz="1200" dirty="0">
                <a:latin typeface="Consolas" panose="020B0609020204030204" pitchFamily="49" charset="0"/>
              </a:rPr>
              <a:t> += </a:t>
            </a:r>
            <a:r>
              <a:rPr lang="en-US" sz="1200" dirty="0" err="1">
                <a:latin typeface="Consolas" panose="020B0609020204030204" pitchFamily="49" charset="0"/>
              </a:rPr>
              <a:t>brdf</a:t>
            </a:r>
            <a:r>
              <a:rPr lang="en-US" sz="1200" dirty="0">
                <a:latin typeface="Consolas" panose="020B0609020204030204" pitchFamily="49" charset="0"/>
              </a:rPr>
              <a:t>(pointLigh</a:t>
            </a:r>
            <a:r>
              <a:rPr lang="en-US" dirty="0">
                <a:latin typeface="Consolas" panose="020B0609020204030204" pitchFamily="49" charset="0"/>
              </a:rPr>
              <a:t>t_0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 err="1">
                <a:latin typeface="Consolas" panose="020B0609020204030204" pitchFamily="49" charset="0"/>
              </a:rPr>
              <a:t>outColor</a:t>
            </a:r>
            <a:r>
              <a:rPr lang="en-US" sz="1200" dirty="0">
                <a:latin typeface="Consolas" panose="020B0609020204030204" pitchFamily="49" charset="0"/>
              </a:rPr>
              <a:t> += </a:t>
            </a:r>
            <a:r>
              <a:rPr lang="en-US" sz="1200" dirty="0" err="1">
                <a:latin typeface="Consolas" panose="020B0609020204030204" pitchFamily="49" charset="0"/>
              </a:rPr>
              <a:t>brdf</a:t>
            </a:r>
            <a:r>
              <a:rPr lang="en-US" sz="1200" dirty="0">
                <a:latin typeface="Consolas" panose="020B0609020204030204" pitchFamily="49" charset="0"/>
              </a:rPr>
              <a:t>(spotLigh</a:t>
            </a:r>
            <a:r>
              <a:rPr lang="en-US" dirty="0">
                <a:latin typeface="Consolas" panose="020B0609020204030204" pitchFamily="49" charset="0"/>
              </a:rPr>
              <a:t>t_0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 err="1">
                <a:latin typeface="Consolas" panose="020B0609020204030204" pitchFamily="49" charset="0"/>
              </a:rPr>
              <a:t>outColor</a:t>
            </a:r>
            <a:r>
              <a:rPr lang="en-US" sz="1200" dirty="0">
                <a:latin typeface="Consolas" panose="020B0609020204030204" pitchFamily="49" charset="0"/>
              </a:rPr>
              <a:t> += </a:t>
            </a:r>
            <a:r>
              <a:rPr lang="en-US" sz="1200" dirty="0" err="1">
                <a:latin typeface="Consolas" panose="020B0609020204030204" pitchFamily="49" charset="0"/>
              </a:rPr>
              <a:t>brdf</a:t>
            </a:r>
            <a:r>
              <a:rPr lang="en-US" sz="1200" dirty="0">
                <a:latin typeface="Consolas" panose="020B0609020204030204" pitchFamily="49" charset="0"/>
              </a:rPr>
              <a:t>(spotLigh</a:t>
            </a:r>
            <a:r>
              <a:rPr lang="en-US" dirty="0">
                <a:latin typeface="Consolas" panose="020B0609020204030204" pitchFamily="49" charset="0"/>
              </a:rPr>
              <a:t>t_1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Skipping all the loops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84547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8413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152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37533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223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2296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69999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51632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79991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27415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13148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26259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2435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505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95855" y="5411372"/>
            <a:ext cx="4897688" cy="459582"/>
          </a:xfrm>
        </p:spPr>
        <p:txBody>
          <a:bodyPr>
            <a:normAutofit/>
          </a:bodyPr>
          <a:lstStyle/>
          <a:p>
            <a:r>
              <a:rPr lang="en-US" dirty="0"/>
              <a:t>Week 10: Deferred rendering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 + AR</a:t>
            </a:r>
          </a:p>
          <a:p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  <a:p>
            <a:endParaRPr lang="en-B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6FE2E-30E5-6C5D-8095-DBBD52210ED6}"/>
              </a:ext>
            </a:extLst>
          </p:cNvPr>
          <p:cNvSpPr txBox="1"/>
          <p:nvPr/>
        </p:nvSpPr>
        <p:spPr>
          <a:xfrm>
            <a:off x="236376" y="2056700"/>
            <a:ext cx="6245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Free coffee if you can tell me what forward rendering is</a:t>
            </a:r>
            <a:endParaRPr lang="en-BE" sz="3600" dirty="0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23483-A364-33F8-29B5-24D184E7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D6C5-6865-D3AE-560F-1741D68A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class: the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E1952-5D15-40BC-080C-32902216E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D6A67B-3067-A1C3-5D29-405673E34073}"/>
              </a:ext>
            </a:extLst>
          </p:cNvPr>
          <p:cNvSpPr txBox="1"/>
          <p:nvPr/>
        </p:nvSpPr>
        <p:spPr>
          <a:xfrm>
            <a:off x="210457" y="1618343"/>
            <a:ext cx="4266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is the color of one pixel?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separate problems:</a:t>
            </a:r>
            <a:br>
              <a:rPr lang="en-US" sz="2400" dirty="0"/>
            </a:br>
            <a:r>
              <a:rPr lang="en-US" sz="2400" dirty="0"/>
              <a:t>Which triangle?</a:t>
            </a:r>
            <a:br>
              <a:rPr lang="en-US" sz="2400" dirty="0"/>
            </a:br>
            <a:r>
              <a:rPr lang="en-US" sz="2400" dirty="0"/>
              <a:t>Which color on the triangle?</a:t>
            </a:r>
            <a:endParaRPr lang="en-BE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6AFBD-0B9D-C5CF-3645-2FA28198ADC8}"/>
              </a:ext>
            </a:extLst>
          </p:cNvPr>
          <p:cNvSpPr/>
          <p:nvPr/>
        </p:nvSpPr>
        <p:spPr>
          <a:xfrm>
            <a:off x="5203371" y="3345543"/>
            <a:ext cx="152400" cy="152400"/>
          </a:xfrm>
          <a:prstGeom prst="rect">
            <a:avLst/>
          </a:prstGeom>
          <a:noFill/>
          <a:ln w="762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93028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AE688-F1DD-9412-CDAB-23E15354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F401-B563-35A1-59BF-611C35EE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object, evaluate </a:t>
            </a:r>
            <a:r>
              <a:rPr lang="en-US" dirty="0" err="1"/>
              <a:t>brdf</a:t>
            </a:r>
            <a:r>
              <a:rPr lang="en-US" dirty="0"/>
              <a:t> while rendering the model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2E716-0D09-5AEC-DFEF-5F1854E0B6EA}"/>
              </a:ext>
            </a:extLst>
          </p:cNvPr>
          <p:cNvSpPr txBox="1"/>
          <p:nvPr/>
        </p:nvSpPr>
        <p:spPr>
          <a:xfrm>
            <a:off x="4763859" y="4435151"/>
            <a:ext cx="743504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Evaluate everything when drawing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Foreach(light)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 err="1"/>
              <a:t>light_out</a:t>
            </a:r>
            <a:r>
              <a:rPr lang="en-US" sz="2400" dirty="0"/>
              <a:t> += </a:t>
            </a:r>
            <a:r>
              <a:rPr lang="en-US" sz="2400" dirty="0" err="1"/>
              <a:t>brdf</a:t>
            </a:r>
            <a:r>
              <a:rPr lang="en-US" sz="2400" dirty="0"/>
              <a:t>(L, N) * </a:t>
            </a:r>
            <a:r>
              <a:rPr lang="en-US" sz="2400" dirty="0" err="1"/>
              <a:t>light.color</a:t>
            </a:r>
            <a:r>
              <a:rPr lang="en-US" sz="2400" dirty="0"/>
              <a:t> * shadow(light)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float3 </a:t>
            </a:r>
            <a:r>
              <a:rPr lang="en-US" sz="2400" dirty="0" err="1"/>
              <a:t>brdfLambert</a:t>
            </a:r>
            <a:r>
              <a:rPr lang="en-US" sz="2400" dirty="0"/>
              <a:t>(float3 L, float3 N) // just an example</a:t>
            </a:r>
            <a:br>
              <a:rPr lang="en-US" sz="2400" dirty="0"/>
            </a:br>
            <a:r>
              <a:rPr lang="en-US" sz="2400" dirty="0"/>
              <a:t>	return float3(dot(N,L))</a:t>
            </a:r>
            <a:br>
              <a:rPr lang="en-US" dirty="0"/>
            </a:br>
            <a:r>
              <a:rPr lang="en-US" dirty="0"/>
              <a:t>	</a:t>
            </a:r>
            <a:endParaRPr lang="en-BE" dirty="0"/>
          </a:p>
        </p:txBody>
      </p:sp>
      <p:pic>
        <p:nvPicPr>
          <p:cNvPr id="3" name="Picture 2" descr="A picture containing traffic light&#10;&#10;Description automatically generated">
            <a:extLst>
              <a:ext uri="{FF2B5EF4-FFF2-40B4-BE49-F238E27FC236}">
                <a16:creationId xmlns:a16="http://schemas.microsoft.com/office/drawing/2014/main" id="{27B8FB3A-AFCB-FB9A-F959-0F3724563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73" y="1968445"/>
            <a:ext cx="2142478" cy="1067344"/>
          </a:xfrm>
          <a:prstGeom prst="rect">
            <a:avLst/>
          </a:prstGeom>
        </p:spPr>
      </p:pic>
      <p:pic>
        <p:nvPicPr>
          <p:cNvPr id="5" name="Picture 4" descr="A picture containing object&#10;&#10;Description automatically generated">
            <a:extLst>
              <a:ext uri="{FF2B5EF4-FFF2-40B4-BE49-F238E27FC236}">
                <a16:creationId xmlns:a16="http://schemas.microsoft.com/office/drawing/2014/main" id="{4BB88D76-CE9D-2037-8F19-71A6A958A6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66" y="1932009"/>
            <a:ext cx="2009186" cy="1143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552F13-D388-5FD4-BD4A-EF00E9967D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434" y="1932010"/>
            <a:ext cx="1933806" cy="1014596"/>
          </a:xfrm>
          <a:prstGeom prst="rect">
            <a:avLst/>
          </a:prstGeom>
        </p:spPr>
      </p:pic>
      <p:pic>
        <p:nvPicPr>
          <p:cNvPr id="7" name="Picture 6" descr="A picture containing building&#10;&#10;Description automatically generated">
            <a:extLst>
              <a:ext uri="{FF2B5EF4-FFF2-40B4-BE49-F238E27FC236}">
                <a16:creationId xmlns:a16="http://schemas.microsoft.com/office/drawing/2014/main" id="{066DCFB6-2C54-A413-1BA1-C3CA265F08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928" y="1940902"/>
            <a:ext cx="1933806" cy="1014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3F851D-D7E3-283C-CB38-275A4EC1DCD6}"/>
              </a:ext>
            </a:extLst>
          </p:cNvPr>
          <p:cNvSpPr txBox="1"/>
          <p:nvPr/>
        </p:nvSpPr>
        <p:spPr>
          <a:xfrm>
            <a:off x="1978380" y="3701718"/>
            <a:ext cx="1929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Vertex Shader</a:t>
            </a:r>
            <a:endParaRPr lang="en-BE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8690B-7F1C-670B-1EC7-50D0BE7F186A}"/>
              </a:ext>
            </a:extLst>
          </p:cNvPr>
          <p:cNvSpPr txBox="1"/>
          <p:nvPr/>
        </p:nvSpPr>
        <p:spPr>
          <a:xfrm>
            <a:off x="5729946" y="3701719"/>
            <a:ext cx="1315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Rasterize</a:t>
            </a:r>
            <a:endParaRPr lang="en-BE" sz="24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ABAC880-A268-5E5F-A5BB-8223C863F809}"/>
              </a:ext>
            </a:extLst>
          </p:cNvPr>
          <p:cNvSpPr/>
          <p:nvPr/>
        </p:nvSpPr>
        <p:spPr>
          <a:xfrm>
            <a:off x="2828650" y="2411553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B129BF5-E37D-371D-F563-FB3CB5DC6EED}"/>
              </a:ext>
            </a:extLst>
          </p:cNvPr>
          <p:cNvSpPr/>
          <p:nvPr/>
        </p:nvSpPr>
        <p:spPr>
          <a:xfrm>
            <a:off x="5937757" y="2369900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1AD8F4A-8A4A-F684-0840-8013EDC9FD38}"/>
              </a:ext>
            </a:extLst>
          </p:cNvPr>
          <p:cNvSpPr/>
          <p:nvPr/>
        </p:nvSpPr>
        <p:spPr>
          <a:xfrm>
            <a:off x="8979240" y="2366112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0D70A-B30B-1DE8-4B26-A3C471D804D6}"/>
              </a:ext>
            </a:extLst>
          </p:cNvPr>
          <p:cNvSpPr/>
          <p:nvPr/>
        </p:nvSpPr>
        <p:spPr>
          <a:xfrm>
            <a:off x="4683967" y="4354286"/>
            <a:ext cx="7514941" cy="240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7439BC-C962-3007-C20D-855BF80932B9}"/>
              </a:ext>
            </a:extLst>
          </p:cNvPr>
          <p:cNvCxnSpPr>
            <a:cxnSpLocks/>
          </p:cNvCxnSpPr>
          <p:nvPr/>
        </p:nvCxnSpPr>
        <p:spPr>
          <a:xfrm flipV="1">
            <a:off x="9186728" y="2711411"/>
            <a:ext cx="131443" cy="14519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71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703235"/>
              </p:ext>
            </p:extLst>
          </p:nvPr>
        </p:nvGraphicFramePr>
        <p:xfrm>
          <a:off x="5012846" y="101819"/>
          <a:ext cx="6659792" cy="699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950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654233">
                  <a:extLst>
                    <a:ext uri="{9D8B030D-6E8A-4147-A177-3AD203B41FA5}">
                      <a16:colId xmlns:a16="http://schemas.microsoft.com/office/drawing/2014/main" val="1002713060"/>
                    </a:ext>
                  </a:extLst>
                </a:gridCol>
                <a:gridCol w="3007609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440348"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91760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527618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67694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771178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 / Presentations</a:t>
                      </a:r>
                      <a:endParaRPr lang="en-B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771178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Lights, shadows, camera’s, primary visibility</a:t>
                      </a:r>
                      <a:br>
                        <a:rPr lang="en-US" dirty="0"/>
                      </a:b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Forward rendering</a:t>
                      </a:r>
                      <a:br>
                        <a:rPr lang="en-US" dirty="0"/>
                      </a:b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527618">
                <a:tc>
                  <a:txBody>
                    <a:bodyPr/>
                    <a:lstStyle/>
                    <a:p>
                      <a:r>
                        <a:rPr lang="en-US" dirty="0"/>
                        <a:t>Week 10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Deferred rendering / 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 processing / various /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11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6041191" y="6114661"/>
            <a:ext cx="2542972" cy="504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281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Problems with forward rendering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Deferred rendering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 </a:t>
            </a:r>
            <a:r>
              <a:rPr lang="en-US" sz="2800" dirty="0" err="1">
                <a:sym typeface="Wingdings" panose="05000000000000000000" pitchFamily="2" charset="2"/>
              </a:rPr>
              <a:t>Renderdoc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FC13-5D39-013B-2A0C-37CBDF80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rendering: problem 1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3B80E-50B3-E789-B231-308FEC0EB1F7}"/>
              </a:ext>
            </a:extLst>
          </p:cNvPr>
          <p:cNvSpPr txBox="1"/>
          <p:nvPr/>
        </p:nvSpPr>
        <p:spPr>
          <a:xfrm>
            <a:off x="181427" y="1596571"/>
            <a:ext cx="108058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evaluate all the lights and the material when we render the 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a light is small relative to the mesh (</a:t>
            </a:r>
            <a:r>
              <a:rPr lang="en-US" sz="2400" dirty="0" err="1"/>
              <a:t>eg</a:t>
            </a:r>
            <a:r>
              <a:rPr lang="en-US" sz="2400" dirty="0"/>
              <a:t> a flashlight on a building, shining only on the ground floor), we still need to check that light for each pixel of  the entire building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br>
              <a:rPr lang="en-US" sz="2400" dirty="0">
                <a:sym typeface="Wingdings" panose="05000000000000000000" pitchFamily="2" charset="2"/>
              </a:rPr>
            </a:br>
            <a:r>
              <a:rPr lang="en-US" sz="2400" dirty="0">
                <a:sym typeface="Wingdings" panose="05000000000000000000" pitchFamily="2" charset="2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61288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42B2-2C78-3D9F-8BA3-9B1E19D6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0377-D1B8-2E09-6A48-2FFFCD70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rendering: problem 1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9422E-E407-1442-0036-339B32A3805E}"/>
              </a:ext>
            </a:extLst>
          </p:cNvPr>
          <p:cNvSpPr txBox="1"/>
          <p:nvPr/>
        </p:nvSpPr>
        <p:spPr>
          <a:xfrm>
            <a:off x="181427" y="1596571"/>
            <a:ext cx="108058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evaluate all the lights and the material when we render the 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a light is small relative to the mesh (</a:t>
            </a:r>
            <a:r>
              <a:rPr lang="en-US" sz="2400" dirty="0" err="1"/>
              <a:t>eg</a:t>
            </a:r>
            <a:r>
              <a:rPr lang="en-US" sz="2400" dirty="0"/>
              <a:t> a flashlight on a building, shining only on the ground floor), we still need to check that light for each pixel of  the entire building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br>
              <a:rPr lang="en-US" sz="2400" dirty="0">
                <a:sym typeface="Wingdings" panose="05000000000000000000" pitchFamily="2" charset="2"/>
              </a:rPr>
            </a:br>
            <a:r>
              <a:rPr lang="en-US" sz="2400" dirty="0">
                <a:sym typeface="Wingdings" panose="05000000000000000000" pitchFamily="2" charset="2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…. forward rendering is not good with small lights 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836625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C226-F585-7C37-AB0A-B18E567A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9AFE-6B54-244D-9AD7-838DD999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rendering: problem 2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972A9-1094-6E2B-A6C5-FDCFCFDB9222}"/>
              </a:ext>
            </a:extLst>
          </p:cNvPr>
          <p:cNvSpPr txBox="1"/>
          <p:nvPr/>
        </p:nvSpPr>
        <p:spPr>
          <a:xfrm>
            <a:off x="181427" y="1596571"/>
            <a:ext cx="108058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evaluate all the lights and the material when we render the 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Our material needs to know about every light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we add / change a light type or it’s code, this needs to be changed in *all* materials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Forward rendering strongly couples lights and materials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9992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7D5C-F313-12E9-E046-781FC696D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5334-7CC0-A7CA-FBB5-E191850B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rendering: problem 2 (continued)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1587F-5886-BBAA-9CD1-D92B88FCFB93}"/>
              </a:ext>
            </a:extLst>
          </p:cNvPr>
          <p:cNvSpPr txBox="1"/>
          <p:nvPr/>
        </p:nvSpPr>
        <p:spPr>
          <a:xfrm>
            <a:off x="181427" y="1596571"/>
            <a:ext cx="108058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evaluate all the lights and the material when we render the 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3 light types:</a:t>
            </a:r>
            <a:br>
              <a:rPr lang="en-US" sz="2400" dirty="0"/>
            </a:br>
            <a:r>
              <a:rPr lang="en-US" sz="2400" dirty="0">
                <a:latin typeface="Consolas" panose="020B0609020204030204" pitchFamily="49" charset="0"/>
              </a:rPr>
              <a:t>for (int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= 0;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&lt; </a:t>
            </a:r>
            <a:r>
              <a:rPr lang="en-US" sz="2400" dirty="0" err="1">
                <a:latin typeface="Consolas" panose="020B0609020204030204" pitchFamily="49" charset="0"/>
              </a:rPr>
              <a:t>pointLightCount</a:t>
            </a:r>
            <a:r>
              <a:rPr lang="en-US" sz="2400" dirty="0">
                <a:latin typeface="Consolas" panose="020B0609020204030204" pitchFamily="49" charset="0"/>
              </a:rPr>
              <a:t>; ++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outColor</a:t>
            </a:r>
            <a:r>
              <a:rPr lang="en-US" sz="2400" dirty="0">
                <a:latin typeface="Consolas" panose="020B0609020204030204" pitchFamily="49" charset="0"/>
              </a:rPr>
              <a:t> += </a:t>
            </a:r>
            <a:r>
              <a:rPr lang="en-US" sz="2400" dirty="0" err="1">
                <a:latin typeface="Consolas" panose="020B0609020204030204" pitchFamily="49" charset="0"/>
              </a:rPr>
              <a:t>brdf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pointLights</a:t>
            </a:r>
            <a:r>
              <a:rPr lang="en-US" sz="2400" dirty="0">
                <a:latin typeface="Consolas" panose="020B0609020204030204" pitchFamily="49" charset="0"/>
              </a:rPr>
              <a:t>[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])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for (int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= 0;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&lt; </a:t>
            </a:r>
            <a:r>
              <a:rPr lang="en-US" sz="2400" dirty="0" err="1">
                <a:latin typeface="Consolas" panose="020B0609020204030204" pitchFamily="49" charset="0"/>
              </a:rPr>
              <a:t>spotLightCount</a:t>
            </a:r>
            <a:r>
              <a:rPr lang="en-US" sz="2400" dirty="0">
                <a:latin typeface="Consolas" panose="020B0609020204030204" pitchFamily="49" charset="0"/>
              </a:rPr>
              <a:t>; ++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outColor</a:t>
            </a:r>
            <a:r>
              <a:rPr lang="en-US" sz="2400" dirty="0">
                <a:latin typeface="Consolas" panose="020B0609020204030204" pitchFamily="49" charset="0"/>
              </a:rPr>
              <a:t> += </a:t>
            </a:r>
            <a:r>
              <a:rPr lang="en-US" sz="2400" dirty="0" err="1">
                <a:latin typeface="Consolas" panose="020B0609020204030204" pitchFamily="49" charset="0"/>
              </a:rPr>
              <a:t>brdf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spotLights</a:t>
            </a:r>
            <a:r>
              <a:rPr lang="en-US" sz="2400" dirty="0">
                <a:latin typeface="Consolas" panose="020B0609020204030204" pitchFamily="49" charset="0"/>
              </a:rPr>
              <a:t>[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])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for (int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= 0; 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 &lt; </a:t>
            </a:r>
            <a:r>
              <a:rPr lang="en-US" sz="2400" dirty="0" err="1">
                <a:latin typeface="Consolas" panose="020B0609020204030204" pitchFamily="49" charset="0"/>
              </a:rPr>
              <a:t>boxLightCount</a:t>
            </a:r>
            <a:r>
              <a:rPr lang="en-US" sz="2400" dirty="0">
                <a:latin typeface="Consolas" panose="020B0609020204030204" pitchFamily="49" charset="0"/>
              </a:rPr>
              <a:t>; ++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outColor</a:t>
            </a:r>
            <a:r>
              <a:rPr lang="en-US" sz="2400" dirty="0">
                <a:latin typeface="Consolas" panose="020B0609020204030204" pitchFamily="49" charset="0"/>
              </a:rPr>
              <a:t> += </a:t>
            </a:r>
            <a:r>
              <a:rPr lang="en-US" sz="2400" dirty="0" err="1">
                <a:latin typeface="Consolas" panose="020B0609020204030204" pitchFamily="49" charset="0"/>
              </a:rPr>
              <a:t>brdf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boxLights</a:t>
            </a:r>
            <a:r>
              <a:rPr lang="en-US" sz="2400" dirty="0">
                <a:latin typeface="Consolas" panose="020B0609020204030204" pitchFamily="49" charset="0"/>
              </a:rPr>
              <a:t>[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Even if we only have 1 light, we still need to evaluate all these loops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On the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cpu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this is a joke. In a shader… it 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 can make a MyShader_1Point_2Spot shader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measurably 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we needs 10s of shader for one material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br>
              <a:rPr lang="en-US" sz="2400" dirty="0"/>
            </a:br>
            <a:r>
              <a:rPr lang="en-US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0947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E8E6-7C17-8B9B-BFD2-6D72EF6E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B94F-8B52-B863-98C3-70CD43A4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rendering: problem 2 (conclusion)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486D5-7EF5-51DA-AF81-D28F42B7312B}"/>
              </a:ext>
            </a:extLst>
          </p:cNvPr>
          <p:cNvSpPr txBox="1"/>
          <p:nvPr/>
        </p:nvSpPr>
        <p:spPr>
          <a:xfrm>
            <a:off x="156545" y="1599228"/>
            <a:ext cx="10805887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People ended up </a:t>
            </a:r>
            <a:r>
              <a:rPr lang="en-US" sz="2200" dirty="0" err="1"/>
              <a:t>makin</a:t>
            </a:r>
            <a:r>
              <a:rPr lang="en-US" sz="2200" dirty="0"/>
              <a:t> one ‘big’ shader called an </a:t>
            </a:r>
            <a:r>
              <a:rPr lang="en-US" sz="2200" dirty="0" err="1"/>
              <a:t>Ubershader</a:t>
            </a:r>
            <a:r>
              <a:rPr lang="en-US" sz="2200" dirty="0"/>
              <a:t> which can be used to generate specific shaders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This supported many combinations of 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But also, normal map, or vertex normal?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But also, animated or not?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Etc</a:t>
            </a:r>
            <a:r>
              <a:rPr lang="en-US" sz="22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These </a:t>
            </a:r>
            <a:r>
              <a:rPr lang="en-US" sz="2200" dirty="0" err="1"/>
              <a:t>descinions</a:t>
            </a:r>
            <a:r>
              <a:rPr lang="en-US" sz="2200" dirty="0"/>
              <a:t> are at </a:t>
            </a:r>
            <a:r>
              <a:rPr lang="en-US" sz="2200" i="1" dirty="0"/>
              <a:t>compile time</a:t>
            </a:r>
            <a:r>
              <a:rPr lang="en-US" sz="2200" dirty="0"/>
              <a:t>, not branching with an if</a:t>
            </a:r>
            <a:br>
              <a:rPr lang="en-US" sz="2200" dirty="0"/>
            </a:br>
            <a:r>
              <a:rPr lang="en-US" sz="2200" dirty="0"/>
              <a:t>#ifdef NORMAL_MAP</a:t>
            </a:r>
            <a:br>
              <a:rPr lang="en-US" sz="2200" dirty="0"/>
            </a:br>
            <a:r>
              <a:rPr lang="en-US" sz="2200" dirty="0"/>
              <a:t>	float3 N = </a:t>
            </a:r>
            <a:r>
              <a:rPr lang="en-US" sz="2200" dirty="0" err="1"/>
              <a:t>calculateNormal</a:t>
            </a:r>
            <a:r>
              <a:rPr lang="en-US" sz="2200" dirty="0"/>
              <a:t>(</a:t>
            </a:r>
            <a:r>
              <a:rPr lang="en-US" sz="2200" dirty="0" err="1"/>
              <a:t>normalTexture</a:t>
            </a:r>
            <a:r>
              <a:rPr lang="en-US" sz="2200" dirty="0"/>
              <a:t>, </a:t>
            </a:r>
            <a:r>
              <a:rPr lang="en-US" sz="2200" dirty="0" err="1"/>
              <a:t>vertex.normal</a:t>
            </a:r>
            <a:r>
              <a:rPr lang="en-US" sz="2200" dirty="0"/>
              <a:t>)</a:t>
            </a:r>
            <a:br>
              <a:rPr lang="en-US" sz="2200" dirty="0"/>
            </a:br>
            <a:r>
              <a:rPr lang="en-US" sz="2200" dirty="0"/>
              <a:t>#else</a:t>
            </a:r>
            <a:br>
              <a:rPr lang="en-US" sz="2200" dirty="0"/>
            </a:br>
            <a:r>
              <a:rPr lang="en-US" sz="2200" dirty="0"/>
              <a:t>	float3 N = </a:t>
            </a:r>
            <a:r>
              <a:rPr lang="en-US" sz="2200" dirty="0" err="1"/>
              <a:t>vertex.normal</a:t>
            </a: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This works! And it’s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But you end up with tens of thousands of shaders, </a:t>
            </a:r>
            <a:r>
              <a:rPr lang="en-US" sz="2200" dirty="0" err="1"/>
              <a:t>eg</a:t>
            </a:r>
            <a:r>
              <a:rPr lang="en-US" sz="2200" dirty="0"/>
              <a:t> Lambert_2spot_normalMap_alpha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10000 shaders = huge compile times, ton of boilerplate </a:t>
            </a:r>
            <a:r>
              <a:rPr lang="en-US" sz="2200" dirty="0">
                <a:sym typeface="Wingdings" panose="05000000000000000000" pitchFamily="2" charset="2"/>
              </a:rPr>
              <a:t></a:t>
            </a:r>
            <a:br>
              <a:rPr lang="en-US" sz="2400" dirty="0"/>
            </a:br>
            <a:r>
              <a:rPr lang="en-US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87548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3222D-3F15-1DB3-5E57-B33D1A52E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D299-715C-C84F-02A5-C514E9BA7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rendering: problem 3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71800-8C61-011B-9EBB-15B1F08CB58F}"/>
              </a:ext>
            </a:extLst>
          </p:cNvPr>
          <p:cNvSpPr txBox="1"/>
          <p:nvPr/>
        </p:nvSpPr>
        <p:spPr>
          <a:xfrm>
            <a:off x="131663" y="1596658"/>
            <a:ext cx="108058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to find lights that shine on a 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Send it to the </a:t>
            </a:r>
            <a:r>
              <a:rPr lang="en-US" sz="2400" dirty="0" err="1"/>
              <a:t>gpu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Set up the whole shader pipeline stuff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It’s not that hard, but it’s quite a bit of work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C6448F-600A-9C84-CCAF-5E7056C33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253" y="2618792"/>
            <a:ext cx="5809284" cy="423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68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E2EDF-3EC9-449C-5A4C-4E9E60A0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Deferred rendering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6854B-63C3-F56F-DE3D-955843843D0B}"/>
              </a:ext>
            </a:extLst>
          </p:cNvPr>
          <p:cNvSpPr txBox="1"/>
          <p:nvPr/>
        </p:nvSpPr>
        <p:spPr>
          <a:xfrm>
            <a:off x="491412" y="1891004"/>
            <a:ext cx="110536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Deferred rendering tries to address all these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does so by pulling apart the rendering of meshes, and applying the 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Remember : we need several parameters (normal, base color, light intensity) to calculate the color (reflected light) of a surface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Deferred rendering : </a:t>
            </a:r>
            <a:br>
              <a:rPr lang="en-US" sz="2400" dirty="0"/>
            </a:br>
            <a:r>
              <a:rPr lang="en-US" sz="2400" dirty="0"/>
              <a:t>	1 mesh writes Normal, </a:t>
            </a:r>
            <a:r>
              <a:rPr lang="en-US" sz="2400" dirty="0" err="1"/>
              <a:t>base_color</a:t>
            </a:r>
            <a:r>
              <a:rPr lang="en-US" sz="2400" dirty="0"/>
              <a:t>, and other stuff to intermediate textures</a:t>
            </a:r>
          </a:p>
          <a:p>
            <a:r>
              <a:rPr lang="en-US" sz="2400" dirty="0"/>
              <a:t>	2 light render as a mesh, read these parameters, and calculate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5" name="Picture 4" descr="A group of objects on a table&#10;&#10;AI-generated content may be incorrect.">
            <a:extLst>
              <a:ext uri="{FF2B5EF4-FFF2-40B4-BE49-F238E27FC236}">
                <a16:creationId xmlns:a16="http://schemas.microsoft.com/office/drawing/2014/main" id="{E037C6F2-5CF5-62F4-C673-7985B91B3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747" y="4937992"/>
            <a:ext cx="2542227" cy="1906670"/>
          </a:xfrm>
          <a:prstGeom prst="rect">
            <a:avLst/>
          </a:prstGeom>
        </p:spPr>
      </p:pic>
      <p:pic>
        <p:nvPicPr>
          <p:cNvPr id="7" name="Picture 6" descr="A group of different shapes on a green surface&#10;&#10;AI-generated content may be incorrect.">
            <a:extLst>
              <a:ext uri="{FF2B5EF4-FFF2-40B4-BE49-F238E27FC236}">
                <a16:creationId xmlns:a16="http://schemas.microsoft.com/office/drawing/2014/main" id="{1E29937E-4D5E-0028-AE6D-B1CFC1301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520" y="4947302"/>
            <a:ext cx="2542227" cy="1906670"/>
          </a:xfrm>
          <a:prstGeom prst="rect">
            <a:avLst/>
          </a:prstGeom>
        </p:spPr>
      </p:pic>
      <p:pic>
        <p:nvPicPr>
          <p:cNvPr id="9" name="Picture 8" descr="A group of objects in different shapes&#10;&#10;AI-generated content may be incorrect.">
            <a:extLst>
              <a:ext uri="{FF2B5EF4-FFF2-40B4-BE49-F238E27FC236}">
                <a16:creationId xmlns:a16="http://schemas.microsoft.com/office/drawing/2014/main" id="{EB9354A4-1B43-45A1-D475-AAF04922A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760" y="4939156"/>
            <a:ext cx="2591760" cy="1943820"/>
          </a:xfrm>
          <a:prstGeom prst="rect">
            <a:avLst/>
          </a:prstGeom>
        </p:spPr>
      </p:pic>
      <p:pic>
        <p:nvPicPr>
          <p:cNvPr id="11" name="Picture 10" descr="A group of colorful shapes on a green surface&#10;&#10;AI-generated content may be incorrect.">
            <a:extLst>
              <a:ext uri="{FF2B5EF4-FFF2-40B4-BE49-F238E27FC236}">
                <a16:creationId xmlns:a16="http://schemas.microsoft.com/office/drawing/2014/main" id="{3909221D-219A-B830-6CA1-58367DE37F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9156"/>
            <a:ext cx="2591760" cy="194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61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FBEC-89D1-AA03-0D55-110E4968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86" y="-138728"/>
            <a:ext cx="10515600" cy="1325563"/>
          </a:xfrm>
        </p:spPr>
        <p:txBody>
          <a:bodyPr/>
          <a:lstStyle/>
          <a:p>
            <a:r>
              <a:rPr lang="en-US" dirty="0"/>
              <a:t>Intermediate textures : </a:t>
            </a:r>
            <a:r>
              <a:rPr lang="en-US" dirty="0" err="1"/>
              <a:t>GBuffers</a:t>
            </a:r>
            <a:endParaRPr lang="en-BE" dirty="0"/>
          </a:p>
        </p:txBody>
      </p:sp>
      <p:pic>
        <p:nvPicPr>
          <p:cNvPr id="3" name="Picture 2" descr="A group of objects on a table&#10;&#10;AI-generated content may be incorrect.">
            <a:extLst>
              <a:ext uri="{FF2B5EF4-FFF2-40B4-BE49-F238E27FC236}">
                <a16:creationId xmlns:a16="http://schemas.microsoft.com/office/drawing/2014/main" id="{B7020254-E0D8-EFD5-A3FB-4FBD3CD2B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459" y="3309487"/>
            <a:ext cx="2542227" cy="1906670"/>
          </a:xfrm>
          <a:prstGeom prst="rect">
            <a:avLst/>
          </a:prstGeom>
        </p:spPr>
      </p:pic>
      <p:pic>
        <p:nvPicPr>
          <p:cNvPr id="4" name="Picture 3" descr="A group of different shapes on a green surface&#10;&#10;AI-generated content may be incorrect.">
            <a:extLst>
              <a:ext uri="{FF2B5EF4-FFF2-40B4-BE49-F238E27FC236}">
                <a16:creationId xmlns:a16="http://schemas.microsoft.com/office/drawing/2014/main" id="{1D836288-F60B-E43A-19A7-202812AB5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773" y="4951330"/>
            <a:ext cx="2542227" cy="1906670"/>
          </a:xfrm>
          <a:prstGeom prst="rect">
            <a:avLst/>
          </a:prstGeom>
        </p:spPr>
      </p:pic>
      <p:pic>
        <p:nvPicPr>
          <p:cNvPr id="5" name="Picture 4" descr="A group of objects in different shapes&#10;&#10;AI-generated content may be incorrect.">
            <a:extLst>
              <a:ext uri="{FF2B5EF4-FFF2-40B4-BE49-F238E27FC236}">
                <a16:creationId xmlns:a16="http://schemas.microsoft.com/office/drawing/2014/main" id="{40AC99F7-002D-72F4-FE1E-0A3D1E0656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240" y="3007510"/>
            <a:ext cx="2591760" cy="1943820"/>
          </a:xfrm>
          <a:prstGeom prst="rect">
            <a:avLst/>
          </a:prstGeom>
        </p:spPr>
      </p:pic>
      <p:pic>
        <p:nvPicPr>
          <p:cNvPr id="6" name="Picture 5" descr="A group of colorful shapes on a green surface&#10;&#10;AI-generated content may be incorrect.">
            <a:extLst>
              <a:ext uri="{FF2B5EF4-FFF2-40B4-BE49-F238E27FC236}">
                <a16:creationId xmlns:a16="http://schemas.microsoft.com/office/drawing/2014/main" id="{BB4873C8-2DCF-F23C-9F4A-CF698D1C4D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240" y="1063690"/>
            <a:ext cx="2591760" cy="1943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DC8E22-E783-469C-79ED-87083825C662}"/>
              </a:ext>
            </a:extLst>
          </p:cNvPr>
          <p:cNvSpPr txBox="1"/>
          <p:nvPr/>
        </p:nvSpPr>
        <p:spPr>
          <a:xfrm>
            <a:off x="324420" y="3751506"/>
            <a:ext cx="13484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Mesh</a:t>
            </a:r>
            <a:endParaRPr lang="en-BE" sz="4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2C4DAD-4D3E-B323-98FF-8A9B00563CB5}"/>
              </a:ext>
            </a:extLst>
          </p:cNvPr>
          <p:cNvCxnSpPr>
            <a:cxnSpLocks/>
          </p:cNvCxnSpPr>
          <p:nvPr/>
        </p:nvCxnSpPr>
        <p:spPr>
          <a:xfrm>
            <a:off x="6198650" y="1847441"/>
            <a:ext cx="1511559" cy="14499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9DEB9B-1568-C383-4D65-02F96F639E8D}"/>
              </a:ext>
            </a:extLst>
          </p:cNvPr>
          <p:cNvCxnSpPr>
            <a:cxnSpLocks/>
          </p:cNvCxnSpPr>
          <p:nvPr/>
        </p:nvCxnSpPr>
        <p:spPr>
          <a:xfrm>
            <a:off x="1735494" y="4239188"/>
            <a:ext cx="145718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60B618-11E3-B627-5FF1-458F3C4921C7}"/>
              </a:ext>
            </a:extLst>
          </p:cNvPr>
          <p:cNvCxnSpPr>
            <a:cxnSpLocks/>
          </p:cNvCxnSpPr>
          <p:nvPr/>
        </p:nvCxnSpPr>
        <p:spPr>
          <a:xfrm>
            <a:off x="1672866" y="4384727"/>
            <a:ext cx="1623950" cy="21840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FBA4A5-B8A0-7F98-EE2B-1FF895F9D34E}"/>
              </a:ext>
            </a:extLst>
          </p:cNvPr>
          <p:cNvSpPr txBox="1"/>
          <p:nvPr/>
        </p:nvSpPr>
        <p:spPr>
          <a:xfrm>
            <a:off x="7329261" y="3560585"/>
            <a:ext cx="11962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Light</a:t>
            </a:r>
            <a:endParaRPr lang="en-BE" sz="4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1E3826-78CE-3BEB-9CBD-9F9CCD024BA0}"/>
              </a:ext>
            </a:extLst>
          </p:cNvPr>
          <p:cNvCxnSpPr>
            <a:cxnSpLocks/>
          </p:cNvCxnSpPr>
          <p:nvPr/>
        </p:nvCxnSpPr>
        <p:spPr>
          <a:xfrm flipV="1">
            <a:off x="1646108" y="1847441"/>
            <a:ext cx="1609200" cy="20670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152DCF-631F-921A-3F77-A35B48D09716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6181895" y="3914528"/>
            <a:ext cx="1147366" cy="14797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A9B606-279A-7E36-CE48-5A25ED814E90}"/>
              </a:ext>
            </a:extLst>
          </p:cNvPr>
          <p:cNvCxnSpPr>
            <a:cxnSpLocks/>
          </p:cNvCxnSpPr>
          <p:nvPr/>
        </p:nvCxnSpPr>
        <p:spPr>
          <a:xfrm flipV="1">
            <a:off x="6198650" y="4262822"/>
            <a:ext cx="1511559" cy="16418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D6F0FB9-C884-8BB4-5292-B9BF6763538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8404989" y="4136793"/>
            <a:ext cx="1179470" cy="1260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001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333B1-DA71-181C-4DDD-C6C3B6E3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GBuffers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06931-4A15-86E6-3267-8384D187C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94250"/>
            <a:ext cx="7712108" cy="1501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2F1DD8-7594-296D-F984-FC0175E5A8E4}"/>
              </a:ext>
            </a:extLst>
          </p:cNvPr>
          <p:cNvSpPr txBox="1"/>
          <p:nvPr/>
        </p:nvSpPr>
        <p:spPr>
          <a:xfrm>
            <a:off x="493486" y="1690688"/>
            <a:ext cx="97145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Must contain *everything* from a mesh that is needed after it is rendered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Must also be as small as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Here, we have 4 textures. How much is that in MB?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Why is that a problem on the GPU?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636197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6E41-4278-311F-BA51-12AA0171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looks like in a real game</a:t>
            </a:r>
            <a:endParaRPr lang="en-BE" dirty="0"/>
          </a:p>
        </p:txBody>
      </p:sp>
      <p:pic>
        <p:nvPicPr>
          <p:cNvPr id="4" name="Picture 3" descr="A person walking in front of a car&#10;&#10;Description automatically generated">
            <a:extLst>
              <a:ext uri="{FF2B5EF4-FFF2-40B4-BE49-F238E27FC236}">
                <a16:creationId xmlns:a16="http://schemas.microsoft.com/office/drawing/2014/main" id="{FF78DEE1-988C-966F-B4FA-7D4555649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711" y="1771650"/>
            <a:ext cx="90487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02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B0F0-2022-B56B-DA7F-2AA0216A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 descr="A person standing in front of a car&#10;&#10;Description automatically generated">
            <a:extLst>
              <a:ext uri="{FF2B5EF4-FFF2-40B4-BE49-F238E27FC236}">
                <a16:creationId xmlns:a16="http://schemas.microsoft.com/office/drawing/2014/main" id="{1C1EB216-BE20-E1E8-51A9-E2E16731A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85" y="386887"/>
            <a:ext cx="5399599" cy="3035775"/>
          </a:xfrm>
          <a:prstGeom prst="rect">
            <a:avLst/>
          </a:prstGeom>
        </p:spPr>
      </p:pic>
      <p:pic>
        <p:nvPicPr>
          <p:cNvPr id="6" name="Picture 5" descr="A person standing in front of a city&#10;&#10;Description automatically generated">
            <a:extLst>
              <a:ext uri="{FF2B5EF4-FFF2-40B4-BE49-F238E27FC236}">
                <a16:creationId xmlns:a16="http://schemas.microsoft.com/office/drawing/2014/main" id="{C878AE6D-BC1B-D822-34BE-94727EEEC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280" y="386887"/>
            <a:ext cx="5399600" cy="3035775"/>
          </a:xfrm>
          <a:prstGeom prst="rect">
            <a:avLst/>
          </a:prstGeom>
        </p:spPr>
      </p:pic>
      <p:pic>
        <p:nvPicPr>
          <p:cNvPr id="8" name="Picture 7" descr="A person standing in front of a white car&#10;&#10;Description automatically generated">
            <a:extLst>
              <a:ext uri="{FF2B5EF4-FFF2-40B4-BE49-F238E27FC236}">
                <a16:creationId xmlns:a16="http://schemas.microsoft.com/office/drawing/2014/main" id="{EFB91DD8-B9E5-8D32-76EB-0F2A3A0BCB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280" y="3444424"/>
            <a:ext cx="5422146" cy="3048451"/>
          </a:xfrm>
          <a:prstGeom prst="rect">
            <a:avLst/>
          </a:prstGeom>
        </p:spPr>
      </p:pic>
      <p:pic>
        <p:nvPicPr>
          <p:cNvPr id="10" name="Picture 9" descr="A person walking in a city&#10;&#10;Description automatically generated">
            <a:extLst>
              <a:ext uri="{FF2B5EF4-FFF2-40B4-BE49-F238E27FC236}">
                <a16:creationId xmlns:a16="http://schemas.microsoft.com/office/drawing/2014/main" id="{E6694693-7293-6381-0558-400C510FB2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0" y="3457100"/>
            <a:ext cx="5399600" cy="303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75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4497-6852-24F0-FB30-BE348E99E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 descr="A blurry image of a person standing in a field&#10;&#10;Description automatically generated">
            <a:extLst>
              <a:ext uri="{FF2B5EF4-FFF2-40B4-BE49-F238E27FC236}">
                <a16:creationId xmlns:a16="http://schemas.microsoft.com/office/drawing/2014/main" id="{5FAC154E-854E-D89A-2B08-B8DF187A6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714"/>
            <a:ext cx="11804953" cy="664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1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BE86-81F7-F7ED-0317-6C70660E1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 descr="A road with lights in the dark&#10;&#10;Description automatically generated">
            <a:extLst>
              <a:ext uri="{FF2B5EF4-FFF2-40B4-BE49-F238E27FC236}">
                <a16:creationId xmlns:a16="http://schemas.microsoft.com/office/drawing/2014/main" id="{CE05C38E-0084-697D-98A5-F937E4A19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851" cy="3429479"/>
          </a:xfrm>
          <a:prstGeom prst="rect">
            <a:avLst/>
          </a:prstGeom>
        </p:spPr>
      </p:pic>
      <p:pic>
        <p:nvPicPr>
          <p:cNvPr id="6" name="Picture 5" descr="A black background with red and green lights&#10;&#10;Description automatically generated">
            <a:extLst>
              <a:ext uri="{FF2B5EF4-FFF2-40B4-BE49-F238E27FC236}">
                <a16:creationId xmlns:a16="http://schemas.microsoft.com/office/drawing/2014/main" id="{D3303EB7-F9B0-EBD7-777F-0E8296D58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149" y="3429000"/>
            <a:ext cx="6096851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70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CBD8-3ABF-71A5-2182-0C08BD46B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15C80-813F-0DB4-8536-F4961BE82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418" y="0"/>
            <a:ext cx="7507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89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A7AB-52E7-10D7-F2FE-A11E2273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 descr="A person walking in front of a car&#10;&#10;Description automatically generated">
            <a:extLst>
              <a:ext uri="{FF2B5EF4-FFF2-40B4-BE49-F238E27FC236}">
                <a16:creationId xmlns:a16="http://schemas.microsoft.com/office/drawing/2014/main" id="{8AB56FF3-EC19-3B42-8F38-61AEC2994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38100"/>
            <a:ext cx="120650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73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76AB-791A-4807-A190-1497CB7A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Deferred rendering: solutions?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625C6-70CE-BCA5-038E-4578597A6B2E}"/>
              </a:ext>
            </a:extLst>
          </p:cNvPr>
          <p:cNvSpPr txBox="1"/>
          <p:nvPr/>
        </p:nvSpPr>
        <p:spPr>
          <a:xfrm>
            <a:off x="223935" y="1548882"/>
            <a:ext cx="90302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Only evaluated light where it’s actually present </a:t>
            </a:r>
            <a:r>
              <a:rPr lang="en-US" sz="2400" dirty="0">
                <a:sym typeface="Wingdings" panose="05000000000000000000" pitchFamily="2" charset="2"/>
              </a:rPr>
              <a:t>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Meshes only need to write parameters, know nothing about lights 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Lights need to know about materials  Only very few materials  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Simpler to implement 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346105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6792-6F01-A9BA-DE9B-D39B1FAC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51" y="-88964"/>
            <a:ext cx="10515600" cy="1325563"/>
          </a:xfrm>
        </p:spPr>
        <p:txBody>
          <a:bodyPr/>
          <a:lstStyle/>
          <a:p>
            <a:r>
              <a:rPr lang="en-US" dirty="0"/>
              <a:t>Wednesday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ED644-A94B-0254-B86B-BC374DDC9E63}"/>
              </a:ext>
            </a:extLst>
          </p:cNvPr>
          <p:cNvSpPr txBox="1"/>
          <p:nvPr/>
        </p:nvSpPr>
        <p:spPr>
          <a:xfrm>
            <a:off x="311020" y="1418252"/>
            <a:ext cx="77914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Postprocessing : HDR (just like displays), ambient occlusion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Mostly as a reason to repeat some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also as it accounts for 30% of time spend in the </a:t>
            </a:r>
            <a:r>
              <a:rPr lang="en-US" sz="2400" dirty="0" err="1"/>
              <a:t>gpu</a:t>
            </a:r>
            <a:endParaRPr lang="en-US" sz="2400" dirty="0"/>
          </a:p>
        </p:txBody>
      </p:sp>
      <p:pic>
        <p:nvPicPr>
          <p:cNvPr id="5" name="Picture 4" descr="A collage of different images of a dome&#10;&#10;AI-generated content may be incorrect.">
            <a:extLst>
              <a:ext uri="{FF2B5EF4-FFF2-40B4-BE49-F238E27FC236}">
                <a16:creationId xmlns:a16="http://schemas.microsoft.com/office/drawing/2014/main" id="{B98B164B-62D4-6843-D743-1C1FD5DD7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17" y="2667560"/>
            <a:ext cx="7570983" cy="394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91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34435</TotalTime>
  <Words>1006</Words>
  <Application>Microsoft Office PowerPoint</Application>
  <PresentationFormat>Widescreen</PresentationFormat>
  <Paragraphs>142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Tahoma</vt:lpstr>
      <vt:lpstr>Wingdings</vt:lpstr>
      <vt:lpstr>Kantoorthema</vt:lpstr>
      <vt:lpstr>PowerPoint Presentation</vt:lpstr>
      <vt:lpstr>Last class: the problem</vt:lpstr>
      <vt:lpstr>For each object, evaluate brdf while rendering the model</vt:lpstr>
      <vt:lpstr>Course schedule</vt:lpstr>
      <vt:lpstr>This class</vt:lpstr>
      <vt:lpstr>Forward rendering: problem 1</vt:lpstr>
      <vt:lpstr>Forward rendering: problem 1</vt:lpstr>
      <vt:lpstr>Forward rendering: problem 2</vt:lpstr>
      <vt:lpstr>Forward rendering: problem 2 (continued)</vt:lpstr>
      <vt:lpstr>Forward rendering: problem 2 (conclusion)</vt:lpstr>
      <vt:lpstr>Forward rendering: problem 3</vt:lpstr>
      <vt:lpstr>Deferred rendering</vt:lpstr>
      <vt:lpstr>Intermediate textures : GBuffers</vt:lpstr>
      <vt:lpstr>GBuffers</vt:lpstr>
      <vt:lpstr>What this looks like in a real 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Deferred rendering: solutions?</vt:lpstr>
      <vt:lpstr>Wednesday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122</cp:revision>
  <dcterms:created xsi:type="dcterms:W3CDTF">2024-01-29T23:06:06Z</dcterms:created>
  <dcterms:modified xsi:type="dcterms:W3CDTF">2025-05-30T21:10:48Z</dcterms:modified>
</cp:coreProperties>
</file>