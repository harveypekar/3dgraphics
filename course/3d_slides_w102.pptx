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683" r:id="rId3"/>
    <p:sldId id="696" r:id="rId4"/>
    <p:sldId id="625" r:id="rId5"/>
    <p:sldId id="364" r:id="rId6"/>
    <p:sldId id="684" r:id="rId7"/>
    <p:sldId id="685" r:id="rId8"/>
    <p:sldId id="697" r:id="rId9"/>
    <p:sldId id="548" r:id="rId10"/>
    <p:sldId id="549" r:id="rId11"/>
    <p:sldId id="550" r:id="rId12"/>
    <p:sldId id="551" r:id="rId13"/>
    <p:sldId id="552" r:id="rId14"/>
    <p:sldId id="553" r:id="rId15"/>
    <p:sldId id="554" r:id="rId16"/>
    <p:sldId id="555" r:id="rId17"/>
    <p:sldId id="540" r:id="rId18"/>
    <p:sldId id="556" r:id="rId19"/>
    <p:sldId id="698" r:id="rId20"/>
    <p:sldId id="686" r:id="rId21"/>
    <p:sldId id="687" r:id="rId22"/>
    <p:sldId id="688" r:id="rId23"/>
    <p:sldId id="689" r:id="rId24"/>
    <p:sldId id="690" r:id="rId25"/>
    <p:sldId id="691" r:id="rId26"/>
    <p:sldId id="692" r:id="rId27"/>
    <p:sldId id="693" r:id="rId28"/>
    <p:sldId id="694" r:id="rId29"/>
    <p:sldId id="695" r:id="rId30"/>
    <p:sldId id="699" r:id="rId31"/>
    <p:sldId id="700" r:id="rId32"/>
    <p:sldId id="564" r:id="rId33"/>
    <p:sldId id="565" r:id="rId34"/>
    <p:sldId id="566" r:id="rId35"/>
    <p:sldId id="567" r:id="rId36"/>
    <p:sldId id="568" r:id="rId37"/>
    <p:sldId id="570" r:id="rId38"/>
    <p:sldId id="573" r:id="rId39"/>
    <p:sldId id="569" r:id="rId40"/>
    <p:sldId id="572" r:id="rId41"/>
    <p:sldId id="574" r:id="rId42"/>
    <p:sldId id="701" r:id="rId43"/>
    <p:sldId id="576" r:id="rId44"/>
    <p:sldId id="577" r:id="rId45"/>
    <p:sldId id="578" r:id="rId46"/>
    <p:sldId id="579" r:id="rId47"/>
    <p:sldId id="580" r:id="rId48"/>
    <p:sldId id="702" r:id="rId4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2046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an Nijs" userId="45a8f2eb-ffa8-4a03-9e48-ecef0e584298" providerId="ADAL" clId="{8E0CA8F1-5CE1-48AD-8F37-DC6B6F209D21}"/>
    <pc:docChg chg="custSel modSld">
      <pc:chgData name="Daan Nijs" userId="45a8f2eb-ffa8-4a03-9e48-ecef0e584298" providerId="ADAL" clId="{8E0CA8F1-5CE1-48AD-8F37-DC6B6F209D21}" dt="2025-04-30T14:05:03.731" v="2" actId="1076"/>
      <pc:docMkLst>
        <pc:docMk/>
      </pc:docMkLst>
      <pc:sldChg chg="addSp delSp modSp mod">
        <pc:chgData name="Daan Nijs" userId="45a8f2eb-ffa8-4a03-9e48-ecef0e584298" providerId="ADAL" clId="{8E0CA8F1-5CE1-48AD-8F37-DC6B6F209D21}" dt="2025-04-30T14:05:03.731" v="2" actId="1076"/>
        <pc:sldMkLst>
          <pc:docMk/>
          <pc:sldMk cId="1905507469" sldId="256"/>
        </pc:sldMkLst>
        <pc:spChg chg="del">
          <ac:chgData name="Daan Nijs" userId="45a8f2eb-ffa8-4a03-9e48-ecef0e584298" providerId="ADAL" clId="{8E0CA8F1-5CE1-48AD-8F37-DC6B6F209D21}" dt="2025-04-30T14:03:14.626" v="0" actId="478"/>
          <ac:spMkLst>
            <pc:docMk/>
            <pc:sldMk cId="1905507469" sldId="256"/>
            <ac:spMk id="13" creationId="{0EC6FE2E-30E5-6C5D-8095-DBBD52210ED6}"/>
          </ac:spMkLst>
        </pc:spChg>
        <pc:picChg chg="add mod">
          <ac:chgData name="Daan Nijs" userId="45a8f2eb-ffa8-4a03-9e48-ecef0e584298" providerId="ADAL" clId="{8E0CA8F1-5CE1-48AD-8F37-DC6B6F209D21}" dt="2025-04-30T14:05:03.731" v="2" actId="1076"/>
          <ac:picMkLst>
            <pc:docMk/>
            <pc:sldMk cId="1905507469" sldId="256"/>
            <ac:picMk id="8" creationId="{BE4B13AA-43F9-F0E4-EDD3-FBCD37F97A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886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86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47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1D5B-03CD-681D-4703-CBC092E8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88293-18EA-D774-AA71-E9F5FD87B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D3C69-E9A0-2A8A-3433-D7A05065E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C82A4-5824-E5E5-32B8-E29D92306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90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D4E9-7FA2-6F19-5979-7EF06DBF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BDE11-116B-0F52-9AE5-81F1E20C5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CA0B8-96B7-7AE7-9B91-C7838E96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11D41-9F71-4E66-A98B-415F47C66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8147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E536-B695-FABB-18F3-B8E4ED4B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0A368-698F-2FC0-38A0-4825B9E47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C42F5-518E-3BA2-D50F-F70BCE77B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3287-81AE-553F-7A19-6DD657F42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728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29D7-9570-7EF5-591E-2B7582D6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B7997-2B6F-E58A-1B2A-E64476637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EFCF6-EB21-7957-CB31-D0E0B346D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61287-6860-A0C5-733B-367890BF8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6517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92BA-D4BC-9542-4203-08B6238B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B66F9-0AA7-EA12-CA29-61B4B48D8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63608-76D6-2937-2195-88FF24E24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89BE2-4101-2B46-8605-789FF18B0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15858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3324-5AE5-B0E8-6EFA-A84BC8E4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05705-D264-5559-E796-12AF2BD8B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38B29-EE71-D4D7-693D-126C5FB31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2A5E7-35ED-850E-0570-1FA1B9197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38537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04/30/2025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5855" y="5411372"/>
            <a:ext cx="4897688" cy="459582"/>
          </a:xfrm>
        </p:spPr>
        <p:txBody>
          <a:bodyPr>
            <a:normAutofit/>
          </a:bodyPr>
          <a:lstStyle/>
          <a:p>
            <a:r>
              <a:rPr lang="en-US" dirty="0"/>
              <a:t>Week 10b: Postprocessing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 + AR</a:t>
            </a:r>
          </a:p>
          <a:p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B13AA-43F9-F0E4-EDD3-FBCD37F97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75" y="1935785"/>
            <a:ext cx="11057578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298E-7643-26A8-F956-31884A33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9E2E-C2AD-140D-0E3A-4CF10FB6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86" y="-138728"/>
            <a:ext cx="10515600" cy="1325563"/>
          </a:xfrm>
        </p:spPr>
        <p:txBody>
          <a:bodyPr/>
          <a:lstStyle/>
          <a:p>
            <a:r>
              <a:rPr lang="en-US" dirty="0"/>
              <a:t>Last class: Deferred rendering</a:t>
            </a:r>
            <a:endParaRPr lang="en-BE" dirty="0"/>
          </a:p>
        </p:txBody>
      </p:sp>
      <p:pic>
        <p:nvPicPr>
          <p:cNvPr id="3" name="Picture 2" descr="A group of objects on a table&#10;&#10;AI-generated content may be incorrect.">
            <a:extLst>
              <a:ext uri="{FF2B5EF4-FFF2-40B4-BE49-F238E27FC236}">
                <a16:creationId xmlns:a16="http://schemas.microsoft.com/office/drawing/2014/main" id="{3F607F44-5861-FACE-A5B1-B02D7D75A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459" y="3309487"/>
            <a:ext cx="2542227" cy="1906670"/>
          </a:xfrm>
          <a:prstGeom prst="rect">
            <a:avLst/>
          </a:prstGeom>
        </p:spPr>
      </p:pic>
      <p:pic>
        <p:nvPicPr>
          <p:cNvPr id="4" name="Picture 3" descr="A group of different shapes on a green surface&#10;&#10;AI-generated content may be incorrect.">
            <a:extLst>
              <a:ext uri="{FF2B5EF4-FFF2-40B4-BE49-F238E27FC236}">
                <a16:creationId xmlns:a16="http://schemas.microsoft.com/office/drawing/2014/main" id="{7AD1469C-932C-B024-BB7F-7FC6123BF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773" y="4951330"/>
            <a:ext cx="2542227" cy="1906670"/>
          </a:xfrm>
          <a:prstGeom prst="rect">
            <a:avLst/>
          </a:prstGeom>
        </p:spPr>
      </p:pic>
      <p:pic>
        <p:nvPicPr>
          <p:cNvPr id="5" name="Picture 4" descr="A group of objects in different shapes&#10;&#10;AI-generated content may be incorrect.">
            <a:extLst>
              <a:ext uri="{FF2B5EF4-FFF2-40B4-BE49-F238E27FC236}">
                <a16:creationId xmlns:a16="http://schemas.microsoft.com/office/drawing/2014/main" id="{9CB777AB-F924-1201-CA60-F9327AC71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40" y="3007510"/>
            <a:ext cx="2591760" cy="1943820"/>
          </a:xfrm>
          <a:prstGeom prst="rect">
            <a:avLst/>
          </a:prstGeom>
        </p:spPr>
      </p:pic>
      <p:pic>
        <p:nvPicPr>
          <p:cNvPr id="6" name="Picture 5" descr="A group of colorful shapes on a green surface&#10;&#10;AI-generated content may be incorrect.">
            <a:extLst>
              <a:ext uri="{FF2B5EF4-FFF2-40B4-BE49-F238E27FC236}">
                <a16:creationId xmlns:a16="http://schemas.microsoft.com/office/drawing/2014/main" id="{906764CB-9D70-A9E4-925B-735E9A52E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40" y="1063690"/>
            <a:ext cx="2591760" cy="1943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403314-AA5F-CF81-2CE6-80D3CC676DC3}"/>
              </a:ext>
            </a:extLst>
          </p:cNvPr>
          <p:cNvSpPr txBox="1"/>
          <p:nvPr/>
        </p:nvSpPr>
        <p:spPr>
          <a:xfrm>
            <a:off x="324420" y="3751506"/>
            <a:ext cx="13484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Mesh</a:t>
            </a:r>
            <a:endParaRPr lang="en-BE" sz="4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8E1225-9F38-2B3E-24B2-5EFE01DAB4A7}"/>
              </a:ext>
            </a:extLst>
          </p:cNvPr>
          <p:cNvCxnSpPr>
            <a:cxnSpLocks/>
          </p:cNvCxnSpPr>
          <p:nvPr/>
        </p:nvCxnSpPr>
        <p:spPr>
          <a:xfrm>
            <a:off x="6198650" y="1847441"/>
            <a:ext cx="1511559" cy="14499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EAD733-6333-C393-9231-3635851216F4}"/>
              </a:ext>
            </a:extLst>
          </p:cNvPr>
          <p:cNvCxnSpPr>
            <a:cxnSpLocks/>
          </p:cNvCxnSpPr>
          <p:nvPr/>
        </p:nvCxnSpPr>
        <p:spPr>
          <a:xfrm>
            <a:off x="1735494" y="4239188"/>
            <a:ext cx="14571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CE567E-AAFF-4A41-321C-FCC2C8EB6357}"/>
              </a:ext>
            </a:extLst>
          </p:cNvPr>
          <p:cNvCxnSpPr>
            <a:cxnSpLocks/>
          </p:cNvCxnSpPr>
          <p:nvPr/>
        </p:nvCxnSpPr>
        <p:spPr>
          <a:xfrm>
            <a:off x="1672866" y="4384727"/>
            <a:ext cx="1623950" cy="21840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7CC6F1E-0885-04D9-4CC6-9D2BFDF78C2E}"/>
              </a:ext>
            </a:extLst>
          </p:cNvPr>
          <p:cNvSpPr txBox="1"/>
          <p:nvPr/>
        </p:nvSpPr>
        <p:spPr>
          <a:xfrm>
            <a:off x="7329261" y="3560585"/>
            <a:ext cx="11962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</a:t>
            </a:r>
            <a:endParaRPr lang="en-BE" sz="4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B3F861-62D8-D4C3-8B45-F874E3A92BEB}"/>
              </a:ext>
            </a:extLst>
          </p:cNvPr>
          <p:cNvCxnSpPr>
            <a:cxnSpLocks/>
          </p:cNvCxnSpPr>
          <p:nvPr/>
        </p:nvCxnSpPr>
        <p:spPr>
          <a:xfrm flipV="1">
            <a:off x="1646108" y="1847441"/>
            <a:ext cx="1609200" cy="20670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A07ABA-CEC3-1A76-3391-3B101AB94E94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6181895" y="3914528"/>
            <a:ext cx="1147366" cy="14797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BD28DA-C70B-5F8E-0440-64AC24317AE7}"/>
              </a:ext>
            </a:extLst>
          </p:cNvPr>
          <p:cNvCxnSpPr>
            <a:cxnSpLocks/>
          </p:cNvCxnSpPr>
          <p:nvPr/>
        </p:nvCxnSpPr>
        <p:spPr>
          <a:xfrm flipV="1">
            <a:off x="6198650" y="4262822"/>
            <a:ext cx="1511559" cy="16418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714E4B-57F1-7D29-C679-6221B802BAD2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8404989" y="4136793"/>
            <a:ext cx="1179470" cy="1260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80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013D16-2474-8D0C-6368-D3058FF93CD9}"/>
              </a:ext>
            </a:extLst>
          </p:cNvPr>
          <p:cNvSpPr txBox="1"/>
          <p:nvPr/>
        </p:nvSpPr>
        <p:spPr>
          <a:xfrm>
            <a:off x="183502" y="1242544"/>
            <a:ext cx="119494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job:</a:t>
            </a:r>
          </a:p>
          <a:p>
            <a:r>
              <a:rPr lang="en-US" dirty="0"/>
              <a:t>* Every multiple of 10 chunks, add a portal to the chunk. </a:t>
            </a:r>
            <a:r>
              <a:rPr lang="en-US" dirty="0" err="1"/>
              <a:t>Eg</a:t>
            </a:r>
            <a:r>
              <a:rPr lang="en-US" dirty="0"/>
              <a:t> the chunks at (0,0), (10, 0), (0, 10), and (10, 10) all should have a portal, and the portal should sit mostly correctly on the terrain (the portal is on top of the terrain, and the center is not obscured by blocks),</a:t>
            </a:r>
          </a:p>
          <a:p>
            <a:r>
              <a:rPr lang="en-US" dirty="0"/>
              <a:t>* Create a new unlit material for the obsidian blocks. Implement </a:t>
            </a:r>
            <a:r>
              <a:rPr lang="en-US" dirty="0" err="1"/>
              <a:t>blinn-phong</a:t>
            </a:r>
            <a:r>
              <a:rPr lang="en-US" dirty="0"/>
              <a:t> lighting. As a light source, only account for the directional light in the scene. You can use [_WorldSpaceLightPos0](https://docs.unity3d.com/Manual/SL-UnityShaderVariables.html) to get the direction. For the formulae, either refer to the slider, or if you want it explained a different way, [this chapter](https://developer.download.nvidia.com/CgTutorial/cg_tutorial_chapter05.html) made it click for me originally </a:t>
            </a:r>
          </a:p>
          <a:p>
            <a:r>
              <a:rPr lang="en-US" dirty="0"/>
              <a:t>* Use procedural generation to generate a heightmap, and use finite differencing to turn this into your </a:t>
            </a:r>
            <a:r>
              <a:rPr lang="en-US" dirty="0" err="1"/>
              <a:t>normals</a:t>
            </a:r>
            <a:r>
              <a:rPr lang="en-US" dirty="0"/>
              <a:t>. The color can be anything you want. </a:t>
            </a:r>
          </a:p>
          <a:p>
            <a:r>
              <a:rPr lang="en-US" dirty="0"/>
              <a:t>* Create geometry and material for the center of the portal. How you do this is completely free, just make sure the effect is interesting. Remember, you have a method to create a plane. You must use at least one custom shader. Spend at least an hour on this.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57122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5511"/>
              </p:ext>
            </p:extLst>
          </p:nvPr>
        </p:nvGraphicFramePr>
        <p:xfrm>
          <a:off x="4802155" y="0"/>
          <a:ext cx="6870483" cy="689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521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738203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3102759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397617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4764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12605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905260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Lights, shadows, camera’s, primary visibility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Forward rendering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4764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Deferred rendering / 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processing /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Bonus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Quiz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927756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Rev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8566676" y="5337109"/>
            <a:ext cx="3006435" cy="504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4D2B5-CAD3-D831-936C-AB606D88D5FD}"/>
              </a:ext>
            </a:extLst>
          </p:cNvPr>
          <p:cNvSpPr txBox="1"/>
          <p:nvPr/>
        </p:nvSpPr>
        <p:spPr>
          <a:xfrm>
            <a:off x="261256" y="1564357"/>
            <a:ext cx="4310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not sure what to teach on Monday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your struggles in the project?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probably can find a topic that reinforces a lot of what you need to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we can revise a topic deeply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Tell me!</a:t>
            </a:r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2BD5B2-170B-7DD6-EE90-0BDFDEBE15DD}"/>
              </a:ext>
            </a:extLst>
          </p:cNvPr>
          <p:cNvCxnSpPr/>
          <p:nvPr/>
        </p:nvCxnSpPr>
        <p:spPr>
          <a:xfrm flipH="1">
            <a:off x="3446106" y="1990531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2F73-9266-50A2-EEBB-797A1B48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actually forgot to tell you the full pipeline!</a:t>
            </a:r>
            <a:endParaRPr lang="en-BE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C13ADB-F3C0-EA30-1333-783CD9E83084}"/>
              </a:ext>
            </a:extLst>
          </p:cNvPr>
          <p:cNvSpPr/>
          <p:nvPr/>
        </p:nvSpPr>
        <p:spPr>
          <a:xfrm>
            <a:off x="522515" y="2855693"/>
            <a:ext cx="1953208" cy="121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Render shadow maps</a:t>
            </a:r>
            <a:endParaRPr lang="en-BE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093E33-542D-9041-34F9-BF536A371517}"/>
              </a:ext>
            </a:extLst>
          </p:cNvPr>
          <p:cNvSpPr/>
          <p:nvPr/>
        </p:nvSpPr>
        <p:spPr>
          <a:xfrm>
            <a:off x="3796004" y="2855693"/>
            <a:ext cx="3505199" cy="121297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Render meshes</a:t>
            </a:r>
            <a:endParaRPr lang="en-BE" sz="2400" dirty="0"/>
          </a:p>
        </p:txBody>
      </p:sp>
      <p:pic>
        <p:nvPicPr>
          <p:cNvPr id="5" name="Picture 4" descr="A group of objects in different shapes&#10;&#10;AI-generated content may be incorrect.">
            <a:extLst>
              <a:ext uri="{FF2B5EF4-FFF2-40B4-BE49-F238E27FC236}">
                <a16:creationId xmlns:a16="http://schemas.microsoft.com/office/drawing/2014/main" id="{0710661A-C658-E917-34D4-03094545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9" y="4407102"/>
            <a:ext cx="2591760" cy="1943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DFBDE-24EF-0B75-A518-7CA7F85E564C}"/>
              </a:ext>
            </a:extLst>
          </p:cNvPr>
          <p:cNvSpPr txBox="1"/>
          <p:nvPr/>
        </p:nvSpPr>
        <p:spPr>
          <a:xfrm>
            <a:off x="394512" y="1495862"/>
            <a:ext cx="8912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part we already talked about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typically takes about 60% of the time we spend rendering a frame</a:t>
            </a:r>
            <a:endParaRPr lang="en-BE" sz="2400" dirty="0"/>
          </a:p>
        </p:txBody>
      </p:sp>
      <p:pic>
        <p:nvPicPr>
          <p:cNvPr id="7" name="Picture 6" descr="A group of different shapes on a green surface&#10;&#10;AI-generated content may be incorrect.">
            <a:extLst>
              <a:ext uri="{FF2B5EF4-FFF2-40B4-BE49-F238E27FC236}">
                <a16:creationId xmlns:a16="http://schemas.microsoft.com/office/drawing/2014/main" id="{6250EA44-051C-5682-511C-2E3BC0B5E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377" y="4425677"/>
            <a:ext cx="2542227" cy="1906670"/>
          </a:xfrm>
          <a:prstGeom prst="rect">
            <a:avLst/>
          </a:prstGeom>
        </p:spPr>
      </p:pic>
      <p:pic>
        <p:nvPicPr>
          <p:cNvPr id="8" name="Picture 7" descr="A group of colorful shapes on a green surface&#10;&#10;AI-generated content may be incorrect.">
            <a:extLst>
              <a:ext uri="{FF2B5EF4-FFF2-40B4-BE49-F238E27FC236}">
                <a16:creationId xmlns:a16="http://schemas.microsoft.com/office/drawing/2014/main" id="{C2201053-9D2C-BDF6-CF8A-7E99DF504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04" y="4407102"/>
            <a:ext cx="2591760" cy="194382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6E0A7B-688B-8471-61BB-B1B05A12DD41}"/>
              </a:ext>
            </a:extLst>
          </p:cNvPr>
          <p:cNvSpPr/>
          <p:nvPr/>
        </p:nvSpPr>
        <p:spPr>
          <a:xfrm>
            <a:off x="8358674" y="2862438"/>
            <a:ext cx="3505199" cy="121297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Render lights</a:t>
            </a:r>
            <a:endParaRPr lang="en-BE" sz="2400" dirty="0"/>
          </a:p>
        </p:txBody>
      </p:sp>
      <p:pic>
        <p:nvPicPr>
          <p:cNvPr id="10" name="Picture 9" descr="A group of objects on a table&#10;&#10;AI-generated content may be incorrect.">
            <a:extLst>
              <a:ext uri="{FF2B5EF4-FFF2-40B4-BE49-F238E27FC236}">
                <a16:creationId xmlns:a16="http://schemas.microsoft.com/office/drawing/2014/main" id="{74A5CC18-574E-0C0B-6765-0737D3094A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59" y="4407102"/>
            <a:ext cx="2542227" cy="190667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461B2-08DE-7D12-1740-8433E0115FED}"/>
              </a:ext>
            </a:extLst>
          </p:cNvPr>
          <p:cNvCxnSpPr/>
          <p:nvPr/>
        </p:nvCxnSpPr>
        <p:spPr>
          <a:xfrm>
            <a:off x="838200" y="2593910"/>
            <a:ext cx="1035853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62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43B1-E849-D698-6B59-20CF2C0C4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other 40% : post processing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CF7EC-A1F0-937E-08EF-20688ABCFF60}"/>
              </a:ext>
            </a:extLst>
          </p:cNvPr>
          <p:cNvSpPr txBox="1"/>
          <p:nvPr/>
        </p:nvSpPr>
        <p:spPr>
          <a:xfrm>
            <a:off x="634482" y="1735493"/>
            <a:ext cx="97006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Post processing is a very general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It’s a bunch of algorithms which take a texture of the rendered scene, and manipulates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We’re not rendering meshes anymore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interesting part is what they do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6289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4548-FFBD-DB36-DD09-BD24B66E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4380-F95D-7EFE-0E04-8FB79C29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09BE2-31D5-5302-39B1-66C0654F3123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C8AA97-A39F-E5AE-435A-EB4B8484CD97}"/>
              </a:ext>
            </a:extLst>
          </p:cNvPr>
          <p:cNvCxnSpPr/>
          <p:nvPr/>
        </p:nvCxnSpPr>
        <p:spPr>
          <a:xfrm flipH="1">
            <a:off x="3483428" y="2320212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04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087F-B492-681C-8214-CBD77BCE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Grayscale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33121-FA64-AC59-F124-9892585DACEE}"/>
              </a:ext>
            </a:extLst>
          </p:cNvPr>
          <p:cNvSpPr txBox="1"/>
          <p:nvPr/>
        </p:nvSpPr>
        <p:spPr>
          <a:xfrm>
            <a:off x="534955" y="1499119"/>
            <a:ext cx="41345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Grayscale == Black and White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accurate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would you do it?</a:t>
            </a:r>
            <a:endParaRPr lang="en-BE" sz="2400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08F47B06-F8AD-979B-ADAF-E579A9301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3442"/>
            <a:ext cx="5376992" cy="3024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879733-515B-1A7B-6C10-EFDC063C5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353" y="3763346"/>
            <a:ext cx="4862583" cy="3094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90B2BA-A2D7-071C-FD9D-D37C2FD2E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15536"/>
            <a:ext cx="4862583" cy="307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0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93DE-21C0-01D7-D6CF-761018D0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1" y="0"/>
            <a:ext cx="10515600" cy="1325563"/>
          </a:xfrm>
        </p:spPr>
        <p:txBody>
          <a:bodyPr/>
          <a:lstStyle/>
          <a:p>
            <a:r>
              <a:rPr lang="en-US" dirty="0"/>
              <a:t>Obvious solution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32AC6-4403-607B-5321-0C7C4F81900F}"/>
              </a:ext>
            </a:extLst>
          </p:cNvPr>
          <p:cNvSpPr txBox="1"/>
          <p:nvPr/>
        </p:nvSpPr>
        <p:spPr>
          <a:xfrm>
            <a:off x="175521" y="955359"/>
            <a:ext cx="73861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Average red, green and blue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Greyscale = R*0.333 + G*0.333 + B*0.333</a:t>
            </a:r>
            <a:endParaRPr lang="en-BE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07615-35BD-2F6D-EEE8-F2EC902F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16" y="2140499"/>
            <a:ext cx="8051960" cy="471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AC9F-BD43-6F20-969D-C1B9086F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 obvious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D1121-91F3-FE65-BF5B-661B9BDE9BDD}"/>
              </a:ext>
            </a:extLst>
          </p:cNvPr>
          <p:cNvSpPr txBox="1"/>
          <p:nvPr/>
        </p:nvSpPr>
        <p:spPr>
          <a:xfrm>
            <a:off x="659362" y="1690688"/>
            <a:ext cx="65796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 every color channel (r, g, b) is created equal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They’re perceptually more or less bright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Perceptually = To our eyeballs (perceived)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Try to sort the next slides in perceived brightness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16911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AA6C1-B482-B6D5-2F37-46E197CE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ABB7E-6BBC-C86D-8CFD-4963D267DB2B}"/>
              </a:ext>
            </a:extLst>
          </p:cNvPr>
          <p:cNvSpPr/>
          <p:nvPr/>
        </p:nvSpPr>
        <p:spPr>
          <a:xfrm>
            <a:off x="-80865" y="-43543"/>
            <a:ext cx="12471918" cy="70850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21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15AB-B02C-D4FC-999A-D2DEAAEA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F431-71F1-7689-422D-7E25BE44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EBF241-8ED9-9511-8AA5-673DAEAA9BE7}"/>
              </a:ext>
            </a:extLst>
          </p:cNvPr>
          <p:cNvSpPr/>
          <p:nvPr/>
        </p:nvSpPr>
        <p:spPr>
          <a:xfrm>
            <a:off x="-80865" y="-43543"/>
            <a:ext cx="12471918" cy="7085045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618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1778-DB3B-F74C-A34C-43420713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9348-016F-5074-1B66-52443125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2C507-1319-7717-E4F7-A394D7BA0D48}"/>
              </a:ext>
            </a:extLst>
          </p:cNvPr>
          <p:cNvSpPr/>
          <p:nvPr/>
        </p:nvSpPr>
        <p:spPr>
          <a:xfrm>
            <a:off x="-80865" y="-43543"/>
            <a:ext cx="12471918" cy="7085045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84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63AB-E858-555C-56BF-7D31F387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you rank the brightness?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56526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8FBA-1284-0C6C-00E9-EE1181EC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feeling solution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C2184-BEC0-EB13-DC51-AF40965AF902}"/>
              </a:ext>
            </a:extLst>
          </p:cNvPr>
          <p:cNvSpPr txBox="1"/>
          <p:nvPr/>
        </p:nvSpPr>
        <p:spPr>
          <a:xfrm>
            <a:off x="349693" y="1322363"/>
            <a:ext cx="6552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Greyscale = R*0.3 + G*0.59 + B*0.11</a:t>
            </a:r>
            <a:endParaRPr lang="en-BE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A8614-F592-DADE-7F8D-2901DD6E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881" y="2108718"/>
            <a:ext cx="8058091" cy="47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5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A82B-1CCA-52C3-6ABC-461780DB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8552A-EDD2-5A7E-610F-6732135F024C}"/>
              </a:ext>
            </a:extLst>
          </p:cNvPr>
          <p:cNvSpPr txBox="1"/>
          <p:nvPr/>
        </p:nvSpPr>
        <p:spPr>
          <a:xfrm>
            <a:off x="590938" y="1953208"/>
            <a:ext cx="9035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Textures are used for spatially varying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1,2, and 3d. Or cubes.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used for visible color, or normal, or any other parameter</a:t>
            </a:r>
          </a:p>
        </p:txBody>
      </p:sp>
    </p:spTree>
    <p:extLst>
      <p:ext uri="{BB962C8B-B14F-4D97-AF65-F5344CB8AC3E}">
        <p14:creationId xmlns:p14="http://schemas.microsoft.com/office/powerpoint/2010/main" val="66121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DE2B-8D99-6747-7F35-FA81DC71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by side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2306D-561E-63E0-DC72-97E57003B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6461"/>
            <a:ext cx="6096000" cy="35715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EB0F93-DB89-137B-BCF9-ADE9017C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65136"/>
            <a:ext cx="6096000" cy="3592864"/>
          </a:xfrm>
          <a:prstGeom prst="rect">
            <a:avLst/>
          </a:prstGeom>
        </p:spPr>
      </p:pic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75C00653-51EC-784F-4743-DAD7DCE30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563" y="-1"/>
            <a:ext cx="5799980" cy="326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409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C276-9512-8BF4-32A1-A5D17726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804F-3A0F-0328-635B-CB948770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EB90B-9249-F580-DB24-70383CD209BA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BFEADD-945A-56A4-3785-EB2B19042736}"/>
              </a:ext>
            </a:extLst>
          </p:cNvPr>
          <p:cNvCxnSpPr/>
          <p:nvPr/>
        </p:nvCxnSpPr>
        <p:spPr>
          <a:xfrm flipH="1">
            <a:off x="3520750" y="2855168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87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25E9-D752-5B59-62D2-B12BA64B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HDR (</a:t>
            </a:r>
            <a:r>
              <a:rPr lang="en-US" dirty="0" err="1"/>
              <a:t>tonemapping</a:t>
            </a:r>
            <a:r>
              <a:rPr lang="en-US" dirty="0"/>
              <a:t>)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C88CB-7197-787D-3D9D-4057941FF026}"/>
              </a:ext>
            </a:extLst>
          </p:cNvPr>
          <p:cNvSpPr txBox="1"/>
          <p:nvPr/>
        </p:nvSpPr>
        <p:spPr>
          <a:xfrm>
            <a:off x="727788" y="1779036"/>
            <a:ext cx="4225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Who can tell me what HDR is?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57253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F9008-A178-A2CC-9C63-F95956C6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5508-0D07-17E8-D668-5BCDE71B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HDR (</a:t>
            </a:r>
            <a:r>
              <a:rPr lang="en-US" dirty="0" err="1"/>
              <a:t>tonemapping</a:t>
            </a:r>
            <a:r>
              <a:rPr lang="en-US" dirty="0"/>
              <a:t>)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15E98-193E-8F52-36DE-7B9181D0416E}"/>
              </a:ext>
            </a:extLst>
          </p:cNvPr>
          <p:cNvSpPr txBox="1"/>
          <p:nvPr/>
        </p:nvSpPr>
        <p:spPr>
          <a:xfrm>
            <a:off x="727788" y="1779036"/>
            <a:ext cx="95826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talk about HDR, we need to talk about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You’ve seen color as 8bit per channel (</a:t>
            </a:r>
            <a:r>
              <a:rPr lang="en-US" sz="2400" dirty="0" err="1"/>
              <a:t>eg</a:t>
            </a:r>
            <a:r>
              <a:rPr lang="en-US" sz="2400" dirty="0"/>
              <a:t> #FF000000 in 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You’ve seen color as a float per channel in shaders (</a:t>
            </a:r>
            <a:r>
              <a:rPr lang="en-US" sz="2400" dirty="0" err="1"/>
              <a:t>eg</a:t>
            </a:r>
            <a:r>
              <a:rPr lang="en-US" sz="2400" dirty="0"/>
              <a:t> float3(1.0,0.0,0.0))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You’ve always seen it as </a:t>
            </a:r>
            <a:r>
              <a:rPr lang="en-US" sz="2400" dirty="0" err="1"/>
              <a:t>rgb</a:t>
            </a:r>
            <a:r>
              <a:rPr lang="en-US" sz="2400" dirty="0"/>
              <a:t> (red, green, blue)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BTW, what is color?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69B0D-E32E-67B8-263F-6A632A584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308" y="3672114"/>
            <a:ext cx="5154113" cy="31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65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91DD-811E-0437-FEB5-232B09DD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8" y="-186418"/>
            <a:ext cx="10515600" cy="1325563"/>
          </a:xfrm>
        </p:spPr>
        <p:txBody>
          <a:bodyPr/>
          <a:lstStyle/>
          <a:p>
            <a:r>
              <a:rPr lang="en-US" dirty="0"/>
              <a:t>Color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0945D-FCF8-7357-574E-AAC875E967F6}"/>
              </a:ext>
            </a:extLst>
          </p:cNvPr>
          <p:cNvSpPr txBox="1"/>
          <p:nvPr/>
        </p:nvSpPr>
        <p:spPr>
          <a:xfrm>
            <a:off x="329681" y="901958"/>
            <a:ext cx="101579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Why do we use </a:t>
            </a:r>
            <a:r>
              <a:rPr lang="en-US" sz="2000" dirty="0" err="1"/>
              <a:t>rgb</a:t>
            </a:r>
            <a:r>
              <a:rPr lang="en-US" sz="20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won’t look at how color work in physics (it’s not a single color, more of a wave)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have 3 kind of receptors in our eyes: red, green, blue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Our monitors emit 3 kinds of light…. red, green, blue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Still not ideal! Why use 8 bits for blue, if it’s much less bright as green, which also uses 8 bits?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Alternatives exists, like HSV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rendering, we use RGB 99% of the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comes up more in video / image compression</a:t>
            </a:r>
            <a:endParaRPr lang="en-B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FFFEB-0FFE-A50F-1805-776524230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32" y="2815771"/>
            <a:ext cx="6179268" cy="404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80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D6DE-C9E6-EADF-BFCB-08D44838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HDR is actually about brightness 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0EDD8-63AC-69B5-1FF3-E45B6D743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475" y="1297024"/>
            <a:ext cx="4238839" cy="2404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F86CEE-2D30-9107-B0C4-92C1C50128EE}"/>
              </a:ext>
            </a:extLst>
          </p:cNvPr>
          <p:cNvSpPr txBox="1"/>
          <p:nvPr/>
        </p:nvSpPr>
        <p:spPr>
          <a:xfrm>
            <a:off x="442687" y="1538514"/>
            <a:ext cx="67709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Intensity of light that we can see can be incredibly bright or dark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Outdoors during the day is a 1000 times brighter than in indoors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sun is a millions times brighter than inside during the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only have 255 values in our color to represent that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.. But we can use a float3 (in our textures) to get many more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Float are good at adapting to being very small or 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They are 4 bytes, making our </a:t>
            </a:r>
            <a:r>
              <a:rPr lang="en-US" dirty="0" err="1">
                <a:sym typeface="Wingdings" panose="05000000000000000000" pitchFamily="2" charset="2"/>
              </a:rPr>
              <a:t>gbuffers</a:t>
            </a:r>
            <a:r>
              <a:rPr lang="en-US" dirty="0">
                <a:sym typeface="Wingdings" panose="05000000000000000000" pitchFamily="2" charset="2"/>
              </a:rPr>
              <a:t> larger 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You might know this from taking pictures in RAW format (it’s much more than this, but it has higher precision per pixel)</a:t>
            </a:r>
          </a:p>
        </p:txBody>
      </p:sp>
    </p:spTree>
    <p:extLst>
      <p:ext uri="{BB962C8B-B14F-4D97-AF65-F5344CB8AC3E}">
        <p14:creationId xmlns:p14="http://schemas.microsoft.com/office/powerpoint/2010/main" val="2223152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31ED-2868-0AF3-9782-C885949B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Tonemapping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7C51D-E989-D707-006D-520FC1BC4AF5}"/>
              </a:ext>
            </a:extLst>
          </p:cNvPr>
          <p:cNvSpPr txBox="1"/>
          <p:nvPr/>
        </p:nvSpPr>
        <p:spPr>
          <a:xfrm>
            <a:off x="711200" y="1625600"/>
            <a:ext cx="779610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extra precision is only part of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always assume color goes up to 1.0f / 255, as that’s white on the monitor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that’s arbitrary, we can always add more lights, or make our lights brighter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Eg</a:t>
            </a:r>
            <a:r>
              <a:rPr lang="en-US" dirty="0"/>
              <a:t> we can have float3(3.2, 0.9, 0.5) returned from our shader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1.0 is the maximum we can show on our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we solve this?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CEC7B-2506-2C71-74C0-DB18603B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43" y="3193142"/>
            <a:ext cx="5497286" cy="366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12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4593-1E49-2595-E769-A83A83A6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90" y="-269139"/>
            <a:ext cx="10515600" cy="1325563"/>
          </a:xfrm>
        </p:spPr>
        <p:txBody>
          <a:bodyPr/>
          <a:lstStyle/>
          <a:p>
            <a:r>
              <a:rPr lang="en-US" dirty="0" err="1"/>
              <a:t>Tonemapping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8E615-3282-D87B-B96B-FA2D6A4F00A8}"/>
              </a:ext>
            </a:extLst>
          </p:cNvPr>
          <p:cNvSpPr txBox="1"/>
          <p:nvPr/>
        </p:nvSpPr>
        <p:spPr>
          <a:xfrm>
            <a:off x="290287" y="1139372"/>
            <a:ext cx="11534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Tonemapping</a:t>
            </a:r>
            <a:r>
              <a:rPr lang="en-US" dirty="0"/>
              <a:t> is remapping our input colors (intensities) to values used by the display, in a way that doesn’t lose too much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 to remap our values ( from 0.0 to &gt; 1.0)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choose a value that is white. </a:t>
            </a:r>
            <a:r>
              <a:rPr lang="en-US" dirty="0" err="1"/>
              <a:t>Eg</a:t>
            </a:r>
            <a:r>
              <a:rPr lang="en-US" dirty="0"/>
              <a:t>, we say that 64.5 is white. We call it the </a:t>
            </a:r>
            <a:r>
              <a:rPr lang="en-US" b="1" i="1" dirty="0"/>
              <a:t>white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we remap our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simplest way is linear: we divide everything by the </a:t>
            </a:r>
            <a:r>
              <a:rPr lang="en-US" dirty="0" err="1"/>
              <a:t>whitepoint</a:t>
            </a:r>
            <a:r>
              <a:rPr lang="en-US" dirty="0"/>
              <a:t>. </a:t>
            </a:r>
            <a:r>
              <a:rPr lang="en-US" dirty="0" err="1"/>
              <a:t>Eg</a:t>
            </a:r>
            <a:r>
              <a:rPr lang="en-US" dirty="0"/>
              <a:t> 32.25 / 64.5 -&gt;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our </a:t>
            </a:r>
            <a:r>
              <a:rPr lang="en-US" dirty="0" err="1"/>
              <a:t>whitepoint</a:t>
            </a:r>
            <a:r>
              <a:rPr lang="en-US" dirty="0"/>
              <a:t> is too dark, many pixels will be &gt; 1.0: </a:t>
            </a:r>
            <a:r>
              <a:rPr lang="en-US" b="1" i="1" dirty="0"/>
              <a:t>overexposed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our </a:t>
            </a:r>
            <a:r>
              <a:rPr lang="en-US" dirty="0" err="1"/>
              <a:t>whitepoint</a:t>
            </a:r>
            <a:r>
              <a:rPr lang="en-US" dirty="0"/>
              <a:t> is too bright, many pixels will be very small (</a:t>
            </a:r>
            <a:r>
              <a:rPr lang="en-US" dirty="0" err="1"/>
              <a:t>eg</a:t>
            </a:r>
            <a:r>
              <a:rPr lang="en-US" dirty="0"/>
              <a:t> &lt; .3) : </a:t>
            </a:r>
            <a:r>
              <a:rPr lang="en-US" b="1" i="1" dirty="0"/>
              <a:t>underexposed</a:t>
            </a:r>
            <a:endParaRPr lang="en-BE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D581F-3FED-337B-0C13-8EFFC3FEC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5" y="3468571"/>
            <a:ext cx="5084143" cy="338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20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4265-2A4F-60D2-8ABA-B17D677C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C8A8-B8CB-429B-AD14-0ABAE4A8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90" y="-269139"/>
            <a:ext cx="10515600" cy="1325563"/>
          </a:xfrm>
        </p:spPr>
        <p:txBody>
          <a:bodyPr/>
          <a:lstStyle/>
          <a:p>
            <a:r>
              <a:rPr lang="en-US" dirty="0" err="1"/>
              <a:t>Tonemapping</a:t>
            </a:r>
            <a:r>
              <a:rPr lang="en-US" dirty="0"/>
              <a:t> : advanced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EB515-3934-F39B-DE3D-7D051B9A8B56}"/>
              </a:ext>
            </a:extLst>
          </p:cNvPr>
          <p:cNvSpPr txBox="1"/>
          <p:nvPr/>
        </p:nvSpPr>
        <p:spPr>
          <a:xfrm>
            <a:off x="290287" y="1139372"/>
            <a:ext cx="10676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Dividing by the </a:t>
            </a:r>
            <a:r>
              <a:rPr lang="en-US" dirty="0" err="1"/>
              <a:t>whitepoint</a:t>
            </a:r>
            <a:r>
              <a:rPr lang="en-US" dirty="0"/>
              <a:t> is a linear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not ideal, as our values are distributed evenly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difference between 0.2 and 0.4 is much larger than the difference between 0.8 and  1.0 (200% and 25%), but they  get the same amount precision in the display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Luckily, there are more complicated functions that distribute the values (we’ll go in more detail in a next bit) </a:t>
            </a:r>
            <a:endParaRPr lang="en-BE" dirty="0"/>
          </a:p>
        </p:txBody>
      </p:sp>
      <p:pic>
        <p:nvPicPr>
          <p:cNvPr id="5" name="Picture 4" descr="A large ornate building with a dome and stairs&#10;&#10;Description automatically generated with medium confidence">
            <a:extLst>
              <a:ext uri="{FF2B5EF4-FFF2-40B4-BE49-F238E27FC236}">
                <a16:creationId xmlns:a16="http://schemas.microsoft.com/office/drawing/2014/main" id="{377E4EF1-348D-56E6-536E-841209F0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270" y="2766528"/>
            <a:ext cx="2727649" cy="4091474"/>
          </a:xfrm>
          <a:prstGeom prst="rect">
            <a:avLst/>
          </a:prstGeom>
        </p:spPr>
      </p:pic>
      <p:pic>
        <p:nvPicPr>
          <p:cNvPr id="6" name="Picture 5" descr="A large building with stained glass windows&#10;&#10;Description automatically generated">
            <a:extLst>
              <a:ext uri="{FF2B5EF4-FFF2-40B4-BE49-F238E27FC236}">
                <a16:creationId xmlns:a16="http://schemas.microsoft.com/office/drawing/2014/main" id="{C1CE172F-5E9E-625B-CCD7-0720C35A1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19" y="2766528"/>
            <a:ext cx="2727648" cy="4091472"/>
          </a:xfrm>
          <a:prstGeom prst="rect">
            <a:avLst/>
          </a:prstGeom>
        </p:spPr>
      </p:pic>
      <p:pic>
        <p:nvPicPr>
          <p:cNvPr id="7" name="Picture 6" descr="A large ornate building with a round window&#10;&#10;Description automatically generated with medium confidence">
            <a:extLst>
              <a:ext uri="{FF2B5EF4-FFF2-40B4-BE49-F238E27FC236}">
                <a16:creationId xmlns:a16="http://schemas.microsoft.com/office/drawing/2014/main" id="{4FE2890F-10B0-BD85-7B15-4974DA733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024" y="2773653"/>
            <a:ext cx="2722898" cy="4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46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45BF-0BDC-2D25-1F45-34131325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HDR = high dynamic range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FF7C1-8F0D-6BEC-AFFB-2583F4A0EEAF}"/>
              </a:ext>
            </a:extLst>
          </p:cNvPr>
          <p:cNvSpPr txBox="1"/>
          <p:nvPr/>
        </p:nvSpPr>
        <p:spPr>
          <a:xfrm>
            <a:off x="501551" y="1579984"/>
            <a:ext cx="116904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bit of a fuzzy term when you look closely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rendering, your white point is not fixed, and you have better precision than standard 8bit </a:t>
            </a:r>
            <a:r>
              <a:rPr lang="en-US" dirty="0" err="1"/>
              <a:t>rgb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photography, you can use multiple pictures with different exposure and assembled them into an image (</a:t>
            </a:r>
            <a:r>
              <a:rPr lang="en-US" dirty="0" err="1"/>
              <a:t>eg</a:t>
            </a:r>
            <a:r>
              <a:rPr lang="en-US" dirty="0"/>
              <a:t> .</a:t>
            </a:r>
            <a:r>
              <a:rPr lang="en-US" dirty="0" err="1"/>
              <a:t>hdr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monitors, there’s two related but different technologies:</a:t>
            </a:r>
            <a:br>
              <a:rPr lang="en-US" dirty="0"/>
            </a:br>
            <a:r>
              <a:rPr lang="en-US" dirty="0"/>
              <a:t>Accepting higher precision color </a:t>
            </a:r>
            <a:br>
              <a:rPr lang="en-US" dirty="0"/>
            </a:br>
            <a:r>
              <a:rPr lang="en-US" dirty="0"/>
              <a:t>How bright a pixel or region can get (and how big the regions 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stores, they pump the brightness and contrast up to maximum on tv’s and displays to look more “</a:t>
            </a:r>
            <a:r>
              <a:rPr lang="en-US" dirty="0" err="1"/>
              <a:t>hdr</a:t>
            </a:r>
            <a:r>
              <a:rPr lang="en-US" dirty="0"/>
              <a:t>-y”. I hope that now you can see why it’s horrible (and you can fix people’s tv’)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BE330C-CD6B-EC5C-7636-56360340D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" y="4385917"/>
            <a:ext cx="5201376" cy="24720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705DAB-E087-8739-587E-BBD898BA3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28" y="3951292"/>
            <a:ext cx="3730171" cy="290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94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245F-E245-329B-3B33-067C59A7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94" y="-208189"/>
            <a:ext cx="10515600" cy="1325563"/>
          </a:xfrm>
        </p:spPr>
        <p:txBody>
          <a:bodyPr/>
          <a:lstStyle/>
          <a:p>
            <a:r>
              <a:rPr lang="en-US" dirty="0"/>
              <a:t>Important: gamma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739AD-578C-9F8E-D781-A589BD70F74D}"/>
              </a:ext>
            </a:extLst>
          </p:cNvPr>
          <p:cNvSpPr txBox="1"/>
          <p:nvPr/>
        </p:nvSpPr>
        <p:spPr>
          <a:xfrm>
            <a:off x="624114" y="259805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EDB13-A0A2-F3A4-710B-341724EBE130}"/>
              </a:ext>
            </a:extLst>
          </p:cNvPr>
          <p:cNvSpPr txBox="1"/>
          <p:nvPr/>
        </p:nvSpPr>
        <p:spPr>
          <a:xfrm>
            <a:off x="537653" y="943429"/>
            <a:ext cx="114911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much longer than HDR, there has been a ‘hack’ for getting more precision in dark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 a simple function, the gamma curve. It’s a pow curve, usually with exponent  1.0 / 2.2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store images with his curve, as it makes more values in the darker range, taking it from the brighter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happens in all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Loading the image, we convert to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monitor is also non-linear , so we need to use the curve (opposite) again when we send our image to the monitor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do we convert then?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495BAF-B1C0-DEB5-9082-C2FB51CAB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2" y="4248869"/>
            <a:ext cx="6096000" cy="2609131"/>
          </a:xfrm>
          <a:prstGeom prst="rect">
            <a:avLst/>
          </a:prstGeom>
        </p:spPr>
      </p:pic>
      <p:pic>
        <p:nvPicPr>
          <p:cNvPr id="13" name="Picture 1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0B58511-886F-222F-8ABC-FBA076BBB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594" y="4248869"/>
            <a:ext cx="26193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44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A725-910F-D083-8EDA-585D18B0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one is correct?</a:t>
            </a:r>
            <a:endParaRPr lang="en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ECB4FF-75D2-EC47-A877-DADAA494E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2" y="2581279"/>
            <a:ext cx="6807070" cy="415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80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6C7B4-061C-0757-9076-FF2899DC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624F-03A2-EAEB-934A-BC42CCBD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326AE-3EBA-0C00-1F7C-A2F010C1EA67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B3712B-F275-B495-C3E2-8A9292E5D194}"/>
              </a:ext>
            </a:extLst>
          </p:cNvPr>
          <p:cNvCxnSpPr/>
          <p:nvPr/>
        </p:nvCxnSpPr>
        <p:spPr>
          <a:xfrm flipH="1">
            <a:off x="2786742" y="3638940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5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BEF92-4E11-D65B-241D-9E326AE6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7A1C7-CA00-ECD6-B143-BBBF15C0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50D81-AE6D-5B02-77B6-93463B3C1F9B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91262C-50DD-7409-C55A-F8485790B4EC}"/>
              </a:ext>
            </a:extLst>
          </p:cNvPr>
          <p:cNvCxnSpPr/>
          <p:nvPr/>
        </p:nvCxnSpPr>
        <p:spPr>
          <a:xfrm flipH="1">
            <a:off x="3744685" y="4466255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870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D786-F4E1-2D95-999C-53768434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7AB9D-F6E4-6F40-E194-5A8700935577}"/>
              </a:ext>
            </a:extLst>
          </p:cNvPr>
          <p:cNvSpPr txBox="1"/>
          <p:nvPr/>
        </p:nvSpPr>
        <p:spPr>
          <a:xfrm>
            <a:off x="641350" y="1506022"/>
            <a:ext cx="9838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Emphasizes bright areas by “bleeding” into </a:t>
            </a:r>
            <a:r>
              <a:rPr lang="en-US" sz="2400" dirty="0" err="1"/>
              <a:t>neighbouring</a:t>
            </a:r>
            <a:r>
              <a:rPr lang="en-US" sz="2400" dirty="0"/>
              <a:t>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use a blur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Opposite idea: gather pixels around us (why do we need to do the opposite</a:t>
            </a:r>
            <a:endParaRPr lang="en-BE" sz="2400" dirty="0"/>
          </a:p>
        </p:txBody>
      </p:sp>
      <p:pic>
        <p:nvPicPr>
          <p:cNvPr id="5" name="Picture 4" descr="A group of colorful lights&#10;&#10;Description automatically generated">
            <a:extLst>
              <a:ext uri="{FF2B5EF4-FFF2-40B4-BE49-F238E27FC236}">
                <a16:creationId xmlns:a16="http://schemas.microsoft.com/office/drawing/2014/main" id="{3506A05D-59A2-1C11-3BB1-D27231C7E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042" y="3882634"/>
            <a:ext cx="5281957" cy="2943432"/>
          </a:xfrm>
          <a:prstGeom prst="rect">
            <a:avLst/>
          </a:prstGeom>
        </p:spPr>
      </p:pic>
      <p:pic>
        <p:nvPicPr>
          <p:cNvPr id="4" name="Picture 3" descr="A video game screen shot of a person holding a shield and sword&#10;&#10;Description automatically generated">
            <a:extLst>
              <a:ext uri="{FF2B5EF4-FFF2-40B4-BE49-F238E27FC236}">
                <a16:creationId xmlns:a16="http://schemas.microsoft.com/office/drawing/2014/main" id="{C48A5168-8BC6-77EA-12BC-17B671981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9021"/>
            <a:ext cx="6327843" cy="35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3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1392-FA3A-978F-816E-1C7E49C9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as matrix</a:t>
            </a:r>
            <a:endParaRPr lang="en-BE" dirty="0"/>
          </a:p>
        </p:txBody>
      </p:sp>
      <p:pic>
        <p:nvPicPr>
          <p:cNvPr id="4" name="Picture 3" descr="A black and white image of a person's face&#10;&#10;Description automatically generated">
            <a:extLst>
              <a:ext uri="{FF2B5EF4-FFF2-40B4-BE49-F238E27FC236}">
                <a16:creationId xmlns:a16="http://schemas.microsoft.com/office/drawing/2014/main" id="{1346254C-4B70-4825-8482-A94EE12DA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4" y="1873251"/>
            <a:ext cx="10240723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20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2ED5-35FF-EA5B-1A9B-9FA690F5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Blur as a matrix</a:t>
            </a:r>
            <a:endParaRPr lang="en-BE" dirty="0"/>
          </a:p>
        </p:txBody>
      </p:sp>
      <p:pic>
        <p:nvPicPr>
          <p:cNvPr id="4" name="Picture 3" descr="A grid of numbers and a fraction&#10;&#10;Description automatically generated with medium confidence">
            <a:extLst>
              <a:ext uri="{FF2B5EF4-FFF2-40B4-BE49-F238E27FC236}">
                <a16:creationId xmlns:a16="http://schemas.microsoft.com/office/drawing/2014/main" id="{659F71F2-C096-A387-3BBF-D6C3F183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3210222"/>
            <a:ext cx="5511800" cy="43491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01F18C-1060-8B48-3FCC-343C64239D76}"/>
              </a:ext>
            </a:extLst>
          </p:cNvPr>
          <p:cNvSpPr txBox="1"/>
          <p:nvPr/>
        </p:nvSpPr>
        <p:spPr>
          <a:xfrm>
            <a:off x="349250" y="1473200"/>
            <a:ext cx="69104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Center pixel is the pixel we’re working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Number is weight (multiply)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 them all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Left term is normalization (so it doesn’t get brighter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matrix is called a kernel (this is a box blur)</a:t>
            </a:r>
          </a:p>
        </p:txBody>
      </p:sp>
      <p:pic>
        <p:nvPicPr>
          <p:cNvPr id="7" name="Picture 6" descr="A blurry image of a park&#10;&#10;Description automatically generated">
            <a:extLst>
              <a:ext uri="{FF2B5EF4-FFF2-40B4-BE49-F238E27FC236}">
                <a16:creationId xmlns:a16="http://schemas.microsoft.com/office/drawing/2014/main" id="{876B3A68-B3FE-B46A-E082-84B118721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50" y="628947"/>
            <a:ext cx="4560291" cy="607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70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2BD9-399C-4282-09A5-9F69DED2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0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A8374-40E5-4E3C-A43B-B8D93E5D9D5C}"/>
              </a:ext>
            </a:extLst>
          </p:cNvPr>
          <p:cNvSpPr txBox="1"/>
          <p:nvPr/>
        </p:nvSpPr>
        <p:spPr>
          <a:xfrm>
            <a:off x="273156" y="917485"/>
            <a:ext cx="66848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Convolution is applying our kernel to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Sample the texture for each element in the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Normalize</a:t>
            </a:r>
            <a:endParaRPr lang="en-BE" sz="2400" dirty="0"/>
          </a:p>
        </p:txBody>
      </p:sp>
      <p:pic>
        <p:nvPicPr>
          <p:cNvPr id="5" name="Picture 4" descr="A diagram of a diagram of a computer code&#10;&#10;Description automatically generated with medium confidence">
            <a:extLst>
              <a:ext uri="{FF2B5EF4-FFF2-40B4-BE49-F238E27FC236}">
                <a16:creationId xmlns:a16="http://schemas.microsoft.com/office/drawing/2014/main" id="{F7930C91-E757-CD77-45CA-D77B30D49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55" y="2400301"/>
            <a:ext cx="6088758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56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DA55-469B-D02E-7152-1AE9B1AC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blur in code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FF2F9-4D5E-E098-77CC-BAD690759F8F}"/>
              </a:ext>
            </a:extLst>
          </p:cNvPr>
          <p:cNvSpPr txBox="1"/>
          <p:nvPr/>
        </p:nvSpPr>
        <p:spPr>
          <a:xfrm>
            <a:off x="717550" y="1690688"/>
            <a:ext cx="63055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fixed4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</a:t>
            </a:r>
          </a:p>
          <a:p>
            <a:r>
              <a:rPr lang="es-E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s-E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s-E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y = -1; y &lt; 2; ++y)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x = -1; x &lt; 2; ++y)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float2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IN.uv_MainTex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uv.x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* x;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* y;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 += </a:t>
            </a:r>
            <a:r>
              <a:rPr lang="en-US" sz="2400" dirty="0">
                <a:solidFill>
                  <a:srgbClr val="8B008B"/>
                </a:solidFill>
                <a:latin typeface="Cascadia Mono" panose="020B0609020000020004" pitchFamily="49" charset="0"/>
              </a:rPr>
              <a:t>tex2D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c /= 9;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988460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C5E4-1E79-6154-4749-9130FEBD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02" y="0"/>
            <a:ext cx="10515600" cy="1325563"/>
          </a:xfrm>
        </p:spPr>
        <p:txBody>
          <a:bodyPr/>
          <a:lstStyle/>
          <a:p>
            <a:r>
              <a:rPr lang="en-US" dirty="0"/>
              <a:t>Bloom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38235-939E-F764-1736-BB36E5A22728}"/>
              </a:ext>
            </a:extLst>
          </p:cNvPr>
          <p:cNvSpPr txBox="1"/>
          <p:nvPr/>
        </p:nvSpPr>
        <p:spPr>
          <a:xfrm>
            <a:off x="590550" y="848509"/>
            <a:ext cx="49704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Want to blur very bright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keep everything else sharp</a:t>
            </a:r>
            <a:endParaRPr lang="en-BE" sz="2800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5DB2505B-B27F-3A38-1802-85AC8A570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949" y="1802616"/>
            <a:ext cx="8333051" cy="505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19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0051-21F7-35D7-641C-67ABA7C1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</a:t>
            </a:r>
            <a:endParaRPr lang="en-BE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682975C-899B-05D5-36E2-F5D1AE3CC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" y="1543293"/>
            <a:ext cx="12157828" cy="53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8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12B3-8C38-FBF6-473F-E960839A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8CE5D-1224-977C-F961-475992DE7557}"/>
              </a:ext>
            </a:extLst>
          </p:cNvPr>
          <p:cNvSpPr txBox="1"/>
          <p:nvPr/>
        </p:nvSpPr>
        <p:spPr>
          <a:xfrm>
            <a:off x="3568700" y="532696"/>
            <a:ext cx="86233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fixed4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weight = 0;</a:t>
            </a:r>
          </a:p>
          <a:p>
            <a:r>
              <a:rPr lang="es-E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s-E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y = -1; y &lt; 2; ++y)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x = -1; x &lt; 2; ++y)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float2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IN.uv_MainTex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x;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y;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float4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temp = </a:t>
            </a:r>
            <a:r>
              <a:rPr lang="fr-FR" sz="1800" dirty="0">
                <a:solidFill>
                  <a:srgbClr val="8B008B"/>
                </a:solidFill>
                <a:latin typeface="Cascadia Mono" panose="020B0609020000020004" pitchFamily="49" charset="0"/>
              </a:rPr>
              <a:t>tex2D 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BE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28B22"/>
                </a:solidFill>
                <a:latin typeface="Cascadia Mono" panose="020B0609020000020004" pitchFamily="49" charset="0"/>
              </a:rPr>
              <a:t>//only blur bright pixels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8B008B"/>
                </a:solidFill>
                <a:latin typeface="Cascadia Mono" panose="020B0609020000020004" pitchFamily="49" charset="0"/>
              </a:rPr>
              <a:t>dot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temp.xyz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float3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(0.3, 0.59, 0.11) &gt; 10 ||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x == 0 &amp;&amp; y == 0)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weight += 1;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c += temp;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/= 9;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155059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8F53-1516-7898-A301-731159C5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6482-D6F9-8C88-5B10-2384E10C4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5"/>
            <a:ext cx="10515600" cy="1325563"/>
          </a:xfrm>
        </p:spPr>
        <p:txBody>
          <a:bodyPr/>
          <a:lstStyle/>
          <a:p>
            <a:r>
              <a:rPr lang="en-US" dirty="0"/>
              <a:t>Many effects are achieved by using a kernel</a:t>
            </a:r>
            <a:endParaRPr lang="en-BE" dirty="0"/>
          </a:p>
        </p:txBody>
      </p:sp>
      <p:pic>
        <p:nvPicPr>
          <p:cNvPr id="5" name="Picture 4" descr="A number lines with numbers&#10;&#10;Description automatically generated with medium confidence">
            <a:extLst>
              <a:ext uri="{FF2B5EF4-FFF2-40B4-BE49-F238E27FC236}">
                <a16:creationId xmlns:a16="http://schemas.microsoft.com/office/drawing/2014/main" id="{C419AA8A-7A9A-5466-5CC5-0E6638E9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847"/>
            <a:ext cx="12192000" cy="2920306"/>
          </a:xfrm>
          <a:prstGeom prst="rect">
            <a:avLst/>
          </a:prstGeom>
        </p:spPr>
      </p:pic>
      <p:pic>
        <p:nvPicPr>
          <p:cNvPr id="7" name="Picture 6" descr="A collage of a car&#10;&#10;Description automatically generated">
            <a:extLst>
              <a:ext uri="{FF2B5EF4-FFF2-40B4-BE49-F238E27FC236}">
                <a16:creationId xmlns:a16="http://schemas.microsoft.com/office/drawing/2014/main" id="{52B0E225-68FF-AFD9-7B15-D3DF1E050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820" y="4151028"/>
            <a:ext cx="8051130" cy="26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90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80E4-38E8-2B44-5509-DE0C07F1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that our blur is very basic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BD242-4A3B-03B2-D0B0-094D00C48916}"/>
              </a:ext>
            </a:extLst>
          </p:cNvPr>
          <p:cNvSpPr txBox="1"/>
          <p:nvPr/>
        </p:nvSpPr>
        <p:spPr>
          <a:xfrm>
            <a:off x="708349" y="1613118"/>
            <a:ext cx="714721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Realistically: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 3x3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 the same value everywhere (</a:t>
            </a:r>
            <a:r>
              <a:rPr lang="en-US" sz="2800" dirty="0" err="1"/>
              <a:t>eg</a:t>
            </a:r>
            <a:r>
              <a:rPr lang="en-US" sz="2800" dirty="0"/>
              <a:t> Gaussian)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Tricks to make it fast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771602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3F81D-EF1A-70D2-4C11-A7817852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9F3B-638A-C912-46D4-DA926F2A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B55A91-11AC-6EF9-1DCB-DBF32FB0A6AB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281BDA-2B4A-2ADF-7740-89480ACD910C}"/>
              </a:ext>
            </a:extLst>
          </p:cNvPr>
          <p:cNvCxnSpPr/>
          <p:nvPr/>
        </p:nvCxnSpPr>
        <p:spPr>
          <a:xfrm flipH="1">
            <a:off x="4659085" y="4932785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089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31DC-3C94-5F80-6DE0-1E202D4B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B1EFA-BD1C-5E85-E96C-009CECDC9580}"/>
              </a:ext>
            </a:extLst>
          </p:cNvPr>
          <p:cNvSpPr txBox="1"/>
          <p:nvPr/>
        </p:nvSpPr>
        <p:spPr>
          <a:xfrm>
            <a:off x="381000" y="1377950"/>
            <a:ext cx="8434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problems on the left do you see fixed on the right?</a:t>
            </a:r>
            <a:endParaRPr lang="en-BE" sz="2800" dirty="0"/>
          </a:p>
        </p:txBody>
      </p:sp>
      <p:pic>
        <p:nvPicPr>
          <p:cNvPr id="5" name="Picture 4" descr="A collage of spheres&#10;&#10;Description automatically generated">
            <a:extLst>
              <a:ext uri="{FF2B5EF4-FFF2-40B4-BE49-F238E27FC236}">
                <a16:creationId xmlns:a16="http://schemas.microsoft.com/office/drawing/2014/main" id="{579C26E7-157B-E47C-9849-6EFB3CAC3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38400"/>
            <a:ext cx="10198720" cy="38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66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2F59-A790-C04C-3C4A-F60523F1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Ambient occlusion simulates how difficult light reaches an are (not shadows)</a:t>
            </a:r>
            <a:endParaRPr lang="en-BE" dirty="0"/>
          </a:p>
        </p:txBody>
      </p:sp>
      <p:pic>
        <p:nvPicPr>
          <p:cNvPr id="4" name="Picture 3" descr="A diagram of a house with a beam of light&#10;&#10;Description automatically generated">
            <a:extLst>
              <a:ext uri="{FF2B5EF4-FFF2-40B4-BE49-F238E27FC236}">
                <a16:creationId xmlns:a16="http://schemas.microsoft.com/office/drawing/2014/main" id="{F3EFB964-6B91-AFF6-89BD-7EC4AB7B4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2298700"/>
            <a:ext cx="100091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07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5E88-7E75-CE23-CE73-648AC0FA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pixel operation, uses the depth buffer</a:t>
            </a:r>
            <a:endParaRPr lang="en-BE" dirty="0"/>
          </a:p>
        </p:txBody>
      </p:sp>
      <p:pic>
        <p:nvPicPr>
          <p:cNvPr id="4" name="Picture 3" descr="A group of different colored objects&#10;&#10;Description automatically generated with medium confidence">
            <a:extLst>
              <a:ext uri="{FF2B5EF4-FFF2-40B4-BE49-F238E27FC236}">
                <a16:creationId xmlns:a16="http://schemas.microsoft.com/office/drawing/2014/main" id="{531DD31E-271C-BAAA-09DC-DD7B421F0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87" y="2203450"/>
            <a:ext cx="6818347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6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48CA-8B41-33A2-6B5E-B55BCE45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BE" dirty="0"/>
          </a:p>
        </p:txBody>
      </p:sp>
      <p:pic>
        <p:nvPicPr>
          <p:cNvPr id="4" name="Picture 3" descr="A comparison of a landscape&#10;&#10;Description automatically generated">
            <a:extLst>
              <a:ext uri="{FF2B5EF4-FFF2-40B4-BE49-F238E27FC236}">
                <a16:creationId xmlns:a16="http://schemas.microsoft.com/office/drawing/2014/main" id="{76951D4D-F103-D0E0-4522-DE9A38521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2711787"/>
            <a:ext cx="11074400" cy="343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73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2021-2D25-D903-0FDD-089B96E9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results</a:t>
            </a:r>
            <a:endParaRPr lang="en-BE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DB3CC93D-6601-0410-87C2-0222068E5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50" y="1832372"/>
            <a:ext cx="8934449" cy="502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14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6E33-4081-AE3C-AB7C-AAA7CE33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DD8F-98DA-88F7-7833-B5F9042B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23E7D-7B86-37DD-5757-31C9D68F5268}"/>
              </a:ext>
            </a:extLst>
          </p:cNvPr>
          <p:cNvSpPr txBox="1"/>
          <p:nvPr/>
        </p:nvSpPr>
        <p:spPr>
          <a:xfrm>
            <a:off x="989900" y="1690689"/>
            <a:ext cx="87263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Full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HDR (color)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(Bloom (blur))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(Ambient occlusion)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(Night vision (live coding))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BD898-62C5-5A4E-7B8B-9FE11581E94B}"/>
              </a:ext>
            </a:extLst>
          </p:cNvPr>
          <p:cNvCxnSpPr/>
          <p:nvPr/>
        </p:nvCxnSpPr>
        <p:spPr>
          <a:xfrm flipH="1">
            <a:off x="5579705" y="5343332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95518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35534</TotalTime>
  <Words>2044</Words>
  <Application>Microsoft Office PowerPoint</Application>
  <PresentationFormat>Widescreen</PresentationFormat>
  <Paragraphs>304</Paragraphs>
  <Slides>48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Cascadia Mono</vt:lpstr>
      <vt:lpstr>Tahoma</vt:lpstr>
      <vt:lpstr>Wingdings</vt:lpstr>
      <vt:lpstr>Kantoorthema</vt:lpstr>
      <vt:lpstr>PowerPoint Presentation</vt:lpstr>
      <vt:lpstr>Last class: Deferred rendering</vt:lpstr>
      <vt:lpstr>PowerPoint Presentation</vt:lpstr>
      <vt:lpstr>Course schedule</vt:lpstr>
      <vt:lpstr>This class</vt:lpstr>
      <vt:lpstr>I actually forgot to tell you the full pipeline!</vt:lpstr>
      <vt:lpstr>The other 40% : post processing </vt:lpstr>
      <vt:lpstr>This class</vt:lpstr>
      <vt:lpstr>Grayscale</vt:lpstr>
      <vt:lpstr>Obvious solution</vt:lpstr>
      <vt:lpstr>Less obvious</vt:lpstr>
      <vt:lpstr>PowerPoint Presentation</vt:lpstr>
      <vt:lpstr>PowerPoint Presentation</vt:lpstr>
      <vt:lpstr>PowerPoint Presentation</vt:lpstr>
      <vt:lpstr>How would you rank the brightness?</vt:lpstr>
      <vt:lpstr>Better feeling solution</vt:lpstr>
      <vt:lpstr>Recap</vt:lpstr>
      <vt:lpstr>Side by side</vt:lpstr>
      <vt:lpstr>This class</vt:lpstr>
      <vt:lpstr>HDR (tonemapping)</vt:lpstr>
      <vt:lpstr>HDR (tonemapping)</vt:lpstr>
      <vt:lpstr>Color</vt:lpstr>
      <vt:lpstr>HDR is actually about brightness </vt:lpstr>
      <vt:lpstr>Tonemapping</vt:lpstr>
      <vt:lpstr>Tonemapping</vt:lpstr>
      <vt:lpstr>Tonemapping : advanced</vt:lpstr>
      <vt:lpstr>HDR = high dynamic range</vt:lpstr>
      <vt:lpstr>Important: gamma</vt:lpstr>
      <vt:lpstr>Which one is correct?</vt:lpstr>
      <vt:lpstr>This class</vt:lpstr>
      <vt:lpstr>This class</vt:lpstr>
      <vt:lpstr>Bloom</vt:lpstr>
      <vt:lpstr>Image as matrix</vt:lpstr>
      <vt:lpstr>Blur as a matrix</vt:lpstr>
      <vt:lpstr>Convolution</vt:lpstr>
      <vt:lpstr>Box blur in code</vt:lpstr>
      <vt:lpstr>Bloom </vt:lpstr>
      <vt:lpstr>Visually</vt:lpstr>
      <vt:lpstr>Fixed</vt:lpstr>
      <vt:lpstr>Many effects are achieved by using a kernel</vt:lpstr>
      <vt:lpstr>Note that our blur is very basic</vt:lpstr>
      <vt:lpstr>This class</vt:lpstr>
      <vt:lpstr>Problem</vt:lpstr>
      <vt:lpstr>Ambient occlusion simulates how difficult light reaches an are (not shadows)</vt:lpstr>
      <vt:lpstr>Per pixel operation, uses the depth buffer</vt:lpstr>
      <vt:lpstr>Results</vt:lpstr>
      <vt:lpstr>Bad results</vt:lpstr>
      <vt:lpstr>This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126</cp:revision>
  <dcterms:created xsi:type="dcterms:W3CDTF">2024-01-29T23:06:06Z</dcterms:created>
  <dcterms:modified xsi:type="dcterms:W3CDTF">2025-04-30T14:05:11Z</dcterms:modified>
</cp:coreProperties>
</file>