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703" r:id="rId3"/>
    <p:sldId id="625" r:id="rId4"/>
    <p:sldId id="364" r:id="rId5"/>
    <p:sldId id="704" r:id="rId6"/>
    <p:sldId id="705" r:id="rId7"/>
    <p:sldId id="706" r:id="rId8"/>
    <p:sldId id="707" r:id="rId9"/>
    <p:sldId id="708" r:id="rId10"/>
    <p:sldId id="709" r:id="rId11"/>
    <p:sldId id="710" r:id="rId12"/>
    <p:sldId id="711" r:id="rId13"/>
    <p:sldId id="712" r:id="rId14"/>
    <p:sldId id="714" r:id="rId15"/>
    <p:sldId id="564" r:id="rId16"/>
    <p:sldId id="565" r:id="rId17"/>
    <p:sldId id="566" r:id="rId18"/>
    <p:sldId id="567" r:id="rId19"/>
    <p:sldId id="568" r:id="rId20"/>
    <p:sldId id="570" r:id="rId21"/>
    <p:sldId id="573" r:id="rId22"/>
    <p:sldId id="569" r:id="rId23"/>
    <p:sldId id="572" r:id="rId24"/>
    <p:sldId id="574" r:id="rId25"/>
    <p:sldId id="715" r:id="rId26"/>
    <p:sldId id="576" r:id="rId27"/>
    <p:sldId id="577" r:id="rId28"/>
    <p:sldId id="578" r:id="rId29"/>
    <p:sldId id="579" r:id="rId30"/>
    <p:sldId id="580" r:id="rId31"/>
    <p:sldId id="716" r:id="rId3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7979"/>
    <a:srgbClr val="00FF00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7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200" d="100"/>
          <a:sy n="200" d="100"/>
        </p:scale>
        <p:origin x="2046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an Nijs" userId="45a8f2eb-ffa8-4a03-9e48-ecef0e584298" providerId="ADAL" clId="{8E0CA8F1-5CE1-48AD-8F37-DC6B6F209D21}"/>
    <pc:docChg chg="custSel modSld">
      <pc:chgData name="Daan Nijs" userId="45a8f2eb-ffa8-4a03-9e48-ecef0e584298" providerId="ADAL" clId="{8E0CA8F1-5CE1-48AD-8F37-DC6B6F209D21}" dt="2025-04-30T14:05:03.731" v="2" actId="1076"/>
      <pc:docMkLst>
        <pc:docMk/>
      </pc:docMkLst>
      <pc:sldChg chg="addSp delSp modSp mod">
        <pc:chgData name="Daan Nijs" userId="45a8f2eb-ffa8-4a03-9e48-ecef0e584298" providerId="ADAL" clId="{8E0CA8F1-5CE1-48AD-8F37-DC6B6F209D21}" dt="2025-04-30T14:05:03.731" v="2" actId="1076"/>
        <pc:sldMkLst>
          <pc:docMk/>
          <pc:sldMk cId="1905507469" sldId="256"/>
        </pc:sldMkLst>
        <pc:spChg chg="del">
          <ac:chgData name="Daan Nijs" userId="45a8f2eb-ffa8-4a03-9e48-ecef0e584298" providerId="ADAL" clId="{8E0CA8F1-5CE1-48AD-8F37-DC6B6F209D21}" dt="2025-04-30T14:03:14.626" v="0" actId="478"/>
          <ac:spMkLst>
            <pc:docMk/>
            <pc:sldMk cId="1905507469" sldId="256"/>
            <ac:spMk id="13" creationId="{0EC6FE2E-30E5-6C5D-8095-DBBD52210ED6}"/>
          </ac:spMkLst>
        </pc:spChg>
        <pc:picChg chg="add mod">
          <ac:chgData name="Daan Nijs" userId="45a8f2eb-ffa8-4a03-9e48-ecef0e584298" providerId="ADAL" clId="{8E0CA8F1-5CE1-48AD-8F37-DC6B6F209D21}" dt="2025-04-30T14:05:03.731" v="2" actId="1076"/>
          <ac:picMkLst>
            <pc:docMk/>
            <pc:sldMk cId="1905507469" sldId="256"/>
            <ac:picMk id="8" creationId="{BE4B13AA-43F9-F0E4-EDD3-FBCD37F97A3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5886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286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3047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4609A-642F-8796-E5A5-63BF9CC2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0B0AF-88EC-40CE-A37B-5FF45710B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B7B79-4896-D525-E85E-3F42FA2ED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A74DB-9BE2-F695-F870-23DBA60E4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34768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93892-3F31-FF25-64C7-20A2402C0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0262F-E0B2-FBF3-B1C8-1E5B896D0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07F12-C477-30D6-F0F8-40C5908BB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AEF10-3CF5-9250-83A5-F016A5350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59192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CF1D-DC25-FB6A-2495-931EC9327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2D350-D510-C7FC-98BF-89313D888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FD667-E692-E201-C348-D9FB2FC37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7940B-44E4-4D41-5E18-3FC5A1884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71987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04/05/2025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95855" y="5411372"/>
            <a:ext cx="4897688" cy="459582"/>
          </a:xfrm>
        </p:spPr>
        <p:txBody>
          <a:bodyPr>
            <a:normAutofit/>
          </a:bodyPr>
          <a:lstStyle/>
          <a:p>
            <a:r>
              <a:rPr lang="en-US" dirty="0"/>
              <a:t>Week 11: Finite differencing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 + AR</a:t>
            </a:r>
          </a:p>
          <a:p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A51F-3988-D1CA-35CC-2391843A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</a:t>
            </a:r>
            <a:endParaRPr lang="en-BE" dirty="0"/>
          </a:p>
        </p:txBody>
      </p:sp>
      <p:pic>
        <p:nvPicPr>
          <p:cNvPr id="3" name="Picture 2" descr="A large ornate building with a dome and stairs&#10;&#10;Description automatically generated with medium confidence">
            <a:extLst>
              <a:ext uri="{FF2B5EF4-FFF2-40B4-BE49-F238E27FC236}">
                <a16:creationId xmlns:a16="http://schemas.microsoft.com/office/drawing/2014/main" id="{6F2F9D46-310E-D7D2-94E6-71B3BB774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270" y="2766528"/>
            <a:ext cx="2727649" cy="4091474"/>
          </a:xfrm>
          <a:prstGeom prst="rect">
            <a:avLst/>
          </a:prstGeom>
        </p:spPr>
      </p:pic>
      <p:pic>
        <p:nvPicPr>
          <p:cNvPr id="4" name="Picture 3" descr="A large building with stained glass windows&#10;&#10;Description automatically generated">
            <a:extLst>
              <a:ext uri="{FF2B5EF4-FFF2-40B4-BE49-F238E27FC236}">
                <a16:creationId xmlns:a16="http://schemas.microsoft.com/office/drawing/2014/main" id="{B60C019C-3C6D-C1C0-F4E3-2204AB568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19" y="2766528"/>
            <a:ext cx="2727648" cy="4091472"/>
          </a:xfrm>
          <a:prstGeom prst="rect">
            <a:avLst/>
          </a:prstGeom>
        </p:spPr>
      </p:pic>
      <p:pic>
        <p:nvPicPr>
          <p:cNvPr id="5" name="Picture 4" descr="A large ornate building with a round window&#10;&#10;Description automatically generated with medium confidence">
            <a:extLst>
              <a:ext uri="{FF2B5EF4-FFF2-40B4-BE49-F238E27FC236}">
                <a16:creationId xmlns:a16="http://schemas.microsoft.com/office/drawing/2014/main" id="{2FB1ABE0-4B61-5529-8789-C8848322B2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024" y="2773653"/>
            <a:ext cx="2722898" cy="4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50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A932E-E82B-0F40-395E-38460627F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55511"/>
              </p:ext>
            </p:extLst>
          </p:nvPr>
        </p:nvGraphicFramePr>
        <p:xfrm>
          <a:off x="4802155" y="0"/>
          <a:ext cx="6870483" cy="689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521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738203">
                  <a:extLst>
                    <a:ext uri="{9D8B030D-6E8A-4147-A177-3AD203B41FA5}">
                      <a16:colId xmlns:a16="http://schemas.microsoft.com/office/drawing/2014/main" val="1002713060"/>
                    </a:ext>
                  </a:extLst>
                </a:gridCol>
                <a:gridCol w="3102759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397617"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91760"/>
                  </a:ext>
                </a:extLst>
              </a:tr>
              <a:tr h="397617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397617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476418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12605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 / Presentations</a:t>
                      </a:r>
                      <a:endParaRPr lang="en-B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905260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Lights, shadows, camera’s, primary visibility</a:t>
                      </a:r>
                      <a:br>
                        <a:rPr lang="en-US" dirty="0"/>
                      </a:b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Forward rendering</a:t>
                      </a:r>
                      <a:br>
                        <a:rPr lang="en-US" dirty="0"/>
                      </a:b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476418">
                <a:tc>
                  <a:txBody>
                    <a:bodyPr/>
                    <a:lstStyle/>
                    <a:p>
                      <a:r>
                        <a:rPr lang="en-US" dirty="0"/>
                        <a:t>Week 10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Deferred rendering / 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 processing /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397617">
                <a:tc>
                  <a:txBody>
                    <a:bodyPr/>
                    <a:lstStyle/>
                    <a:p>
                      <a:r>
                        <a:rPr lang="en-US" dirty="0"/>
                        <a:t>Week 11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Bonus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Quiz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927756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Rev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7F2239F-9E21-9D30-9311-23FF7A1A3E6B}"/>
              </a:ext>
            </a:extLst>
          </p:cNvPr>
          <p:cNvSpPr/>
          <p:nvPr/>
        </p:nvSpPr>
        <p:spPr>
          <a:xfrm>
            <a:off x="8566676" y="5337109"/>
            <a:ext cx="3006435" cy="5045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4D2B5-CAD3-D831-936C-AB606D88D5FD}"/>
              </a:ext>
            </a:extLst>
          </p:cNvPr>
          <p:cNvSpPr txBox="1"/>
          <p:nvPr/>
        </p:nvSpPr>
        <p:spPr>
          <a:xfrm>
            <a:off x="261256" y="1564357"/>
            <a:ext cx="43107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I’m not sure what to teach on Monday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your struggles in the project?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probably can find a topic that reinforces a lot of what you need to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 we can revise a topic deeply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Tell me!</a:t>
            </a:r>
          </a:p>
        </p:txBody>
      </p:sp>
    </p:spTree>
    <p:extLst>
      <p:ext uri="{BB962C8B-B14F-4D97-AF65-F5344CB8AC3E}">
        <p14:creationId xmlns:p14="http://schemas.microsoft.com/office/powerpoint/2010/main" val="28281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Finite Differencing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Bloom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Ambient Occlusion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2BD5B2-170B-7DD6-EE90-0BDFDEBE15DD}"/>
              </a:ext>
            </a:extLst>
          </p:cNvPr>
          <p:cNvCxnSpPr/>
          <p:nvPr/>
        </p:nvCxnSpPr>
        <p:spPr>
          <a:xfrm flipH="1">
            <a:off x="4236097" y="1990531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AA54C-18AA-379D-23C3-5A6AF39F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differencing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137DD-D0B3-CC9B-3B26-E7889D324B27}"/>
              </a:ext>
            </a:extLst>
          </p:cNvPr>
          <p:cNvSpPr txBox="1"/>
          <p:nvPr/>
        </p:nvSpPr>
        <p:spPr>
          <a:xfrm>
            <a:off x="435429" y="1486677"/>
            <a:ext cx="66122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Solves a very real problem we have in our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Anyone remember which problem? For a coffee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39123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E6561-89B8-0A59-1F5C-472AB900C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BEBE-F89D-452C-44D8-D6A17834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</a:t>
            </a:r>
            <a:r>
              <a:rPr lang="en-US" dirty="0" err="1"/>
              <a:t>normals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473CA9-F168-B39F-F531-A973D9F193A1}"/>
              </a:ext>
            </a:extLst>
          </p:cNvPr>
          <p:cNvSpPr txBox="1"/>
          <p:nvPr/>
        </p:nvSpPr>
        <p:spPr>
          <a:xfrm>
            <a:off x="435429" y="1486677"/>
            <a:ext cx="8163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Because all geometry in a lighted environment needs normal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Anyone know why? For a coffee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552950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056A-B4DD-4013-BF93-95D8C500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</a:t>
            </a:r>
            <a:r>
              <a:rPr lang="en-US" dirty="0" err="1"/>
              <a:t>normals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0B050-1C9A-0DF8-405F-7015B7E0EF3C}"/>
              </a:ext>
            </a:extLst>
          </p:cNvPr>
          <p:cNvSpPr txBox="1"/>
          <p:nvPr/>
        </p:nvSpPr>
        <p:spPr>
          <a:xfrm>
            <a:off x="439866" y="1690688"/>
            <a:ext cx="9412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 light is directional (comes from a certain direction on a certain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Dot(normal, </a:t>
            </a:r>
            <a:r>
              <a:rPr lang="en-US" sz="2400" dirty="0" err="1"/>
              <a:t>light.direction</a:t>
            </a:r>
            <a:r>
              <a:rPr lang="en-US" sz="2400" dirty="0"/>
              <a:t>) tells us how much light lands on the surface</a:t>
            </a:r>
          </a:p>
        </p:txBody>
      </p:sp>
      <p:pic>
        <p:nvPicPr>
          <p:cNvPr id="5" name="Picture 4" descr="A diagram of a beam with a number of light beams&#10;&#10;AI-generated content may be incorrect.">
            <a:extLst>
              <a:ext uri="{FF2B5EF4-FFF2-40B4-BE49-F238E27FC236}">
                <a16:creationId xmlns:a16="http://schemas.microsoft.com/office/drawing/2014/main" id="{BBF8B9B9-3BA9-0BF3-BBC3-70B965840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866" y="2954969"/>
            <a:ext cx="4706000" cy="384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61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5EA87-78F0-BC97-6ADB-8B438550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Normals</a:t>
            </a:r>
            <a:r>
              <a:rPr lang="en-US" dirty="0"/>
              <a:t> : the usual solution</a:t>
            </a:r>
            <a:endParaRPr lang="en-BE" dirty="0"/>
          </a:p>
        </p:txBody>
      </p:sp>
      <p:pic>
        <p:nvPicPr>
          <p:cNvPr id="4" name="Picture 3" descr="A diagram of a triangle with a line and a line&#10;&#10;AI-generated content may be incorrect.">
            <a:extLst>
              <a:ext uri="{FF2B5EF4-FFF2-40B4-BE49-F238E27FC236}">
                <a16:creationId xmlns:a16="http://schemas.microsoft.com/office/drawing/2014/main" id="{31CF1420-FA24-FC44-67EC-065534898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762" y="3059340"/>
            <a:ext cx="4257675" cy="2800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BD3A38-4C7C-E2FF-313F-42E26B138A2E}"/>
              </a:ext>
            </a:extLst>
          </p:cNvPr>
          <p:cNvSpPr txBox="1"/>
          <p:nvPr/>
        </p:nvSpPr>
        <p:spPr>
          <a:xfrm>
            <a:off x="609601" y="1422173"/>
            <a:ext cx="76643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easily calculate the normal of a triangle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By extension, we can also calculate the normal of a vertex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we can’t for the water in our project!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043800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11F1D-BCB0-FE36-1BBF-ED3BB7D1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Normals</a:t>
            </a:r>
            <a:r>
              <a:rPr lang="en-US" dirty="0"/>
              <a:t> : the problem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2B9DBA-F6AA-FDB2-5020-BEF0F99C334B}"/>
              </a:ext>
            </a:extLst>
          </p:cNvPr>
          <p:cNvSpPr txBox="1"/>
          <p:nvPr/>
        </p:nvSpPr>
        <p:spPr>
          <a:xfrm>
            <a:off x="508000" y="1850571"/>
            <a:ext cx="949798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We’re calculating positions in our vertex / pixel shader (for water, portal)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calculating the normal with the dot product, we need 3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in our shaders, we only have access to one vertex / point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ym typeface="Wingdings" panose="05000000000000000000" pitchFamily="2" charset="2"/>
              </a:rPr>
              <a:t>Eg</a:t>
            </a:r>
            <a:r>
              <a:rPr lang="en-US" sz="2400" dirty="0">
                <a:sym typeface="Wingdings" panose="05000000000000000000" pitchFamily="2" charset="2"/>
              </a:rPr>
              <a:t> vertex A has position(0,0,1). What is it’s normal?</a:t>
            </a:r>
            <a:endParaRPr lang="en-BE" sz="2400" dirty="0"/>
          </a:p>
        </p:txBody>
      </p:sp>
      <p:pic>
        <p:nvPicPr>
          <p:cNvPr id="4" name="Picture 3" descr="A diagram of a triangle with a line and a line&#10;&#10;AI-generated content may be incorrect.">
            <a:extLst>
              <a:ext uri="{FF2B5EF4-FFF2-40B4-BE49-F238E27FC236}">
                <a16:creationId xmlns:a16="http://schemas.microsoft.com/office/drawing/2014/main" id="{8CFEFF22-F9C4-F925-B544-73D406271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333" y="4051384"/>
            <a:ext cx="42576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17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82BC-F566-D685-C691-203AAB4B4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Fox example: sin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BA55B-6FCE-1FFA-3D67-04500AA56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37" y="3063875"/>
            <a:ext cx="6377805" cy="3429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2B952B-2679-450B-9C39-D95540A92A36}"/>
              </a:ext>
            </a:extLst>
          </p:cNvPr>
          <p:cNvSpPr txBox="1"/>
          <p:nvPr/>
        </p:nvSpPr>
        <p:spPr>
          <a:xfrm>
            <a:off x="559837" y="1556942"/>
            <a:ext cx="82712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Imagine we’re determining the height of our water using sin(x)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You have one position (and value) to determine the normal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do you do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Especially, without knowing the function is sin? </a:t>
            </a:r>
            <a:endParaRPr lang="en-BE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3B9097-A939-8C91-E80F-AE945D727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462" y="2338874"/>
            <a:ext cx="3849725" cy="384415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CDE02A-A3AF-1F46-FA81-B77BC551E99C}"/>
              </a:ext>
            </a:extLst>
          </p:cNvPr>
          <p:cNvCxnSpPr/>
          <p:nvPr/>
        </p:nvCxnSpPr>
        <p:spPr>
          <a:xfrm flipV="1">
            <a:off x="1866122" y="4304464"/>
            <a:ext cx="0" cy="1878563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E55EC7-8F16-4E9C-D42C-5422DA1E5C4D}"/>
              </a:ext>
            </a:extLst>
          </p:cNvPr>
          <p:cNvCxnSpPr/>
          <p:nvPr/>
        </p:nvCxnSpPr>
        <p:spPr>
          <a:xfrm flipV="1">
            <a:off x="9371045" y="4979437"/>
            <a:ext cx="0" cy="1878563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629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0C715-0B0C-7AE9-7CB5-6707CD85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take two points really close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EB5909-C9A8-C718-7859-AD73A98B5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0" y="1826013"/>
            <a:ext cx="6377805" cy="3429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37975FC-C7F0-8219-CEF8-0528D9229693}"/>
              </a:ext>
            </a:extLst>
          </p:cNvPr>
          <p:cNvCxnSpPr/>
          <p:nvPr/>
        </p:nvCxnSpPr>
        <p:spPr>
          <a:xfrm flipV="1">
            <a:off x="1723053" y="3072823"/>
            <a:ext cx="0" cy="1878563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429FE4-77F7-5B72-0889-BCE280FB968A}"/>
              </a:ext>
            </a:extLst>
          </p:cNvPr>
          <p:cNvCxnSpPr>
            <a:cxnSpLocks/>
          </p:cNvCxnSpPr>
          <p:nvPr/>
        </p:nvCxnSpPr>
        <p:spPr>
          <a:xfrm flipV="1">
            <a:off x="1915885" y="3253215"/>
            <a:ext cx="0" cy="169817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A24B9B6-9671-999A-0103-C021AE36A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462" y="2338874"/>
            <a:ext cx="3849725" cy="384415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55318B-0CAC-4C00-0023-BA70BCB96642}"/>
              </a:ext>
            </a:extLst>
          </p:cNvPr>
          <p:cNvCxnSpPr/>
          <p:nvPr/>
        </p:nvCxnSpPr>
        <p:spPr>
          <a:xfrm flipV="1">
            <a:off x="9352384" y="4817647"/>
            <a:ext cx="0" cy="1878563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75E696-D5AF-1A2A-4AA5-B9EE03425C0E}"/>
              </a:ext>
            </a:extLst>
          </p:cNvPr>
          <p:cNvCxnSpPr>
            <a:cxnSpLocks/>
          </p:cNvCxnSpPr>
          <p:nvPr/>
        </p:nvCxnSpPr>
        <p:spPr>
          <a:xfrm flipV="1">
            <a:off x="9476790" y="5159829"/>
            <a:ext cx="0" cy="1698171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845AD0-4364-087C-4264-392ED9D54E07}"/>
              </a:ext>
            </a:extLst>
          </p:cNvPr>
          <p:cNvCxnSpPr>
            <a:cxnSpLocks/>
          </p:cNvCxnSpPr>
          <p:nvPr/>
        </p:nvCxnSpPr>
        <p:spPr>
          <a:xfrm flipV="1">
            <a:off x="9585647" y="4606154"/>
            <a:ext cx="0" cy="1698171"/>
          </a:xfrm>
          <a:prstGeom prst="straightConnector1">
            <a:avLst/>
          </a:prstGeom>
          <a:ln w="762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569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5697A-0C6C-78DE-9E56-C98B2254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D2C62-59E1-512C-EF74-679D7450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we construct the slope</a:t>
            </a: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03C6B1-7DB4-3FD8-703C-3CE33ABB4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15" y="2068249"/>
            <a:ext cx="4382391" cy="47419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B50D07-8304-72A4-01DB-61CB709ED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907" y="1598645"/>
            <a:ext cx="5682893" cy="465913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A538FF-5651-BB11-FF75-428B10BF58F8}"/>
              </a:ext>
            </a:extLst>
          </p:cNvPr>
          <p:cNvCxnSpPr>
            <a:cxnSpLocks/>
          </p:cNvCxnSpPr>
          <p:nvPr/>
        </p:nvCxnSpPr>
        <p:spPr>
          <a:xfrm>
            <a:off x="2058955" y="3757127"/>
            <a:ext cx="758890" cy="671804"/>
          </a:xfrm>
          <a:prstGeom prst="straightConnector1">
            <a:avLst/>
          </a:prstGeom>
          <a:ln w="76200">
            <a:solidFill>
              <a:srgbClr val="FF79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F02026-CC66-710E-E92D-A4B6A74874FC}"/>
              </a:ext>
            </a:extLst>
          </p:cNvPr>
          <p:cNvCxnSpPr>
            <a:cxnSpLocks/>
          </p:cNvCxnSpPr>
          <p:nvPr/>
        </p:nvCxnSpPr>
        <p:spPr>
          <a:xfrm>
            <a:off x="6941976" y="2998237"/>
            <a:ext cx="419878" cy="1152330"/>
          </a:xfrm>
          <a:prstGeom prst="straightConnector1">
            <a:avLst/>
          </a:prstGeom>
          <a:ln w="762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4AE503-F6E7-1779-D5F4-78BCD6BC0451}"/>
              </a:ext>
            </a:extLst>
          </p:cNvPr>
          <p:cNvCxnSpPr>
            <a:cxnSpLocks/>
          </p:cNvCxnSpPr>
          <p:nvPr/>
        </p:nvCxnSpPr>
        <p:spPr>
          <a:xfrm flipV="1">
            <a:off x="6941976" y="2253040"/>
            <a:ext cx="852195" cy="745197"/>
          </a:xfrm>
          <a:prstGeom prst="straightConnector1">
            <a:avLst/>
          </a:prstGeom>
          <a:ln w="762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E527FB2-E959-81CA-FF42-DEBBE0469A0B}"/>
              </a:ext>
            </a:extLst>
          </p:cNvPr>
          <p:cNvSpPr txBox="1"/>
          <p:nvPr/>
        </p:nvSpPr>
        <p:spPr>
          <a:xfrm>
            <a:off x="329682" y="1460146"/>
            <a:ext cx="541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the vector from our original point to a new point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708623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7E5C-BF8C-31DE-59C3-E61BD0D5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365125"/>
            <a:ext cx="11744130" cy="1325563"/>
          </a:xfrm>
        </p:spPr>
        <p:txBody>
          <a:bodyPr/>
          <a:lstStyle/>
          <a:p>
            <a:r>
              <a:rPr lang="en-US" dirty="0"/>
              <a:t>Using the cross product, we can create the normal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6C71D-92D5-4D3C-3743-72AD3ECC2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64" y="2182729"/>
            <a:ext cx="4347776" cy="460062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755860-B914-2E1A-481D-FD71992D62A5}"/>
              </a:ext>
            </a:extLst>
          </p:cNvPr>
          <p:cNvCxnSpPr>
            <a:cxnSpLocks/>
          </p:cNvCxnSpPr>
          <p:nvPr/>
        </p:nvCxnSpPr>
        <p:spPr>
          <a:xfrm flipV="1">
            <a:off x="1996752" y="3159967"/>
            <a:ext cx="687500" cy="634482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B1B6F33-3F87-E1A5-E3D8-609A1373B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14" y="1960233"/>
            <a:ext cx="6183086" cy="497241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31B63F-85AF-201C-4E99-EC7CF33A510C}"/>
              </a:ext>
            </a:extLst>
          </p:cNvPr>
          <p:cNvCxnSpPr>
            <a:cxnSpLocks/>
          </p:cNvCxnSpPr>
          <p:nvPr/>
        </p:nvCxnSpPr>
        <p:spPr>
          <a:xfrm flipV="1">
            <a:off x="7262328" y="2892490"/>
            <a:ext cx="917509" cy="3452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293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067A-FE66-BA75-04C8-962D6527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9F5E-ABF8-585C-407F-9436C2DBF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B027D-6F79-B845-3A56-575472AE29AD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Finite Differencing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Bloom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Ambient Occlusion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2132C2-BE3E-9442-914D-841A41173F8A}"/>
              </a:ext>
            </a:extLst>
          </p:cNvPr>
          <p:cNvCxnSpPr/>
          <p:nvPr/>
        </p:nvCxnSpPr>
        <p:spPr>
          <a:xfrm flipH="1">
            <a:off x="2680995" y="2388637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243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D786-F4E1-2D95-999C-53768434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7AB9D-F6E4-6F40-E194-5A8700935577}"/>
              </a:ext>
            </a:extLst>
          </p:cNvPr>
          <p:cNvSpPr txBox="1"/>
          <p:nvPr/>
        </p:nvSpPr>
        <p:spPr>
          <a:xfrm>
            <a:off x="641350" y="1506022"/>
            <a:ext cx="9838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Emphasizes bright areas by “bleeding” into </a:t>
            </a:r>
            <a:r>
              <a:rPr lang="en-US" sz="2400" dirty="0" err="1"/>
              <a:t>neighbouring</a:t>
            </a:r>
            <a:r>
              <a:rPr lang="en-US" sz="2400" dirty="0"/>
              <a:t> pixels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use a blur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Opposite idea: gather pixels around us (why do we need to do the opposite</a:t>
            </a:r>
            <a:endParaRPr lang="en-BE" sz="2400" dirty="0"/>
          </a:p>
        </p:txBody>
      </p:sp>
      <p:pic>
        <p:nvPicPr>
          <p:cNvPr id="5" name="Picture 4" descr="A group of colorful lights&#10;&#10;Description automatically generated">
            <a:extLst>
              <a:ext uri="{FF2B5EF4-FFF2-40B4-BE49-F238E27FC236}">
                <a16:creationId xmlns:a16="http://schemas.microsoft.com/office/drawing/2014/main" id="{3506A05D-59A2-1C11-3BB1-D27231C7E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042" y="3882634"/>
            <a:ext cx="5281957" cy="2943432"/>
          </a:xfrm>
          <a:prstGeom prst="rect">
            <a:avLst/>
          </a:prstGeom>
        </p:spPr>
      </p:pic>
      <p:pic>
        <p:nvPicPr>
          <p:cNvPr id="4" name="Picture 3" descr="A video game screen shot of a person holding a shield and sword&#10;&#10;Description automatically generated">
            <a:extLst>
              <a:ext uri="{FF2B5EF4-FFF2-40B4-BE49-F238E27FC236}">
                <a16:creationId xmlns:a16="http://schemas.microsoft.com/office/drawing/2014/main" id="{C48A5168-8BC6-77EA-12BC-17B671981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9021"/>
            <a:ext cx="6327843" cy="355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73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1392-FA3A-978F-816E-1C7E49C9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as matrix</a:t>
            </a:r>
            <a:endParaRPr lang="en-BE" dirty="0"/>
          </a:p>
        </p:txBody>
      </p:sp>
      <p:pic>
        <p:nvPicPr>
          <p:cNvPr id="4" name="Picture 3" descr="A black and white image of a person's face&#10;&#10;Description automatically generated">
            <a:extLst>
              <a:ext uri="{FF2B5EF4-FFF2-40B4-BE49-F238E27FC236}">
                <a16:creationId xmlns:a16="http://schemas.microsoft.com/office/drawing/2014/main" id="{1346254C-4B70-4825-8482-A94EE12DA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4" y="1873251"/>
            <a:ext cx="10240723" cy="42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20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2ED5-35FF-EA5B-1A9B-9FA690F5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Blur as a matrix</a:t>
            </a:r>
            <a:endParaRPr lang="en-BE" dirty="0"/>
          </a:p>
        </p:txBody>
      </p:sp>
      <p:pic>
        <p:nvPicPr>
          <p:cNvPr id="4" name="Picture 3" descr="A grid of numbers and a fraction&#10;&#10;Description automatically generated with medium confidence">
            <a:extLst>
              <a:ext uri="{FF2B5EF4-FFF2-40B4-BE49-F238E27FC236}">
                <a16:creationId xmlns:a16="http://schemas.microsoft.com/office/drawing/2014/main" id="{659F71F2-C096-A387-3BBF-D6C3F183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0" y="3210222"/>
            <a:ext cx="5511800" cy="43491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01F18C-1060-8B48-3FCC-343C64239D76}"/>
              </a:ext>
            </a:extLst>
          </p:cNvPr>
          <p:cNvSpPr txBox="1"/>
          <p:nvPr/>
        </p:nvSpPr>
        <p:spPr>
          <a:xfrm>
            <a:off x="349250" y="1473200"/>
            <a:ext cx="691041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Center pixel is the pixel we’re working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Number is weight (multiply)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Add them all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Left term is normalization (so it doesn’t get brighter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matrix is called a kernel (this is a box blur)</a:t>
            </a:r>
          </a:p>
        </p:txBody>
      </p:sp>
      <p:pic>
        <p:nvPicPr>
          <p:cNvPr id="7" name="Picture 6" descr="A blurry image of a park&#10;&#10;Description automatically generated">
            <a:extLst>
              <a:ext uri="{FF2B5EF4-FFF2-40B4-BE49-F238E27FC236}">
                <a16:creationId xmlns:a16="http://schemas.microsoft.com/office/drawing/2014/main" id="{876B3A68-B3FE-B46A-E082-84B118721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150" y="628947"/>
            <a:ext cx="4560291" cy="607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70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2BD9-399C-4282-09A5-9F69DED2A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0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A8374-40E5-4E3C-A43B-B8D93E5D9D5C}"/>
              </a:ext>
            </a:extLst>
          </p:cNvPr>
          <p:cNvSpPr txBox="1"/>
          <p:nvPr/>
        </p:nvSpPr>
        <p:spPr>
          <a:xfrm>
            <a:off x="273156" y="917485"/>
            <a:ext cx="66848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Convolution is applying our kernel to the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each pixel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Sample the texture for each element in the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Normalize</a:t>
            </a:r>
            <a:endParaRPr lang="en-BE" sz="2400" dirty="0"/>
          </a:p>
        </p:txBody>
      </p:sp>
      <p:pic>
        <p:nvPicPr>
          <p:cNvPr id="5" name="Picture 4" descr="A diagram of a diagram of a computer code&#10;&#10;Description automatically generated with medium confidence">
            <a:extLst>
              <a:ext uri="{FF2B5EF4-FFF2-40B4-BE49-F238E27FC236}">
                <a16:creationId xmlns:a16="http://schemas.microsoft.com/office/drawing/2014/main" id="{F7930C91-E757-CD77-45CA-D77B30D49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855" y="2400301"/>
            <a:ext cx="6088758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56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DA55-469B-D02E-7152-1AE9B1AC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blur in code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FF2F9-4D5E-E098-77CC-BAD690759F8F}"/>
              </a:ext>
            </a:extLst>
          </p:cNvPr>
          <p:cNvSpPr txBox="1"/>
          <p:nvPr/>
        </p:nvSpPr>
        <p:spPr>
          <a:xfrm>
            <a:off x="717550" y="1690688"/>
            <a:ext cx="63055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fixed4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</a:t>
            </a:r>
          </a:p>
          <a:p>
            <a:r>
              <a:rPr lang="es-E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s-E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s-E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E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y = -1; y &lt; 2; ++y)</a:t>
            </a:r>
          </a:p>
          <a:p>
            <a:r>
              <a:rPr lang="en-BE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x = -1; x &lt; 2; ++y)</a:t>
            </a:r>
          </a:p>
          <a:p>
            <a:r>
              <a:rPr lang="en-BE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float2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IN.uv_MainTex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uv.x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pixelSize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* x;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uv.y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pixelSize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* y;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 += </a:t>
            </a:r>
            <a:r>
              <a:rPr lang="en-US" sz="2400" dirty="0">
                <a:solidFill>
                  <a:srgbClr val="8B008B"/>
                </a:solidFill>
                <a:latin typeface="Cascadia Mono" panose="020B0609020000020004" pitchFamily="49" charset="0"/>
              </a:rPr>
              <a:t>tex2D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(_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MainTex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BE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BE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c /= 9;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988460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C5E4-1E79-6154-4749-9130FEBD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02" y="0"/>
            <a:ext cx="10515600" cy="1325563"/>
          </a:xfrm>
        </p:spPr>
        <p:txBody>
          <a:bodyPr/>
          <a:lstStyle/>
          <a:p>
            <a:r>
              <a:rPr lang="en-US" dirty="0"/>
              <a:t>Bloom 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38235-939E-F764-1736-BB36E5A22728}"/>
              </a:ext>
            </a:extLst>
          </p:cNvPr>
          <p:cNvSpPr txBox="1"/>
          <p:nvPr/>
        </p:nvSpPr>
        <p:spPr>
          <a:xfrm>
            <a:off x="590550" y="848509"/>
            <a:ext cx="49704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Want to blur very bright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But keep everything else sharp</a:t>
            </a:r>
            <a:endParaRPr lang="en-BE" sz="2800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5DB2505B-B27F-3A38-1802-85AC8A570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949" y="1802616"/>
            <a:ext cx="8333051" cy="505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19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0051-21F7-35D7-641C-67ABA7C1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Visually</a:t>
            </a:r>
            <a:endParaRPr lang="en-BE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682975C-899B-05D5-36E2-F5D1AE3CC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50" y="1543293"/>
            <a:ext cx="12157828" cy="531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8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12B3-8C38-FBF6-473F-E960839A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8CE5D-1224-977C-F961-475992DE7557}"/>
              </a:ext>
            </a:extLst>
          </p:cNvPr>
          <p:cNvSpPr txBox="1"/>
          <p:nvPr/>
        </p:nvSpPr>
        <p:spPr>
          <a:xfrm>
            <a:off x="3568700" y="532696"/>
            <a:ext cx="86233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fixed4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weight = 0;</a:t>
            </a:r>
          </a:p>
          <a:p>
            <a:r>
              <a:rPr lang="es-E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s-E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y = -1; y &lt; 2; ++y)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x = -1; x &lt; 2; ++y)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float2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IN.uv_MainTex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uv.x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pixelSize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* x;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uv.y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pixelSize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* y;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float4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temp = </a:t>
            </a:r>
            <a:r>
              <a:rPr lang="fr-FR" sz="1800" dirty="0">
                <a:solidFill>
                  <a:srgbClr val="8B008B"/>
                </a:solidFill>
                <a:latin typeface="Cascadia Mono" panose="020B0609020000020004" pitchFamily="49" charset="0"/>
              </a:rPr>
              <a:t>tex2D 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(_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MainTex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uv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BE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28B22"/>
                </a:solidFill>
                <a:latin typeface="Cascadia Mono" panose="020B0609020000020004" pitchFamily="49" charset="0"/>
              </a:rPr>
              <a:t>//only blur bright pixels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8B008B"/>
                </a:solidFill>
                <a:latin typeface="Cascadia Mono" panose="020B0609020000020004" pitchFamily="49" charset="0"/>
              </a:rPr>
              <a:t>dot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temp.xyz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float3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(0.3, 0.59, 0.11) &gt; 10 || 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x == 0 &amp;&amp; y == 0)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weight += 1;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c += temp;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 /= 9;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15505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18F53-1516-7898-A301-731159C5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6482-D6F9-8C88-5B10-2384E10C4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5"/>
            <a:ext cx="10515600" cy="1325563"/>
          </a:xfrm>
        </p:spPr>
        <p:txBody>
          <a:bodyPr/>
          <a:lstStyle/>
          <a:p>
            <a:r>
              <a:rPr lang="en-US" dirty="0"/>
              <a:t>Many effects are achieved by using a kernel</a:t>
            </a:r>
            <a:endParaRPr lang="en-BE" dirty="0"/>
          </a:p>
        </p:txBody>
      </p:sp>
      <p:pic>
        <p:nvPicPr>
          <p:cNvPr id="5" name="Picture 4" descr="A number lines with numbers&#10;&#10;Description automatically generated with medium confidence">
            <a:extLst>
              <a:ext uri="{FF2B5EF4-FFF2-40B4-BE49-F238E27FC236}">
                <a16:creationId xmlns:a16="http://schemas.microsoft.com/office/drawing/2014/main" id="{C419AA8A-7A9A-5466-5CC5-0E6638E95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847"/>
            <a:ext cx="12192000" cy="2920306"/>
          </a:xfrm>
          <a:prstGeom prst="rect">
            <a:avLst/>
          </a:prstGeom>
        </p:spPr>
      </p:pic>
      <p:pic>
        <p:nvPicPr>
          <p:cNvPr id="7" name="Picture 6" descr="A collage of a car&#10;&#10;Description automatically generated">
            <a:extLst>
              <a:ext uri="{FF2B5EF4-FFF2-40B4-BE49-F238E27FC236}">
                <a16:creationId xmlns:a16="http://schemas.microsoft.com/office/drawing/2014/main" id="{52B0E225-68FF-AFD9-7B15-D3DF1E050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820" y="4151028"/>
            <a:ext cx="8051130" cy="261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90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580E4-38E8-2B44-5509-DE0C07F16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that our blur is very basic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BD242-4A3B-03B2-D0B0-094D00C48916}"/>
              </a:ext>
            </a:extLst>
          </p:cNvPr>
          <p:cNvSpPr txBox="1"/>
          <p:nvPr/>
        </p:nvSpPr>
        <p:spPr>
          <a:xfrm>
            <a:off x="708349" y="1613118"/>
            <a:ext cx="714721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Realistically: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Not 3x3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Not the same value everywhere (</a:t>
            </a:r>
            <a:r>
              <a:rPr lang="en-US" sz="2800" dirty="0" err="1"/>
              <a:t>eg</a:t>
            </a:r>
            <a:r>
              <a:rPr lang="en-US" sz="2800" dirty="0"/>
              <a:t> Gaussian)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Tricks to make it fast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771602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B88D-41BD-0A82-D0B6-7448A2E7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D894A-21DF-152F-38D5-7954A573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D6DDB-B473-5EFE-4CC5-00F6796FEA50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Finite Differencing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Bloom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Ambient Occlusion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3DAFC3-6E09-E4AE-EBD0-567277C4AE1D}"/>
              </a:ext>
            </a:extLst>
          </p:cNvPr>
          <p:cNvCxnSpPr/>
          <p:nvPr/>
        </p:nvCxnSpPr>
        <p:spPr>
          <a:xfrm flipH="1">
            <a:off x="4335624" y="2811625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57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31DC-3C94-5F80-6DE0-1E202D4B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B1EFA-BD1C-5E85-E96C-009CECDC9580}"/>
              </a:ext>
            </a:extLst>
          </p:cNvPr>
          <p:cNvSpPr txBox="1"/>
          <p:nvPr/>
        </p:nvSpPr>
        <p:spPr>
          <a:xfrm>
            <a:off x="381000" y="1377950"/>
            <a:ext cx="8434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problems on the left do you see fixed on the right?</a:t>
            </a:r>
            <a:endParaRPr lang="en-BE" sz="2800" dirty="0"/>
          </a:p>
        </p:txBody>
      </p:sp>
      <p:pic>
        <p:nvPicPr>
          <p:cNvPr id="5" name="Picture 4" descr="A collage of spheres&#10;&#10;Description automatically generated">
            <a:extLst>
              <a:ext uri="{FF2B5EF4-FFF2-40B4-BE49-F238E27FC236}">
                <a16:creationId xmlns:a16="http://schemas.microsoft.com/office/drawing/2014/main" id="{579C26E7-157B-E47C-9849-6EFB3CAC3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438400"/>
            <a:ext cx="10198720" cy="386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866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2F59-A790-C04C-3C4A-F60523F1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Ambient occlusion simulates how difficult light reaches an are (not shadows)</a:t>
            </a:r>
            <a:endParaRPr lang="en-BE" dirty="0"/>
          </a:p>
        </p:txBody>
      </p:sp>
      <p:pic>
        <p:nvPicPr>
          <p:cNvPr id="4" name="Picture 3" descr="A diagram of a house with a beam of light&#10;&#10;Description automatically generated">
            <a:extLst>
              <a:ext uri="{FF2B5EF4-FFF2-40B4-BE49-F238E27FC236}">
                <a16:creationId xmlns:a16="http://schemas.microsoft.com/office/drawing/2014/main" id="{F3EFB964-6B91-AFF6-89BD-7EC4AB7B4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25" y="2298700"/>
            <a:ext cx="100091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07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5E88-7E75-CE23-CE73-648AC0FA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pixel operation, uses the depth buffer</a:t>
            </a:r>
            <a:endParaRPr lang="en-BE" dirty="0"/>
          </a:p>
        </p:txBody>
      </p:sp>
      <p:pic>
        <p:nvPicPr>
          <p:cNvPr id="4" name="Picture 3" descr="A group of different colored objects&#10;&#10;Description automatically generated with medium confidence">
            <a:extLst>
              <a:ext uri="{FF2B5EF4-FFF2-40B4-BE49-F238E27FC236}">
                <a16:creationId xmlns:a16="http://schemas.microsoft.com/office/drawing/2014/main" id="{531DD31E-271C-BAAA-09DC-DD7B421F0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687" y="2203450"/>
            <a:ext cx="6818347" cy="44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368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48CA-8B41-33A2-6B5E-B55BCE45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BE" dirty="0"/>
          </a:p>
        </p:txBody>
      </p:sp>
      <p:pic>
        <p:nvPicPr>
          <p:cNvPr id="4" name="Picture 3" descr="A comparison of a landscape&#10;&#10;Description automatically generated">
            <a:extLst>
              <a:ext uri="{FF2B5EF4-FFF2-40B4-BE49-F238E27FC236}">
                <a16:creationId xmlns:a16="http://schemas.microsoft.com/office/drawing/2014/main" id="{76951D4D-F103-D0E0-4522-DE9A38521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2711787"/>
            <a:ext cx="11074400" cy="343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73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02021-2D25-D903-0FDD-089B96E9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results</a:t>
            </a:r>
            <a:endParaRPr lang="en-BE" dirty="0"/>
          </a:p>
        </p:txBody>
      </p:sp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DB3CC93D-6601-0410-87C2-0222068E5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550" y="1832372"/>
            <a:ext cx="8934449" cy="502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14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344E7-EBAF-E3FB-A53D-3A6336FF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5E72-0F16-6BD8-B6CA-8A3756EE3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21FE2-3708-F4B0-034A-3212254BB8CD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Finite Differencing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Bloom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Ambient Occlusion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06BD76-C63A-27D3-BDB6-8E1767C8ACCD}"/>
              </a:ext>
            </a:extLst>
          </p:cNvPr>
          <p:cNvCxnSpPr/>
          <p:nvPr/>
        </p:nvCxnSpPr>
        <p:spPr>
          <a:xfrm flipH="1">
            <a:off x="2183363" y="3278155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74721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35613</TotalTime>
  <Words>817</Words>
  <Application>Microsoft Office PowerPoint</Application>
  <PresentationFormat>Widescreen</PresentationFormat>
  <Paragraphs>163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Cascadia Mono</vt:lpstr>
      <vt:lpstr>Tahoma</vt:lpstr>
      <vt:lpstr>Wingdings</vt:lpstr>
      <vt:lpstr>Kantoorthema</vt:lpstr>
      <vt:lpstr>PowerPoint Presentation</vt:lpstr>
      <vt:lpstr>Last week</vt:lpstr>
      <vt:lpstr>Course schedule</vt:lpstr>
      <vt:lpstr>This class</vt:lpstr>
      <vt:lpstr>Finite differencing</vt:lpstr>
      <vt:lpstr>We need normals</vt:lpstr>
      <vt:lpstr>We need normals</vt:lpstr>
      <vt:lpstr>Normals : the usual solution</vt:lpstr>
      <vt:lpstr>Normals : the problem</vt:lpstr>
      <vt:lpstr>Fox example: sin</vt:lpstr>
      <vt:lpstr>We take two points really close</vt:lpstr>
      <vt:lpstr>Now we construct the slope</vt:lpstr>
      <vt:lpstr>Using the cross product, we can create the normal</vt:lpstr>
      <vt:lpstr>This class</vt:lpstr>
      <vt:lpstr>Bloom</vt:lpstr>
      <vt:lpstr>Image as matrix</vt:lpstr>
      <vt:lpstr>Blur as a matrix</vt:lpstr>
      <vt:lpstr>Convolution</vt:lpstr>
      <vt:lpstr>Box blur in code</vt:lpstr>
      <vt:lpstr>Bloom </vt:lpstr>
      <vt:lpstr>Visually</vt:lpstr>
      <vt:lpstr>Fixed</vt:lpstr>
      <vt:lpstr>Many effects are achieved by using a kernel</vt:lpstr>
      <vt:lpstr>Note that our blur is very basic</vt:lpstr>
      <vt:lpstr>This class</vt:lpstr>
      <vt:lpstr>Problem</vt:lpstr>
      <vt:lpstr>Ambient occlusion simulates how difficult light reaches an are (not shadows)</vt:lpstr>
      <vt:lpstr>Per pixel operation, uses the depth buffer</vt:lpstr>
      <vt:lpstr>Results</vt:lpstr>
      <vt:lpstr>Bad results</vt:lpstr>
      <vt:lpstr>This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129</cp:revision>
  <dcterms:created xsi:type="dcterms:W3CDTF">2024-01-29T23:06:06Z</dcterms:created>
  <dcterms:modified xsi:type="dcterms:W3CDTF">2025-05-04T22:50:48Z</dcterms:modified>
</cp:coreProperties>
</file>