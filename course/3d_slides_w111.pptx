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683" r:id="rId3"/>
    <p:sldId id="625" r:id="rId4"/>
    <p:sldId id="364" r:id="rId5"/>
    <p:sldId id="686" r:id="rId6"/>
    <p:sldId id="684" r:id="rId7"/>
    <p:sldId id="687" r:id="rId8"/>
    <p:sldId id="685" r:id="rId9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FF00"/>
    <a:srgbClr val="0000FF"/>
    <a:srgbClr val="FF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89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132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200" d="100"/>
          <a:sy n="200" d="100"/>
        </p:scale>
        <p:origin x="2046" y="1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an Nijs" userId="45a8f2eb-ffa8-4a03-9e48-ecef0e584298" providerId="ADAL" clId="{8E0CA8F1-5CE1-48AD-8F37-DC6B6F209D21}"/>
    <pc:docChg chg="custSel modSld">
      <pc:chgData name="Daan Nijs" userId="45a8f2eb-ffa8-4a03-9e48-ecef0e584298" providerId="ADAL" clId="{8E0CA8F1-5CE1-48AD-8F37-DC6B6F209D21}" dt="2025-04-30T14:05:03.731" v="2" actId="1076"/>
      <pc:docMkLst>
        <pc:docMk/>
      </pc:docMkLst>
      <pc:sldChg chg="addSp delSp modSp mod">
        <pc:chgData name="Daan Nijs" userId="45a8f2eb-ffa8-4a03-9e48-ecef0e584298" providerId="ADAL" clId="{8E0CA8F1-5CE1-48AD-8F37-DC6B6F209D21}" dt="2025-04-30T14:05:03.731" v="2" actId="1076"/>
        <pc:sldMkLst>
          <pc:docMk/>
          <pc:sldMk cId="1905507469" sldId="256"/>
        </pc:sldMkLst>
        <pc:spChg chg="del">
          <ac:chgData name="Daan Nijs" userId="45a8f2eb-ffa8-4a03-9e48-ecef0e584298" providerId="ADAL" clId="{8E0CA8F1-5CE1-48AD-8F37-DC6B6F209D21}" dt="2025-04-30T14:03:14.626" v="0" actId="478"/>
          <ac:spMkLst>
            <pc:docMk/>
            <pc:sldMk cId="1905507469" sldId="256"/>
            <ac:spMk id="13" creationId="{0EC6FE2E-30E5-6C5D-8095-DBBD52210ED6}"/>
          </ac:spMkLst>
        </pc:spChg>
        <pc:picChg chg="add mod">
          <ac:chgData name="Daan Nijs" userId="45a8f2eb-ffa8-4a03-9e48-ecef0e584298" providerId="ADAL" clId="{8E0CA8F1-5CE1-48AD-8F37-DC6B6F209D21}" dt="2025-04-30T14:05:03.731" v="2" actId="1076"/>
          <ac:picMkLst>
            <pc:docMk/>
            <pc:sldMk cId="1905507469" sldId="256"/>
            <ac:picMk id="8" creationId="{BE4B13AA-43F9-F0E4-EDD3-FBCD37F97A3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484BD-A9A3-4CBB-88D6-39267B7F5B46}" type="datetimeFigureOut">
              <a:rPr lang="en-BE" smtClean="0"/>
              <a:t>07/05/2025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7F9D2B-EF00-4575-9013-113DEEFD58F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0835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58860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928646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73047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5537D-E08E-636E-7968-4229B2E3B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57D549-8FDB-34F5-471E-A7D8ECFD96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B36277-24FC-06E0-94AB-912FEB9D0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03362-36D3-D703-0B8E-02A9A5A08C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63107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4556A-88EA-FBE6-F03D-D0386EB3B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CFF42D-B11E-F948-1FAB-4B37A9A1B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2A0E0-BFCA-8EDA-BEBD-537D1379D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7D15C-7884-2CA4-8AEB-0C3B3FA7EA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0203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1A99A4F-35CE-47F0-8C3E-203AE0949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640" y="203420"/>
            <a:ext cx="3297850" cy="126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Ondertitel 2">
            <a:extLst>
              <a:ext uri="{FF2B5EF4-FFF2-40B4-BE49-F238E27FC236}">
                <a16:creationId xmlns:a16="http://schemas.microsoft.com/office/drawing/2014/main" id="{7A68A714-4E45-4A04-B828-B282FA62E7BB}"/>
              </a:ext>
            </a:extLst>
          </p:cNvPr>
          <p:cNvSpPr txBox="1">
            <a:spLocks/>
          </p:cNvSpPr>
          <p:nvPr/>
        </p:nvSpPr>
        <p:spPr>
          <a:xfrm>
            <a:off x="1450282" y="5343926"/>
            <a:ext cx="4074659" cy="5547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28" name="Ondertitel 2">
            <a:extLst>
              <a:ext uri="{FF2B5EF4-FFF2-40B4-BE49-F238E27FC236}">
                <a16:creationId xmlns:a16="http://schemas.microsoft.com/office/drawing/2014/main" id="{8A446F7F-F106-4612-85BC-FC020C0B34DC}"/>
              </a:ext>
            </a:extLst>
          </p:cNvPr>
          <p:cNvSpPr txBox="1">
            <a:spLocks/>
          </p:cNvSpPr>
          <p:nvPr/>
        </p:nvSpPr>
        <p:spPr>
          <a:xfrm>
            <a:off x="1450282" y="5898693"/>
            <a:ext cx="4074659" cy="5547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36" name="Ondertitel 2">
            <a:extLst>
              <a:ext uri="{FF2B5EF4-FFF2-40B4-BE49-F238E27FC236}">
                <a16:creationId xmlns:a16="http://schemas.microsoft.com/office/drawing/2014/main" id="{DB1150AE-9B1F-43AF-B4A6-C1581C0B3127}"/>
              </a:ext>
            </a:extLst>
          </p:cNvPr>
          <p:cNvSpPr txBox="1">
            <a:spLocks/>
          </p:cNvSpPr>
          <p:nvPr/>
        </p:nvSpPr>
        <p:spPr>
          <a:xfrm>
            <a:off x="1" y="462498"/>
            <a:ext cx="1853738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200" dirty="0"/>
              <a:t>Toegepaste Informatica</a:t>
            </a:r>
          </a:p>
        </p:txBody>
      </p:sp>
      <p:sp>
        <p:nvSpPr>
          <p:cNvPr id="38" name="Minteken 37">
            <a:extLst>
              <a:ext uri="{FF2B5EF4-FFF2-40B4-BE49-F238E27FC236}">
                <a16:creationId xmlns:a16="http://schemas.microsoft.com/office/drawing/2014/main" id="{FFEC5E01-43EA-497E-BCC0-939DBCAFA0AC}"/>
              </a:ext>
            </a:extLst>
          </p:cNvPr>
          <p:cNvSpPr/>
          <p:nvPr/>
        </p:nvSpPr>
        <p:spPr>
          <a:xfrm rot="5400000">
            <a:off x="-183168" y="5307680"/>
            <a:ext cx="2851263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1" name="Ondertitel 2">
            <a:extLst>
              <a:ext uri="{FF2B5EF4-FFF2-40B4-BE49-F238E27FC236}">
                <a16:creationId xmlns:a16="http://schemas.microsoft.com/office/drawing/2014/main" id="{DCD259FC-79B5-41AB-BBC2-4D07C62B0949}"/>
              </a:ext>
            </a:extLst>
          </p:cNvPr>
          <p:cNvSpPr txBox="1">
            <a:spLocks/>
          </p:cNvSpPr>
          <p:nvPr/>
        </p:nvSpPr>
        <p:spPr>
          <a:xfrm>
            <a:off x="-31204" y="1442735"/>
            <a:ext cx="1481486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200" kern="1200" cap="none" baseline="0" dirty="0">
              <a:solidFill>
                <a:srgbClr val="002757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Minteken 41">
            <a:extLst>
              <a:ext uri="{FF2B5EF4-FFF2-40B4-BE49-F238E27FC236}">
                <a16:creationId xmlns:a16="http://schemas.microsoft.com/office/drawing/2014/main" id="{FB0D61FF-F819-41D6-9F0E-2A87A96AF34A}"/>
              </a:ext>
            </a:extLst>
          </p:cNvPr>
          <p:cNvSpPr/>
          <p:nvPr/>
        </p:nvSpPr>
        <p:spPr>
          <a:xfrm>
            <a:off x="-353435" y="166756"/>
            <a:ext cx="2776160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3" name="Minteken 42">
            <a:extLst>
              <a:ext uri="{FF2B5EF4-FFF2-40B4-BE49-F238E27FC236}">
                <a16:creationId xmlns:a16="http://schemas.microsoft.com/office/drawing/2014/main" id="{1A9D60B7-98CA-44B4-A342-238265272E5D}"/>
              </a:ext>
            </a:extLst>
          </p:cNvPr>
          <p:cNvSpPr/>
          <p:nvPr/>
        </p:nvSpPr>
        <p:spPr>
          <a:xfrm>
            <a:off x="-221962" y="626338"/>
            <a:ext cx="1762587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4" name="Minteken 43">
            <a:extLst>
              <a:ext uri="{FF2B5EF4-FFF2-40B4-BE49-F238E27FC236}">
                <a16:creationId xmlns:a16="http://schemas.microsoft.com/office/drawing/2014/main" id="{2AD40B60-09F3-42CA-BFC7-F232D5069233}"/>
              </a:ext>
            </a:extLst>
          </p:cNvPr>
          <p:cNvSpPr/>
          <p:nvPr/>
        </p:nvSpPr>
        <p:spPr>
          <a:xfrm>
            <a:off x="-155460" y="1111987"/>
            <a:ext cx="1256606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14" name="Ondertitel 2">
            <a:extLst>
              <a:ext uri="{FF2B5EF4-FFF2-40B4-BE49-F238E27FC236}">
                <a16:creationId xmlns:a16="http://schemas.microsoft.com/office/drawing/2014/main" id="{DA9D40DB-B7E8-4A33-B5FB-9DD5105C49A1}"/>
              </a:ext>
            </a:extLst>
          </p:cNvPr>
          <p:cNvSpPr txBox="1">
            <a:spLocks/>
          </p:cNvSpPr>
          <p:nvPr/>
        </p:nvSpPr>
        <p:spPr>
          <a:xfrm>
            <a:off x="-31204" y="957086"/>
            <a:ext cx="1853738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200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684198A2-C59F-4C38-9F72-765E48FA82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5855" y="4825632"/>
            <a:ext cx="1853739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3D Graphics</a:t>
            </a:r>
          </a:p>
        </p:txBody>
      </p:sp>
      <p:sp>
        <p:nvSpPr>
          <p:cNvPr id="29" name="Tijdelijke aanduiding voor tekst 11">
            <a:extLst>
              <a:ext uri="{FF2B5EF4-FFF2-40B4-BE49-F238E27FC236}">
                <a16:creationId xmlns:a16="http://schemas.microsoft.com/office/drawing/2014/main" id="{9B9004F5-4339-48FE-B04B-599527A635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95855" y="5411372"/>
            <a:ext cx="4594995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Week 1a</a:t>
            </a:r>
          </a:p>
        </p:txBody>
      </p:sp>
      <p:sp>
        <p:nvSpPr>
          <p:cNvPr id="30" name="Tijdelijke aanduiding voor tekst 11">
            <a:extLst>
              <a:ext uri="{FF2B5EF4-FFF2-40B4-BE49-F238E27FC236}">
                <a16:creationId xmlns:a16="http://schemas.microsoft.com/office/drawing/2014/main" id="{73EE6705-1665-43A1-AB37-E50C48AA3F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95855" y="5993878"/>
            <a:ext cx="4594995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Daan Nijs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B2803BC5-4FBF-4FFC-8CD7-56A7494327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37" y="923475"/>
            <a:ext cx="1641443" cy="30328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12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nl-NL" dirty="0"/>
              <a:t>DE</a:t>
            </a:r>
            <a:endParaRPr lang="nl-BE" dirty="0"/>
          </a:p>
        </p:txBody>
      </p:sp>
      <p:sp>
        <p:nvSpPr>
          <p:cNvPr id="32" name="Tijdelijke aanduiding voor tekst 16">
            <a:extLst>
              <a:ext uri="{FF2B5EF4-FFF2-40B4-BE49-F238E27FC236}">
                <a16:creationId xmlns:a16="http://schemas.microsoft.com/office/drawing/2014/main" id="{2F60E031-BF26-44A1-A0B6-D48454BFD9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6" y="1429630"/>
            <a:ext cx="1641443" cy="30328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12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sz="1200" kern="1200" cap="none" baseline="0" dirty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2023</a:t>
            </a:r>
          </a:p>
        </p:txBody>
      </p:sp>
      <p:pic>
        <p:nvPicPr>
          <p:cNvPr id="3" name="Picture 2" descr="A room with a white cube and red and green walls&#10;&#10;Description automatically generated">
            <a:extLst>
              <a:ext uri="{FF2B5EF4-FFF2-40B4-BE49-F238E27FC236}">
                <a16:creationId xmlns:a16="http://schemas.microsoft.com/office/drawing/2014/main" id="{52382748-B3A1-4041-F0B7-3FD688D9971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310" y="1463310"/>
            <a:ext cx="5394690" cy="539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2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1641C2-BF9B-4FDD-914E-B64C21E00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0DFE554-7232-4244-8A56-332314AEE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07/05/2025</a:t>
            </a:fld>
            <a:endParaRPr lang="en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EC717CF-2817-47D4-8B6A-AC3FF571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E2D9812-56C8-4D19-8865-A6D4C4A6D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42795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F78E84-41E7-4C0B-9876-95A81A82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ADAD563-D612-4769-9B0D-FF5F1C302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2BECD8B-CD05-4F1D-A5CC-3FEA703FE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07/05/2025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562C523-B3D7-4EB4-A7D6-382F9B9CC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89EF5C4-6487-432E-AB47-26229FE01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052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0F1C78-2104-4398-AD52-6781C48DD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E324310-16AB-4268-B0C6-CF8B77613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CD69EF-E63A-4D9C-8EFE-E80749E03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07/05/2025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1547F23-F0D7-4208-A013-9AE0FF2EA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4AE972C-86E8-4E5F-8E59-2FB14076C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26318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7DCFF4-3B50-4930-AEAE-782904E75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9E7AE46-BCF9-47C8-9BCC-B7B1F520A3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6C2F997-1F41-4A6F-9193-4DE7735AC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B370E2F-2B3F-41AC-9A34-276EA7450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07/05/2025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D63B9D7-3594-4F78-B540-B15463859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79CDB93-518D-4FDA-849A-10DC0942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40873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594D81-B112-42DA-9826-23E1C6113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B25F2C9-29C7-4222-81BA-825176D7A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7496213-5C84-46EC-B711-CDF9FF6B6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0DE4F81-0BA7-4244-BB5B-492AB97EF8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E79B47A1-EE33-4FAB-B7C3-E0E137931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34D9D81A-0C3E-473B-ACBE-F498DB484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07/05/2025</a:t>
            </a:fld>
            <a:endParaRPr lang="en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8E84A63-52E6-431C-9002-3F2381DF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27C1939-B8AA-4E0F-96C6-B7E933D9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08474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ECCACC-50FC-4D5D-B072-A22D8C73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6B9E831-EE77-4B49-A32D-C50EA5628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07/05/2025</a:t>
            </a:fld>
            <a:endParaRPr lang="en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471B315-B360-4DC4-BA25-C0DA3FE06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86BE35D-89CF-4C78-936F-3A422D2B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47937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2371665-6504-46CE-8623-7D4BFBF06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07/05/2025</a:t>
            </a:fld>
            <a:endParaRPr lang="en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84B7614-A5E9-4A26-93ED-1BD778884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6192D73-DEF2-4B61-8197-3941A208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7551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3ACD61-1A8D-412E-A5FB-A8531A8CE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B81E522-E269-4346-BBFB-AA9518F2B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5BB402B-825A-444A-8506-A9ADBFE65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827B8B6-F476-41CE-A0FB-94F76E07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07/05/2025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8C2B97C-695E-461A-825C-FBD17E162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A72EF0F-A630-466B-B88F-96526CAB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0970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D0E7DD-EE9A-4CC9-8C25-676E51EFE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48A5BBD-EB4E-45D6-AE42-E48427169E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66EB8EC-DE0A-4D55-BC4C-614275BE1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0F5DBFE-351E-4EE8-ADAB-1EEF823A6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07/05/2025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E0E090A-C01F-416E-BF13-483497611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790A0E5-2670-4891-8045-AB40C835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2779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EACC51-F7E5-40B9-80E8-1EF2107F0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CEA346F-2455-4321-99FC-0F55ECBC5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DD5A672-E901-441A-AA8C-342314F34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07/05/2025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36B37C-979A-4CE2-BFB9-1CEE33789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66F279E-64B7-4995-8B2D-9E98200DC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69102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4A3048B-7CB7-4CB7-9036-E1072F656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77AF696-8160-4BEE-B594-08AA6ED4B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70B8EA8-32FF-45D6-BDF4-DEC9D5665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07/05/2025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01F5F5D-B431-4297-94E5-5C3E63450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D29EC59-10E4-4E90-AEF4-F74EC07C8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224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16C0F430-02B8-470E-88C4-D3F6A6EEE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FBDBA69-9857-4F89-AB15-40D66350F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700B282-C115-4189-B97C-2C968D73F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44C9-3718-44C4-9063-5DAD08408240}" type="datetimeFigureOut">
              <a:rPr lang="en-BE" smtClean="0"/>
              <a:t>07/05/2025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C35CFB0-104D-43DF-ABAD-E8ED1A7E0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5331830-0F71-46FB-910E-F57D488F6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91883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F5DD37-2212-916B-E357-43E8D3EA5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0F862-7245-5FF3-F9FF-A37F0519F7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95855" y="5411372"/>
            <a:ext cx="4897688" cy="459582"/>
          </a:xfrm>
        </p:spPr>
        <p:txBody>
          <a:bodyPr>
            <a:normAutofit/>
          </a:bodyPr>
          <a:lstStyle/>
          <a:p>
            <a:r>
              <a:rPr lang="en-US" dirty="0"/>
              <a:t>Week 10b: Postprocessing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B0F53-1B0B-247E-5331-DFF63A59F5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906C7B-D22F-6554-53F2-0FB13D199E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 + AR</a:t>
            </a:r>
          </a:p>
          <a:p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FE3868-CBE1-5055-4906-5E64ED6ECD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2025</a:t>
            </a:r>
          </a:p>
          <a:p>
            <a:endParaRPr lang="en-B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4B13AA-43F9-F0E4-EDD3-FBCD37F97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75" y="1935785"/>
            <a:ext cx="11057578" cy="182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507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2298E-7643-26A8-F956-31884A331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99E2E-C2AD-140D-0E3A-4CF10FB6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286" y="-138728"/>
            <a:ext cx="10515600" cy="1325563"/>
          </a:xfrm>
        </p:spPr>
        <p:txBody>
          <a:bodyPr/>
          <a:lstStyle/>
          <a:p>
            <a:r>
              <a:rPr lang="en-US" dirty="0"/>
              <a:t>Last class: Finite differencing</a:t>
            </a:r>
            <a:endParaRPr lang="en-B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872C81-846C-7C02-5008-F745433A3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775" y="1574568"/>
            <a:ext cx="6183086" cy="4972412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DD8DD87-8105-0150-37D9-F3366F015906}"/>
              </a:ext>
            </a:extLst>
          </p:cNvPr>
          <p:cNvCxnSpPr>
            <a:cxnSpLocks/>
          </p:cNvCxnSpPr>
          <p:nvPr/>
        </p:nvCxnSpPr>
        <p:spPr>
          <a:xfrm flipV="1">
            <a:off x="2404189" y="2506825"/>
            <a:ext cx="917509" cy="34523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7803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1B564-CA9E-3D87-8903-3909F7D42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9F79E-D81D-C0B7-2D18-4AECB8668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62" y="238794"/>
            <a:ext cx="10515600" cy="1325563"/>
          </a:xfrm>
        </p:spPr>
        <p:txBody>
          <a:bodyPr/>
          <a:lstStyle/>
          <a:p>
            <a:r>
              <a:rPr lang="en-US" dirty="0"/>
              <a:t>Course schedule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AD8DA9-97E3-0B9A-E8CC-21F1C6CD1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23671"/>
            <a:ext cx="4032180" cy="263992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EA932E-E82B-0F40-395E-38460627F1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55511"/>
              </p:ext>
            </p:extLst>
          </p:nvPr>
        </p:nvGraphicFramePr>
        <p:xfrm>
          <a:off x="4802155" y="0"/>
          <a:ext cx="6870483" cy="68963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521">
                  <a:extLst>
                    <a:ext uri="{9D8B030D-6E8A-4147-A177-3AD203B41FA5}">
                      <a16:colId xmlns:a16="http://schemas.microsoft.com/office/drawing/2014/main" val="4215952977"/>
                    </a:ext>
                  </a:extLst>
                </a:gridCol>
                <a:gridCol w="2738203">
                  <a:extLst>
                    <a:ext uri="{9D8B030D-6E8A-4147-A177-3AD203B41FA5}">
                      <a16:colId xmlns:a16="http://schemas.microsoft.com/office/drawing/2014/main" val="1002713060"/>
                    </a:ext>
                  </a:extLst>
                </a:gridCol>
                <a:gridCol w="3102759">
                  <a:extLst>
                    <a:ext uri="{9D8B030D-6E8A-4147-A177-3AD203B41FA5}">
                      <a16:colId xmlns:a16="http://schemas.microsoft.com/office/drawing/2014/main" val="1545778933"/>
                    </a:ext>
                  </a:extLst>
                </a:gridCol>
              </a:tblGrid>
              <a:tr h="397617"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Wed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591760"/>
                  </a:ext>
                </a:extLst>
              </a:tr>
              <a:tr h="397617">
                <a:tc>
                  <a:txBody>
                    <a:bodyPr/>
                    <a:lstStyle/>
                    <a:p>
                      <a:r>
                        <a:rPr lang="en-US" dirty="0"/>
                        <a:t>Week 1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Introduction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121218"/>
                  </a:ext>
                </a:extLst>
              </a:tr>
              <a:tr h="397617">
                <a:tc>
                  <a:txBody>
                    <a:bodyPr/>
                    <a:lstStyle/>
                    <a:p>
                      <a:r>
                        <a:rPr lang="en-US" dirty="0"/>
                        <a:t>Week 2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3D reasoning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727011"/>
                  </a:ext>
                </a:extLst>
              </a:tr>
              <a:tr h="633682">
                <a:tc>
                  <a:txBody>
                    <a:bodyPr/>
                    <a:lstStyle/>
                    <a:p>
                      <a:r>
                        <a:rPr lang="en-US" dirty="0"/>
                        <a:t>Week 3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Geometry</a:t>
                      </a:r>
                    </a:p>
                    <a:p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221313"/>
                  </a:ext>
                </a:extLst>
              </a:tr>
              <a:tr h="476418">
                <a:tc>
                  <a:txBody>
                    <a:bodyPr/>
                    <a:lstStyle/>
                    <a:p>
                      <a:r>
                        <a:rPr lang="en-US" dirty="0"/>
                        <a:t>Week 4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Pipeline &amp; Materials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918310"/>
                  </a:ext>
                </a:extLst>
              </a:tr>
              <a:tr h="512605">
                <a:tc>
                  <a:txBody>
                    <a:bodyPr/>
                    <a:lstStyle/>
                    <a:p>
                      <a:r>
                        <a:rPr lang="en-US" dirty="0"/>
                        <a:t>Week 5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Proceduralism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078510"/>
                  </a:ext>
                </a:extLst>
              </a:tr>
              <a:tr h="362104">
                <a:tc>
                  <a:txBody>
                    <a:bodyPr/>
                    <a:lstStyle/>
                    <a:p>
                      <a:r>
                        <a:rPr lang="en-US" dirty="0"/>
                        <a:t>Week 6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Textures &amp; Normal maps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941231"/>
                  </a:ext>
                </a:extLst>
              </a:tr>
              <a:tr h="633682">
                <a:tc>
                  <a:txBody>
                    <a:bodyPr/>
                    <a:lstStyle/>
                    <a:p>
                      <a:r>
                        <a:rPr lang="en-US" dirty="0"/>
                        <a:t>Week 7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Aliasing  / Presentations</a:t>
                      </a:r>
                      <a:endParaRPr lang="en-BE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929814"/>
                  </a:ext>
                </a:extLst>
              </a:tr>
              <a:tr h="633682">
                <a:tc>
                  <a:txBody>
                    <a:bodyPr/>
                    <a:lstStyle/>
                    <a:p>
                      <a:r>
                        <a:rPr lang="en-US" dirty="0"/>
                        <a:t>Week 8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Lab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Advanced pipeline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Lab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942271"/>
                  </a:ext>
                </a:extLst>
              </a:tr>
              <a:tr h="905260">
                <a:tc>
                  <a:txBody>
                    <a:bodyPr/>
                    <a:lstStyle/>
                    <a:p>
                      <a:r>
                        <a:rPr lang="en-US" dirty="0"/>
                        <a:t>Week 9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Lights, shadows, camera’s, primary visibility</a:t>
                      </a:r>
                      <a:br>
                        <a:rPr lang="en-US" dirty="0"/>
                      </a:br>
                      <a:r>
                        <a:rPr lang="en-US" dirty="0"/>
                        <a:t>Lab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Forward rendering</a:t>
                      </a:r>
                      <a:br>
                        <a:rPr lang="en-US" dirty="0"/>
                      </a:br>
                      <a:r>
                        <a:rPr lang="en-US" dirty="0"/>
                        <a:t>Lab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500834"/>
                  </a:ext>
                </a:extLst>
              </a:tr>
              <a:tr h="476418">
                <a:tc>
                  <a:txBody>
                    <a:bodyPr/>
                    <a:lstStyle/>
                    <a:p>
                      <a:r>
                        <a:rPr lang="en-US" dirty="0"/>
                        <a:t>Week 10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Deferred rendering / lab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Post processing / lab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961463"/>
                  </a:ext>
                </a:extLst>
              </a:tr>
              <a:tr h="397617">
                <a:tc>
                  <a:txBody>
                    <a:bodyPr/>
                    <a:lstStyle/>
                    <a:p>
                      <a:r>
                        <a:rPr lang="en-US" dirty="0"/>
                        <a:t>Week 11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Bonus 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Quiz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927756"/>
                  </a:ext>
                </a:extLst>
              </a:tr>
              <a:tr h="633682">
                <a:tc>
                  <a:txBody>
                    <a:bodyPr/>
                    <a:lstStyle/>
                    <a:p>
                      <a:r>
                        <a:rPr lang="en-US" dirty="0"/>
                        <a:t>Week Rev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Revision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44602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7F2239F-9E21-9D30-9311-23FF7A1A3E6B}"/>
              </a:ext>
            </a:extLst>
          </p:cNvPr>
          <p:cNvSpPr/>
          <p:nvPr/>
        </p:nvSpPr>
        <p:spPr>
          <a:xfrm>
            <a:off x="8579117" y="5784979"/>
            <a:ext cx="3006435" cy="50454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D4D2B5-CAD3-D831-936C-AB606D88D5FD}"/>
              </a:ext>
            </a:extLst>
          </p:cNvPr>
          <p:cNvSpPr txBox="1"/>
          <p:nvPr/>
        </p:nvSpPr>
        <p:spPr>
          <a:xfrm>
            <a:off x="261256" y="1564357"/>
            <a:ext cx="43107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I’m not sure what to teach on Monday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are your struggles in the project?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probably can find a topic that reinforces a lot of what you need to know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 we can revise a topic deeply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Tell me!</a:t>
            </a:r>
          </a:p>
        </p:txBody>
      </p:sp>
    </p:spTree>
    <p:extLst>
      <p:ext uri="{BB962C8B-B14F-4D97-AF65-F5344CB8AC3E}">
        <p14:creationId xmlns:p14="http://schemas.microsoft.com/office/powerpoint/2010/main" val="282811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73297-8044-DFEA-04F5-D9FB0C658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2D51-1E40-FA66-F1C2-BA0D54119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CB8313-D9B1-33D6-9A00-505148019F20}"/>
              </a:ext>
            </a:extLst>
          </p:cNvPr>
          <p:cNvSpPr txBox="1"/>
          <p:nvPr/>
        </p:nvSpPr>
        <p:spPr>
          <a:xfrm>
            <a:off x="989900" y="1690689"/>
            <a:ext cx="87263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Project 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Quiz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Lab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B2BD5B2-170B-7DD6-EE90-0BDFDEBE15DD}"/>
              </a:ext>
            </a:extLst>
          </p:cNvPr>
          <p:cNvCxnSpPr/>
          <p:nvPr/>
        </p:nvCxnSpPr>
        <p:spPr>
          <a:xfrm flipH="1">
            <a:off x="4329404" y="1959429"/>
            <a:ext cx="4578220" cy="0"/>
          </a:xfrm>
          <a:prstGeom prst="straightConnector1">
            <a:avLst/>
          </a:prstGeom>
          <a:ln w="7620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15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17E19-4390-D62A-8626-FFE44F4A2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you know it looks correct?</a:t>
            </a:r>
            <a:endParaRPr lang="en-BE" dirty="0"/>
          </a:p>
        </p:txBody>
      </p:sp>
      <p:pic>
        <p:nvPicPr>
          <p:cNvPr id="4" name="Picture 3" descr="A lake with rocks and reflection&#10;&#10;AI-generated content may be incorrect.">
            <a:extLst>
              <a:ext uri="{FF2B5EF4-FFF2-40B4-BE49-F238E27FC236}">
                <a16:creationId xmlns:a16="http://schemas.microsoft.com/office/drawing/2014/main" id="{7ED0D31D-E3B2-063D-DF3C-C149BF7BB5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70" y="2049638"/>
            <a:ext cx="5369338" cy="4808362"/>
          </a:xfrm>
          <a:prstGeom prst="rect">
            <a:avLst/>
          </a:prstGeom>
        </p:spPr>
      </p:pic>
      <p:pic>
        <p:nvPicPr>
          <p:cNvPr id="6" name="Picture 5" descr="A video game screen shot of a rectangular object&#10;&#10;AI-generated content may be incorrect.">
            <a:extLst>
              <a:ext uri="{FF2B5EF4-FFF2-40B4-BE49-F238E27FC236}">
                <a16:creationId xmlns:a16="http://schemas.microsoft.com/office/drawing/2014/main" id="{8EFB0A0F-9A89-89B6-B761-68A2A947A6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852" y="3392354"/>
            <a:ext cx="6161148" cy="3465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252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A8A67-BF48-86F6-B8AA-153EC127A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2349D-DBA4-B217-7444-482A672FD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18E5B9-9589-493D-1059-5B20E4E6C332}"/>
              </a:ext>
            </a:extLst>
          </p:cNvPr>
          <p:cNvSpPr txBox="1"/>
          <p:nvPr/>
        </p:nvSpPr>
        <p:spPr>
          <a:xfrm>
            <a:off x="989900" y="1690689"/>
            <a:ext cx="87263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Project 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Quiz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Lab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2F9960E-D44C-7AA7-9BF6-0D1D5E70036D}"/>
              </a:ext>
            </a:extLst>
          </p:cNvPr>
          <p:cNvCxnSpPr/>
          <p:nvPr/>
        </p:nvCxnSpPr>
        <p:spPr>
          <a:xfrm flipH="1">
            <a:off x="3582345" y="2347900"/>
            <a:ext cx="4578220" cy="0"/>
          </a:xfrm>
          <a:prstGeom prst="straightConnector1">
            <a:avLst/>
          </a:prstGeom>
          <a:ln w="7620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7258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22EC6-BBD9-0C53-4769-06524E77D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time!</a:t>
            </a:r>
            <a:endParaRPr lang="en-BE" dirty="0"/>
          </a:p>
        </p:txBody>
      </p:sp>
      <p:pic>
        <p:nvPicPr>
          <p:cNvPr id="8" name="Picture 7" descr="A person standing next to a person&#10;&#10;AI-generated content may be incorrect.">
            <a:extLst>
              <a:ext uri="{FF2B5EF4-FFF2-40B4-BE49-F238E27FC236}">
                <a16:creationId xmlns:a16="http://schemas.microsoft.com/office/drawing/2014/main" id="{E6C5A9A5-2142-CEB5-C327-5915F3161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139" y="1560893"/>
            <a:ext cx="8815808" cy="529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534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A57A4-3DF9-634F-C045-FDE6CAFDA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0D83E-AF1D-6CD7-DC89-CEEF0B14B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8DA3FB-22E1-61EC-BA94-FE22EC87551B}"/>
              </a:ext>
            </a:extLst>
          </p:cNvPr>
          <p:cNvSpPr txBox="1"/>
          <p:nvPr/>
        </p:nvSpPr>
        <p:spPr>
          <a:xfrm>
            <a:off x="989900" y="1690689"/>
            <a:ext cx="87263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Project 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Quiz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Lab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2EB2508-A8C7-0181-9677-23D1F1C66F62}"/>
              </a:ext>
            </a:extLst>
          </p:cNvPr>
          <p:cNvCxnSpPr/>
          <p:nvPr/>
        </p:nvCxnSpPr>
        <p:spPr>
          <a:xfrm flipH="1">
            <a:off x="2924933" y="2837970"/>
            <a:ext cx="4578220" cy="0"/>
          </a:xfrm>
          <a:prstGeom prst="straightConnector1">
            <a:avLst/>
          </a:prstGeom>
          <a:ln w="7620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558034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1" id="{6849F4D6-1FB7-4CEB-8CC6-E456C34ADDA4}" vid="{0A04E370-2E7A-4A97-A218-FEC8E52F4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slides_theme</Template>
  <TotalTime>40501</TotalTime>
  <Words>162</Words>
  <Application>Microsoft Office PowerPoint</Application>
  <PresentationFormat>Widescreen</PresentationFormat>
  <Paragraphs>60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Tahoma</vt:lpstr>
      <vt:lpstr>Wingdings</vt:lpstr>
      <vt:lpstr>Kantoorthema</vt:lpstr>
      <vt:lpstr>PowerPoint Presentation</vt:lpstr>
      <vt:lpstr>Last class: Finite differencing</vt:lpstr>
      <vt:lpstr>Course schedule</vt:lpstr>
      <vt:lpstr>This class</vt:lpstr>
      <vt:lpstr>How do you know it looks correct?</vt:lpstr>
      <vt:lpstr>This class</vt:lpstr>
      <vt:lpstr>Quiz time!</vt:lpstr>
      <vt:lpstr>This class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Daan Nijs</dc:creator>
  <cp:lastModifiedBy>Nijs, Daan (246888)</cp:lastModifiedBy>
  <cp:revision>127</cp:revision>
  <dcterms:created xsi:type="dcterms:W3CDTF">2024-01-29T23:06:06Z</dcterms:created>
  <dcterms:modified xsi:type="dcterms:W3CDTF">2025-05-10T23:29:23Z</dcterms:modified>
</cp:coreProperties>
</file>