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7"/>
  </p:notesMasterIdLst>
  <p:sldIdLst>
    <p:sldId id="256" r:id="rId2"/>
    <p:sldId id="337" r:id="rId3"/>
    <p:sldId id="360" r:id="rId4"/>
    <p:sldId id="362" r:id="rId5"/>
    <p:sldId id="361" r:id="rId6"/>
    <p:sldId id="258" r:id="rId7"/>
    <p:sldId id="263" r:id="rId8"/>
    <p:sldId id="261" r:id="rId9"/>
    <p:sldId id="264" r:id="rId10"/>
    <p:sldId id="266" r:id="rId11"/>
    <p:sldId id="273" r:id="rId12"/>
    <p:sldId id="274" r:id="rId13"/>
    <p:sldId id="275" r:id="rId14"/>
    <p:sldId id="276" r:id="rId15"/>
    <p:sldId id="277" r:id="rId16"/>
    <p:sldId id="278" r:id="rId17"/>
    <p:sldId id="279" r:id="rId18"/>
    <p:sldId id="281" r:id="rId19"/>
    <p:sldId id="282" r:id="rId20"/>
    <p:sldId id="270" r:id="rId21"/>
    <p:sldId id="259" r:id="rId22"/>
    <p:sldId id="284" r:id="rId23"/>
    <p:sldId id="288" r:id="rId24"/>
    <p:sldId id="356" r:id="rId25"/>
    <p:sldId id="283" r:id="rId26"/>
    <p:sldId id="267" r:id="rId27"/>
    <p:sldId id="350" r:id="rId28"/>
    <p:sldId id="357" r:id="rId29"/>
    <p:sldId id="285" r:id="rId30"/>
    <p:sldId id="358" r:id="rId31"/>
    <p:sldId id="269" r:id="rId32"/>
    <p:sldId id="359" r:id="rId33"/>
    <p:sldId id="351" r:id="rId34"/>
    <p:sldId id="286" r:id="rId35"/>
    <p:sldId id="295" r:id="rId36"/>
    <p:sldId id="292" r:id="rId37"/>
    <p:sldId id="293" r:id="rId38"/>
    <p:sldId id="287" r:id="rId39"/>
    <p:sldId id="294" r:id="rId40"/>
    <p:sldId id="289" r:id="rId41"/>
    <p:sldId id="352" r:id="rId42"/>
    <p:sldId id="353" r:id="rId43"/>
    <p:sldId id="354" r:id="rId44"/>
    <p:sldId id="355" r:id="rId45"/>
    <p:sldId id="297" r:id="rId46"/>
    <p:sldId id="296"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6" r:id="rId64"/>
    <p:sldId id="317" r:id="rId65"/>
    <p:sldId id="318" r:id="rId66"/>
    <p:sldId id="319" r:id="rId67"/>
    <p:sldId id="320" r:id="rId68"/>
    <p:sldId id="321" r:id="rId69"/>
    <p:sldId id="322" r:id="rId70"/>
    <p:sldId id="323" r:id="rId71"/>
    <p:sldId id="324" r:id="rId72"/>
    <p:sldId id="325" r:id="rId73"/>
    <p:sldId id="327" r:id="rId74"/>
    <p:sldId id="328" r:id="rId75"/>
    <p:sldId id="329" r:id="rId76"/>
    <p:sldId id="326" r:id="rId77"/>
    <p:sldId id="330" r:id="rId78"/>
    <p:sldId id="331" r:id="rId79"/>
    <p:sldId id="332" r:id="rId80"/>
    <p:sldId id="333" r:id="rId81"/>
    <p:sldId id="334" r:id="rId82"/>
    <p:sldId id="338" r:id="rId83"/>
    <p:sldId id="345" r:id="rId84"/>
    <p:sldId id="344" r:id="rId85"/>
    <p:sldId id="349" r:id="rId86"/>
    <p:sldId id="343" r:id="rId87"/>
    <p:sldId id="339" r:id="rId88"/>
    <p:sldId id="340" r:id="rId89"/>
    <p:sldId id="341" r:id="rId90"/>
    <p:sldId id="342" r:id="rId91"/>
    <p:sldId id="347" r:id="rId92"/>
    <p:sldId id="348" r:id="rId93"/>
    <p:sldId id="262" r:id="rId94"/>
    <p:sldId id="260" r:id="rId95"/>
    <p:sldId id="363" r:id="rId96"/>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8010" autoAdjust="0"/>
    <p:restoredTop sz="94660"/>
  </p:normalViewPr>
  <p:slideViewPr>
    <p:cSldViewPr snapToGrid="0">
      <p:cViewPr varScale="1">
        <p:scale>
          <a:sx n="154" d="100"/>
          <a:sy n="154" d="100"/>
        </p:scale>
        <p:origin x="174" y="390"/>
      </p:cViewPr>
      <p:guideLst/>
    </p:cSldViewPr>
  </p:slideViewPr>
  <p:notesTextViewPr>
    <p:cViewPr>
      <p:scale>
        <a:sx n="1" d="1"/>
        <a:sy n="1" d="1"/>
      </p:scale>
      <p:origin x="0" y="0"/>
    </p:cViewPr>
  </p:notesTextViewPr>
  <p:notesViewPr>
    <p:cSldViewPr snapToGrid="0">
      <p:cViewPr varScale="1">
        <p:scale>
          <a:sx n="125" d="100"/>
          <a:sy n="125" d="100"/>
        </p:scale>
        <p:origin x="4716"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84BD-A9A3-4CBB-88D6-39267B7F5B46}" type="datetimeFigureOut">
              <a:rPr lang="en-BE" smtClean="0"/>
              <a:t>30/05/2025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F9D2B-EF00-4575-9013-113DEEFD58FD}" type="slidenum">
              <a:rPr lang="en-BE" smtClean="0"/>
              <a:t>‹#›</a:t>
            </a:fld>
            <a:endParaRPr lang="en-BE"/>
          </a:p>
        </p:txBody>
      </p:sp>
    </p:spTree>
    <p:extLst>
      <p:ext uri="{BB962C8B-B14F-4D97-AF65-F5344CB8AC3E}">
        <p14:creationId xmlns:p14="http://schemas.microsoft.com/office/powerpoint/2010/main" val="320835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a:t>
            </a:fld>
            <a:endParaRPr lang="en-BE"/>
          </a:p>
        </p:txBody>
      </p:sp>
    </p:spTree>
    <p:extLst>
      <p:ext uri="{BB962C8B-B14F-4D97-AF65-F5344CB8AC3E}">
        <p14:creationId xmlns:p14="http://schemas.microsoft.com/office/powerpoint/2010/main" val="3834807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a:t>
            </a:fld>
            <a:endParaRPr lang="en-BE"/>
          </a:p>
        </p:txBody>
      </p:sp>
    </p:spTree>
    <p:extLst>
      <p:ext uri="{BB962C8B-B14F-4D97-AF65-F5344CB8AC3E}">
        <p14:creationId xmlns:p14="http://schemas.microsoft.com/office/powerpoint/2010/main" val="2677216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a:t>
            </a:fld>
            <a:endParaRPr lang="en-BE"/>
          </a:p>
        </p:txBody>
      </p:sp>
    </p:spTree>
    <p:extLst>
      <p:ext uri="{BB962C8B-B14F-4D97-AF65-F5344CB8AC3E}">
        <p14:creationId xmlns:p14="http://schemas.microsoft.com/office/powerpoint/2010/main" val="1387934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a:t>
            </a:fld>
            <a:endParaRPr lang="en-BE"/>
          </a:p>
        </p:txBody>
      </p:sp>
    </p:spTree>
    <p:extLst>
      <p:ext uri="{BB962C8B-B14F-4D97-AF65-F5344CB8AC3E}">
        <p14:creationId xmlns:p14="http://schemas.microsoft.com/office/powerpoint/2010/main" val="3534008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a:t>
            </a:fld>
            <a:endParaRPr lang="en-BE"/>
          </a:p>
        </p:txBody>
      </p:sp>
    </p:spTree>
    <p:extLst>
      <p:ext uri="{BB962C8B-B14F-4D97-AF65-F5344CB8AC3E}">
        <p14:creationId xmlns:p14="http://schemas.microsoft.com/office/powerpoint/2010/main" val="262083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a:t>
            </a:fld>
            <a:endParaRPr lang="en-BE"/>
          </a:p>
        </p:txBody>
      </p:sp>
    </p:spTree>
    <p:extLst>
      <p:ext uri="{BB962C8B-B14F-4D97-AF65-F5344CB8AC3E}">
        <p14:creationId xmlns:p14="http://schemas.microsoft.com/office/powerpoint/2010/main" val="4185157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 few things students often think we’ll see, but isn’t in this course:</a:t>
            </a:r>
            <a:br>
              <a:rPr lang="en-US" dirty="0"/>
            </a:br>
            <a:endParaRPr lang="en-US" dirty="0"/>
          </a:p>
          <a:p>
            <a:r>
              <a:rPr lang="en-US" dirty="0"/>
              <a:t>Modeling (</a:t>
            </a:r>
            <a:r>
              <a:rPr lang="en-US" dirty="0" err="1"/>
              <a:t>eg</a:t>
            </a:r>
            <a:r>
              <a:rPr lang="en-US" dirty="0"/>
              <a:t> blender) or texturing (photoshop). We’re technical people, we’ll deal with these </a:t>
            </a:r>
            <a:r>
              <a:rPr lang="en-US" dirty="0" err="1"/>
              <a:t>assests</a:t>
            </a:r>
            <a:r>
              <a:rPr lang="en-US" dirty="0"/>
              <a:t> (“art pieces”, things like 3d models and images), but we won’t be creating them in an artistic way</a:t>
            </a:r>
          </a:p>
          <a:p>
            <a:endParaRPr lang="en-US" dirty="0"/>
          </a:p>
          <a:p>
            <a:r>
              <a:rPr lang="en-US" dirty="0"/>
              <a:t>Game programming: what we’re doing is very close (and you can do this fulltime in a game studio), but we’re only looking at graphics.</a:t>
            </a:r>
          </a:p>
          <a:p>
            <a:endParaRPr lang="en-US" dirty="0"/>
          </a:p>
          <a:p>
            <a:r>
              <a:rPr lang="en-US" dirty="0"/>
              <a:t>Unity / other game engine. We’ll be using Unity. I’ll be using it as little as possible, as  I want to focus on learning how to do things by doing things yourself. But you’ll have to learn quite a bit of Unity specific things on the way. </a:t>
            </a:r>
          </a:p>
          <a:p>
            <a:endParaRPr lang="en-US" dirty="0"/>
          </a:p>
          <a:p>
            <a:r>
              <a:rPr lang="en-US" dirty="0"/>
              <a:t>What *is* in the course, is what’s in coming in this class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fld id="{947F9D2B-EF00-4575-9013-113DEEFD58FD}" type="slidenum">
              <a:rPr lang="en-BE" smtClean="0"/>
              <a:t>7</a:t>
            </a:fld>
            <a:endParaRPr lang="en-BE"/>
          </a:p>
        </p:txBody>
      </p:sp>
    </p:spTree>
    <p:extLst>
      <p:ext uri="{BB962C8B-B14F-4D97-AF65-F5344CB8AC3E}">
        <p14:creationId xmlns:p14="http://schemas.microsoft.com/office/powerpoint/2010/main" val="3654528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8</a:t>
            </a:fld>
            <a:endParaRPr lang="en-BE"/>
          </a:p>
        </p:txBody>
      </p:sp>
    </p:spTree>
    <p:extLst>
      <p:ext uri="{BB962C8B-B14F-4D97-AF65-F5344CB8AC3E}">
        <p14:creationId xmlns:p14="http://schemas.microsoft.com/office/powerpoint/2010/main" val="1657362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9</a:t>
            </a:fld>
            <a:endParaRPr lang="en-BE"/>
          </a:p>
        </p:txBody>
      </p:sp>
    </p:spTree>
    <p:extLst>
      <p:ext uri="{BB962C8B-B14F-4D97-AF65-F5344CB8AC3E}">
        <p14:creationId xmlns:p14="http://schemas.microsoft.com/office/powerpoint/2010/main" val="2490433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10</a:t>
            </a:fld>
            <a:endParaRPr lang="en-BE"/>
          </a:p>
        </p:txBody>
      </p:sp>
    </p:spTree>
    <p:extLst>
      <p:ext uri="{BB962C8B-B14F-4D97-AF65-F5344CB8AC3E}">
        <p14:creationId xmlns:p14="http://schemas.microsoft.com/office/powerpoint/2010/main" val="256866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11</a:t>
            </a:fld>
            <a:endParaRPr lang="en-BE"/>
          </a:p>
        </p:txBody>
      </p:sp>
    </p:spTree>
    <p:extLst>
      <p:ext uri="{BB962C8B-B14F-4D97-AF65-F5344CB8AC3E}">
        <p14:creationId xmlns:p14="http://schemas.microsoft.com/office/powerpoint/2010/main" val="1778594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12</a:t>
            </a:fld>
            <a:endParaRPr lang="en-BE"/>
          </a:p>
        </p:txBody>
      </p:sp>
    </p:spTree>
    <p:extLst>
      <p:ext uri="{BB962C8B-B14F-4D97-AF65-F5344CB8AC3E}">
        <p14:creationId xmlns:p14="http://schemas.microsoft.com/office/powerpoint/2010/main" val="3265920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need to react to user input. For example, in a modern game the player can move the camera at any time. We need to create a new image to display in about 30 </a:t>
            </a:r>
            <a:r>
              <a:rPr lang="en-US" dirty="0" err="1"/>
              <a:t>ms</a:t>
            </a:r>
            <a:r>
              <a:rPr lang="en-US" dirty="0"/>
              <a:t> (milliseconds). Movies never change, so we can spend much longer creating an image.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13</a:t>
            </a:fld>
            <a:endParaRPr lang="en-BE"/>
          </a:p>
        </p:txBody>
      </p:sp>
    </p:spTree>
    <p:extLst>
      <p:ext uri="{BB962C8B-B14F-4D97-AF65-F5344CB8AC3E}">
        <p14:creationId xmlns:p14="http://schemas.microsoft.com/office/powerpoint/2010/main" val="1857841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up to hundreds of hours can be spend on rendering a single image</a:t>
            </a:r>
          </a:p>
          <a:p>
            <a:r>
              <a:rPr lang="en-US" dirty="0"/>
              <a:t>Realtime 10-30 </a:t>
            </a:r>
            <a:r>
              <a:rPr lang="en-US" dirty="0" err="1"/>
              <a:t>ms</a:t>
            </a:r>
            <a:r>
              <a:rPr lang="en-US" dirty="0"/>
              <a:t> are spend rendering an image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14</a:t>
            </a:fld>
            <a:endParaRPr lang="en-BE"/>
          </a:p>
        </p:txBody>
      </p:sp>
    </p:spTree>
    <p:extLst>
      <p:ext uri="{BB962C8B-B14F-4D97-AF65-F5344CB8AC3E}">
        <p14:creationId xmlns:p14="http://schemas.microsoft.com/office/powerpoint/2010/main" val="2091541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15</a:t>
            </a:fld>
            <a:endParaRPr lang="en-BE"/>
          </a:p>
        </p:txBody>
      </p:sp>
    </p:spTree>
    <p:extLst>
      <p:ext uri="{BB962C8B-B14F-4D97-AF65-F5344CB8AC3E}">
        <p14:creationId xmlns:p14="http://schemas.microsoft.com/office/powerpoint/2010/main" val="934559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84663"/>
          </a:xfrm>
        </p:spPr>
        <p:txBody>
          <a:bodyPr/>
          <a:lstStyle/>
          <a:p>
            <a:r>
              <a:rPr lang="en-US" dirty="0"/>
              <a:t>We usually think in </a:t>
            </a:r>
            <a:r>
              <a:rPr lang="en-US" dirty="0" err="1"/>
              <a:t>ms</a:t>
            </a:r>
            <a:r>
              <a:rPr lang="en-US" dirty="0"/>
              <a:t> as programmers, not frames per second. A simple example explains why:</a:t>
            </a:r>
          </a:p>
          <a:p>
            <a:endParaRPr lang="en-US" dirty="0"/>
          </a:p>
          <a:p>
            <a:r>
              <a:rPr lang="en-US" dirty="0"/>
              <a:t>Say we have a piece of code that takes 2 milliseconds. The rest of the rendering takes 18 milliseconds</a:t>
            </a:r>
          </a:p>
          <a:p>
            <a:endParaRPr lang="en-US" dirty="0"/>
          </a:p>
          <a:p>
            <a:r>
              <a:rPr lang="en-US" dirty="0"/>
              <a:t>Before optimization 2ms + 18ms = 20ms = 50 fps</a:t>
            </a:r>
          </a:p>
          <a:p>
            <a:r>
              <a:rPr lang="en-US" dirty="0"/>
              <a:t>After optimization: 1ms + 18ms = 19ms  = 52.6 fps</a:t>
            </a:r>
          </a:p>
          <a:p>
            <a:endParaRPr lang="en-US" dirty="0"/>
          </a:p>
          <a:p>
            <a:r>
              <a:rPr lang="en-US" dirty="0"/>
              <a:t>So we are 1ms faster in time, and we ‘won’ 2,6 frames</a:t>
            </a:r>
          </a:p>
          <a:p>
            <a:endParaRPr lang="en-US" dirty="0"/>
          </a:p>
          <a:p>
            <a:r>
              <a:rPr lang="en-US" dirty="0"/>
              <a:t>Let’s say we change a setting in the rest of the rendering, and it takes twice as long</a:t>
            </a:r>
          </a:p>
          <a:p>
            <a:r>
              <a:rPr lang="en-US" dirty="0"/>
              <a:t>Before optimization 2ms + 39ms = 41ms = 24,4 fps</a:t>
            </a:r>
          </a:p>
          <a:p>
            <a:r>
              <a:rPr lang="en-US" dirty="0"/>
              <a:t>After optimization: 1ms + 39ms = 40ms  = 25,0 fps</a:t>
            </a:r>
          </a:p>
          <a:p>
            <a:endParaRPr lang="en-US" dirty="0"/>
          </a:p>
          <a:p>
            <a:r>
              <a:rPr lang="en-US" dirty="0"/>
              <a:t>We’re still 1ms faster in time, but we ‘won’  only 0.6 frames</a:t>
            </a:r>
          </a:p>
          <a:p>
            <a:endParaRPr lang="en-US" dirty="0"/>
          </a:p>
          <a:p>
            <a:r>
              <a:rPr lang="en-US" dirty="0"/>
              <a:t>Why is this important? Well, when we optimize, we need an objective starting point to compare against. It would be weird to use fps as a metric, as it can change due to the entire system being slower/faster, not just our algorithm</a:t>
            </a:r>
          </a:p>
          <a:p>
            <a:endParaRPr lang="en-US" dirty="0"/>
          </a:p>
          <a:p>
            <a:r>
              <a:rPr lang="en-US" dirty="0"/>
              <a:t>Long explanation, simple rule:</a:t>
            </a:r>
          </a:p>
          <a:p>
            <a:r>
              <a:rPr lang="en-US" dirty="0"/>
              <a:t>Use </a:t>
            </a:r>
            <a:r>
              <a:rPr lang="en-US" dirty="0" err="1"/>
              <a:t>ms</a:t>
            </a:r>
            <a:r>
              <a:rPr lang="en-US" dirty="0"/>
              <a:t> when optimizing</a:t>
            </a:r>
          </a:p>
          <a:p>
            <a:r>
              <a:rPr lang="en-US" dirty="0"/>
              <a:t>Use FPS when talking about user experience (</a:t>
            </a:r>
            <a:r>
              <a:rPr lang="en-US" dirty="0" err="1"/>
              <a:t>eg</a:t>
            </a:r>
            <a:r>
              <a:rPr lang="en-US" dirty="0"/>
              <a:t> too slow to play)</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16</a:t>
            </a:fld>
            <a:endParaRPr lang="en-BE"/>
          </a:p>
        </p:txBody>
      </p:sp>
    </p:spTree>
    <p:extLst>
      <p:ext uri="{BB962C8B-B14F-4D97-AF65-F5344CB8AC3E}">
        <p14:creationId xmlns:p14="http://schemas.microsoft.com/office/powerpoint/2010/main" val="12659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17</a:t>
            </a:fld>
            <a:endParaRPr lang="en-BE"/>
          </a:p>
        </p:txBody>
      </p:sp>
    </p:spTree>
    <p:extLst>
      <p:ext uri="{BB962C8B-B14F-4D97-AF65-F5344CB8AC3E}">
        <p14:creationId xmlns:p14="http://schemas.microsoft.com/office/powerpoint/2010/main" val="401691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18</a:t>
            </a:fld>
            <a:endParaRPr lang="en-BE"/>
          </a:p>
        </p:txBody>
      </p:sp>
    </p:spTree>
    <p:extLst>
      <p:ext uri="{BB962C8B-B14F-4D97-AF65-F5344CB8AC3E}">
        <p14:creationId xmlns:p14="http://schemas.microsoft.com/office/powerpoint/2010/main" val="3725348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19</a:t>
            </a:fld>
            <a:endParaRPr lang="en-BE"/>
          </a:p>
        </p:txBody>
      </p:sp>
    </p:spTree>
    <p:extLst>
      <p:ext uri="{BB962C8B-B14F-4D97-AF65-F5344CB8AC3E}">
        <p14:creationId xmlns:p14="http://schemas.microsoft.com/office/powerpoint/2010/main" val="770229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number for ‘</a:t>
            </a:r>
            <a:r>
              <a:rPr lang="en-US" dirty="0" err="1"/>
              <a:t>realtime</a:t>
            </a:r>
            <a:r>
              <a:rPr lang="en-US" dirty="0"/>
              <a:t>’ is 30 frames per second. This means rendering is fast enough that a user doesn’t notice the image is made out of separate frames (it’s fluid).</a:t>
            </a:r>
          </a:p>
          <a:p>
            <a:endParaRPr lang="en-US" dirty="0"/>
          </a:p>
          <a:p>
            <a:r>
              <a:rPr lang="en-US" dirty="0"/>
              <a:t>Another term is ‘interactive’, usually somewhere 10-15fps This is enough time for a user to interact with the system (</a:t>
            </a:r>
            <a:r>
              <a:rPr lang="en-US" dirty="0" err="1"/>
              <a:t>eg</a:t>
            </a:r>
            <a:r>
              <a:rPr lang="en-US" dirty="0"/>
              <a:t> move the camera) and see it update (new image from new camera point) fast enough to not be annoying/unnatural. This is what you really should hit when doing a professional app (</a:t>
            </a:r>
            <a:r>
              <a:rPr lang="en-US" dirty="0" err="1"/>
              <a:t>eg</a:t>
            </a:r>
            <a:r>
              <a:rPr lang="en-US" dirty="0"/>
              <a:t> if you’re making something like blender.</a:t>
            </a:r>
          </a:p>
          <a:p>
            <a:endParaRPr lang="en-US" dirty="0"/>
          </a:p>
          <a:p>
            <a:r>
              <a:rPr lang="en-US" dirty="0"/>
              <a:t>Most games *have* to hit 30 fps to be allowed to be sold on consoles (most of the time anyway), but 60 fps is becoming more common.</a:t>
            </a:r>
          </a:p>
          <a:p>
            <a:endParaRPr lang="en-US" dirty="0"/>
          </a:p>
          <a:p>
            <a:r>
              <a:rPr lang="en-US" dirty="0"/>
              <a:t>VR is often quoted on having at least 90fps as a bare minimum to avoid nausea, but there’s a ton of interesting magic happening behind the scenes that that doesn’t translate to the frames you see  through the headset</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20</a:t>
            </a:fld>
            <a:endParaRPr lang="en-BE"/>
          </a:p>
        </p:txBody>
      </p:sp>
    </p:spTree>
    <p:extLst>
      <p:ext uri="{BB962C8B-B14F-4D97-AF65-F5344CB8AC3E}">
        <p14:creationId xmlns:p14="http://schemas.microsoft.com/office/powerpoint/2010/main" val="34783330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21</a:t>
            </a:fld>
            <a:endParaRPr lang="en-BE"/>
          </a:p>
        </p:txBody>
      </p:sp>
    </p:spTree>
    <p:extLst>
      <p:ext uri="{BB962C8B-B14F-4D97-AF65-F5344CB8AC3E}">
        <p14:creationId xmlns:p14="http://schemas.microsoft.com/office/powerpoint/2010/main" val="4287203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22</a:t>
            </a:fld>
            <a:endParaRPr lang="en-BE"/>
          </a:p>
        </p:txBody>
      </p:sp>
    </p:spTree>
    <p:extLst>
      <p:ext uri="{BB962C8B-B14F-4D97-AF65-F5344CB8AC3E}">
        <p14:creationId xmlns:p14="http://schemas.microsoft.com/office/powerpoint/2010/main" val="3491114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understand how an existing games calculates what color a pixel is, we’ll have learned everything we need to learn in this course</a:t>
            </a:r>
          </a:p>
          <a:p>
            <a:endParaRPr lang="en-US" dirty="0"/>
          </a:p>
          <a:p>
            <a:r>
              <a:rPr lang="en-US" dirty="0"/>
              <a:t>The fact that we’re doing it in Unity is actually not *that* important, most of the knowledge we have is transferable to any engine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23</a:t>
            </a:fld>
            <a:endParaRPr lang="en-BE"/>
          </a:p>
        </p:txBody>
      </p:sp>
    </p:spTree>
    <p:extLst>
      <p:ext uri="{BB962C8B-B14F-4D97-AF65-F5344CB8AC3E}">
        <p14:creationId xmlns:p14="http://schemas.microsoft.com/office/powerpoint/2010/main" val="23535674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24</a:t>
            </a:fld>
            <a:endParaRPr lang="en-BE"/>
          </a:p>
        </p:txBody>
      </p:sp>
    </p:spTree>
    <p:extLst>
      <p:ext uri="{BB962C8B-B14F-4D97-AF65-F5344CB8AC3E}">
        <p14:creationId xmlns:p14="http://schemas.microsoft.com/office/powerpoint/2010/main" val="346061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25</a:t>
            </a:fld>
            <a:endParaRPr lang="en-BE"/>
          </a:p>
        </p:txBody>
      </p:sp>
    </p:spTree>
    <p:extLst>
      <p:ext uri="{BB962C8B-B14F-4D97-AF65-F5344CB8AC3E}">
        <p14:creationId xmlns:p14="http://schemas.microsoft.com/office/powerpoint/2010/main" val="42531562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26</a:t>
            </a:fld>
            <a:endParaRPr lang="en-BE"/>
          </a:p>
        </p:txBody>
      </p:sp>
    </p:spTree>
    <p:extLst>
      <p:ext uri="{BB962C8B-B14F-4D97-AF65-F5344CB8AC3E}">
        <p14:creationId xmlns:p14="http://schemas.microsoft.com/office/powerpoint/2010/main" val="2178613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27</a:t>
            </a:fld>
            <a:endParaRPr lang="en-BE"/>
          </a:p>
        </p:txBody>
      </p:sp>
    </p:spTree>
    <p:extLst>
      <p:ext uri="{BB962C8B-B14F-4D97-AF65-F5344CB8AC3E}">
        <p14:creationId xmlns:p14="http://schemas.microsoft.com/office/powerpoint/2010/main" val="37681955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28</a:t>
            </a:fld>
            <a:endParaRPr lang="en-BE"/>
          </a:p>
        </p:txBody>
      </p:sp>
    </p:spTree>
    <p:extLst>
      <p:ext uri="{BB962C8B-B14F-4D97-AF65-F5344CB8AC3E}">
        <p14:creationId xmlns:p14="http://schemas.microsoft.com/office/powerpoint/2010/main" val="35922646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29</a:t>
            </a:fld>
            <a:endParaRPr lang="en-BE"/>
          </a:p>
        </p:txBody>
      </p:sp>
    </p:spTree>
    <p:extLst>
      <p:ext uri="{BB962C8B-B14F-4D97-AF65-F5344CB8AC3E}">
        <p14:creationId xmlns:p14="http://schemas.microsoft.com/office/powerpoint/2010/main" val="6197326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30</a:t>
            </a:fld>
            <a:endParaRPr lang="en-BE"/>
          </a:p>
        </p:txBody>
      </p:sp>
    </p:spTree>
    <p:extLst>
      <p:ext uri="{BB962C8B-B14F-4D97-AF65-F5344CB8AC3E}">
        <p14:creationId xmlns:p14="http://schemas.microsoft.com/office/powerpoint/2010/main" val="21444244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31</a:t>
            </a:fld>
            <a:endParaRPr lang="en-BE"/>
          </a:p>
        </p:txBody>
      </p:sp>
    </p:spTree>
    <p:extLst>
      <p:ext uri="{BB962C8B-B14F-4D97-AF65-F5344CB8AC3E}">
        <p14:creationId xmlns:p14="http://schemas.microsoft.com/office/powerpoint/2010/main" val="24942613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32</a:t>
            </a:fld>
            <a:endParaRPr lang="en-BE"/>
          </a:p>
        </p:txBody>
      </p:sp>
    </p:spTree>
    <p:extLst>
      <p:ext uri="{BB962C8B-B14F-4D97-AF65-F5344CB8AC3E}">
        <p14:creationId xmlns:p14="http://schemas.microsoft.com/office/powerpoint/2010/main" val="23207663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idea is… if you have to rely on </a:t>
            </a:r>
            <a:r>
              <a:rPr lang="en-US" dirty="0" err="1"/>
              <a:t>chatgpt</a:t>
            </a:r>
            <a:r>
              <a:rPr lang="en-US" dirty="0"/>
              <a:t> for your project or 3d graphics knowledge, I, as a professional in the field, might as well use </a:t>
            </a:r>
            <a:r>
              <a:rPr lang="en-US" dirty="0" err="1"/>
              <a:t>chatgpt</a:t>
            </a:r>
            <a:r>
              <a:rPr lang="en-US" dirty="0"/>
              <a:t> myself.</a:t>
            </a:r>
          </a:p>
          <a:p>
            <a:endParaRPr lang="en-US" dirty="0"/>
          </a:p>
          <a:p>
            <a:r>
              <a:rPr lang="en-US" dirty="0"/>
              <a:t>But I won’t. No matter how good the AI model, it’ll be trained on publicly available code/discussion, which, in this field, is mostly hobbyist code. This is in large part due to a lot of research happening in private institutions, and even public research rarely published. </a:t>
            </a:r>
          </a:p>
        </p:txBody>
      </p:sp>
      <p:sp>
        <p:nvSpPr>
          <p:cNvPr id="4" name="Slide Number Placeholder 3"/>
          <p:cNvSpPr>
            <a:spLocks noGrp="1"/>
          </p:cNvSpPr>
          <p:nvPr>
            <p:ph type="sldNum" sz="quarter" idx="5"/>
          </p:nvPr>
        </p:nvSpPr>
        <p:spPr/>
        <p:txBody>
          <a:bodyPr/>
          <a:lstStyle/>
          <a:p>
            <a:fld id="{947F9D2B-EF00-4575-9013-113DEEFD58FD}" type="slidenum">
              <a:rPr lang="en-BE" smtClean="0"/>
              <a:t>33</a:t>
            </a:fld>
            <a:endParaRPr lang="en-BE"/>
          </a:p>
        </p:txBody>
      </p:sp>
    </p:spTree>
    <p:extLst>
      <p:ext uri="{BB962C8B-B14F-4D97-AF65-F5344CB8AC3E}">
        <p14:creationId xmlns:p14="http://schemas.microsoft.com/office/powerpoint/2010/main" val="9218095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34</a:t>
            </a:fld>
            <a:endParaRPr lang="en-BE"/>
          </a:p>
        </p:txBody>
      </p:sp>
    </p:spTree>
    <p:extLst>
      <p:ext uri="{BB962C8B-B14F-4D97-AF65-F5344CB8AC3E}">
        <p14:creationId xmlns:p14="http://schemas.microsoft.com/office/powerpoint/2010/main" val="15918266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35</a:t>
            </a:fld>
            <a:endParaRPr lang="en-BE"/>
          </a:p>
        </p:txBody>
      </p:sp>
    </p:spTree>
    <p:extLst>
      <p:ext uri="{BB962C8B-B14F-4D97-AF65-F5344CB8AC3E}">
        <p14:creationId xmlns:p14="http://schemas.microsoft.com/office/powerpoint/2010/main" val="11434002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36</a:t>
            </a:fld>
            <a:endParaRPr lang="en-BE"/>
          </a:p>
        </p:txBody>
      </p:sp>
    </p:spTree>
    <p:extLst>
      <p:ext uri="{BB962C8B-B14F-4D97-AF65-F5344CB8AC3E}">
        <p14:creationId xmlns:p14="http://schemas.microsoft.com/office/powerpoint/2010/main" val="31935008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37</a:t>
            </a:fld>
            <a:endParaRPr lang="en-BE"/>
          </a:p>
        </p:txBody>
      </p:sp>
    </p:spTree>
    <p:extLst>
      <p:ext uri="{BB962C8B-B14F-4D97-AF65-F5344CB8AC3E}">
        <p14:creationId xmlns:p14="http://schemas.microsoft.com/office/powerpoint/2010/main" val="33463567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38</a:t>
            </a:fld>
            <a:endParaRPr lang="en-BE"/>
          </a:p>
        </p:txBody>
      </p:sp>
    </p:spTree>
    <p:extLst>
      <p:ext uri="{BB962C8B-B14F-4D97-AF65-F5344CB8AC3E}">
        <p14:creationId xmlns:p14="http://schemas.microsoft.com/office/powerpoint/2010/main" val="21891494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39</a:t>
            </a:fld>
            <a:endParaRPr lang="en-BE"/>
          </a:p>
        </p:txBody>
      </p:sp>
    </p:spTree>
    <p:extLst>
      <p:ext uri="{BB962C8B-B14F-4D97-AF65-F5344CB8AC3E}">
        <p14:creationId xmlns:p14="http://schemas.microsoft.com/office/powerpoint/2010/main" val="40456486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doing things ourself, it’s especially important when we’re learning. We can make very nice graphics in Unity without knowing how Unity does that. Unfortunately, for this course, this is exactly what we’re learning</a:t>
            </a:r>
          </a:p>
          <a:p>
            <a:endParaRPr lang="en-US" dirty="0"/>
          </a:p>
          <a:p>
            <a:r>
              <a:rPr lang="en-US" dirty="0"/>
              <a:t>By uncertain future I mean that there’s been some news of recent layoffs at Unity, and pricing changes that some people found excessive.  That doesn’t really matter for us. For me Unity is widely used, and it uses C#. That makes it very attractive as a teaching tool.</a:t>
            </a:r>
          </a:p>
        </p:txBody>
      </p:sp>
      <p:sp>
        <p:nvSpPr>
          <p:cNvPr id="4" name="Slide Number Placeholder 3"/>
          <p:cNvSpPr>
            <a:spLocks noGrp="1"/>
          </p:cNvSpPr>
          <p:nvPr>
            <p:ph type="sldNum" sz="quarter" idx="5"/>
          </p:nvPr>
        </p:nvSpPr>
        <p:spPr/>
        <p:txBody>
          <a:bodyPr/>
          <a:lstStyle/>
          <a:p>
            <a:fld id="{947F9D2B-EF00-4575-9013-113DEEFD58FD}" type="slidenum">
              <a:rPr lang="en-BE" smtClean="0"/>
              <a:t>40</a:t>
            </a:fld>
            <a:endParaRPr lang="en-BE"/>
          </a:p>
        </p:txBody>
      </p:sp>
    </p:spTree>
    <p:extLst>
      <p:ext uri="{BB962C8B-B14F-4D97-AF65-F5344CB8AC3E}">
        <p14:creationId xmlns:p14="http://schemas.microsoft.com/office/powerpoint/2010/main" val="29959225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41</a:t>
            </a:fld>
            <a:endParaRPr lang="en-BE"/>
          </a:p>
        </p:txBody>
      </p:sp>
    </p:spTree>
    <p:extLst>
      <p:ext uri="{BB962C8B-B14F-4D97-AF65-F5344CB8AC3E}">
        <p14:creationId xmlns:p14="http://schemas.microsoft.com/office/powerpoint/2010/main" val="35694442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42</a:t>
            </a:fld>
            <a:endParaRPr lang="en-BE"/>
          </a:p>
        </p:txBody>
      </p:sp>
    </p:spTree>
    <p:extLst>
      <p:ext uri="{BB962C8B-B14F-4D97-AF65-F5344CB8AC3E}">
        <p14:creationId xmlns:p14="http://schemas.microsoft.com/office/powerpoint/2010/main" val="2095506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43</a:t>
            </a:fld>
            <a:endParaRPr lang="en-BE"/>
          </a:p>
        </p:txBody>
      </p:sp>
    </p:spTree>
    <p:extLst>
      <p:ext uri="{BB962C8B-B14F-4D97-AF65-F5344CB8AC3E}">
        <p14:creationId xmlns:p14="http://schemas.microsoft.com/office/powerpoint/2010/main" val="3842382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44</a:t>
            </a:fld>
            <a:endParaRPr lang="en-BE"/>
          </a:p>
        </p:txBody>
      </p:sp>
    </p:spTree>
    <p:extLst>
      <p:ext uri="{BB962C8B-B14F-4D97-AF65-F5344CB8AC3E}">
        <p14:creationId xmlns:p14="http://schemas.microsoft.com/office/powerpoint/2010/main" val="28656227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45</a:t>
            </a:fld>
            <a:endParaRPr lang="en-BE"/>
          </a:p>
        </p:txBody>
      </p:sp>
    </p:spTree>
    <p:extLst>
      <p:ext uri="{BB962C8B-B14F-4D97-AF65-F5344CB8AC3E}">
        <p14:creationId xmlns:p14="http://schemas.microsoft.com/office/powerpoint/2010/main" val="28369904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46</a:t>
            </a:fld>
            <a:endParaRPr lang="en-BE"/>
          </a:p>
        </p:txBody>
      </p:sp>
    </p:spTree>
    <p:extLst>
      <p:ext uri="{BB962C8B-B14F-4D97-AF65-F5344CB8AC3E}">
        <p14:creationId xmlns:p14="http://schemas.microsoft.com/office/powerpoint/2010/main" val="28082608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47</a:t>
            </a:fld>
            <a:endParaRPr lang="en-BE"/>
          </a:p>
        </p:txBody>
      </p:sp>
    </p:spTree>
    <p:extLst>
      <p:ext uri="{BB962C8B-B14F-4D97-AF65-F5344CB8AC3E}">
        <p14:creationId xmlns:p14="http://schemas.microsoft.com/office/powerpoint/2010/main" val="29917788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48</a:t>
            </a:fld>
            <a:endParaRPr lang="en-BE"/>
          </a:p>
        </p:txBody>
      </p:sp>
    </p:spTree>
    <p:extLst>
      <p:ext uri="{BB962C8B-B14F-4D97-AF65-F5344CB8AC3E}">
        <p14:creationId xmlns:p14="http://schemas.microsoft.com/office/powerpoint/2010/main" val="39650769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49</a:t>
            </a:fld>
            <a:endParaRPr lang="en-BE"/>
          </a:p>
        </p:txBody>
      </p:sp>
    </p:spTree>
    <p:extLst>
      <p:ext uri="{BB962C8B-B14F-4D97-AF65-F5344CB8AC3E}">
        <p14:creationId xmlns:p14="http://schemas.microsoft.com/office/powerpoint/2010/main" val="22974492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50</a:t>
            </a:fld>
            <a:endParaRPr lang="en-BE"/>
          </a:p>
        </p:txBody>
      </p:sp>
    </p:spTree>
    <p:extLst>
      <p:ext uri="{BB962C8B-B14F-4D97-AF65-F5344CB8AC3E}">
        <p14:creationId xmlns:p14="http://schemas.microsoft.com/office/powerpoint/2010/main" val="18674720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51</a:t>
            </a:fld>
            <a:endParaRPr lang="en-BE"/>
          </a:p>
        </p:txBody>
      </p:sp>
    </p:spTree>
    <p:extLst>
      <p:ext uri="{BB962C8B-B14F-4D97-AF65-F5344CB8AC3E}">
        <p14:creationId xmlns:p14="http://schemas.microsoft.com/office/powerpoint/2010/main" val="10880982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52</a:t>
            </a:fld>
            <a:endParaRPr lang="en-BE"/>
          </a:p>
        </p:txBody>
      </p:sp>
    </p:spTree>
    <p:extLst>
      <p:ext uri="{BB962C8B-B14F-4D97-AF65-F5344CB8AC3E}">
        <p14:creationId xmlns:p14="http://schemas.microsoft.com/office/powerpoint/2010/main" val="25926695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53</a:t>
            </a:fld>
            <a:endParaRPr lang="en-BE"/>
          </a:p>
        </p:txBody>
      </p:sp>
    </p:spTree>
    <p:extLst>
      <p:ext uri="{BB962C8B-B14F-4D97-AF65-F5344CB8AC3E}">
        <p14:creationId xmlns:p14="http://schemas.microsoft.com/office/powerpoint/2010/main" val="29977234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54</a:t>
            </a:fld>
            <a:endParaRPr lang="en-BE"/>
          </a:p>
        </p:txBody>
      </p:sp>
    </p:spTree>
    <p:extLst>
      <p:ext uri="{BB962C8B-B14F-4D97-AF65-F5344CB8AC3E}">
        <p14:creationId xmlns:p14="http://schemas.microsoft.com/office/powerpoint/2010/main" val="41039305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55</a:t>
            </a:fld>
            <a:endParaRPr lang="en-BE"/>
          </a:p>
        </p:txBody>
      </p:sp>
    </p:spTree>
    <p:extLst>
      <p:ext uri="{BB962C8B-B14F-4D97-AF65-F5344CB8AC3E}">
        <p14:creationId xmlns:p14="http://schemas.microsoft.com/office/powerpoint/2010/main" val="7101824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56</a:t>
            </a:fld>
            <a:endParaRPr lang="en-BE"/>
          </a:p>
        </p:txBody>
      </p:sp>
    </p:spTree>
    <p:extLst>
      <p:ext uri="{BB962C8B-B14F-4D97-AF65-F5344CB8AC3E}">
        <p14:creationId xmlns:p14="http://schemas.microsoft.com/office/powerpoint/2010/main" val="37281080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57</a:t>
            </a:fld>
            <a:endParaRPr lang="en-BE"/>
          </a:p>
        </p:txBody>
      </p:sp>
    </p:spTree>
    <p:extLst>
      <p:ext uri="{BB962C8B-B14F-4D97-AF65-F5344CB8AC3E}">
        <p14:creationId xmlns:p14="http://schemas.microsoft.com/office/powerpoint/2010/main" val="15189766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58</a:t>
            </a:fld>
            <a:endParaRPr lang="en-BE"/>
          </a:p>
        </p:txBody>
      </p:sp>
    </p:spTree>
    <p:extLst>
      <p:ext uri="{BB962C8B-B14F-4D97-AF65-F5344CB8AC3E}">
        <p14:creationId xmlns:p14="http://schemas.microsoft.com/office/powerpoint/2010/main" val="26941484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59</a:t>
            </a:fld>
            <a:endParaRPr lang="en-BE"/>
          </a:p>
        </p:txBody>
      </p:sp>
    </p:spTree>
    <p:extLst>
      <p:ext uri="{BB962C8B-B14F-4D97-AF65-F5344CB8AC3E}">
        <p14:creationId xmlns:p14="http://schemas.microsoft.com/office/powerpoint/2010/main" val="25050372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60</a:t>
            </a:fld>
            <a:endParaRPr lang="en-BE"/>
          </a:p>
        </p:txBody>
      </p:sp>
    </p:spTree>
    <p:extLst>
      <p:ext uri="{BB962C8B-B14F-4D97-AF65-F5344CB8AC3E}">
        <p14:creationId xmlns:p14="http://schemas.microsoft.com/office/powerpoint/2010/main" val="4689169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61</a:t>
            </a:fld>
            <a:endParaRPr lang="en-BE"/>
          </a:p>
        </p:txBody>
      </p:sp>
    </p:spTree>
    <p:extLst>
      <p:ext uri="{BB962C8B-B14F-4D97-AF65-F5344CB8AC3E}">
        <p14:creationId xmlns:p14="http://schemas.microsoft.com/office/powerpoint/2010/main" val="26344340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62</a:t>
            </a:fld>
            <a:endParaRPr lang="en-BE"/>
          </a:p>
        </p:txBody>
      </p:sp>
    </p:spTree>
    <p:extLst>
      <p:ext uri="{BB962C8B-B14F-4D97-AF65-F5344CB8AC3E}">
        <p14:creationId xmlns:p14="http://schemas.microsoft.com/office/powerpoint/2010/main" val="39716918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63</a:t>
            </a:fld>
            <a:endParaRPr lang="en-BE"/>
          </a:p>
        </p:txBody>
      </p:sp>
    </p:spTree>
    <p:extLst>
      <p:ext uri="{BB962C8B-B14F-4D97-AF65-F5344CB8AC3E}">
        <p14:creationId xmlns:p14="http://schemas.microsoft.com/office/powerpoint/2010/main" val="15257199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64</a:t>
            </a:fld>
            <a:endParaRPr lang="en-BE"/>
          </a:p>
        </p:txBody>
      </p:sp>
    </p:spTree>
    <p:extLst>
      <p:ext uri="{BB962C8B-B14F-4D97-AF65-F5344CB8AC3E}">
        <p14:creationId xmlns:p14="http://schemas.microsoft.com/office/powerpoint/2010/main" val="6280229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65</a:t>
            </a:fld>
            <a:endParaRPr lang="en-BE"/>
          </a:p>
        </p:txBody>
      </p:sp>
    </p:spTree>
    <p:extLst>
      <p:ext uri="{BB962C8B-B14F-4D97-AF65-F5344CB8AC3E}">
        <p14:creationId xmlns:p14="http://schemas.microsoft.com/office/powerpoint/2010/main" val="4514728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66</a:t>
            </a:fld>
            <a:endParaRPr lang="en-BE"/>
          </a:p>
        </p:txBody>
      </p:sp>
    </p:spTree>
    <p:extLst>
      <p:ext uri="{BB962C8B-B14F-4D97-AF65-F5344CB8AC3E}">
        <p14:creationId xmlns:p14="http://schemas.microsoft.com/office/powerpoint/2010/main" val="9535355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67</a:t>
            </a:fld>
            <a:endParaRPr lang="en-BE"/>
          </a:p>
        </p:txBody>
      </p:sp>
    </p:spTree>
    <p:extLst>
      <p:ext uri="{BB962C8B-B14F-4D97-AF65-F5344CB8AC3E}">
        <p14:creationId xmlns:p14="http://schemas.microsoft.com/office/powerpoint/2010/main" val="14715457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68</a:t>
            </a:fld>
            <a:endParaRPr lang="en-BE"/>
          </a:p>
        </p:txBody>
      </p:sp>
    </p:spTree>
    <p:extLst>
      <p:ext uri="{BB962C8B-B14F-4D97-AF65-F5344CB8AC3E}">
        <p14:creationId xmlns:p14="http://schemas.microsoft.com/office/powerpoint/2010/main" val="18865177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know from me referencing it all the time, this is very important and an unmissable part of calculating lighting</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69</a:t>
            </a:fld>
            <a:endParaRPr lang="en-BE"/>
          </a:p>
        </p:txBody>
      </p:sp>
    </p:spTree>
    <p:extLst>
      <p:ext uri="{BB962C8B-B14F-4D97-AF65-F5344CB8AC3E}">
        <p14:creationId xmlns:p14="http://schemas.microsoft.com/office/powerpoint/2010/main" val="249927061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70</a:t>
            </a:fld>
            <a:endParaRPr lang="en-BE"/>
          </a:p>
        </p:txBody>
      </p:sp>
    </p:spTree>
    <p:extLst>
      <p:ext uri="{BB962C8B-B14F-4D97-AF65-F5344CB8AC3E}">
        <p14:creationId xmlns:p14="http://schemas.microsoft.com/office/powerpoint/2010/main" val="13338717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normal is always length 1.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71</a:t>
            </a:fld>
            <a:endParaRPr lang="en-BE"/>
          </a:p>
        </p:txBody>
      </p:sp>
    </p:spTree>
    <p:extLst>
      <p:ext uri="{BB962C8B-B14F-4D97-AF65-F5344CB8AC3E}">
        <p14:creationId xmlns:p14="http://schemas.microsoft.com/office/powerpoint/2010/main" val="11453959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72</a:t>
            </a:fld>
            <a:endParaRPr lang="en-BE"/>
          </a:p>
        </p:txBody>
      </p:sp>
    </p:spTree>
    <p:extLst>
      <p:ext uri="{BB962C8B-B14F-4D97-AF65-F5344CB8AC3E}">
        <p14:creationId xmlns:p14="http://schemas.microsoft.com/office/powerpoint/2010/main" val="23569255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the direction the light is coming from</a:t>
            </a:r>
          </a:p>
          <a:p>
            <a:endParaRPr lang="en-US" dirty="0"/>
          </a:p>
          <a:p>
            <a:r>
              <a:rPr lang="en-US" dirty="0"/>
              <a:t>Why? </a:t>
            </a:r>
          </a:p>
          <a:p>
            <a:endParaRPr lang="en-US" dirty="0"/>
          </a:p>
          <a:p>
            <a:r>
              <a:rPr lang="en-US" dirty="0"/>
              <a:t>Well, imagine a flashlight. Shining it at your feet is a lot brighter on the ground than shining it forward. The last step calculates exactly how bright the object is depending on the relationship between the normal, and the light direction. That relation is calculated using the dot product.</a:t>
            </a:r>
          </a:p>
        </p:txBody>
      </p:sp>
      <p:sp>
        <p:nvSpPr>
          <p:cNvPr id="4" name="Slide Number Placeholder 3"/>
          <p:cNvSpPr>
            <a:spLocks noGrp="1"/>
          </p:cNvSpPr>
          <p:nvPr>
            <p:ph type="sldNum" sz="quarter" idx="5"/>
          </p:nvPr>
        </p:nvSpPr>
        <p:spPr/>
        <p:txBody>
          <a:bodyPr/>
          <a:lstStyle/>
          <a:p>
            <a:fld id="{947F9D2B-EF00-4575-9013-113DEEFD58FD}" type="slidenum">
              <a:rPr lang="en-BE" smtClean="0"/>
              <a:t>73</a:t>
            </a:fld>
            <a:endParaRPr lang="en-BE"/>
          </a:p>
        </p:txBody>
      </p:sp>
    </p:spTree>
    <p:extLst>
      <p:ext uri="{BB962C8B-B14F-4D97-AF65-F5344CB8AC3E}">
        <p14:creationId xmlns:p14="http://schemas.microsoft.com/office/powerpoint/2010/main" val="1603995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combine the normal and the light direction, using a function that computes how close those two vector are in direction.</a:t>
            </a:r>
          </a:p>
          <a:p>
            <a:endParaRPr lang="en-US" dirty="0"/>
          </a:p>
          <a:p>
            <a:r>
              <a:rPr lang="en-US" dirty="0"/>
              <a:t>If it returns 1, they’re perfectly the same in direction</a:t>
            </a:r>
          </a:p>
          <a:p>
            <a:r>
              <a:rPr lang="en-US" dirty="0"/>
              <a:t>Between 0-1, they’re more or less pointing in the same direction</a:t>
            </a:r>
          </a:p>
          <a:p>
            <a:r>
              <a:rPr lang="en-US" dirty="0"/>
              <a:t>0 and they’re perfectly perpendicular</a:t>
            </a:r>
          </a:p>
          <a:p>
            <a:r>
              <a:rPr lang="en-US" dirty="0"/>
              <a:t>Negative, and they’re pointing away from </a:t>
            </a:r>
            <a:r>
              <a:rPr lang="en-US" dirty="0" err="1"/>
              <a:t>eachother</a:t>
            </a:r>
            <a:endParaRPr lang="en-US" dirty="0"/>
          </a:p>
        </p:txBody>
      </p:sp>
      <p:sp>
        <p:nvSpPr>
          <p:cNvPr id="4" name="Slide Number Placeholder 3"/>
          <p:cNvSpPr>
            <a:spLocks noGrp="1"/>
          </p:cNvSpPr>
          <p:nvPr>
            <p:ph type="sldNum" sz="quarter" idx="5"/>
          </p:nvPr>
        </p:nvSpPr>
        <p:spPr/>
        <p:txBody>
          <a:bodyPr/>
          <a:lstStyle/>
          <a:p>
            <a:fld id="{947F9D2B-EF00-4575-9013-113DEEFD58FD}" type="slidenum">
              <a:rPr lang="en-BE" smtClean="0"/>
              <a:t>74</a:t>
            </a:fld>
            <a:endParaRPr lang="en-BE"/>
          </a:p>
        </p:txBody>
      </p:sp>
    </p:spTree>
    <p:extLst>
      <p:ext uri="{BB962C8B-B14F-4D97-AF65-F5344CB8AC3E}">
        <p14:creationId xmlns:p14="http://schemas.microsoft.com/office/powerpoint/2010/main" val="19044396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75</a:t>
            </a:fld>
            <a:endParaRPr lang="en-BE"/>
          </a:p>
        </p:txBody>
      </p:sp>
    </p:spTree>
    <p:extLst>
      <p:ext uri="{BB962C8B-B14F-4D97-AF65-F5344CB8AC3E}">
        <p14:creationId xmlns:p14="http://schemas.microsoft.com/office/powerpoint/2010/main" val="27627892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76</a:t>
            </a:fld>
            <a:endParaRPr lang="en-BE"/>
          </a:p>
        </p:txBody>
      </p:sp>
    </p:spTree>
    <p:extLst>
      <p:ext uri="{BB962C8B-B14F-4D97-AF65-F5344CB8AC3E}">
        <p14:creationId xmlns:p14="http://schemas.microsoft.com/office/powerpoint/2010/main" val="77365777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77</a:t>
            </a:fld>
            <a:endParaRPr lang="en-BE"/>
          </a:p>
        </p:txBody>
      </p:sp>
    </p:spTree>
    <p:extLst>
      <p:ext uri="{BB962C8B-B14F-4D97-AF65-F5344CB8AC3E}">
        <p14:creationId xmlns:p14="http://schemas.microsoft.com/office/powerpoint/2010/main" val="109154249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78</a:t>
            </a:fld>
            <a:endParaRPr lang="en-BE"/>
          </a:p>
        </p:txBody>
      </p:sp>
    </p:spTree>
    <p:extLst>
      <p:ext uri="{BB962C8B-B14F-4D97-AF65-F5344CB8AC3E}">
        <p14:creationId xmlns:p14="http://schemas.microsoft.com/office/powerpoint/2010/main" val="297733906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79</a:t>
            </a:fld>
            <a:endParaRPr lang="en-BE"/>
          </a:p>
        </p:txBody>
      </p:sp>
    </p:spTree>
    <p:extLst>
      <p:ext uri="{BB962C8B-B14F-4D97-AF65-F5344CB8AC3E}">
        <p14:creationId xmlns:p14="http://schemas.microsoft.com/office/powerpoint/2010/main" val="22185971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80</a:t>
            </a:fld>
            <a:endParaRPr lang="en-BE"/>
          </a:p>
        </p:txBody>
      </p:sp>
    </p:spTree>
    <p:extLst>
      <p:ext uri="{BB962C8B-B14F-4D97-AF65-F5344CB8AC3E}">
        <p14:creationId xmlns:p14="http://schemas.microsoft.com/office/powerpoint/2010/main" val="155414263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81</a:t>
            </a:fld>
            <a:endParaRPr lang="en-BE"/>
          </a:p>
        </p:txBody>
      </p:sp>
    </p:spTree>
    <p:extLst>
      <p:ext uri="{BB962C8B-B14F-4D97-AF65-F5344CB8AC3E}">
        <p14:creationId xmlns:p14="http://schemas.microsoft.com/office/powerpoint/2010/main" val="112678799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82</a:t>
            </a:fld>
            <a:endParaRPr lang="en-BE"/>
          </a:p>
        </p:txBody>
      </p:sp>
    </p:spTree>
    <p:extLst>
      <p:ext uri="{BB962C8B-B14F-4D97-AF65-F5344CB8AC3E}">
        <p14:creationId xmlns:p14="http://schemas.microsoft.com/office/powerpoint/2010/main" val="13409830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83</a:t>
            </a:fld>
            <a:endParaRPr lang="en-BE"/>
          </a:p>
        </p:txBody>
      </p:sp>
    </p:spTree>
    <p:extLst>
      <p:ext uri="{BB962C8B-B14F-4D97-AF65-F5344CB8AC3E}">
        <p14:creationId xmlns:p14="http://schemas.microsoft.com/office/powerpoint/2010/main" val="83644278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84</a:t>
            </a:fld>
            <a:endParaRPr lang="en-BE"/>
          </a:p>
        </p:txBody>
      </p:sp>
    </p:spTree>
    <p:extLst>
      <p:ext uri="{BB962C8B-B14F-4D97-AF65-F5344CB8AC3E}">
        <p14:creationId xmlns:p14="http://schemas.microsoft.com/office/powerpoint/2010/main" val="426771483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85</a:t>
            </a:fld>
            <a:endParaRPr lang="en-BE"/>
          </a:p>
        </p:txBody>
      </p:sp>
    </p:spTree>
    <p:extLst>
      <p:ext uri="{BB962C8B-B14F-4D97-AF65-F5344CB8AC3E}">
        <p14:creationId xmlns:p14="http://schemas.microsoft.com/office/powerpoint/2010/main" val="185884491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86</a:t>
            </a:fld>
            <a:endParaRPr lang="en-BE"/>
          </a:p>
        </p:txBody>
      </p:sp>
    </p:spTree>
    <p:extLst>
      <p:ext uri="{BB962C8B-B14F-4D97-AF65-F5344CB8AC3E}">
        <p14:creationId xmlns:p14="http://schemas.microsoft.com/office/powerpoint/2010/main" val="2921617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87</a:t>
            </a:fld>
            <a:endParaRPr lang="en-BE"/>
          </a:p>
        </p:txBody>
      </p:sp>
    </p:spTree>
    <p:extLst>
      <p:ext uri="{BB962C8B-B14F-4D97-AF65-F5344CB8AC3E}">
        <p14:creationId xmlns:p14="http://schemas.microsoft.com/office/powerpoint/2010/main" val="245040023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88</a:t>
            </a:fld>
            <a:endParaRPr lang="en-BE"/>
          </a:p>
        </p:txBody>
      </p:sp>
    </p:spTree>
    <p:extLst>
      <p:ext uri="{BB962C8B-B14F-4D97-AF65-F5344CB8AC3E}">
        <p14:creationId xmlns:p14="http://schemas.microsoft.com/office/powerpoint/2010/main" val="42823571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89</a:t>
            </a:fld>
            <a:endParaRPr lang="en-BE"/>
          </a:p>
        </p:txBody>
      </p:sp>
    </p:spTree>
    <p:extLst>
      <p:ext uri="{BB962C8B-B14F-4D97-AF65-F5344CB8AC3E}">
        <p14:creationId xmlns:p14="http://schemas.microsoft.com/office/powerpoint/2010/main" val="120239795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90</a:t>
            </a:fld>
            <a:endParaRPr lang="en-BE"/>
          </a:p>
        </p:txBody>
      </p:sp>
    </p:spTree>
    <p:extLst>
      <p:ext uri="{BB962C8B-B14F-4D97-AF65-F5344CB8AC3E}">
        <p14:creationId xmlns:p14="http://schemas.microsoft.com/office/powerpoint/2010/main" val="202161840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91</a:t>
            </a:fld>
            <a:endParaRPr lang="en-BE"/>
          </a:p>
        </p:txBody>
      </p:sp>
    </p:spTree>
    <p:extLst>
      <p:ext uri="{BB962C8B-B14F-4D97-AF65-F5344CB8AC3E}">
        <p14:creationId xmlns:p14="http://schemas.microsoft.com/office/powerpoint/2010/main" val="35985061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92</a:t>
            </a:fld>
            <a:endParaRPr lang="en-BE"/>
          </a:p>
        </p:txBody>
      </p:sp>
    </p:spTree>
    <p:extLst>
      <p:ext uri="{BB962C8B-B14F-4D97-AF65-F5344CB8AC3E}">
        <p14:creationId xmlns:p14="http://schemas.microsoft.com/office/powerpoint/2010/main" val="333808543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93</a:t>
            </a:fld>
            <a:endParaRPr lang="en-BE"/>
          </a:p>
        </p:txBody>
      </p:sp>
    </p:spTree>
    <p:extLst>
      <p:ext uri="{BB962C8B-B14F-4D97-AF65-F5344CB8AC3E}">
        <p14:creationId xmlns:p14="http://schemas.microsoft.com/office/powerpoint/2010/main" val="94429330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94</a:t>
            </a:fld>
            <a:endParaRPr lang="en-BE"/>
          </a:p>
        </p:txBody>
      </p:sp>
    </p:spTree>
    <p:extLst>
      <p:ext uri="{BB962C8B-B14F-4D97-AF65-F5344CB8AC3E}">
        <p14:creationId xmlns:p14="http://schemas.microsoft.com/office/powerpoint/2010/main" val="392843560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95</a:t>
            </a:fld>
            <a:endParaRPr lang="en-BE"/>
          </a:p>
        </p:txBody>
      </p:sp>
    </p:spTree>
    <p:extLst>
      <p:ext uri="{BB962C8B-B14F-4D97-AF65-F5344CB8AC3E}">
        <p14:creationId xmlns:p14="http://schemas.microsoft.com/office/powerpoint/2010/main" val="26439743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1A99A4F-35CE-47F0-8C3E-203AE0949DAD}"/>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8666640" y="203420"/>
            <a:ext cx="3297850" cy="1261472"/>
          </a:xfrm>
          <a:prstGeom prst="rect">
            <a:avLst/>
          </a:prstGeom>
          <a:noFill/>
          <a:extLst>
            <a:ext uri="{909E8E84-426E-40DD-AFC4-6F175D3DCCD1}">
              <a14:hiddenFill xmlns:a14="http://schemas.microsoft.com/office/drawing/2010/main">
                <a:solidFill>
                  <a:srgbClr val="FFFFFF"/>
                </a:solidFill>
              </a14:hiddenFill>
            </a:ext>
          </a:extLst>
        </p:spPr>
      </p:pic>
      <p:sp>
        <p:nvSpPr>
          <p:cNvPr id="26" name="Ondertitel 2">
            <a:extLst>
              <a:ext uri="{FF2B5EF4-FFF2-40B4-BE49-F238E27FC236}">
                <a16:creationId xmlns:a16="http://schemas.microsoft.com/office/drawing/2014/main" id="{7A68A714-4E45-4A04-B828-B282FA62E7BB}"/>
              </a:ext>
            </a:extLst>
          </p:cNvPr>
          <p:cNvSpPr txBox="1">
            <a:spLocks/>
          </p:cNvSpPr>
          <p:nvPr/>
        </p:nvSpPr>
        <p:spPr>
          <a:xfrm>
            <a:off x="1450282" y="5343926"/>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28" name="Ondertitel 2">
            <a:extLst>
              <a:ext uri="{FF2B5EF4-FFF2-40B4-BE49-F238E27FC236}">
                <a16:creationId xmlns:a16="http://schemas.microsoft.com/office/drawing/2014/main" id="{8A446F7F-F106-4612-85BC-FC020C0B34DC}"/>
              </a:ext>
            </a:extLst>
          </p:cNvPr>
          <p:cNvSpPr txBox="1">
            <a:spLocks/>
          </p:cNvSpPr>
          <p:nvPr/>
        </p:nvSpPr>
        <p:spPr>
          <a:xfrm>
            <a:off x="1450282" y="5898693"/>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36" name="Ondertitel 2">
            <a:extLst>
              <a:ext uri="{FF2B5EF4-FFF2-40B4-BE49-F238E27FC236}">
                <a16:creationId xmlns:a16="http://schemas.microsoft.com/office/drawing/2014/main" id="{DB1150AE-9B1F-43AF-B4A6-C1581C0B3127}"/>
              </a:ext>
            </a:extLst>
          </p:cNvPr>
          <p:cNvSpPr txBox="1">
            <a:spLocks/>
          </p:cNvSpPr>
          <p:nvPr/>
        </p:nvSpPr>
        <p:spPr>
          <a:xfrm>
            <a:off x="1" y="462498"/>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nl-NL" sz="1200" dirty="0"/>
              <a:t>Toegepaste Informatica</a:t>
            </a:r>
          </a:p>
        </p:txBody>
      </p:sp>
      <p:sp>
        <p:nvSpPr>
          <p:cNvPr id="38" name="Minteken 37">
            <a:extLst>
              <a:ext uri="{FF2B5EF4-FFF2-40B4-BE49-F238E27FC236}">
                <a16:creationId xmlns:a16="http://schemas.microsoft.com/office/drawing/2014/main" id="{FFEC5E01-43EA-497E-BCC0-939DBCAFA0AC}"/>
              </a:ext>
            </a:extLst>
          </p:cNvPr>
          <p:cNvSpPr/>
          <p:nvPr/>
        </p:nvSpPr>
        <p:spPr>
          <a:xfrm rot="5400000">
            <a:off x="-183168" y="5307680"/>
            <a:ext cx="2851263"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1" name="Ondertitel 2">
            <a:extLst>
              <a:ext uri="{FF2B5EF4-FFF2-40B4-BE49-F238E27FC236}">
                <a16:creationId xmlns:a16="http://schemas.microsoft.com/office/drawing/2014/main" id="{DCD259FC-79B5-41AB-BBC2-4D07C62B0949}"/>
              </a:ext>
            </a:extLst>
          </p:cNvPr>
          <p:cNvSpPr txBox="1">
            <a:spLocks/>
          </p:cNvSpPr>
          <p:nvPr/>
        </p:nvSpPr>
        <p:spPr>
          <a:xfrm>
            <a:off x="-31204" y="1442735"/>
            <a:ext cx="1481486"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endParaRPr>
          </a:p>
        </p:txBody>
      </p:sp>
      <p:sp>
        <p:nvSpPr>
          <p:cNvPr id="42" name="Minteken 41">
            <a:extLst>
              <a:ext uri="{FF2B5EF4-FFF2-40B4-BE49-F238E27FC236}">
                <a16:creationId xmlns:a16="http://schemas.microsoft.com/office/drawing/2014/main" id="{FB0D61FF-F819-41D6-9F0E-2A87A96AF34A}"/>
              </a:ext>
            </a:extLst>
          </p:cNvPr>
          <p:cNvSpPr/>
          <p:nvPr/>
        </p:nvSpPr>
        <p:spPr>
          <a:xfrm>
            <a:off x="-353435" y="166756"/>
            <a:ext cx="2776160"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3" name="Minteken 42">
            <a:extLst>
              <a:ext uri="{FF2B5EF4-FFF2-40B4-BE49-F238E27FC236}">
                <a16:creationId xmlns:a16="http://schemas.microsoft.com/office/drawing/2014/main" id="{1A9D60B7-98CA-44B4-A342-238265272E5D}"/>
              </a:ext>
            </a:extLst>
          </p:cNvPr>
          <p:cNvSpPr/>
          <p:nvPr/>
        </p:nvSpPr>
        <p:spPr>
          <a:xfrm>
            <a:off x="-221962" y="626338"/>
            <a:ext cx="1762587"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4" name="Minteken 43">
            <a:extLst>
              <a:ext uri="{FF2B5EF4-FFF2-40B4-BE49-F238E27FC236}">
                <a16:creationId xmlns:a16="http://schemas.microsoft.com/office/drawing/2014/main" id="{2AD40B60-09F3-42CA-BFC7-F232D5069233}"/>
              </a:ext>
            </a:extLst>
          </p:cNvPr>
          <p:cNvSpPr/>
          <p:nvPr/>
        </p:nvSpPr>
        <p:spPr>
          <a:xfrm>
            <a:off x="-155460" y="1111987"/>
            <a:ext cx="1256606"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14" name="Ondertitel 2">
            <a:extLst>
              <a:ext uri="{FF2B5EF4-FFF2-40B4-BE49-F238E27FC236}">
                <a16:creationId xmlns:a16="http://schemas.microsoft.com/office/drawing/2014/main" id="{DA9D40DB-B7E8-4A33-B5FB-9DD5105C49A1}"/>
              </a:ext>
            </a:extLst>
          </p:cNvPr>
          <p:cNvSpPr txBox="1">
            <a:spLocks/>
          </p:cNvSpPr>
          <p:nvPr/>
        </p:nvSpPr>
        <p:spPr>
          <a:xfrm>
            <a:off x="-31204" y="957086"/>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dirty="0"/>
          </a:p>
        </p:txBody>
      </p:sp>
      <p:sp>
        <p:nvSpPr>
          <p:cNvPr id="12" name="Tijdelijke aanduiding voor tekst 11">
            <a:extLst>
              <a:ext uri="{FF2B5EF4-FFF2-40B4-BE49-F238E27FC236}">
                <a16:creationId xmlns:a16="http://schemas.microsoft.com/office/drawing/2014/main" id="{684198A2-C59F-4C38-9F72-765E48FA8235}"/>
              </a:ext>
            </a:extLst>
          </p:cNvPr>
          <p:cNvSpPr>
            <a:spLocks noGrp="1"/>
          </p:cNvSpPr>
          <p:nvPr>
            <p:ph type="body" sz="quarter" idx="10" hasCustomPrompt="1"/>
          </p:nvPr>
        </p:nvSpPr>
        <p:spPr>
          <a:xfrm>
            <a:off x="1495855" y="4825632"/>
            <a:ext cx="1853739"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3D Graphics</a:t>
            </a:r>
          </a:p>
        </p:txBody>
      </p:sp>
      <p:sp>
        <p:nvSpPr>
          <p:cNvPr id="29" name="Tijdelijke aanduiding voor tekst 11">
            <a:extLst>
              <a:ext uri="{FF2B5EF4-FFF2-40B4-BE49-F238E27FC236}">
                <a16:creationId xmlns:a16="http://schemas.microsoft.com/office/drawing/2014/main" id="{9B9004F5-4339-48FE-B04B-599527A63599}"/>
              </a:ext>
            </a:extLst>
          </p:cNvPr>
          <p:cNvSpPr>
            <a:spLocks noGrp="1"/>
          </p:cNvSpPr>
          <p:nvPr>
            <p:ph type="body" sz="quarter" idx="11" hasCustomPrompt="1"/>
          </p:nvPr>
        </p:nvSpPr>
        <p:spPr>
          <a:xfrm>
            <a:off x="1495855" y="5411372"/>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Week 1a</a:t>
            </a:r>
          </a:p>
        </p:txBody>
      </p:sp>
      <p:sp>
        <p:nvSpPr>
          <p:cNvPr id="30" name="Tijdelijke aanduiding voor tekst 11">
            <a:extLst>
              <a:ext uri="{FF2B5EF4-FFF2-40B4-BE49-F238E27FC236}">
                <a16:creationId xmlns:a16="http://schemas.microsoft.com/office/drawing/2014/main" id="{73EE6705-1665-43A1-AB37-E50C48AA3F86}"/>
              </a:ext>
            </a:extLst>
          </p:cNvPr>
          <p:cNvSpPr>
            <a:spLocks noGrp="1"/>
          </p:cNvSpPr>
          <p:nvPr>
            <p:ph type="body" sz="quarter" idx="12" hasCustomPrompt="1"/>
          </p:nvPr>
        </p:nvSpPr>
        <p:spPr>
          <a:xfrm>
            <a:off x="1495855" y="5993878"/>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Daan Nijs</a:t>
            </a:r>
          </a:p>
        </p:txBody>
      </p:sp>
      <p:sp>
        <p:nvSpPr>
          <p:cNvPr id="17" name="Tijdelijke aanduiding voor tekst 16">
            <a:extLst>
              <a:ext uri="{FF2B5EF4-FFF2-40B4-BE49-F238E27FC236}">
                <a16:creationId xmlns:a16="http://schemas.microsoft.com/office/drawing/2014/main" id="{B2803BC5-4FBF-4FFC-8CD7-56A7494327D9}"/>
              </a:ext>
            </a:extLst>
          </p:cNvPr>
          <p:cNvSpPr>
            <a:spLocks noGrp="1"/>
          </p:cNvSpPr>
          <p:nvPr>
            <p:ph type="body" sz="quarter" idx="13" hasCustomPrompt="1"/>
          </p:nvPr>
        </p:nvSpPr>
        <p:spPr>
          <a:xfrm>
            <a:off x="12937" y="923475"/>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pPr lvl="0"/>
            <a:r>
              <a:rPr lang="nl-NL" dirty="0"/>
              <a:t>DE</a:t>
            </a:r>
            <a:endParaRPr lang="nl-BE" dirty="0"/>
          </a:p>
        </p:txBody>
      </p:sp>
      <p:sp>
        <p:nvSpPr>
          <p:cNvPr id="32" name="Tijdelijke aanduiding voor tekst 16">
            <a:extLst>
              <a:ext uri="{FF2B5EF4-FFF2-40B4-BE49-F238E27FC236}">
                <a16:creationId xmlns:a16="http://schemas.microsoft.com/office/drawing/2014/main" id="{2F60E031-BF26-44A1-A0B6-D48454BFD945}"/>
              </a:ext>
            </a:extLst>
          </p:cNvPr>
          <p:cNvSpPr>
            <a:spLocks noGrp="1"/>
          </p:cNvSpPr>
          <p:nvPr>
            <p:ph type="body" sz="quarter" idx="14" hasCustomPrompt="1"/>
          </p:nvPr>
        </p:nvSpPr>
        <p:spPr>
          <a:xfrm>
            <a:off x="12936" y="1429630"/>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rPr>
              <a:t>2023</a:t>
            </a:r>
          </a:p>
        </p:txBody>
      </p:sp>
      <p:pic>
        <p:nvPicPr>
          <p:cNvPr id="3" name="Picture 2" descr="A room with a white cube and red and green walls&#10;&#10;Description automatically generated">
            <a:extLst>
              <a:ext uri="{FF2B5EF4-FFF2-40B4-BE49-F238E27FC236}">
                <a16:creationId xmlns:a16="http://schemas.microsoft.com/office/drawing/2014/main" id="{52382748-B3A1-4041-F0B7-3FD688D997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97310" y="1463310"/>
            <a:ext cx="5394690" cy="5394690"/>
          </a:xfrm>
          <a:prstGeom prst="rect">
            <a:avLst/>
          </a:prstGeom>
        </p:spPr>
      </p:pic>
    </p:spTree>
    <p:extLst>
      <p:ext uri="{BB962C8B-B14F-4D97-AF65-F5344CB8AC3E}">
        <p14:creationId xmlns:p14="http://schemas.microsoft.com/office/powerpoint/2010/main" val="384022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1641C2-BF9B-4FDD-914E-B64C21E0036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10DFE554-7232-4244-8A56-332314AEEEC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4" name="Tijdelijke aanduiding voor voettekst 3">
            <a:extLst>
              <a:ext uri="{FF2B5EF4-FFF2-40B4-BE49-F238E27FC236}">
                <a16:creationId xmlns:a16="http://schemas.microsoft.com/office/drawing/2014/main" id="{DEC717CF-2817-47D4-8B6A-AC3FF5712DF8}"/>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BE2D9812-56C8-4D19-8865-A6D4C4A6D336}"/>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04279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F78E84-41E7-4C0B-9876-95A81A828B2F}"/>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BADAD563-D612-4769-9B0D-FF5F1C302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22BECD8B-CD05-4F1D-A5CC-3FEA703FE79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F562C523-B3D7-4EB4-A7D6-382F9B9CC4AA}"/>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389EF5C4-6487-432E-AB47-26229FE019EF}"/>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805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0F1C78-2104-4398-AD52-6781C48DD4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2E324310-16AB-4268-B0C6-CF8B77613A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60CD69EF-E63A-4D9C-8EFE-E80749E03A31}"/>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71547F23-F0D7-4208-A013-9AE0FF2EADD9}"/>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94AE972C-86E8-4E5F-8E59-2FB14076CEF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626318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7DCFF4-3B50-4930-AEAE-782904E7527C}"/>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19E7AE46-BCF9-47C8-9BCC-B7B1F520A3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inhoud 3">
            <a:extLst>
              <a:ext uri="{FF2B5EF4-FFF2-40B4-BE49-F238E27FC236}">
                <a16:creationId xmlns:a16="http://schemas.microsoft.com/office/drawing/2014/main" id="{B6C2F997-1F41-4A6F-9193-4DE7735ACD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datum 4">
            <a:extLst>
              <a:ext uri="{FF2B5EF4-FFF2-40B4-BE49-F238E27FC236}">
                <a16:creationId xmlns:a16="http://schemas.microsoft.com/office/drawing/2014/main" id="{3B370E2F-2B3F-41AC-9A34-276EA7450FA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CD63B9D7-3594-4F78-B540-B15463859D8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079CDB93-518D-4FDA-849A-10DC0942DF1D}"/>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44087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594D81-B112-42DA-9826-23E1C6113B41}"/>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5B25F2C9-29C7-4222-81BA-825176D7A8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Tijdelijke aanduiding voor inhoud 3">
            <a:extLst>
              <a:ext uri="{FF2B5EF4-FFF2-40B4-BE49-F238E27FC236}">
                <a16:creationId xmlns:a16="http://schemas.microsoft.com/office/drawing/2014/main" id="{07496213-5C84-46EC-B711-CDF9FF6B6B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tekst 4">
            <a:extLst>
              <a:ext uri="{FF2B5EF4-FFF2-40B4-BE49-F238E27FC236}">
                <a16:creationId xmlns:a16="http://schemas.microsoft.com/office/drawing/2014/main" id="{90DE4F81-0BA7-4244-BB5B-492AB97EF8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E79B47A1-EE33-4FAB-B7C3-E0E137931E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Tijdelijke aanduiding voor datum 6">
            <a:extLst>
              <a:ext uri="{FF2B5EF4-FFF2-40B4-BE49-F238E27FC236}">
                <a16:creationId xmlns:a16="http://schemas.microsoft.com/office/drawing/2014/main" id="{34D9D81A-0C3E-473B-ACBE-F498DB484952}"/>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8" name="Tijdelijke aanduiding voor voettekst 7">
            <a:extLst>
              <a:ext uri="{FF2B5EF4-FFF2-40B4-BE49-F238E27FC236}">
                <a16:creationId xmlns:a16="http://schemas.microsoft.com/office/drawing/2014/main" id="{58E84A63-52E6-431C-9002-3F2381DF1841}"/>
              </a:ext>
            </a:extLst>
          </p:cNvPr>
          <p:cNvSpPr>
            <a:spLocks noGrp="1"/>
          </p:cNvSpPr>
          <p:nvPr>
            <p:ph type="ftr" sz="quarter" idx="11"/>
          </p:nvPr>
        </p:nvSpPr>
        <p:spPr/>
        <p:txBody>
          <a:bodyPr/>
          <a:lstStyle/>
          <a:p>
            <a:endParaRPr lang="en-BE"/>
          </a:p>
        </p:txBody>
      </p:sp>
      <p:sp>
        <p:nvSpPr>
          <p:cNvPr id="9" name="Tijdelijke aanduiding voor dianummer 8">
            <a:extLst>
              <a:ext uri="{FF2B5EF4-FFF2-40B4-BE49-F238E27FC236}">
                <a16:creationId xmlns:a16="http://schemas.microsoft.com/office/drawing/2014/main" id="{D27C1939-B8AA-4E0F-96C6-B7E933D9F811}"/>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00847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ECCACC-50FC-4D5D-B072-A22D8C73E6F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B6B9E831-EE77-4B49-A32D-C50EA5628310}"/>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4" name="Tijdelijke aanduiding voor voettekst 3">
            <a:extLst>
              <a:ext uri="{FF2B5EF4-FFF2-40B4-BE49-F238E27FC236}">
                <a16:creationId xmlns:a16="http://schemas.microsoft.com/office/drawing/2014/main" id="{A471B315-B360-4DC4-BA25-C0DA3FE06DF9}"/>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586BE35D-89CF-4C78-936F-3A422D2BC19C}"/>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547937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2371665-6504-46CE-8623-7D4BFBF0630A}"/>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3" name="Tijdelijke aanduiding voor voettekst 2">
            <a:extLst>
              <a:ext uri="{FF2B5EF4-FFF2-40B4-BE49-F238E27FC236}">
                <a16:creationId xmlns:a16="http://schemas.microsoft.com/office/drawing/2014/main" id="{784B7614-A5E9-4A26-93ED-1BD778884699}"/>
              </a:ext>
            </a:extLst>
          </p:cNvPr>
          <p:cNvSpPr>
            <a:spLocks noGrp="1"/>
          </p:cNvSpPr>
          <p:nvPr>
            <p:ph type="ftr" sz="quarter" idx="11"/>
          </p:nvPr>
        </p:nvSpPr>
        <p:spPr/>
        <p:txBody>
          <a:bodyPr/>
          <a:lstStyle/>
          <a:p>
            <a:endParaRPr lang="en-BE"/>
          </a:p>
        </p:txBody>
      </p:sp>
      <p:sp>
        <p:nvSpPr>
          <p:cNvPr id="4" name="Tijdelijke aanduiding voor dianummer 3">
            <a:extLst>
              <a:ext uri="{FF2B5EF4-FFF2-40B4-BE49-F238E27FC236}">
                <a16:creationId xmlns:a16="http://schemas.microsoft.com/office/drawing/2014/main" id="{36192D73-DEF2-4B61-8197-3941A2083E7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90755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3ACD61-1A8D-412E-A5FB-A8531A8CE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4B81E522-E269-4346-BBFB-AA9518F2B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tekst 3">
            <a:extLst>
              <a:ext uri="{FF2B5EF4-FFF2-40B4-BE49-F238E27FC236}">
                <a16:creationId xmlns:a16="http://schemas.microsoft.com/office/drawing/2014/main" id="{B5BB402B-825A-444A-8506-A9ADBFE65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7827B8B6-F476-41CE-A0FB-94F76E07D16B}"/>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E8C2B97C-695E-461A-825C-FBD17E162F6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EA72EF0F-A630-466B-B88F-96526CAB13C5}"/>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60970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D0E7DD-EE9A-4CC9-8C25-676E51EFE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afbeelding 2">
            <a:extLst>
              <a:ext uri="{FF2B5EF4-FFF2-40B4-BE49-F238E27FC236}">
                <a16:creationId xmlns:a16="http://schemas.microsoft.com/office/drawing/2014/main" id="{E48A5BBD-EB4E-45D6-AE42-E48427169E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BE"/>
          </a:p>
        </p:txBody>
      </p:sp>
      <p:sp>
        <p:nvSpPr>
          <p:cNvPr id="4" name="Tijdelijke aanduiding voor tekst 3">
            <a:extLst>
              <a:ext uri="{FF2B5EF4-FFF2-40B4-BE49-F238E27FC236}">
                <a16:creationId xmlns:a16="http://schemas.microsoft.com/office/drawing/2014/main" id="{D66EB8EC-DE0A-4D55-BC4C-614275BE1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80F5DBFE-351E-4EE8-ADAB-1EEF823A637C}"/>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BE0E090A-C01F-416E-BF13-483497611EBB}"/>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5790A0E5-2670-4891-8045-AB40C835E0A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42779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EACC51-F7E5-40B9-80E8-1EF2107F0791}"/>
              </a:ext>
            </a:extLst>
          </p:cNvPr>
          <p:cNvSpPr>
            <a:spLocks noGrp="1"/>
          </p:cNvSpPr>
          <p:nvPr>
            <p:ph type="title"/>
          </p:nvPr>
        </p:nvSpPr>
        <p:spPr/>
        <p:txBody>
          <a:bodyPr/>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4CEA346F-2455-4321-99FC-0F55ECBC5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8DD5A672-E901-441A-AA8C-342314F34F21}"/>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FE36B37C-979A-4CE2-BFB9-1CEE33789817}"/>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C66F279E-64B7-4995-8B2D-9E98200DC474}"/>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469102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54A3048B-7CB7-4CB7-9036-E1072F6567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977AF696-8160-4BEE-B594-08AA6ED4B9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F70B8EA8-32FF-45D6-BDF4-DEC9D5665FEE}"/>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701F5F5D-B431-4297-94E5-5C3E63450DEC}"/>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AD29EC59-10E4-4E90-AEF4-F74EC07C825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8224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6C0F430-02B8-470E-88C4-D3F6A6EEE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2FBDBA69-9857-4F89-AB15-40D66350F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7700B282-C115-4189-B97C-2C968D73F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3C35CFB0-104D-43DF-ABAD-E8ED1A7E0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Tijdelijke aanduiding voor dianummer 5">
            <a:extLst>
              <a:ext uri="{FF2B5EF4-FFF2-40B4-BE49-F238E27FC236}">
                <a16:creationId xmlns:a16="http://schemas.microsoft.com/office/drawing/2014/main" id="{25331830-0F71-46FB-910E-F57D488F6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63EFA-E134-4F46-A1DA-4D0D4B8DD6EC}" type="slidenum">
              <a:rPr lang="en-BE" smtClean="0"/>
              <a:t>‹#›</a:t>
            </a:fld>
            <a:endParaRPr lang="en-BE"/>
          </a:p>
        </p:txBody>
      </p:sp>
    </p:spTree>
    <p:extLst>
      <p:ext uri="{BB962C8B-B14F-4D97-AF65-F5344CB8AC3E}">
        <p14:creationId xmlns:p14="http://schemas.microsoft.com/office/powerpoint/2010/main" val="591883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nGkpbbMNa4E?feature=oembed" TargetMode="Externa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unity.com/download"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8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hyperlink" Target="https://www.shadertoy.com/view/MdX3Rr"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2.gi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https://www.google.com/imgres?q=3d%20gizmo&amp;imgurl=https%3A%2F%2Fdocs.blender.org%2Fmanual%2Fen%2Flatest%2F_images%2Feditors_3dview_display_gizmo_options-scale.png&amp;imgrefurl=https%3A%2F%2Fdocs.blender.org%2Fmanual%2Fen%2Flatest%2Feditors%2F3dview%2Fdisplay%2Fgizmo.html&amp;docid=7OnlgCCxoleKjM&amp;tbnid=5PwKpUY9WZDw9M&amp;vet=12ahUKEwi6xqOLlL6LAxVK-AIHHc9VBiUQM3oECFQQAA..i&amp;w=240&amp;h=240&amp;hcb=2&amp;ved=2ahUKEwi6xqOLlL6LAxVK-AIHHc9VBiUQM3oECFQQAA" TargetMode="External"/><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6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F5DD37-2212-916B-E357-43E8D3EA5D93}"/>
              </a:ext>
            </a:extLst>
          </p:cNvPr>
          <p:cNvSpPr>
            <a:spLocks noGrp="1"/>
          </p:cNvSpPr>
          <p:nvPr>
            <p:ph type="body" sz="quarter" idx="10"/>
          </p:nvPr>
        </p:nvSpPr>
        <p:spPr/>
        <p:txBody>
          <a:bodyPr/>
          <a:lstStyle/>
          <a:p>
            <a:endParaRPr lang="en-BE"/>
          </a:p>
        </p:txBody>
      </p:sp>
      <p:sp>
        <p:nvSpPr>
          <p:cNvPr id="3" name="Text Placeholder 2">
            <a:extLst>
              <a:ext uri="{FF2B5EF4-FFF2-40B4-BE49-F238E27FC236}">
                <a16:creationId xmlns:a16="http://schemas.microsoft.com/office/drawing/2014/main" id="{3D20F862-7245-5FF3-F9FF-A37F0519F773}"/>
              </a:ext>
            </a:extLst>
          </p:cNvPr>
          <p:cNvSpPr>
            <a:spLocks noGrp="1"/>
          </p:cNvSpPr>
          <p:nvPr>
            <p:ph type="body" sz="quarter" idx="11"/>
          </p:nvPr>
        </p:nvSpPr>
        <p:spPr/>
        <p:txBody>
          <a:bodyPr/>
          <a:lstStyle/>
          <a:p>
            <a:r>
              <a:rPr lang="en-US" dirty="0"/>
              <a:t>Week 1 : Introduction</a:t>
            </a:r>
            <a:endParaRPr lang="en-BE" dirty="0"/>
          </a:p>
        </p:txBody>
      </p:sp>
      <p:sp>
        <p:nvSpPr>
          <p:cNvPr id="4" name="Text Placeholder 3">
            <a:extLst>
              <a:ext uri="{FF2B5EF4-FFF2-40B4-BE49-F238E27FC236}">
                <a16:creationId xmlns:a16="http://schemas.microsoft.com/office/drawing/2014/main" id="{6C0B0F53-1B0B-247E-5331-DFF63A59F513}"/>
              </a:ext>
            </a:extLst>
          </p:cNvPr>
          <p:cNvSpPr>
            <a:spLocks noGrp="1"/>
          </p:cNvSpPr>
          <p:nvPr>
            <p:ph type="body" sz="quarter" idx="12"/>
          </p:nvPr>
        </p:nvSpPr>
        <p:spPr/>
        <p:txBody>
          <a:bodyPr/>
          <a:lstStyle/>
          <a:p>
            <a:endParaRPr lang="en-BE"/>
          </a:p>
        </p:txBody>
      </p:sp>
      <p:sp>
        <p:nvSpPr>
          <p:cNvPr id="5" name="Text Placeholder 4">
            <a:extLst>
              <a:ext uri="{FF2B5EF4-FFF2-40B4-BE49-F238E27FC236}">
                <a16:creationId xmlns:a16="http://schemas.microsoft.com/office/drawing/2014/main" id="{81906C7B-D22F-6554-53F2-0FB13D199EF6}"/>
              </a:ext>
            </a:extLst>
          </p:cNvPr>
          <p:cNvSpPr>
            <a:spLocks noGrp="1"/>
          </p:cNvSpPr>
          <p:nvPr>
            <p:ph type="body" sz="quarter" idx="13"/>
          </p:nvPr>
        </p:nvSpPr>
        <p:spPr/>
        <p:txBody>
          <a:bodyPr/>
          <a:lstStyle/>
          <a:p>
            <a:endParaRPr lang="en-BE"/>
          </a:p>
        </p:txBody>
      </p:sp>
      <p:sp>
        <p:nvSpPr>
          <p:cNvPr id="6" name="Text Placeholder 5">
            <a:extLst>
              <a:ext uri="{FF2B5EF4-FFF2-40B4-BE49-F238E27FC236}">
                <a16:creationId xmlns:a16="http://schemas.microsoft.com/office/drawing/2014/main" id="{ABFE3868-CBE1-5055-4906-5E64ED6ECD99}"/>
              </a:ext>
            </a:extLst>
          </p:cNvPr>
          <p:cNvSpPr>
            <a:spLocks noGrp="1"/>
          </p:cNvSpPr>
          <p:nvPr>
            <p:ph type="body" sz="quarter" idx="14"/>
          </p:nvPr>
        </p:nvSpPr>
        <p:spPr/>
        <p:txBody>
          <a:bodyPr/>
          <a:lstStyle/>
          <a:p>
            <a:r>
              <a:rPr lang="en-US" dirty="0"/>
              <a:t>2024</a:t>
            </a:r>
          </a:p>
          <a:p>
            <a:endParaRPr lang="en-BE" dirty="0"/>
          </a:p>
        </p:txBody>
      </p:sp>
    </p:spTree>
    <p:extLst>
      <p:ext uri="{BB962C8B-B14F-4D97-AF65-F5344CB8AC3E}">
        <p14:creationId xmlns:p14="http://schemas.microsoft.com/office/powerpoint/2010/main" val="1905507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7F57-A435-5D18-7D51-969AB2F121F7}"/>
              </a:ext>
            </a:extLst>
          </p:cNvPr>
          <p:cNvSpPr>
            <a:spLocks noGrp="1"/>
          </p:cNvSpPr>
          <p:nvPr>
            <p:ph type="title"/>
          </p:nvPr>
        </p:nvSpPr>
        <p:spPr/>
        <p:txBody>
          <a:bodyPr/>
          <a:lstStyle/>
          <a:p>
            <a:r>
              <a:rPr lang="en-US" dirty="0"/>
              <a:t>I’m very happy you’re here</a:t>
            </a:r>
            <a:endParaRPr lang="en-BE" dirty="0"/>
          </a:p>
        </p:txBody>
      </p:sp>
      <p:sp>
        <p:nvSpPr>
          <p:cNvPr id="3" name="TextBox 2">
            <a:extLst>
              <a:ext uri="{FF2B5EF4-FFF2-40B4-BE49-F238E27FC236}">
                <a16:creationId xmlns:a16="http://schemas.microsoft.com/office/drawing/2014/main" id="{C9426C7F-F610-A426-2781-E2E2DA72AAF0}"/>
              </a:ext>
            </a:extLst>
          </p:cNvPr>
          <p:cNvSpPr txBox="1"/>
          <p:nvPr/>
        </p:nvSpPr>
        <p:spPr>
          <a:xfrm>
            <a:off x="758890" y="1910600"/>
            <a:ext cx="9492343" cy="1815882"/>
          </a:xfrm>
          <a:prstGeom prst="rect">
            <a:avLst/>
          </a:prstGeom>
          <a:noFill/>
        </p:spPr>
        <p:txBody>
          <a:bodyPr wrap="square" rtlCol="0">
            <a:spAutoFit/>
          </a:bodyPr>
          <a:lstStyle/>
          <a:p>
            <a:pPr marL="457200" indent="-457200">
              <a:buFont typeface="Arial" panose="020B0604020202020204" pitchFamily="34" charset="0"/>
              <a:buChar char="•"/>
            </a:pPr>
            <a:r>
              <a:rPr lang="en-US" sz="2800" dirty="0"/>
              <a:t>I really like 3d graphics</a:t>
            </a:r>
          </a:p>
          <a:p>
            <a:pPr marL="457200" indent="-457200">
              <a:buFont typeface="Arial" panose="020B0604020202020204" pitchFamily="34" charset="0"/>
              <a:buChar char="•"/>
            </a:pPr>
            <a:r>
              <a:rPr lang="en-US" sz="2800" dirty="0"/>
              <a:t>It’s a very satisfying topic</a:t>
            </a:r>
          </a:p>
          <a:p>
            <a:pPr marL="457200" indent="-457200">
              <a:buFont typeface="Arial" panose="020B0604020202020204" pitchFamily="34" charset="0"/>
              <a:buChar char="•"/>
            </a:pPr>
            <a:r>
              <a:rPr lang="en-US" sz="2800" strike="sngStrike" dirty="0"/>
              <a:t>We got a lot of class hours</a:t>
            </a:r>
          </a:p>
          <a:p>
            <a:pPr marL="457200" indent="-457200">
              <a:buFont typeface="Arial" panose="020B0604020202020204" pitchFamily="34" charset="0"/>
              <a:buChar char="•"/>
            </a:pPr>
            <a:r>
              <a:rPr lang="en-US" sz="2800" dirty="0"/>
              <a:t>We have very few class hours </a:t>
            </a:r>
            <a:r>
              <a:rPr lang="en-US" sz="2800" dirty="0">
                <a:sym typeface="Wingdings" panose="05000000000000000000" pitchFamily="2" charset="2"/>
              </a:rPr>
              <a:t></a:t>
            </a:r>
            <a:endParaRPr lang="en-BE" sz="2800" dirty="0"/>
          </a:p>
        </p:txBody>
      </p:sp>
    </p:spTree>
    <p:extLst>
      <p:ext uri="{BB962C8B-B14F-4D97-AF65-F5344CB8AC3E}">
        <p14:creationId xmlns:p14="http://schemas.microsoft.com/office/powerpoint/2010/main" val="2498680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DC3FC-57BB-B7BE-B4AE-FE2BD2949239}"/>
              </a:ext>
            </a:extLst>
          </p:cNvPr>
          <p:cNvSpPr>
            <a:spLocks noGrp="1"/>
          </p:cNvSpPr>
          <p:nvPr>
            <p:ph type="title"/>
          </p:nvPr>
        </p:nvSpPr>
        <p:spPr/>
        <p:txBody>
          <a:bodyPr/>
          <a:lstStyle/>
          <a:p>
            <a:r>
              <a:rPr lang="en-US" sz="4400" dirty="0"/>
              <a:t>I really like 3d graphics</a:t>
            </a:r>
            <a:br>
              <a:rPr lang="en-US" sz="4400" dirty="0"/>
            </a:br>
            <a:endParaRPr lang="en-BE" dirty="0"/>
          </a:p>
        </p:txBody>
      </p:sp>
      <p:sp>
        <p:nvSpPr>
          <p:cNvPr id="3" name="TextBox 2">
            <a:extLst>
              <a:ext uri="{FF2B5EF4-FFF2-40B4-BE49-F238E27FC236}">
                <a16:creationId xmlns:a16="http://schemas.microsoft.com/office/drawing/2014/main" id="{C1FCBAF9-75F6-2109-B493-8E87344B73C5}"/>
              </a:ext>
            </a:extLst>
          </p:cNvPr>
          <p:cNvSpPr txBox="1"/>
          <p:nvPr/>
        </p:nvSpPr>
        <p:spPr>
          <a:xfrm>
            <a:off x="780143" y="1945642"/>
            <a:ext cx="5752985"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Tried to get into 3d in my last year at UCLL</a:t>
            </a:r>
          </a:p>
          <a:p>
            <a:pPr marL="285750" indent="-285750">
              <a:buFont typeface="Arial" panose="020B0604020202020204" pitchFamily="34" charset="0"/>
              <a:buChar char="•"/>
            </a:pPr>
            <a:r>
              <a:rPr lang="en-US" sz="2400" dirty="0"/>
              <a:t>Worked on video servers in first jobs</a:t>
            </a:r>
          </a:p>
          <a:p>
            <a:pPr marL="285750" indent="-285750">
              <a:buFont typeface="Arial" panose="020B0604020202020204" pitchFamily="34" charset="0"/>
              <a:buChar char="•"/>
            </a:pPr>
            <a:r>
              <a:rPr lang="en-US" sz="2400" dirty="0"/>
              <a:t>Mostly games after </a:t>
            </a:r>
          </a:p>
          <a:p>
            <a:pPr marL="285750" indent="-285750">
              <a:buFont typeface="Arial" panose="020B0604020202020204" pitchFamily="34" charset="0"/>
              <a:buChar char="•"/>
            </a:pPr>
            <a:r>
              <a:rPr lang="en-US" sz="2400" dirty="0"/>
              <a:t>2 patents in something I explain week… 6?</a:t>
            </a:r>
            <a:endParaRPr lang="en-BE" sz="2400" dirty="0"/>
          </a:p>
        </p:txBody>
      </p:sp>
      <p:pic>
        <p:nvPicPr>
          <p:cNvPr id="4" name="Online Media 3" title="Martin Professional Maxedia 4 Matrix Plug-ins">
            <a:hlinkClick r:id="" action="ppaction://media"/>
            <a:extLst>
              <a:ext uri="{FF2B5EF4-FFF2-40B4-BE49-F238E27FC236}">
                <a16:creationId xmlns:a16="http://schemas.microsoft.com/office/drawing/2014/main" id="{2E333F86-D724-D2CE-314E-419CE863DEAC}"/>
              </a:ext>
            </a:extLst>
          </p:cNvPr>
          <p:cNvPicPr>
            <a:picLocks noRot="1" noChangeAspect="1"/>
          </p:cNvPicPr>
          <p:nvPr>
            <a:videoFile r:link="rId1"/>
          </p:nvPr>
        </p:nvPicPr>
        <p:blipFill>
          <a:blip r:embed="rId4"/>
          <a:stretch>
            <a:fillRect/>
          </a:stretch>
        </p:blipFill>
        <p:spPr>
          <a:xfrm>
            <a:off x="7322457" y="1393371"/>
            <a:ext cx="4673600" cy="3505200"/>
          </a:xfrm>
          <a:prstGeom prst="rect">
            <a:avLst/>
          </a:prstGeom>
        </p:spPr>
      </p:pic>
    </p:spTree>
    <p:extLst>
      <p:ext uri="{BB962C8B-B14F-4D97-AF65-F5344CB8AC3E}">
        <p14:creationId xmlns:p14="http://schemas.microsoft.com/office/powerpoint/2010/main" val="49626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45787-CBD4-9661-F0B8-3A27DA072C49}"/>
              </a:ext>
            </a:extLst>
          </p:cNvPr>
          <p:cNvSpPr>
            <a:spLocks noGrp="1"/>
          </p:cNvSpPr>
          <p:nvPr>
            <p:ph type="title"/>
          </p:nvPr>
        </p:nvSpPr>
        <p:spPr/>
        <p:txBody>
          <a:bodyPr/>
          <a:lstStyle/>
          <a:p>
            <a:r>
              <a:rPr lang="en-US" dirty="0"/>
              <a:t>It’s a very satisfying topic</a:t>
            </a:r>
            <a:endParaRPr lang="en-BE" dirty="0"/>
          </a:p>
        </p:txBody>
      </p:sp>
      <p:sp>
        <p:nvSpPr>
          <p:cNvPr id="3" name="TextBox 2">
            <a:extLst>
              <a:ext uri="{FF2B5EF4-FFF2-40B4-BE49-F238E27FC236}">
                <a16:creationId xmlns:a16="http://schemas.microsoft.com/office/drawing/2014/main" id="{2B25DA81-3B95-CBB9-4566-EB8502D5BB64}"/>
              </a:ext>
            </a:extLst>
          </p:cNvPr>
          <p:cNvSpPr txBox="1"/>
          <p:nvPr/>
        </p:nvSpPr>
        <p:spPr>
          <a:xfrm>
            <a:off x="534955" y="1561322"/>
            <a:ext cx="9773445"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Not that much indirection between your code and result</a:t>
            </a:r>
          </a:p>
          <a:p>
            <a:pPr marL="285750" indent="-285750">
              <a:buFont typeface="Arial" panose="020B0604020202020204" pitchFamily="34" charset="0"/>
              <a:buChar char="•"/>
            </a:pPr>
            <a:r>
              <a:rPr lang="en-US" sz="2400" dirty="0"/>
              <a:t>Instant feedback</a:t>
            </a:r>
          </a:p>
          <a:p>
            <a:pPr marL="285750" indent="-285750">
              <a:buFont typeface="Arial" panose="020B0604020202020204" pitchFamily="34" charset="0"/>
              <a:buChar char="•"/>
            </a:pPr>
            <a:r>
              <a:rPr lang="en-US" sz="2400" dirty="0"/>
              <a:t>If it works, it works tens of millions of time per second</a:t>
            </a:r>
          </a:p>
          <a:p>
            <a:pPr marL="285750" indent="-285750">
              <a:buFont typeface="Arial" panose="020B0604020202020204" pitchFamily="34" charset="0"/>
              <a:buChar char="•"/>
            </a:pPr>
            <a:r>
              <a:rPr lang="en-US" sz="2400" dirty="0"/>
              <a:t>Allows you to understand what you already experience (</a:t>
            </a:r>
            <a:r>
              <a:rPr lang="en-US" sz="2400" dirty="0" err="1"/>
              <a:t>eg</a:t>
            </a:r>
            <a:r>
              <a:rPr lang="en-US" sz="2400" dirty="0"/>
              <a:t> games, movies)</a:t>
            </a:r>
            <a:endParaRPr lang="en-BE" sz="2400" dirty="0"/>
          </a:p>
        </p:txBody>
      </p:sp>
    </p:spTree>
    <p:extLst>
      <p:ext uri="{BB962C8B-B14F-4D97-AF65-F5344CB8AC3E}">
        <p14:creationId xmlns:p14="http://schemas.microsoft.com/office/powerpoint/2010/main" val="4290700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DFB0E-EA02-EA5A-FA7F-6782B9D26F1B}"/>
              </a:ext>
            </a:extLst>
          </p:cNvPr>
          <p:cNvSpPr>
            <a:spLocks noGrp="1"/>
          </p:cNvSpPr>
          <p:nvPr>
            <p:ph type="title"/>
          </p:nvPr>
        </p:nvSpPr>
        <p:spPr/>
        <p:txBody>
          <a:bodyPr/>
          <a:lstStyle/>
          <a:p>
            <a:r>
              <a:rPr lang="en-US" sz="4400" dirty="0"/>
              <a:t>We have very few class hours </a:t>
            </a:r>
            <a:r>
              <a:rPr lang="en-US" sz="4400" dirty="0">
                <a:sym typeface="Wingdings" panose="05000000000000000000" pitchFamily="2" charset="2"/>
              </a:rPr>
              <a:t></a:t>
            </a:r>
            <a:br>
              <a:rPr lang="en-US" sz="4400" dirty="0"/>
            </a:br>
            <a:endParaRPr lang="en-BE" dirty="0"/>
          </a:p>
        </p:txBody>
      </p:sp>
      <p:pic>
        <p:nvPicPr>
          <p:cNvPr id="4" name="Picture 3">
            <a:extLst>
              <a:ext uri="{FF2B5EF4-FFF2-40B4-BE49-F238E27FC236}">
                <a16:creationId xmlns:a16="http://schemas.microsoft.com/office/drawing/2014/main" id="{A41FF23D-39E1-CEDA-5AB5-DBC74AD84CC2}"/>
              </a:ext>
            </a:extLst>
          </p:cNvPr>
          <p:cNvPicPr>
            <a:picLocks noChangeAspect="1"/>
          </p:cNvPicPr>
          <p:nvPr/>
        </p:nvPicPr>
        <p:blipFill>
          <a:blip r:embed="rId3"/>
          <a:stretch>
            <a:fillRect/>
          </a:stretch>
        </p:blipFill>
        <p:spPr>
          <a:xfrm>
            <a:off x="7882213" y="1553028"/>
            <a:ext cx="4309787" cy="5304971"/>
          </a:xfrm>
          <a:prstGeom prst="rect">
            <a:avLst/>
          </a:prstGeom>
        </p:spPr>
      </p:pic>
      <p:sp>
        <p:nvSpPr>
          <p:cNvPr id="5" name="TextBox 4">
            <a:extLst>
              <a:ext uri="{FF2B5EF4-FFF2-40B4-BE49-F238E27FC236}">
                <a16:creationId xmlns:a16="http://schemas.microsoft.com/office/drawing/2014/main" id="{038E9912-D5DC-31B4-9D5C-6FFDD0B979FE}"/>
              </a:ext>
            </a:extLst>
          </p:cNvPr>
          <p:cNvSpPr txBox="1"/>
          <p:nvPr/>
        </p:nvSpPr>
        <p:spPr>
          <a:xfrm>
            <a:off x="838200" y="2046514"/>
            <a:ext cx="6794745" cy="3539430"/>
          </a:xfrm>
          <a:prstGeom prst="rect">
            <a:avLst/>
          </a:prstGeom>
          <a:noFill/>
        </p:spPr>
        <p:txBody>
          <a:bodyPr wrap="none" rtlCol="0">
            <a:spAutoFit/>
          </a:bodyPr>
          <a:lstStyle/>
          <a:p>
            <a:pPr marL="285750" indent="-285750">
              <a:buFont typeface="Arial" panose="020B0604020202020204" pitchFamily="34" charset="0"/>
              <a:buChar char="•"/>
            </a:pPr>
            <a:r>
              <a:rPr lang="en-US" sz="2800" dirty="0"/>
              <a:t>Last year we had 40</a:t>
            </a:r>
          </a:p>
          <a:p>
            <a:pPr marL="285750" indent="-285750">
              <a:buFont typeface="Arial" panose="020B0604020202020204" pitchFamily="34" charset="0"/>
              <a:buChar char="•"/>
            </a:pPr>
            <a:r>
              <a:rPr lang="en-US" sz="2800" dirty="0"/>
              <a:t>This year we have half</a:t>
            </a:r>
          </a:p>
          <a:p>
            <a:pPr marL="285750" indent="-285750">
              <a:buFont typeface="Arial" panose="020B0604020202020204" pitchFamily="34" charset="0"/>
              <a:buChar char="•"/>
            </a:pPr>
            <a:r>
              <a:rPr lang="en-US" sz="2800" dirty="0"/>
              <a:t>I’m very unhappy about this</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No labs in person</a:t>
            </a:r>
          </a:p>
          <a:p>
            <a:pPr marL="285750" indent="-285750">
              <a:buFont typeface="Arial" panose="020B0604020202020204" pitchFamily="34" charset="0"/>
              <a:buChar char="•"/>
            </a:pPr>
            <a:r>
              <a:rPr lang="en-US" sz="2800" dirty="0"/>
              <a:t>Certain topics will be self-directed</a:t>
            </a:r>
          </a:p>
          <a:p>
            <a:pPr marL="285750" indent="-285750">
              <a:buFont typeface="Arial" panose="020B0604020202020204" pitchFamily="34" charset="0"/>
              <a:buChar char="•"/>
            </a:pPr>
            <a:r>
              <a:rPr lang="en-US" sz="2800" dirty="0"/>
              <a:t>Focus on important theory in class</a:t>
            </a:r>
          </a:p>
          <a:p>
            <a:pPr marL="285750" indent="-285750">
              <a:buFont typeface="Arial" panose="020B0604020202020204" pitchFamily="34" charset="0"/>
              <a:buChar char="•"/>
            </a:pPr>
            <a:r>
              <a:rPr lang="en-US" sz="2800" dirty="0"/>
              <a:t>Address common questions from self-study</a:t>
            </a:r>
            <a:endParaRPr lang="en-BE" sz="2800" dirty="0"/>
          </a:p>
        </p:txBody>
      </p:sp>
    </p:spTree>
    <p:extLst>
      <p:ext uri="{BB962C8B-B14F-4D97-AF65-F5344CB8AC3E}">
        <p14:creationId xmlns:p14="http://schemas.microsoft.com/office/powerpoint/2010/main" val="371144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4832-2A04-C12C-19D4-31749239F40B}"/>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047AE3BC-0C59-672A-39CD-A07B2795AD24}"/>
              </a:ext>
            </a:extLst>
          </p:cNvPr>
          <p:cNvSpPr txBox="1"/>
          <p:nvPr/>
        </p:nvSpPr>
        <p:spPr>
          <a:xfrm>
            <a:off x="989902" y="1690689"/>
            <a:ext cx="4925486"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Contents of this course</a:t>
            </a:r>
          </a:p>
          <a:p>
            <a:pPr marL="285750" indent="-285750">
              <a:buFont typeface="Arial" panose="020B0604020202020204" pitchFamily="34" charset="0"/>
              <a:buChar char="•"/>
            </a:pPr>
            <a:r>
              <a:rPr lang="en-US" sz="2800" dirty="0"/>
              <a:t>Evaluation of this course</a:t>
            </a:r>
          </a:p>
          <a:p>
            <a:pPr marL="285750" indent="-285750">
              <a:buFont typeface="Arial" panose="020B0604020202020204" pitchFamily="34" charset="0"/>
              <a:buChar char="•"/>
            </a:pPr>
            <a:r>
              <a:rPr lang="en-US" sz="2800" dirty="0"/>
              <a:t>Some bureaucracy</a:t>
            </a:r>
          </a:p>
          <a:p>
            <a:pPr marL="285750" indent="-285750">
              <a:buFont typeface="Arial" panose="020B0604020202020204" pitchFamily="34" charset="0"/>
              <a:buChar char="•"/>
            </a:pPr>
            <a:r>
              <a:rPr lang="en-US" sz="2800" dirty="0"/>
              <a:t>Get our hands dirty with Unity</a:t>
            </a:r>
            <a:endParaRPr lang="nl-BE" sz="2800" dirty="0"/>
          </a:p>
        </p:txBody>
      </p:sp>
    </p:spTree>
    <p:extLst>
      <p:ext uri="{BB962C8B-B14F-4D97-AF65-F5344CB8AC3E}">
        <p14:creationId xmlns:p14="http://schemas.microsoft.com/office/powerpoint/2010/main" val="3945604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9F54A-1D8A-8AE1-89D8-96DAFB072DA0}"/>
              </a:ext>
            </a:extLst>
          </p:cNvPr>
          <p:cNvSpPr>
            <a:spLocks noGrp="1"/>
          </p:cNvSpPr>
          <p:nvPr>
            <p:ph type="title"/>
          </p:nvPr>
        </p:nvSpPr>
        <p:spPr>
          <a:xfrm>
            <a:off x="427839" y="365125"/>
            <a:ext cx="10925961" cy="1325563"/>
          </a:xfrm>
        </p:spPr>
        <p:txBody>
          <a:bodyPr/>
          <a:lstStyle/>
          <a:p>
            <a:r>
              <a:rPr lang="en-US" dirty="0"/>
              <a:t>Contents of this course</a:t>
            </a:r>
            <a:endParaRPr lang="nl-BE" dirty="0"/>
          </a:p>
        </p:txBody>
      </p:sp>
      <p:sp>
        <p:nvSpPr>
          <p:cNvPr id="3" name="TextBox 2">
            <a:extLst>
              <a:ext uri="{FF2B5EF4-FFF2-40B4-BE49-F238E27FC236}">
                <a16:creationId xmlns:a16="http://schemas.microsoft.com/office/drawing/2014/main" id="{EF316E11-DF47-FF66-39D2-7A790B03439D}"/>
              </a:ext>
            </a:extLst>
          </p:cNvPr>
          <p:cNvSpPr txBox="1"/>
          <p:nvPr/>
        </p:nvSpPr>
        <p:spPr>
          <a:xfrm>
            <a:off x="541421" y="1506022"/>
            <a:ext cx="7339573" cy="5262979"/>
          </a:xfrm>
          <a:prstGeom prst="rect">
            <a:avLst/>
          </a:prstGeom>
          <a:noFill/>
        </p:spPr>
        <p:txBody>
          <a:bodyPr wrap="none" rtlCol="0">
            <a:spAutoFit/>
          </a:bodyPr>
          <a:lstStyle/>
          <a:p>
            <a:pPr marL="285750" indent="-285750">
              <a:buFont typeface="Arial" panose="020B0604020202020204" pitchFamily="34" charset="0"/>
              <a:buChar char="•"/>
            </a:pPr>
            <a:r>
              <a:rPr lang="en-US" sz="2800" dirty="0"/>
              <a:t>What are you all hoping to learn in this course?</a:t>
            </a: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r>
              <a:rPr lang="en-US" sz="2800" dirty="0"/>
              <a:t>Let’s see what we’re going to learn…</a:t>
            </a:r>
            <a:endParaRPr lang="en-BE" sz="2800" dirty="0"/>
          </a:p>
        </p:txBody>
      </p:sp>
    </p:spTree>
    <p:extLst>
      <p:ext uri="{BB962C8B-B14F-4D97-AF65-F5344CB8AC3E}">
        <p14:creationId xmlns:p14="http://schemas.microsoft.com/office/powerpoint/2010/main" val="3958897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CBD7E-C8DE-549B-E4A5-A5EBA69F9884}"/>
              </a:ext>
            </a:extLst>
          </p:cNvPr>
          <p:cNvSpPr>
            <a:spLocks noGrp="1"/>
          </p:cNvSpPr>
          <p:nvPr>
            <p:ph type="title"/>
          </p:nvPr>
        </p:nvSpPr>
        <p:spPr/>
        <p:txBody>
          <a:bodyPr/>
          <a:lstStyle/>
          <a:p>
            <a:r>
              <a:rPr lang="en-US" dirty="0"/>
              <a:t>What are “3D graphics”?</a:t>
            </a:r>
            <a:endParaRPr lang="en-BE" dirty="0"/>
          </a:p>
        </p:txBody>
      </p:sp>
      <p:sp>
        <p:nvSpPr>
          <p:cNvPr id="3" name="TextBox 2">
            <a:extLst>
              <a:ext uri="{FF2B5EF4-FFF2-40B4-BE49-F238E27FC236}">
                <a16:creationId xmlns:a16="http://schemas.microsoft.com/office/drawing/2014/main" id="{A1C69A5B-49F7-5A06-22F9-1AD9FD3EB918}"/>
              </a:ext>
            </a:extLst>
          </p:cNvPr>
          <p:cNvSpPr txBox="1"/>
          <p:nvPr/>
        </p:nvSpPr>
        <p:spPr>
          <a:xfrm>
            <a:off x="1909720" y="3050697"/>
            <a:ext cx="184731" cy="369332"/>
          </a:xfrm>
          <a:prstGeom prst="rect">
            <a:avLst/>
          </a:prstGeom>
          <a:noFill/>
        </p:spPr>
        <p:txBody>
          <a:bodyPr wrap="none" rtlCol="0">
            <a:spAutoFit/>
          </a:bodyPr>
          <a:lstStyle/>
          <a:p>
            <a:endParaRPr lang="en-BE" dirty="0"/>
          </a:p>
        </p:txBody>
      </p:sp>
      <p:pic>
        <p:nvPicPr>
          <p:cNvPr id="5" name="Picture 4" descr="A computer screen shot of a room&#10;&#10;Description automatically generated">
            <a:extLst>
              <a:ext uri="{FF2B5EF4-FFF2-40B4-BE49-F238E27FC236}">
                <a16:creationId xmlns:a16="http://schemas.microsoft.com/office/drawing/2014/main" id="{16755635-A9D6-F736-E552-14D91DFC8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0660" y="3162044"/>
            <a:ext cx="5381340" cy="3695956"/>
          </a:xfrm>
          <a:prstGeom prst="rect">
            <a:avLst/>
          </a:prstGeom>
        </p:spPr>
      </p:pic>
      <p:sp>
        <p:nvSpPr>
          <p:cNvPr id="6" name="TextBox 5">
            <a:extLst>
              <a:ext uri="{FF2B5EF4-FFF2-40B4-BE49-F238E27FC236}">
                <a16:creationId xmlns:a16="http://schemas.microsoft.com/office/drawing/2014/main" id="{C202DFDD-E30F-8249-6891-F1FB635F4A05}"/>
              </a:ext>
            </a:extLst>
          </p:cNvPr>
          <p:cNvSpPr txBox="1"/>
          <p:nvPr/>
        </p:nvSpPr>
        <p:spPr>
          <a:xfrm>
            <a:off x="250166" y="1613118"/>
            <a:ext cx="10856449"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“Images representing a 3d scene created by transforming 3d models and textures using algorithms”</a:t>
            </a:r>
          </a:p>
          <a:p>
            <a:pPr marL="285750" indent="-285750">
              <a:buFont typeface="Arial" panose="020B0604020202020204" pitchFamily="34" charset="0"/>
              <a:buChar char="•"/>
            </a:pPr>
            <a:r>
              <a:rPr lang="en-US" sz="2800" dirty="0"/>
              <a:t>This is not *the* definition, this is my definition</a:t>
            </a:r>
          </a:p>
          <a:p>
            <a:pPr marL="285750" indent="-285750">
              <a:buFont typeface="Arial" panose="020B0604020202020204" pitchFamily="34" charset="0"/>
              <a:buChar char="•"/>
            </a:pPr>
            <a:r>
              <a:rPr lang="en-US" sz="2800" dirty="0"/>
              <a:t>It’s a badly defined term</a:t>
            </a:r>
            <a:endParaRPr lang="nl-BE" sz="2800" dirty="0"/>
          </a:p>
        </p:txBody>
      </p:sp>
    </p:spTree>
    <p:extLst>
      <p:ext uri="{BB962C8B-B14F-4D97-AF65-F5344CB8AC3E}">
        <p14:creationId xmlns:p14="http://schemas.microsoft.com/office/powerpoint/2010/main" val="2121232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18B2-5902-1A31-48D1-637E325062CD}"/>
              </a:ext>
            </a:extLst>
          </p:cNvPr>
          <p:cNvSpPr>
            <a:spLocks noGrp="1"/>
          </p:cNvSpPr>
          <p:nvPr>
            <p:ph type="title"/>
          </p:nvPr>
        </p:nvSpPr>
        <p:spPr/>
        <p:txBody>
          <a:bodyPr/>
          <a:lstStyle/>
          <a:p>
            <a:r>
              <a:rPr lang="en-US" dirty="0"/>
              <a:t>Creating 3D graphics</a:t>
            </a:r>
            <a:endParaRPr lang="nl-BE" dirty="0"/>
          </a:p>
        </p:txBody>
      </p:sp>
      <p:sp>
        <p:nvSpPr>
          <p:cNvPr id="3" name="TextBox 2">
            <a:extLst>
              <a:ext uri="{FF2B5EF4-FFF2-40B4-BE49-F238E27FC236}">
                <a16:creationId xmlns:a16="http://schemas.microsoft.com/office/drawing/2014/main" id="{3767E331-7E3C-CA85-EF60-0A5EB30182F9}"/>
              </a:ext>
            </a:extLst>
          </p:cNvPr>
          <p:cNvSpPr txBox="1"/>
          <p:nvPr/>
        </p:nvSpPr>
        <p:spPr>
          <a:xfrm>
            <a:off x="838200" y="2105637"/>
            <a:ext cx="7441589" cy="2677656"/>
          </a:xfrm>
          <a:prstGeom prst="rect">
            <a:avLst/>
          </a:prstGeom>
          <a:noFill/>
        </p:spPr>
        <p:txBody>
          <a:bodyPr wrap="none" rtlCol="0">
            <a:spAutoFit/>
          </a:bodyPr>
          <a:lstStyle/>
          <a:p>
            <a:pPr marL="285750" indent="-285750">
              <a:buFont typeface="Arial" panose="020B0604020202020204" pitchFamily="34" charset="0"/>
              <a:buChar char="•"/>
            </a:pPr>
            <a:r>
              <a:rPr lang="en-US" sz="2800" dirty="0"/>
              <a:t>We need to create 3D models : 3D modeling</a:t>
            </a:r>
          </a:p>
          <a:p>
            <a:pPr marL="285750" indent="-285750">
              <a:buFont typeface="Arial" panose="020B0604020202020204" pitchFamily="34" charset="0"/>
              <a:buChar char="•"/>
            </a:pPr>
            <a:r>
              <a:rPr lang="en-US" sz="2800" dirty="0"/>
              <a:t>We need to create textures : Texturing</a:t>
            </a:r>
          </a:p>
          <a:p>
            <a:pPr marL="285750" indent="-285750">
              <a:buFont typeface="Arial" panose="020B0604020202020204" pitchFamily="34" charset="0"/>
              <a:buChar char="•"/>
            </a:pPr>
            <a:r>
              <a:rPr lang="en-US" sz="2800" dirty="0"/>
              <a:t>We need to create a scene : World Building</a:t>
            </a:r>
          </a:p>
          <a:p>
            <a:pPr marL="285750" indent="-285750">
              <a:buFont typeface="Arial" panose="020B0604020202020204" pitchFamily="34" charset="0"/>
              <a:buChar char="•"/>
            </a:pPr>
            <a:r>
              <a:rPr lang="en-US" sz="2800" dirty="0"/>
              <a:t>We need to transform them into an image : ??? </a:t>
            </a:r>
            <a:br>
              <a:rPr lang="en-US" sz="2800" dirty="0"/>
            </a:br>
            <a:br>
              <a:rPr lang="en-US" sz="2800" dirty="0"/>
            </a:br>
            <a:r>
              <a:rPr lang="en-US" sz="2800" dirty="0"/>
              <a:t>Does anyone know the term ???</a:t>
            </a:r>
            <a:endParaRPr lang="nl-BE" sz="2800" dirty="0"/>
          </a:p>
        </p:txBody>
      </p:sp>
    </p:spTree>
    <p:extLst>
      <p:ext uri="{BB962C8B-B14F-4D97-AF65-F5344CB8AC3E}">
        <p14:creationId xmlns:p14="http://schemas.microsoft.com/office/powerpoint/2010/main" val="1276899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379B5-F349-56AB-570D-D7F8B56E96F8}"/>
              </a:ext>
            </a:extLst>
          </p:cNvPr>
          <p:cNvSpPr>
            <a:spLocks noGrp="1"/>
          </p:cNvSpPr>
          <p:nvPr>
            <p:ph type="title"/>
          </p:nvPr>
        </p:nvSpPr>
        <p:spPr>
          <a:xfrm>
            <a:off x="838200" y="118225"/>
            <a:ext cx="10515600" cy="1325563"/>
          </a:xfrm>
        </p:spPr>
        <p:txBody>
          <a:bodyPr/>
          <a:lstStyle/>
          <a:p>
            <a:r>
              <a:rPr lang="en-US" dirty="0"/>
              <a:t>This course should be called 3D rendering</a:t>
            </a:r>
            <a:endParaRPr lang="nl-BE" dirty="0"/>
          </a:p>
        </p:txBody>
      </p:sp>
      <p:sp>
        <p:nvSpPr>
          <p:cNvPr id="4" name="TextBox 3">
            <a:extLst>
              <a:ext uri="{FF2B5EF4-FFF2-40B4-BE49-F238E27FC236}">
                <a16:creationId xmlns:a16="http://schemas.microsoft.com/office/drawing/2014/main" id="{2FFD3289-0DC4-D006-6205-E173C89CDDF1}"/>
              </a:ext>
            </a:extLst>
          </p:cNvPr>
          <p:cNvSpPr txBox="1"/>
          <p:nvPr/>
        </p:nvSpPr>
        <p:spPr>
          <a:xfrm>
            <a:off x="90236" y="1443788"/>
            <a:ext cx="10814139"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Rendering : creating an image, based on a description of a scene, using algorithms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Description is models, textures, animations, camera settings… and a bunch of other stuff</a:t>
            </a:r>
          </a:p>
          <a:p>
            <a:endParaRPr lang="en-US" sz="2400" dirty="0"/>
          </a:p>
          <a:p>
            <a:pPr marL="285750" indent="-285750">
              <a:buFont typeface="Arial" panose="020B0604020202020204" pitchFamily="34" charset="0"/>
              <a:buChar char="•"/>
            </a:pPr>
            <a:r>
              <a:rPr lang="en-US" sz="2400" dirty="0"/>
              <a:t>“graphics programming” would also be a good name for this course</a:t>
            </a:r>
          </a:p>
        </p:txBody>
      </p:sp>
      <p:pic>
        <p:nvPicPr>
          <p:cNvPr id="5" name="Picture 4" descr="A group of wireframe figures&#10;&#10;Description automatically generated with medium confidence">
            <a:extLst>
              <a:ext uri="{FF2B5EF4-FFF2-40B4-BE49-F238E27FC236}">
                <a16:creationId xmlns:a16="http://schemas.microsoft.com/office/drawing/2014/main" id="{4043DB8C-A64C-4FED-892F-569C3783D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80342"/>
            <a:ext cx="4760279" cy="2677657"/>
          </a:xfrm>
          <a:prstGeom prst="rect">
            <a:avLst/>
          </a:prstGeom>
        </p:spPr>
      </p:pic>
      <p:sp>
        <p:nvSpPr>
          <p:cNvPr id="6" name="Arrow: Right 5">
            <a:extLst>
              <a:ext uri="{FF2B5EF4-FFF2-40B4-BE49-F238E27FC236}">
                <a16:creationId xmlns:a16="http://schemas.microsoft.com/office/drawing/2014/main" id="{62DF277C-9B4A-B35C-B622-F62B376CD6E5}"/>
              </a:ext>
            </a:extLst>
          </p:cNvPr>
          <p:cNvSpPr/>
          <p:nvPr/>
        </p:nvSpPr>
        <p:spPr>
          <a:xfrm>
            <a:off x="4978400" y="5319486"/>
            <a:ext cx="1204686" cy="45719"/>
          </a:xfrm>
          <a:prstGeom prst="rightArrow">
            <a:avLst/>
          </a:prstGeom>
          <a:ln w="123825"/>
        </p:spPr>
        <p:style>
          <a:lnRef idx="2">
            <a:schemeClr val="accent1"/>
          </a:lnRef>
          <a:fillRef idx="1">
            <a:schemeClr val="lt1"/>
          </a:fillRef>
          <a:effectRef idx="0">
            <a:schemeClr val="accent1"/>
          </a:effectRef>
          <a:fontRef idx="minor">
            <a:schemeClr val="dk1"/>
          </a:fontRef>
        </p:style>
        <p:txBody>
          <a:bodyPr rtlCol="0" anchor="ctr"/>
          <a:lstStyle/>
          <a:p>
            <a:pPr algn="ctr"/>
            <a:endParaRPr lang="en-BE"/>
          </a:p>
        </p:txBody>
      </p:sp>
      <p:pic>
        <p:nvPicPr>
          <p:cNvPr id="8" name="Picture 7" descr="A toy figurine of two people&#10;&#10;Description automatically generated">
            <a:extLst>
              <a:ext uri="{FF2B5EF4-FFF2-40B4-BE49-F238E27FC236}">
                <a16:creationId xmlns:a16="http://schemas.microsoft.com/office/drawing/2014/main" id="{DB7A1D84-64F8-317D-41B7-787A0F9817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9865" y="3928028"/>
            <a:ext cx="4308782" cy="2929972"/>
          </a:xfrm>
          <a:prstGeom prst="rect">
            <a:avLst/>
          </a:prstGeom>
        </p:spPr>
      </p:pic>
    </p:spTree>
    <p:extLst>
      <p:ext uri="{BB962C8B-B14F-4D97-AF65-F5344CB8AC3E}">
        <p14:creationId xmlns:p14="http://schemas.microsoft.com/office/powerpoint/2010/main" val="4008485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There are two kinds of rendering</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pic>
        <p:nvPicPr>
          <p:cNvPr id="5" name="Picture 4" descr="A cartoon character on a beach&#10;&#10;Description automatically generated">
            <a:extLst>
              <a:ext uri="{FF2B5EF4-FFF2-40B4-BE49-F238E27FC236}">
                <a16:creationId xmlns:a16="http://schemas.microsoft.com/office/drawing/2014/main" id="{8F6EF9FA-7974-42B2-378D-39224235F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530667"/>
            <a:ext cx="4920018" cy="3280012"/>
          </a:xfrm>
          <a:prstGeom prst="rect">
            <a:avLst/>
          </a:prstGeom>
        </p:spPr>
      </p:pic>
      <p:pic>
        <p:nvPicPr>
          <p:cNvPr id="7" name="Picture 6" descr="A person walking a horse on a mountain&#10;&#10;Description automatically generated">
            <a:extLst>
              <a:ext uri="{FF2B5EF4-FFF2-40B4-BE49-F238E27FC236}">
                <a16:creationId xmlns:a16="http://schemas.microsoft.com/office/drawing/2014/main" id="{8D24F97A-8AE4-82BC-F0D8-518E7D89AF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6999" y="1530667"/>
            <a:ext cx="5715000" cy="3200400"/>
          </a:xfrm>
          <a:prstGeom prst="rect">
            <a:avLst/>
          </a:prstGeom>
        </p:spPr>
      </p:pic>
      <p:cxnSp>
        <p:nvCxnSpPr>
          <p:cNvPr id="9" name="Straight Arrow Connector 8">
            <a:extLst>
              <a:ext uri="{FF2B5EF4-FFF2-40B4-BE49-F238E27FC236}">
                <a16:creationId xmlns:a16="http://schemas.microsoft.com/office/drawing/2014/main" id="{F0ED9262-AB95-3676-EA45-87818901D663}"/>
              </a:ext>
            </a:extLst>
          </p:cNvPr>
          <p:cNvCxnSpPr/>
          <p:nvPr/>
        </p:nvCxnSpPr>
        <p:spPr>
          <a:xfrm>
            <a:off x="5125452" y="3031958"/>
            <a:ext cx="1152000" cy="0"/>
          </a:xfrm>
          <a:prstGeom prst="straightConnector1">
            <a:avLst/>
          </a:prstGeom>
          <a:ln w="127000">
            <a:headEnd type="triangle"/>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DD6459B4-6E6B-E5D9-0C9B-8FBF9B675BCF}"/>
              </a:ext>
            </a:extLst>
          </p:cNvPr>
          <p:cNvSpPr txBox="1"/>
          <p:nvPr/>
        </p:nvSpPr>
        <p:spPr>
          <a:xfrm>
            <a:off x="3029803" y="5179325"/>
            <a:ext cx="5231881" cy="523220"/>
          </a:xfrm>
          <a:prstGeom prst="rect">
            <a:avLst/>
          </a:prstGeom>
          <a:noFill/>
        </p:spPr>
        <p:txBody>
          <a:bodyPr wrap="none" rtlCol="0">
            <a:spAutoFit/>
          </a:bodyPr>
          <a:lstStyle/>
          <a:p>
            <a:r>
              <a:rPr lang="en-US" sz="2800" dirty="0"/>
              <a:t>Does anyone know the difference?</a:t>
            </a:r>
            <a:endParaRPr lang="en-BE" sz="2800" dirty="0"/>
          </a:p>
        </p:txBody>
      </p:sp>
    </p:spTree>
    <p:extLst>
      <p:ext uri="{BB962C8B-B14F-4D97-AF65-F5344CB8AC3E}">
        <p14:creationId xmlns:p14="http://schemas.microsoft.com/office/powerpoint/2010/main" val="2038409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There are two kinds of rendering</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pic>
        <p:nvPicPr>
          <p:cNvPr id="5" name="Picture 4" descr="A cartoon character on a beach&#10;&#10;Description automatically generated">
            <a:extLst>
              <a:ext uri="{FF2B5EF4-FFF2-40B4-BE49-F238E27FC236}">
                <a16:creationId xmlns:a16="http://schemas.microsoft.com/office/drawing/2014/main" id="{8F6EF9FA-7974-42B2-378D-39224235F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530667"/>
            <a:ext cx="4920018" cy="3280012"/>
          </a:xfrm>
          <a:prstGeom prst="rect">
            <a:avLst/>
          </a:prstGeom>
        </p:spPr>
      </p:pic>
      <p:pic>
        <p:nvPicPr>
          <p:cNvPr id="7" name="Picture 6" descr="A person walking a horse on a mountain&#10;&#10;Description automatically generated">
            <a:extLst>
              <a:ext uri="{FF2B5EF4-FFF2-40B4-BE49-F238E27FC236}">
                <a16:creationId xmlns:a16="http://schemas.microsoft.com/office/drawing/2014/main" id="{8D24F97A-8AE4-82BC-F0D8-518E7D89AF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6999" y="1530667"/>
            <a:ext cx="5715000" cy="3200400"/>
          </a:xfrm>
          <a:prstGeom prst="rect">
            <a:avLst/>
          </a:prstGeom>
        </p:spPr>
      </p:pic>
      <p:cxnSp>
        <p:nvCxnSpPr>
          <p:cNvPr id="9" name="Straight Arrow Connector 8">
            <a:extLst>
              <a:ext uri="{FF2B5EF4-FFF2-40B4-BE49-F238E27FC236}">
                <a16:creationId xmlns:a16="http://schemas.microsoft.com/office/drawing/2014/main" id="{F0ED9262-AB95-3676-EA45-87818901D663}"/>
              </a:ext>
            </a:extLst>
          </p:cNvPr>
          <p:cNvCxnSpPr/>
          <p:nvPr/>
        </p:nvCxnSpPr>
        <p:spPr>
          <a:xfrm>
            <a:off x="5125452" y="3031958"/>
            <a:ext cx="1152000" cy="0"/>
          </a:xfrm>
          <a:prstGeom prst="straightConnector1">
            <a:avLst/>
          </a:prstGeom>
          <a:ln w="127000">
            <a:headEnd type="triangle"/>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DD6459B4-6E6B-E5D9-0C9B-8FBF9B675BCF}"/>
              </a:ext>
            </a:extLst>
          </p:cNvPr>
          <p:cNvSpPr txBox="1"/>
          <p:nvPr/>
        </p:nvSpPr>
        <p:spPr>
          <a:xfrm>
            <a:off x="2197290" y="5404514"/>
            <a:ext cx="1101584" cy="523220"/>
          </a:xfrm>
          <a:prstGeom prst="rect">
            <a:avLst/>
          </a:prstGeom>
          <a:noFill/>
        </p:spPr>
        <p:txBody>
          <a:bodyPr wrap="none" rtlCol="0">
            <a:spAutoFit/>
          </a:bodyPr>
          <a:lstStyle/>
          <a:p>
            <a:r>
              <a:rPr lang="en-US" sz="2800" dirty="0"/>
              <a:t>Movie</a:t>
            </a:r>
            <a:endParaRPr lang="en-BE" sz="2800" dirty="0"/>
          </a:p>
        </p:txBody>
      </p:sp>
      <p:sp>
        <p:nvSpPr>
          <p:cNvPr id="4" name="TextBox 3">
            <a:extLst>
              <a:ext uri="{FF2B5EF4-FFF2-40B4-BE49-F238E27FC236}">
                <a16:creationId xmlns:a16="http://schemas.microsoft.com/office/drawing/2014/main" id="{C9D7816F-ACC9-DD91-E78C-920E4F27BA2A}"/>
              </a:ext>
            </a:extLst>
          </p:cNvPr>
          <p:cNvSpPr txBox="1"/>
          <p:nvPr/>
        </p:nvSpPr>
        <p:spPr>
          <a:xfrm>
            <a:off x="8893128" y="5373389"/>
            <a:ext cx="1047082" cy="523220"/>
          </a:xfrm>
          <a:prstGeom prst="rect">
            <a:avLst/>
          </a:prstGeom>
          <a:noFill/>
        </p:spPr>
        <p:txBody>
          <a:bodyPr wrap="none" rtlCol="0">
            <a:spAutoFit/>
          </a:bodyPr>
          <a:lstStyle/>
          <a:p>
            <a:r>
              <a:rPr lang="en-US" sz="2800" dirty="0"/>
              <a:t>Game</a:t>
            </a:r>
            <a:endParaRPr lang="en-BE" sz="2800" dirty="0"/>
          </a:p>
        </p:txBody>
      </p:sp>
    </p:spTree>
    <p:extLst>
      <p:ext uri="{BB962C8B-B14F-4D97-AF65-F5344CB8AC3E}">
        <p14:creationId xmlns:p14="http://schemas.microsoft.com/office/powerpoint/2010/main" val="2859480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There are two kinds of rendering</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pic>
        <p:nvPicPr>
          <p:cNvPr id="5" name="Picture 4" descr="A cartoon character on a beach&#10;&#10;Description automatically generated">
            <a:extLst>
              <a:ext uri="{FF2B5EF4-FFF2-40B4-BE49-F238E27FC236}">
                <a16:creationId xmlns:a16="http://schemas.microsoft.com/office/drawing/2014/main" id="{8F6EF9FA-7974-42B2-378D-39224235F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530667"/>
            <a:ext cx="4920018" cy="3280012"/>
          </a:xfrm>
          <a:prstGeom prst="rect">
            <a:avLst/>
          </a:prstGeom>
        </p:spPr>
      </p:pic>
      <p:pic>
        <p:nvPicPr>
          <p:cNvPr id="7" name="Picture 6" descr="A person walking a horse on a mountain&#10;&#10;Description automatically generated">
            <a:extLst>
              <a:ext uri="{FF2B5EF4-FFF2-40B4-BE49-F238E27FC236}">
                <a16:creationId xmlns:a16="http://schemas.microsoft.com/office/drawing/2014/main" id="{8D24F97A-8AE4-82BC-F0D8-518E7D89AF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6999" y="1530667"/>
            <a:ext cx="5715000" cy="3200400"/>
          </a:xfrm>
          <a:prstGeom prst="rect">
            <a:avLst/>
          </a:prstGeom>
        </p:spPr>
      </p:pic>
      <p:cxnSp>
        <p:nvCxnSpPr>
          <p:cNvPr id="9" name="Straight Arrow Connector 8">
            <a:extLst>
              <a:ext uri="{FF2B5EF4-FFF2-40B4-BE49-F238E27FC236}">
                <a16:creationId xmlns:a16="http://schemas.microsoft.com/office/drawing/2014/main" id="{F0ED9262-AB95-3676-EA45-87818901D663}"/>
              </a:ext>
            </a:extLst>
          </p:cNvPr>
          <p:cNvCxnSpPr/>
          <p:nvPr/>
        </p:nvCxnSpPr>
        <p:spPr>
          <a:xfrm>
            <a:off x="5125452" y="3031958"/>
            <a:ext cx="1152000" cy="0"/>
          </a:xfrm>
          <a:prstGeom prst="straightConnector1">
            <a:avLst/>
          </a:prstGeom>
          <a:ln w="127000">
            <a:headEnd type="triangle"/>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DD6459B4-6E6B-E5D9-0C9B-8FBF9B675BCF}"/>
              </a:ext>
            </a:extLst>
          </p:cNvPr>
          <p:cNvSpPr txBox="1"/>
          <p:nvPr/>
        </p:nvSpPr>
        <p:spPr>
          <a:xfrm>
            <a:off x="1050878" y="5327333"/>
            <a:ext cx="3182410" cy="954107"/>
          </a:xfrm>
          <a:prstGeom prst="rect">
            <a:avLst/>
          </a:prstGeom>
          <a:noFill/>
        </p:spPr>
        <p:txBody>
          <a:bodyPr wrap="none" rtlCol="0">
            <a:spAutoFit/>
          </a:bodyPr>
          <a:lstStyle/>
          <a:p>
            <a:r>
              <a:rPr lang="en-US" sz="2800" dirty="0"/>
              <a:t>Offline rendering</a:t>
            </a:r>
            <a:br>
              <a:rPr lang="en-US" sz="2800" dirty="0"/>
            </a:br>
            <a:r>
              <a:rPr lang="en-US" sz="2800" dirty="0"/>
              <a:t>Do calculations once</a:t>
            </a:r>
            <a:endParaRPr lang="en-BE" sz="2800" dirty="0"/>
          </a:p>
        </p:txBody>
      </p:sp>
      <p:sp>
        <p:nvSpPr>
          <p:cNvPr id="4" name="TextBox 3">
            <a:extLst>
              <a:ext uri="{FF2B5EF4-FFF2-40B4-BE49-F238E27FC236}">
                <a16:creationId xmlns:a16="http://schemas.microsoft.com/office/drawing/2014/main" id="{C9D7816F-ACC9-DD91-E78C-920E4F27BA2A}"/>
              </a:ext>
            </a:extLst>
          </p:cNvPr>
          <p:cNvSpPr txBox="1"/>
          <p:nvPr/>
        </p:nvSpPr>
        <p:spPr>
          <a:xfrm>
            <a:off x="6859612" y="5107880"/>
            <a:ext cx="4341510" cy="1384995"/>
          </a:xfrm>
          <a:prstGeom prst="rect">
            <a:avLst/>
          </a:prstGeom>
          <a:noFill/>
        </p:spPr>
        <p:txBody>
          <a:bodyPr wrap="none" rtlCol="0">
            <a:spAutoFit/>
          </a:bodyPr>
          <a:lstStyle/>
          <a:p>
            <a:r>
              <a:rPr lang="en-US" sz="2800" dirty="0"/>
              <a:t>Game</a:t>
            </a:r>
            <a:br>
              <a:rPr lang="en-US" sz="2800" dirty="0"/>
            </a:br>
            <a:r>
              <a:rPr lang="en-US" sz="2800" dirty="0"/>
              <a:t>Do calculations continuously</a:t>
            </a:r>
          </a:p>
          <a:p>
            <a:r>
              <a:rPr lang="en-US" sz="2800" dirty="0"/>
              <a:t>Why?</a:t>
            </a:r>
            <a:endParaRPr lang="en-BE" sz="2800" dirty="0"/>
          </a:p>
        </p:txBody>
      </p:sp>
    </p:spTree>
    <p:extLst>
      <p:ext uri="{BB962C8B-B14F-4D97-AF65-F5344CB8AC3E}">
        <p14:creationId xmlns:p14="http://schemas.microsoft.com/office/powerpoint/2010/main" val="1373029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There are two kinds of rendering</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pic>
        <p:nvPicPr>
          <p:cNvPr id="5" name="Picture 4" descr="A cartoon character on a beach&#10;&#10;Description automatically generated">
            <a:extLst>
              <a:ext uri="{FF2B5EF4-FFF2-40B4-BE49-F238E27FC236}">
                <a16:creationId xmlns:a16="http://schemas.microsoft.com/office/drawing/2014/main" id="{8F6EF9FA-7974-42B2-378D-39224235F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530667"/>
            <a:ext cx="4920018" cy="3280012"/>
          </a:xfrm>
          <a:prstGeom prst="rect">
            <a:avLst/>
          </a:prstGeom>
        </p:spPr>
      </p:pic>
      <p:pic>
        <p:nvPicPr>
          <p:cNvPr id="7" name="Picture 6" descr="A person walking a horse on a mountain&#10;&#10;Description automatically generated">
            <a:extLst>
              <a:ext uri="{FF2B5EF4-FFF2-40B4-BE49-F238E27FC236}">
                <a16:creationId xmlns:a16="http://schemas.microsoft.com/office/drawing/2014/main" id="{8D24F97A-8AE4-82BC-F0D8-518E7D89AF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6999" y="1530667"/>
            <a:ext cx="5715000" cy="3200400"/>
          </a:xfrm>
          <a:prstGeom prst="rect">
            <a:avLst/>
          </a:prstGeom>
        </p:spPr>
      </p:pic>
      <p:cxnSp>
        <p:nvCxnSpPr>
          <p:cNvPr id="9" name="Straight Arrow Connector 8">
            <a:extLst>
              <a:ext uri="{FF2B5EF4-FFF2-40B4-BE49-F238E27FC236}">
                <a16:creationId xmlns:a16="http://schemas.microsoft.com/office/drawing/2014/main" id="{F0ED9262-AB95-3676-EA45-87818901D663}"/>
              </a:ext>
            </a:extLst>
          </p:cNvPr>
          <p:cNvCxnSpPr/>
          <p:nvPr/>
        </p:nvCxnSpPr>
        <p:spPr>
          <a:xfrm>
            <a:off x="5125452" y="3031958"/>
            <a:ext cx="1152000" cy="0"/>
          </a:xfrm>
          <a:prstGeom prst="straightConnector1">
            <a:avLst/>
          </a:prstGeom>
          <a:ln w="127000">
            <a:headEnd type="triangle"/>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DD6459B4-6E6B-E5D9-0C9B-8FBF9B675BCF}"/>
              </a:ext>
            </a:extLst>
          </p:cNvPr>
          <p:cNvSpPr txBox="1"/>
          <p:nvPr/>
        </p:nvSpPr>
        <p:spPr>
          <a:xfrm>
            <a:off x="1289507" y="5158855"/>
            <a:ext cx="2837380" cy="523220"/>
          </a:xfrm>
          <a:prstGeom prst="rect">
            <a:avLst/>
          </a:prstGeom>
          <a:noFill/>
        </p:spPr>
        <p:txBody>
          <a:bodyPr wrap="none" rtlCol="0">
            <a:spAutoFit/>
          </a:bodyPr>
          <a:lstStyle/>
          <a:p>
            <a:r>
              <a:rPr lang="en-US" sz="2800" dirty="0"/>
              <a:t>(offline) rendering</a:t>
            </a:r>
            <a:endParaRPr lang="en-BE" sz="2800" dirty="0"/>
          </a:p>
        </p:txBody>
      </p:sp>
      <p:sp>
        <p:nvSpPr>
          <p:cNvPr id="4" name="TextBox 3">
            <a:extLst>
              <a:ext uri="{FF2B5EF4-FFF2-40B4-BE49-F238E27FC236}">
                <a16:creationId xmlns:a16="http://schemas.microsoft.com/office/drawing/2014/main" id="{C9D7816F-ACC9-DD91-E78C-920E4F27BA2A}"/>
              </a:ext>
            </a:extLst>
          </p:cNvPr>
          <p:cNvSpPr txBox="1"/>
          <p:nvPr/>
        </p:nvSpPr>
        <p:spPr>
          <a:xfrm>
            <a:off x="7848259" y="5065723"/>
            <a:ext cx="2972480" cy="523220"/>
          </a:xfrm>
          <a:prstGeom prst="rect">
            <a:avLst/>
          </a:prstGeom>
          <a:noFill/>
        </p:spPr>
        <p:txBody>
          <a:bodyPr wrap="none" rtlCol="0">
            <a:spAutoFit/>
          </a:bodyPr>
          <a:lstStyle/>
          <a:p>
            <a:r>
              <a:rPr lang="en-US" sz="2800" dirty="0"/>
              <a:t>Realtime rendering</a:t>
            </a:r>
            <a:endParaRPr lang="en-BE" sz="2800" dirty="0"/>
          </a:p>
        </p:txBody>
      </p:sp>
    </p:spTree>
    <p:extLst>
      <p:ext uri="{BB962C8B-B14F-4D97-AF65-F5344CB8AC3E}">
        <p14:creationId xmlns:p14="http://schemas.microsoft.com/office/powerpoint/2010/main" val="191796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What is the big difference?</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pic>
        <p:nvPicPr>
          <p:cNvPr id="7" name="Picture 6" descr="A person walking a horse on a mountain&#10;&#10;Description automatically generated">
            <a:extLst>
              <a:ext uri="{FF2B5EF4-FFF2-40B4-BE49-F238E27FC236}">
                <a16:creationId xmlns:a16="http://schemas.microsoft.com/office/drawing/2014/main" id="{8D24F97A-8AE4-82BC-F0D8-518E7D89A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81043"/>
            <a:ext cx="5715000" cy="3200400"/>
          </a:xfrm>
          <a:prstGeom prst="rect">
            <a:avLst/>
          </a:prstGeom>
        </p:spPr>
      </p:pic>
      <p:sp>
        <p:nvSpPr>
          <p:cNvPr id="6" name="TextBox 5">
            <a:extLst>
              <a:ext uri="{FF2B5EF4-FFF2-40B4-BE49-F238E27FC236}">
                <a16:creationId xmlns:a16="http://schemas.microsoft.com/office/drawing/2014/main" id="{1D191D92-F9FA-89DB-7DB8-32C553DA6203}"/>
              </a:ext>
            </a:extLst>
          </p:cNvPr>
          <p:cNvSpPr txBox="1"/>
          <p:nvPr/>
        </p:nvSpPr>
        <p:spPr>
          <a:xfrm>
            <a:off x="5715000" y="3374084"/>
            <a:ext cx="6608925" cy="830997"/>
          </a:xfrm>
          <a:prstGeom prst="rect">
            <a:avLst/>
          </a:prstGeom>
          <a:noFill/>
        </p:spPr>
        <p:txBody>
          <a:bodyPr wrap="none" rtlCol="0">
            <a:spAutoFit/>
          </a:bodyPr>
          <a:lstStyle/>
          <a:p>
            <a:r>
              <a:rPr lang="en-US" sz="2400" dirty="0"/>
              <a:t>How long do we have to render the frame?</a:t>
            </a:r>
            <a:br>
              <a:rPr lang="en-US" sz="2400" dirty="0"/>
            </a:br>
            <a:r>
              <a:rPr lang="en-US" sz="2400" dirty="0"/>
              <a:t>Assume we’re rendering 60 frames per second (fps)</a:t>
            </a:r>
            <a:endParaRPr lang="en-BE" sz="2400" dirty="0"/>
          </a:p>
        </p:txBody>
      </p:sp>
    </p:spTree>
    <p:extLst>
      <p:ext uri="{BB962C8B-B14F-4D97-AF65-F5344CB8AC3E}">
        <p14:creationId xmlns:p14="http://schemas.microsoft.com/office/powerpoint/2010/main" val="4172659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What is the big difference?</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pic>
        <p:nvPicPr>
          <p:cNvPr id="7" name="Picture 6" descr="A person walking a horse on a mountain&#10;&#10;Description automatically generated">
            <a:extLst>
              <a:ext uri="{FF2B5EF4-FFF2-40B4-BE49-F238E27FC236}">
                <a16:creationId xmlns:a16="http://schemas.microsoft.com/office/drawing/2014/main" id="{8D24F97A-8AE4-82BC-F0D8-518E7D89A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81043"/>
            <a:ext cx="5715000" cy="3200400"/>
          </a:xfrm>
          <a:prstGeom prst="rect">
            <a:avLst/>
          </a:prstGeom>
        </p:spPr>
      </p:pic>
      <p:sp>
        <p:nvSpPr>
          <p:cNvPr id="6" name="TextBox 5">
            <a:extLst>
              <a:ext uri="{FF2B5EF4-FFF2-40B4-BE49-F238E27FC236}">
                <a16:creationId xmlns:a16="http://schemas.microsoft.com/office/drawing/2014/main" id="{1D191D92-F9FA-89DB-7DB8-32C553DA6203}"/>
              </a:ext>
            </a:extLst>
          </p:cNvPr>
          <p:cNvSpPr txBox="1"/>
          <p:nvPr/>
        </p:nvSpPr>
        <p:spPr>
          <a:xfrm>
            <a:off x="6636225" y="2736502"/>
            <a:ext cx="3327449" cy="1384995"/>
          </a:xfrm>
          <a:prstGeom prst="rect">
            <a:avLst/>
          </a:prstGeom>
          <a:noFill/>
        </p:spPr>
        <p:txBody>
          <a:bodyPr wrap="none" rtlCol="0">
            <a:spAutoFit/>
          </a:bodyPr>
          <a:lstStyle/>
          <a:p>
            <a:r>
              <a:rPr lang="en-US" sz="2800" dirty="0"/>
              <a:t>60 frames per second</a:t>
            </a:r>
          </a:p>
          <a:p>
            <a:r>
              <a:rPr lang="en-US" sz="2800" dirty="0"/>
              <a:t>1 second / 60</a:t>
            </a:r>
          </a:p>
          <a:p>
            <a:r>
              <a:rPr lang="en-US" sz="2800" dirty="0"/>
              <a:t>16.6 </a:t>
            </a:r>
            <a:r>
              <a:rPr lang="en-US" sz="2800" dirty="0" err="1"/>
              <a:t>ms</a:t>
            </a:r>
            <a:r>
              <a:rPr lang="en-US" sz="2800" dirty="0"/>
              <a:t> per frame </a:t>
            </a:r>
            <a:endParaRPr lang="en-BE" sz="2800" dirty="0"/>
          </a:p>
        </p:txBody>
      </p:sp>
    </p:spTree>
    <p:extLst>
      <p:ext uri="{BB962C8B-B14F-4D97-AF65-F5344CB8AC3E}">
        <p14:creationId xmlns:p14="http://schemas.microsoft.com/office/powerpoint/2010/main" val="1564514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What is the big difference?</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sp>
        <p:nvSpPr>
          <p:cNvPr id="6" name="TextBox 5">
            <a:extLst>
              <a:ext uri="{FF2B5EF4-FFF2-40B4-BE49-F238E27FC236}">
                <a16:creationId xmlns:a16="http://schemas.microsoft.com/office/drawing/2014/main" id="{1D191D92-F9FA-89DB-7DB8-32C553DA6203}"/>
              </a:ext>
            </a:extLst>
          </p:cNvPr>
          <p:cNvSpPr txBox="1"/>
          <p:nvPr/>
        </p:nvSpPr>
        <p:spPr>
          <a:xfrm>
            <a:off x="5715000" y="3374084"/>
            <a:ext cx="5543762" cy="830997"/>
          </a:xfrm>
          <a:prstGeom prst="rect">
            <a:avLst/>
          </a:prstGeom>
          <a:noFill/>
        </p:spPr>
        <p:txBody>
          <a:bodyPr wrap="none" rtlCol="0">
            <a:spAutoFit/>
          </a:bodyPr>
          <a:lstStyle/>
          <a:p>
            <a:r>
              <a:rPr lang="en-US" sz="2400" dirty="0"/>
              <a:t>How long do we have to render the frame?</a:t>
            </a:r>
          </a:p>
          <a:p>
            <a:r>
              <a:rPr lang="en-US" sz="2400" dirty="0"/>
              <a:t>Movies display at least 24 fps</a:t>
            </a:r>
            <a:endParaRPr lang="en-BE" sz="2400" dirty="0"/>
          </a:p>
        </p:txBody>
      </p:sp>
      <p:pic>
        <p:nvPicPr>
          <p:cNvPr id="4" name="Picture 3" descr="A cartoon character on a beach&#10;&#10;Description automatically generated">
            <a:extLst>
              <a:ext uri="{FF2B5EF4-FFF2-40B4-BE49-F238E27FC236}">
                <a16:creationId xmlns:a16="http://schemas.microsoft.com/office/drawing/2014/main" id="{2C7A1191-91F1-8B1F-EBC5-41984E8BA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40341"/>
            <a:ext cx="5670410" cy="3780273"/>
          </a:xfrm>
          <a:prstGeom prst="rect">
            <a:avLst/>
          </a:prstGeom>
        </p:spPr>
      </p:pic>
    </p:spTree>
    <p:extLst>
      <p:ext uri="{BB962C8B-B14F-4D97-AF65-F5344CB8AC3E}">
        <p14:creationId xmlns:p14="http://schemas.microsoft.com/office/powerpoint/2010/main" val="2437216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What is the big difference?</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sp>
        <p:nvSpPr>
          <p:cNvPr id="6" name="TextBox 5">
            <a:extLst>
              <a:ext uri="{FF2B5EF4-FFF2-40B4-BE49-F238E27FC236}">
                <a16:creationId xmlns:a16="http://schemas.microsoft.com/office/drawing/2014/main" id="{1D191D92-F9FA-89DB-7DB8-32C553DA6203}"/>
              </a:ext>
            </a:extLst>
          </p:cNvPr>
          <p:cNvSpPr txBox="1"/>
          <p:nvPr/>
        </p:nvSpPr>
        <p:spPr>
          <a:xfrm>
            <a:off x="5715000" y="3374084"/>
            <a:ext cx="5543762" cy="830997"/>
          </a:xfrm>
          <a:prstGeom prst="rect">
            <a:avLst/>
          </a:prstGeom>
          <a:noFill/>
        </p:spPr>
        <p:txBody>
          <a:bodyPr wrap="none" rtlCol="0">
            <a:spAutoFit/>
          </a:bodyPr>
          <a:lstStyle/>
          <a:p>
            <a:r>
              <a:rPr lang="en-US" sz="2400" dirty="0"/>
              <a:t>How long do we have to render the frame?</a:t>
            </a:r>
          </a:p>
          <a:p>
            <a:r>
              <a:rPr lang="en-US" sz="2400" dirty="0"/>
              <a:t>Movies display at least 24 fps</a:t>
            </a:r>
            <a:endParaRPr lang="en-BE" sz="2400" dirty="0"/>
          </a:p>
        </p:txBody>
      </p:sp>
      <p:pic>
        <p:nvPicPr>
          <p:cNvPr id="4" name="Picture 3" descr="A cartoon character on a beach&#10;&#10;Description automatically generated">
            <a:extLst>
              <a:ext uri="{FF2B5EF4-FFF2-40B4-BE49-F238E27FC236}">
                <a16:creationId xmlns:a16="http://schemas.microsoft.com/office/drawing/2014/main" id="{2C7A1191-91F1-8B1F-EBC5-41984E8BA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40341"/>
            <a:ext cx="5670410" cy="3780273"/>
          </a:xfrm>
          <a:prstGeom prst="rect">
            <a:avLst/>
          </a:prstGeom>
        </p:spPr>
      </p:pic>
    </p:spTree>
    <p:extLst>
      <p:ext uri="{BB962C8B-B14F-4D97-AF65-F5344CB8AC3E}">
        <p14:creationId xmlns:p14="http://schemas.microsoft.com/office/powerpoint/2010/main" val="1479132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9E65-A87D-4AC7-139F-C565989D2781}"/>
              </a:ext>
            </a:extLst>
          </p:cNvPr>
          <p:cNvSpPr>
            <a:spLocks noGrp="1"/>
          </p:cNvSpPr>
          <p:nvPr>
            <p:ph type="title"/>
          </p:nvPr>
        </p:nvSpPr>
        <p:spPr/>
        <p:txBody>
          <a:bodyPr/>
          <a:lstStyle/>
          <a:p>
            <a:r>
              <a:rPr lang="en-US" dirty="0"/>
              <a:t>Trick question! It doesn’t matter</a:t>
            </a:r>
            <a:endParaRPr lang="en-BE" dirty="0"/>
          </a:p>
        </p:txBody>
      </p:sp>
      <p:sp>
        <p:nvSpPr>
          <p:cNvPr id="3" name="TextBox 2">
            <a:extLst>
              <a:ext uri="{FF2B5EF4-FFF2-40B4-BE49-F238E27FC236}">
                <a16:creationId xmlns:a16="http://schemas.microsoft.com/office/drawing/2014/main" id="{EBEDFDA6-B483-67D8-840E-23BFD16D157D}"/>
              </a:ext>
            </a:extLst>
          </p:cNvPr>
          <p:cNvSpPr txBox="1"/>
          <p:nvPr/>
        </p:nvSpPr>
        <p:spPr>
          <a:xfrm>
            <a:off x="1197142" y="2261937"/>
            <a:ext cx="184731" cy="369332"/>
          </a:xfrm>
          <a:prstGeom prst="rect">
            <a:avLst/>
          </a:prstGeom>
          <a:noFill/>
        </p:spPr>
        <p:txBody>
          <a:bodyPr wrap="none" rtlCol="0">
            <a:spAutoFit/>
          </a:bodyPr>
          <a:lstStyle/>
          <a:p>
            <a:endParaRPr lang="en-BE" dirty="0"/>
          </a:p>
        </p:txBody>
      </p:sp>
      <p:sp>
        <p:nvSpPr>
          <p:cNvPr id="6" name="TextBox 5">
            <a:extLst>
              <a:ext uri="{FF2B5EF4-FFF2-40B4-BE49-F238E27FC236}">
                <a16:creationId xmlns:a16="http://schemas.microsoft.com/office/drawing/2014/main" id="{1D191D92-F9FA-89DB-7DB8-32C553DA6203}"/>
              </a:ext>
            </a:extLst>
          </p:cNvPr>
          <p:cNvSpPr txBox="1"/>
          <p:nvPr/>
        </p:nvSpPr>
        <p:spPr>
          <a:xfrm>
            <a:off x="5715001" y="3374084"/>
            <a:ext cx="6411036"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We only need to render once (no user input)</a:t>
            </a:r>
          </a:p>
          <a:p>
            <a:pPr marL="342900" indent="-342900">
              <a:buFont typeface="Arial" panose="020B0604020202020204" pitchFamily="34" charset="0"/>
              <a:buChar char="•"/>
            </a:pPr>
            <a:r>
              <a:rPr lang="en-US" sz="2400" dirty="0"/>
              <a:t>Anecdotally, about 80-400 hours on a single pc for one frame, but is always rendered on a farm</a:t>
            </a:r>
            <a:endParaRPr lang="en-BE" sz="2400" dirty="0"/>
          </a:p>
        </p:txBody>
      </p:sp>
      <p:pic>
        <p:nvPicPr>
          <p:cNvPr id="4" name="Picture 3" descr="A cartoon character on a beach&#10;&#10;Description automatically generated">
            <a:extLst>
              <a:ext uri="{FF2B5EF4-FFF2-40B4-BE49-F238E27FC236}">
                <a16:creationId xmlns:a16="http://schemas.microsoft.com/office/drawing/2014/main" id="{2C7A1191-91F1-8B1F-EBC5-41984E8BA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40341"/>
            <a:ext cx="5670410" cy="3780273"/>
          </a:xfrm>
          <a:prstGeom prst="rect">
            <a:avLst/>
          </a:prstGeom>
        </p:spPr>
      </p:pic>
    </p:spTree>
    <p:extLst>
      <p:ext uri="{BB962C8B-B14F-4D97-AF65-F5344CB8AC3E}">
        <p14:creationId xmlns:p14="http://schemas.microsoft.com/office/powerpoint/2010/main" val="3158450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2426-9D77-CDF2-000C-6DD961563E19}"/>
              </a:ext>
            </a:extLst>
          </p:cNvPr>
          <p:cNvSpPr>
            <a:spLocks noGrp="1"/>
          </p:cNvSpPr>
          <p:nvPr>
            <p:ph type="title"/>
          </p:nvPr>
        </p:nvSpPr>
        <p:spPr>
          <a:xfrm>
            <a:off x="116006" y="365125"/>
            <a:ext cx="12075993" cy="1325563"/>
          </a:xfrm>
        </p:spPr>
        <p:txBody>
          <a:bodyPr/>
          <a:lstStyle/>
          <a:p>
            <a:r>
              <a:rPr lang="en-US" dirty="0"/>
              <a:t>This course should be called “</a:t>
            </a:r>
            <a:r>
              <a:rPr lang="en-US" dirty="0" err="1"/>
              <a:t>realtime</a:t>
            </a:r>
            <a:r>
              <a:rPr lang="en-US" dirty="0"/>
              <a:t> 3D rendering”</a:t>
            </a:r>
            <a:endParaRPr lang="en-BE" dirty="0"/>
          </a:p>
        </p:txBody>
      </p:sp>
      <p:sp>
        <p:nvSpPr>
          <p:cNvPr id="3" name="TextBox 2">
            <a:extLst>
              <a:ext uri="{FF2B5EF4-FFF2-40B4-BE49-F238E27FC236}">
                <a16:creationId xmlns:a16="http://schemas.microsoft.com/office/drawing/2014/main" id="{8778B0B9-99B9-0951-AB4D-917EC4C5D2CE}"/>
              </a:ext>
            </a:extLst>
          </p:cNvPr>
          <p:cNvSpPr txBox="1"/>
          <p:nvPr/>
        </p:nvSpPr>
        <p:spPr>
          <a:xfrm>
            <a:off x="464024" y="1613594"/>
            <a:ext cx="10993272"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We need to learn how to make 3D images</a:t>
            </a:r>
          </a:p>
          <a:p>
            <a:pPr marL="285750" indent="-285750">
              <a:buFont typeface="Arial" panose="020B0604020202020204" pitchFamily="34" charset="0"/>
              <a:buChar char="•"/>
            </a:pPr>
            <a:r>
              <a:rPr lang="en-US" sz="2800" dirty="0"/>
              <a:t>We need to use the graphics card (GPU) to do it fast enough</a:t>
            </a:r>
            <a:endParaRPr lang="en-BE" sz="2800" dirty="0"/>
          </a:p>
        </p:txBody>
      </p:sp>
    </p:spTree>
    <p:extLst>
      <p:ext uri="{BB962C8B-B14F-4D97-AF65-F5344CB8AC3E}">
        <p14:creationId xmlns:p14="http://schemas.microsoft.com/office/powerpoint/2010/main" val="3007397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158FB-00CF-D10A-CC8A-82ACD6BE58C3}"/>
              </a:ext>
            </a:extLst>
          </p:cNvPr>
          <p:cNvSpPr>
            <a:spLocks noGrp="1"/>
          </p:cNvSpPr>
          <p:nvPr>
            <p:ph type="title"/>
          </p:nvPr>
        </p:nvSpPr>
        <p:spPr>
          <a:xfrm>
            <a:off x="519362" y="238794"/>
            <a:ext cx="10515600" cy="1325563"/>
          </a:xfrm>
        </p:spPr>
        <p:txBody>
          <a:bodyPr/>
          <a:lstStyle/>
          <a:p>
            <a:r>
              <a:rPr lang="en-US" dirty="0"/>
              <a:t>Course schedule</a:t>
            </a:r>
            <a:endParaRPr lang="en-BE" dirty="0"/>
          </a:p>
        </p:txBody>
      </p:sp>
      <p:pic>
        <p:nvPicPr>
          <p:cNvPr id="4" name="Picture 3">
            <a:extLst>
              <a:ext uri="{FF2B5EF4-FFF2-40B4-BE49-F238E27FC236}">
                <a16:creationId xmlns:a16="http://schemas.microsoft.com/office/drawing/2014/main" id="{E71EAC1E-50A5-E5B1-3B92-1ADF35B0983F}"/>
              </a:ext>
            </a:extLst>
          </p:cNvPr>
          <p:cNvPicPr>
            <a:picLocks noChangeAspect="1"/>
          </p:cNvPicPr>
          <p:nvPr/>
        </p:nvPicPr>
        <p:blipFill>
          <a:blip r:embed="rId3"/>
          <a:stretch>
            <a:fillRect/>
          </a:stretch>
        </p:blipFill>
        <p:spPr>
          <a:xfrm>
            <a:off x="0" y="4223671"/>
            <a:ext cx="4032180" cy="2639927"/>
          </a:xfrm>
          <a:prstGeom prst="rect">
            <a:avLst/>
          </a:prstGeom>
        </p:spPr>
      </p:pic>
      <p:graphicFrame>
        <p:nvGraphicFramePr>
          <p:cNvPr id="8" name="Table 7">
            <a:extLst>
              <a:ext uri="{FF2B5EF4-FFF2-40B4-BE49-F238E27FC236}">
                <a16:creationId xmlns:a16="http://schemas.microsoft.com/office/drawing/2014/main" id="{2210F50F-45B5-C7FB-DF9B-1B0908099015}"/>
              </a:ext>
            </a:extLst>
          </p:cNvPr>
          <p:cNvGraphicFramePr>
            <a:graphicFrameLocks noGrp="1"/>
          </p:cNvGraphicFramePr>
          <p:nvPr>
            <p:extLst>
              <p:ext uri="{D42A27DB-BD31-4B8C-83A1-F6EECF244321}">
                <p14:modId xmlns:p14="http://schemas.microsoft.com/office/powerpoint/2010/main" val="2423798211"/>
              </p:ext>
            </p:extLst>
          </p:nvPr>
        </p:nvGraphicFramePr>
        <p:xfrm>
          <a:off x="5124734" y="1"/>
          <a:ext cx="6602496" cy="6855303"/>
        </p:xfrm>
        <a:graphic>
          <a:graphicData uri="http://schemas.openxmlformats.org/drawingml/2006/table">
            <a:tbl>
              <a:tblPr firstRow="1" bandRow="1">
                <a:tableStyleId>{5C22544A-7EE6-4342-B048-85BDC9FD1C3A}</a:tableStyleId>
              </a:tblPr>
              <a:tblGrid>
                <a:gridCol w="2026693">
                  <a:extLst>
                    <a:ext uri="{9D8B030D-6E8A-4147-A177-3AD203B41FA5}">
                      <a16:colId xmlns:a16="http://schemas.microsoft.com/office/drawing/2014/main" val="4215952977"/>
                    </a:ext>
                  </a:extLst>
                </a:gridCol>
                <a:gridCol w="2299648">
                  <a:extLst>
                    <a:ext uri="{9D8B030D-6E8A-4147-A177-3AD203B41FA5}">
                      <a16:colId xmlns:a16="http://schemas.microsoft.com/office/drawing/2014/main" val="1545778933"/>
                    </a:ext>
                  </a:extLst>
                </a:gridCol>
                <a:gridCol w="2276155">
                  <a:extLst>
                    <a:ext uri="{9D8B030D-6E8A-4147-A177-3AD203B41FA5}">
                      <a16:colId xmlns:a16="http://schemas.microsoft.com/office/drawing/2014/main" val="1553113300"/>
                    </a:ext>
                  </a:extLst>
                </a:gridCol>
              </a:tblGrid>
              <a:tr h="522129">
                <a:tc>
                  <a:txBody>
                    <a:bodyPr/>
                    <a:lstStyle/>
                    <a:p>
                      <a:endParaRPr lang="en-BE"/>
                    </a:p>
                  </a:txBody>
                  <a:tcPr/>
                </a:tc>
                <a:tc>
                  <a:txBody>
                    <a:bodyPr/>
                    <a:lstStyle/>
                    <a:p>
                      <a:r>
                        <a:rPr lang="en-US" dirty="0"/>
                        <a:t>Monday</a:t>
                      </a:r>
                      <a:endParaRPr lang="en-BE" dirty="0"/>
                    </a:p>
                  </a:txBody>
                  <a:tcPr/>
                </a:tc>
                <a:tc>
                  <a:txBody>
                    <a:bodyPr/>
                    <a:lstStyle/>
                    <a:p>
                      <a:r>
                        <a:rPr lang="en-US" dirty="0"/>
                        <a:t>Thursday</a:t>
                      </a:r>
                      <a:endParaRPr lang="en-BE" dirty="0"/>
                    </a:p>
                  </a:txBody>
                  <a:tcPr/>
                </a:tc>
                <a:extLst>
                  <a:ext uri="{0D108BD9-81ED-4DB2-BD59-A6C34878D82A}">
                    <a16:rowId xmlns:a16="http://schemas.microsoft.com/office/drawing/2014/main" val="2767273685"/>
                  </a:ext>
                </a:extLst>
              </a:tr>
              <a:tr h="522129">
                <a:tc>
                  <a:txBody>
                    <a:bodyPr/>
                    <a:lstStyle/>
                    <a:p>
                      <a:r>
                        <a:rPr lang="en-US" dirty="0"/>
                        <a:t>Week 1 : 12/02</a:t>
                      </a:r>
                      <a:endParaRPr lang="en-BE" dirty="0"/>
                    </a:p>
                  </a:txBody>
                  <a:tcPr/>
                </a:tc>
                <a:tc>
                  <a:txBody>
                    <a:bodyPr/>
                    <a:lstStyle/>
                    <a:p>
                      <a:r>
                        <a:rPr lang="en-US" dirty="0"/>
                        <a:t>Introduction</a:t>
                      </a:r>
                      <a:endParaRPr lang="en-BE" dirty="0"/>
                    </a:p>
                  </a:txBody>
                  <a:tcPr/>
                </a:tc>
                <a:tc>
                  <a:txBody>
                    <a:bodyPr/>
                    <a:lstStyle/>
                    <a:p>
                      <a:r>
                        <a:rPr lang="en-US" dirty="0"/>
                        <a:t>C#/Unity Lab</a:t>
                      </a:r>
                      <a:endParaRPr lang="en-BE" dirty="0"/>
                    </a:p>
                  </a:txBody>
                  <a:tcPr/>
                </a:tc>
                <a:extLst>
                  <a:ext uri="{0D108BD9-81ED-4DB2-BD59-A6C34878D82A}">
                    <a16:rowId xmlns:a16="http://schemas.microsoft.com/office/drawing/2014/main" val="3121121218"/>
                  </a:ext>
                </a:extLst>
              </a:tr>
              <a:tr h="522129">
                <a:tc>
                  <a:txBody>
                    <a:bodyPr/>
                    <a:lstStyle/>
                    <a:p>
                      <a:r>
                        <a:rPr lang="en-US" dirty="0"/>
                        <a:t>Week 2 : 19/02</a:t>
                      </a:r>
                      <a:endParaRPr lang="en-BE" dirty="0"/>
                    </a:p>
                  </a:txBody>
                  <a:tcPr/>
                </a:tc>
                <a:tc>
                  <a:txBody>
                    <a:bodyPr/>
                    <a:lstStyle/>
                    <a:p>
                      <a:r>
                        <a:rPr lang="en-US" dirty="0"/>
                        <a:t>3D reasoning</a:t>
                      </a:r>
                      <a:endParaRPr lang="en-BE" dirty="0"/>
                    </a:p>
                  </a:txBody>
                  <a:tcPr/>
                </a:tc>
                <a:tc>
                  <a:txBody>
                    <a:bodyPr/>
                    <a:lstStyle/>
                    <a:p>
                      <a:r>
                        <a:rPr lang="en-US" dirty="0"/>
                        <a:t>3D Lab</a:t>
                      </a:r>
                      <a:endParaRPr lang="en-BE" dirty="0"/>
                    </a:p>
                  </a:txBody>
                  <a:tcPr/>
                </a:tc>
                <a:extLst>
                  <a:ext uri="{0D108BD9-81ED-4DB2-BD59-A6C34878D82A}">
                    <a16:rowId xmlns:a16="http://schemas.microsoft.com/office/drawing/2014/main" val="1569727011"/>
                  </a:ext>
                </a:extLst>
              </a:tr>
              <a:tr h="522129">
                <a:tc>
                  <a:txBody>
                    <a:bodyPr/>
                    <a:lstStyle/>
                    <a:p>
                      <a:r>
                        <a:rPr lang="en-US" dirty="0"/>
                        <a:t>Week 3 : 26/02</a:t>
                      </a:r>
                      <a:endParaRPr lang="en-BE" dirty="0"/>
                    </a:p>
                  </a:txBody>
                  <a:tcPr/>
                </a:tc>
                <a:tc>
                  <a:txBody>
                    <a:bodyPr/>
                    <a:lstStyle/>
                    <a:p>
                      <a:r>
                        <a:rPr lang="en-US" dirty="0"/>
                        <a:t>Basic Pipeline</a:t>
                      </a:r>
                      <a:endParaRPr lang="en-BE" dirty="0"/>
                    </a:p>
                  </a:txBody>
                  <a:tcPr/>
                </a:tc>
                <a:tc>
                  <a:txBody>
                    <a:bodyPr/>
                    <a:lstStyle/>
                    <a:p>
                      <a:r>
                        <a:rPr lang="en-US" dirty="0"/>
                        <a:t>Lab</a:t>
                      </a:r>
                      <a:endParaRPr lang="en-BE" dirty="0"/>
                    </a:p>
                  </a:txBody>
                  <a:tcPr/>
                </a:tc>
                <a:extLst>
                  <a:ext uri="{0D108BD9-81ED-4DB2-BD59-A6C34878D82A}">
                    <a16:rowId xmlns:a16="http://schemas.microsoft.com/office/drawing/2014/main" val="3180221313"/>
                  </a:ext>
                </a:extLst>
              </a:tr>
              <a:tr h="625607">
                <a:tc>
                  <a:txBody>
                    <a:bodyPr/>
                    <a:lstStyle/>
                    <a:p>
                      <a:r>
                        <a:rPr lang="en-US" dirty="0"/>
                        <a:t>Week 4 : 04/03</a:t>
                      </a:r>
                      <a:endParaRPr lang="en-BE" dirty="0"/>
                    </a:p>
                  </a:txBody>
                  <a:tcPr/>
                </a:tc>
                <a:tc>
                  <a:txBody>
                    <a:bodyPr/>
                    <a:lstStyle/>
                    <a:p>
                      <a:r>
                        <a:rPr lang="en-US" dirty="0"/>
                        <a:t>Textures</a:t>
                      </a:r>
                    </a:p>
                    <a:p>
                      <a:r>
                        <a:rPr lang="en-US" dirty="0"/>
                        <a:t>Normal maps</a:t>
                      </a:r>
                      <a:endParaRPr lang="en-BE" dirty="0"/>
                    </a:p>
                  </a:txBody>
                  <a:tcPr/>
                </a:tc>
                <a:tc>
                  <a:txBody>
                    <a:bodyPr/>
                    <a:lstStyle/>
                    <a:p>
                      <a:r>
                        <a:rPr lang="en-US" dirty="0"/>
                        <a:t>Post processing / lab</a:t>
                      </a:r>
                      <a:endParaRPr lang="en-BE" dirty="0"/>
                    </a:p>
                  </a:txBody>
                  <a:tcPr/>
                </a:tc>
                <a:extLst>
                  <a:ext uri="{0D108BD9-81ED-4DB2-BD59-A6C34878D82A}">
                    <a16:rowId xmlns:a16="http://schemas.microsoft.com/office/drawing/2014/main" val="3441918310"/>
                  </a:ext>
                </a:extLst>
              </a:tr>
              <a:tr h="625607">
                <a:tc>
                  <a:txBody>
                    <a:bodyPr/>
                    <a:lstStyle/>
                    <a:p>
                      <a:r>
                        <a:rPr lang="en-US" dirty="0"/>
                        <a:t>Week 5 : 11/03</a:t>
                      </a:r>
                      <a:endParaRPr lang="en-BE" dirty="0"/>
                    </a:p>
                  </a:txBody>
                  <a:tcPr/>
                </a:tc>
                <a:tc>
                  <a:txBody>
                    <a:bodyPr/>
                    <a:lstStyle/>
                    <a:p>
                      <a:r>
                        <a:rPr lang="en-US" dirty="0"/>
                        <a:t>Camera’s</a:t>
                      </a:r>
                    </a:p>
                    <a:p>
                      <a:r>
                        <a:rPr lang="en-US" dirty="0"/>
                        <a:t>Light</a:t>
                      </a:r>
                      <a:endParaRPr lang="en-BE" dirty="0"/>
                    </a:p>
                  </a:txBody>
                  <a:tcPr/>
                </a:tc>
                <a:tc>
                  <a:txBody>
                    <a:bodyPr/>
                    <a:lstStyle/>
                    <a:p>
                      <a:r>
                        <a:rPr lang="en-US" dirty="0"/>
                        <a:t>lab</a:t>
                      </a:r>
                      <a:endParaRPr lang="en-BE" dirty="0"/>
                    </a:p>
                  </a:txBody>
                  <a:tcPr/>
                </a:tc>
                <a:extLst>
                  <a:ext uri="{0D108BD9-81ED-4DB2-BD59-A6C34878D82A}">
                    <a16:rowId xmlns:a16="http://schemas.microsoft.com/office/drawing/2014/main" val="591078510"/>
                  </a:ext>
                </a:extLst>
              </a:tr>
              <a:tr h="522129">
                <a:tc>
                  <a:txBody>
                    <a:bodyPr/>
                    <a:lstStyle/>
                    <a:p>
                      <a:r>
                        <a:rPr lang="en-US" dirty="0"/>
                        <a:t>Week 6 : 18/03</a:t>
                      </a:r>
                      <a:endParaRPr lang="en-BE" dirty="0"/>
                    </a:p>
                  </a:txBody>
                  <a:tcPr/>
                </a:tc>
                <a:tc>
                  <a:txBody>
                    <a:bodyPr/>
                    <a:lstStyle/>
                    <a:p>
                      <a:r>
                        <a:rPr lang="en-US" dirty="0"/>
                        <a:t>Advanced pipeline</a:t>
                      </a:r>
                      <a:endParaRPr lang="en-BE" dirty="0"/>
                    </a:p>
                  </a:txBody>
                  <a:tcPr/>
                </a:tc>
                <a:tc>
                  <a:txBody>
                    <a:bodyPr/>
                    <a:lstStyle/>
                    <a:p>
                      <a:r>
                        <a:rPr lang="en-US" dirty="0"/>
                        <a:t>Advanced pipeline lab</a:t>
                      </a:r>
                      <a:endParaRPr lang="en-BE" dirty="0"/>
                    </a:p>
                  </a:txBody>
                  <a:tcPr/>
                </a:tc>
                <a:extLst>
                  <a:ext uri="{0D108BD9-81ED-4DB2-BD59-A6C34878D82A}">
                    <a16:rowId xmlns:a16="http://schemas.microsoft.com/office/drawing/2014/main" val="1977941231"/>
                  </a:ext>
                </a:extLst>
              </a:tr>
              <a:tr h="625607">
                <a:tc>
                  <a:txBody>
                    <a:bodyPr/>
                    <a:lstStyle/>
                    <a:p>
                      <a:r>
                        <a:rPr lang="en-US" dirty="0"/>
                        <a:t>Week 7 : 25/03</a:t>
                      </a:r>
                      <a:endParaRPr lang="en-BE" dirty="0"/>
                    </a:p>
                  </a:txBody>
                  <a:tcPr/>
                </a:tc>
                <a:tc>
                  <a:txBody>
                    <a:bodyPr/>
                    <a:lstStyle/>
                    <a:p>
                      <a:r>
                        <a:rPr lang="en-US" dirty="0"/>
                        <a:t>Materials</a:t>
                      </a:r>
                      <a:br>
                        <a:rPr lang="en-US" dirty="0"/>
                      </a:br>
                      <a:r>
                        <a:rPr lang="en-US" dirty="0"/>
                        <a:t>Aliasing</a:t>
                      </a:r>
                      <a:endParaRPr lang="en-BE" dirty="0"/>
                    </a:p>
                  </a:txBody>
                  <a:tcPr/>
                </a:tc>
                <a:tc>
                  <a:txBody>
                    <a:bodyPr/>
                    <a:lstStyle/>
                    <a:p>
                      <a:r>
                        <a:rPr lang="en-US" dirty="0"/>
                        <a:t>Materials Lab</a:t>
                      </a:r>
                      <a:endParaRPr lang="en-BE" dirty="0"/>
                    </a:p>
                  </a:txBody>
                  <a:tcPr/>
                </a:tc>
                <a:extLst>
                  <a:ext uri="{0D108BD9-81ED-4DB2-BD59-A6C34878D82A}">
                    <a16:rowId xmlns:a16="http://schemas.microsoft.com/office/drawing/2014/main" val="4124929814"/>
                  </a:ext>
                </a:extLst>
              </a:tr>
              <a:tr h="625607">
                <a:tc>
                  <a:txBody>
                    <a:bodyPr/>
                    <a:lstStyle/>
                    <a:p>
                      <a:r>
                        <a:rPr lang="en-US" dirty="0"/>
                        <a:t>Week 8 : 15/04</a:t>
                      </a:r>
                      <a:endParaRPr lang="en-BE" dirty="0"/>
                    </a:p>
                  </a:txBody>
                  <a:tcPr/>
                </a:tc>
                <a:tc>
                  <a:txBody>
                    <a:bodyPr/>
                    <a:lstStyle/>
                    <a:p>
                      <a:r>
                        <a:rPr lang="en-US" dirty="0"/>
                        <a:t>Procedural generation</a:t>
                      </a:r>
                      <a:endParaRPr lang="en-BE" dirty="0"/>
                    </a:p>
                  </a:txBody>
                  <a:tcPr/>
                </a:tc>
                <a:tc>
                  <a:txBody>
                    <a:bodyPr/>
                    <a:lstStyle/>
                    <a:p>
                      <a:r>
                        <a:rPr lang="en-US" dirty="0"/>
                        <a:t>Procedural generation lab</a:t>
                      </a:r>
                      <a:endParaRPr lang="en-BE" dirty="0"/>
                    </a:p>
                  </a:txBody>
                  <a:tcPr/>
                </a:tc>
                <a:extLst>
                  <a:ext uri="{0D108BD9-81ED-4DB2-BD59-A6C34878D82A}">
                    <a16:rowId xmlns:a16="http://schemas.microsoft.com/office/drawing/2014/main" val="3765942271"/>
                  </a:ext>
                </a:extLst>
              </a:tr>
              <a:tr h="522129">
                <a:tc>
                  <a:txBody>
                    <a:bodyPr/>
                    <a:lstStyle/>
                    <a:p>
                      <a:r>
                        <a:rPr lang="en-US" dirty="0"/>
                        <a:t>Week 9 : 22/04</a:t>
                      </a:r>
                      <a:endParaRPr lang="en-BE" dirty="0"/>
                    </a:p>
                  </a:txBody>
                  <a:tcPr/>
                </a:tc>
                <a:tc>
                  <a:txBody>
                    <a:bodyPr/>
                    <a:lstStyle/>
                    <a:p>
                      <a:r>
                        <a:rPr lang="en-US" dirty="0"/>
                        <a:t>Project explanation</a:t>
                      </a:r>
                      <a:endParaRPr lang="en-BE" dirty="0"/>
                    </a:p>
                  </a:txBody>
                  <a:tcPr/>
                </a:tc>
                <a:tc>
                  <a:txBody>
                    <a:bodyPr/>
                    <a:lstStyle/>
                    <a:p>
                      <a:r>
                        <a:rPr lang="en-US" dirty="0"/>
                        <a:t>Project lab</a:t>
                      </a:r>
                      <a:endParaRPr lang="en-BE" dirty="0"/>
                    </a:p>
                  </a:txBody>
                  <a:tcPr/>
                </a:tc>
                <a:extLst>
                  <a:ext uri="{0D108BD9-81ED-4DB2-BD59-A6C34878D82A}">
                    <a16:rowId xmlns:a16="http://schemas.microsoft.com/office/drawing/2014/main" val="3316500834"/>
                  </a:ext>
                </a:extLst>
              </a:tr>
              <a:tr h="625607">
                <a:tc>
                  <a:txBody>
                    <a:bodyPr/>
                    <a:lstStyle/>
                    <a:p>
                      <a:r>
                        <a:rPr lang="en-US" dirty="0"/>
                        <a:t>Week 10 : 29/04</a:t>
                      </a:r>
                      <a:endParaRPr lang="en-BE" dirty="0"/>
                    </a:p>
                  </a:txBody>
                  <a:tcPr/>
                </a:tc>
                <a:tc>
                  <a:txBody>
                    <a:bodyPr/>
                    <a:lstStyle/>
                    <a:p>
                      <a:r>
                        <a:rPr lang="en-US" dirty="0"/>
                        <a:t>Guest Lecture</a:t>
                      </a:r>
                      <a:br>
                        <a:rPr lang="en-US" dirty="0"/>
                      </a:br>
                      <a:r>
                        <a:rPr lang="en-US" dirty="0"/>
                        <a:t>Project Labs</a:t>
                      </a:r>
                      <a:endParaRPr lang="en-BE" dirty="0"/>
                    </a:p>
                  </a:txBody>
                  <a:tcPr/>
                </a:tc>
                <a:tc>
                  <a:txBody>
                    <a:bodyPr/>
                    <a:lstStyle/>
                    <a:p>
                      <a:r>
                        <a:rPr lang="en-US" dirty="0"/>
                        <a:t>Guest Lecture</a:t>
                      </a:r>
                      <a:br>
                        <a:rPr lang="en-US" dirty="0"/>
                      </a:br>
                      <a:r>
                        <a:rPr lang="en-US" dirty="0"/>
                        <a:t>Project Labs</a:t>
                      </a:r>
                      <a:endParaRPr lang="en-BE" dirty="0"/>
                    </a:p>
                  </a:txBody>
                  <a:tcPr/>
                </a:tc>
                <a:extLst>
                  <a:ext uri="{0D108BD9-81ED-4DB2-BD59-A6C34878D82A}">
                    <a16:rowId xmlns:a16="http://schemas.microsoft.com/office/drawing/2014/main" val="2746961463"/>
                  </a:ext>
                </a:extLst>
              </a:tr>
              <a:tr h="522129">
                <a:tc>
                  <a:txBody>
                    <a:bodyPr/>
                    <a:lstStyle/>
                    <a:p>
                      <a:r>
                        <a:rPr lang="en-US" dirty="0"/>
                        <a:t>Week 11 : </a:t>
                      </a:r>
                      <a:endParaRPr lang="en-BE" dirty="0"/>
                    </a:p>
                  </a:txBody>
                  <a:tcPr/>
                </a:tc>
                <a:tc>
                  <a:txBody>
                    <a:bodyPr/>
                    <a:lstStyle/>
                    <a:p>
                      <a:r>
                        <a:rPr lang="en-US" dirty="0"/>
                        <a:t>Revision</a:t>
                      </a:r>
                      <a:endParaRPr lang="en-BE" dirty="0"/>
                    </a:p>
                  </a:txBody>
                  <a:tcPr/>
                </a:tc>
                <a:tc>
                  <a:txBody>
                    <a:bodyPr/>
                    <a:lstStyle/>
                    <a:p>
                      <a:r>
                        <a:rPr lang="en-US" dirty="0"/>
                        <a:t>Revision</a:t>
                      </a:r>
                      <a:endParaRPr lang="en-BE" dirty="0"/>
                    </a:p>
                  </a:txBody>
                  <a:tcPr/>
                </a:tc>
                <a:extLst>
                  <a:ext uri="{0D108BD9-81ED-4DB2-BD59-A6C34878D82A}">
                    <a16:rowId xmlns:a16="http://schemas.microsoft.com/office/drawing/2014/main" val="776446022"/>
                  </a:ext>
                </a:extLst>
              </a:tr>
            </a:tbl>
          </a:graphicData>
        </a:graphic>
      </p:graphicFrame>
      <p:sp>
        <p:nvSpPr>
          <p:cNvPr id="3" name="TextBox 2">
            <a:extLst>
              <a:ext uri="{FF2B5EF4-FFF2-40B4-BE49-F238E27FC236}">
                <a16:creationId xmlns:a16="http://schemas.microsoft.com/office/drawing/2014/main" id="{6892A4E6-3DB3-6F9F-FDC3-D590336BA6E0}"/>
              </a:ext>
            </a:extLst>
          </p:cNvPr>
          <p:cNvSpPr txBox="1"/>
          <p:nvPr/>
        </p:nvSpPr>
        <p:spPr>
          <a:xfrm>
            <a:off x="246185" y="1741714"/>
            <a:ext cx="4313374" cy="954107"/>
          </a:xfrm>
          <a:prstGeom prst="rect">
            <a:avLst/>
          </a:prstGeom>
          <a:noFill/>
        </p:spPr>
        <p:txBody>
          <a:bodyPr wrap="square" rtlCol="0">
            <a:spAutoFit/>
          </a:bodyPr>
          <a:lstStyle/>
          <a:p>
            <a:r>
              <a:rPr lang="en-US" sz="2800" dirty="0"/>
              <a:t>This was last year </a:t>
            </a:r>
            <a:r>
              <a:rPr lang="en-US" sz="2800" dirty="0">
                <a:sym typeface="Wingdings" panose="05000000000000000000" pitchFamily="2" charset="2"/>
              </a:rPr>
              <a:t></a:t>
            </a:r>
          </a:p>
          <a:p>
            <a:r>
              <a:rPr lang="en-US" sz="2800" dirty="0">
                <a:sym typeface="Wingdings" panose="05000000000000000000" pitchFamily="2" charset="2"/>
              </a:rPr>
              <a:t>Still need to think about this</a:t>
            </a:r>
            <a:endParaRPr lang="en-BE" sz="2800" dirty="0"/>
          </a:p>
        </p:txBody>
      </p:sp>
    </p:spTree>
    <p:extLst>
      <p:ext uri="{BB962C8B-B14F-4D97-AF65-F5344CB8AC3E}">
        <p14:creationId xmlns:p14="http://schemas.microsoft.com/office/powerpoint/2010/main" val="4046538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F101-F5EC-F9AF-E2DD-382B629D4F26}"/>
              </a:ext>
            </a:extLst>
          </p:cNvPr>
          <p:cNvSpPr>
            <a:spLocks noGrp="1"/>
          </p:cNvSpPr>
          <p:nvPr>
            <p:ph type="title"/>
          </p:nvPr>
        </p:nvSpPr>
        <p:spPr/>
        <p:txBody>
          <a:bodyPr/>
          <a:lstStyle/>
          <a:p>
            <a:r>
              <a:rPr lang="en-US" dirty="0"/>
              <a:t>This might not make a lot of sense yet</a:t>
            </a:r>
            <a:endParaRPr lang="en-BE" dirty="0"/>
          </a:p>
        </p:txBody>
      </p:sp>
      <p:sp>
        <p:nvSpPr>
          <p:cNvPr id="3" name="TextBox 2">
            <a:extLst>
              <a:ext uri="{FF2B5EF4-FFF2-40B4-BE49-F238E27FC236}">
                <a16:creationId xmlns:a16="http://schemas.microsoft.com/office/drawing/2014/main" id="{D8EB7506-2A2D-12A8-989F-541C35A38AA0}"/>
              </a:ext>
            </a:extLst>
          </p:cNvPr>
          <p:cNvSpPr txBox="1"/>
          <p:nvPr/>
        </p:nvSpPr>
        <p:spPr>
          <a:xfrm>
            <a:off x="323461" y="2968388"/>
            <a:ext cx="11800115"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t>We’ll do some hands one things with Unity this class and (hopefully) it will start to make more sense</a:t>
            </a:r>
          </a:p>
          <a:p>
            <a:pPr marL="457200" indent="-457200">
              <a:buFont typeface="Arial" panose="020B0604020202020204" pitchFamily="34" charset="0"/>
              <a:buChar char="•"/>
            </a:pPr>
            <a:r>
              <a:rPr lang="en-US" sz="2800" dirty="0"/>
              <a:t>Unfortunately, this will be true of this course as well. Rendering is a lot of simple separate parts, that  only make </a:t>
            </a:r>
            <a:r>
              <a:rPr lang="en-US" sz="2800" dirty="0" err="1"/>
              <a:t>sence</a:t>
            </a:r>
            <a:r>
              <a:rPr lang="en-US" sz="2800" dirty="0"/>
              <a:t> once you can make the connections</a:t>
            </a:r>
          </a:p>
          <a:p>
            <a:pPr marL="457200" indent="-457200">
              <a:buFont typeface="Arial" panose="020B0604020202020204" pitchFamily="34" charset="0"/>
              <a:buChar char="•"/>
            </a:pPr>
            <a:r>
              <a:rPr lang="en-US" sz="2800" dirty="0"/>
              <a:t>Some connections are hidden within unity </a:t>
            </a:r>
            <a:r>
              <a:rPr lang="en-US" sz="2800" dirty="0">
                <a:sym typeface="Wingdings" panose="05000000000000000000" pitchFamily="2" charset="2"/>
              </a:rPr>
              <a:t> </a:t>
            </a:r>
            <a:endParaRPr lang="en-BE" sz="2800" dirty="0"/>
          </a:p>
        </p:txBody>
      </p:sp>
    </p:spTree>
    <p:extLst>
      <p:ext uri="{BB962C8B-B14F-4D97-AF65-F5344CB8AC3E}">
        <p14:creationId xmlns:p14="http://schemas.microsoft.com/office/powerpoint/2010/main" val="2096729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3D77D-F30C-D2B3-9E52-FB5F7ADA195D}"/>
              </a:ext>
            </a:extLst>
          </p:cNvPr>
          <p:cNvSpPr>
            <a:spLocks noGrp="1"/>
          </p:cNvSpPr>
          <p:nvPr>
            <p:ph type="title"/>
          </p:nvPr>
        </p:nvSpPr>
        <p:spPr>
          <a:xfrm>
            <a:off x="69273" y="365125"/>
            <a:ext cx="12185072" cy="1325563"/>
          </a:xfrm>
        </p:spPr>
        <p:txBody>
          <a:bodyPr/>
          <a:lstStyle/>
          <a:p>
            <a:r>
              <a:rPr lang="en-US" dirty="0"/>
              <a:t>Reframe: we want to understand why a pixel has it’s color</a:t>
            </a:r>
            <a:endParaRPr lang="en-BE" dirty="0"/>
          </a:p>
        </p:txBody>
      </p:sp>
      <p:pic>
        <p:nvPicPr>
          <p:cNvPr id="4" name="Picture 3" descr="A helicopter flying over a highway&#10;&#10;Description automatically generated">
            <a:extLst>
              <a:ext uri="{FF2B5EF4-FFF2-40B4-BE49-F238E27FC236}">
                <a16:creationId xmlns:a16="http://schemas.microsoft.com/office/drawing/2014/main" id="{E455B39B-131E-3C1A-8807-A998E8281E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13226"/>
            <a:ext cx="8790709" cy="4944774"/>
          </a:xfrm>
          <a:prstGeom prst="rect">
            <a:avLst/>
          </a:prstGeom>
        </p:spPr>
      </p:pic>
      <p:cxnSp>
        <p:nvCxnSpPr>
          <p:cNvPr id="6" name="Straight Arrow Connector 5">
            <a:extLst>
              <a:ext uri="{FF2B5EF4-FFF2-40B4-BE49-F238E27FC236}">
                <a16:creationId xmlns:a16="http://schemas.microsoft.com/office/drawing/2014/main" id="{C3584D81-7DB7-2E1E-D925-13B76E9F71C5}"/>
              </a:ext>
            </a:extLst>
          </p:cNvPr>
          <p:cNvCxnSpPr/>
          <p:nvPr/>
        </p:nvCxnSpPr>
        <p:spPr>
          <a:xfrm flipH="1">
            <a:off x="7329055" y="3269673"/>
            <a:ext cx="2085109" cy="1475509"/>
          </a:xfrm>
          <a:prstGeom prst="straightConnector1">
            <a:avLst/>
          </a:prstGeom>
          <a:ln w="85725">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8F93976-7721-603D-A073-CB275BB079D2}"/>
              </a:ext>
            </a:extLst>
          </p:cNvPr>
          <p:cNvSpPr/>
          <p:nvPr/>
        </p:nvSpPr>
        <p:spPr>
          <a:xfrm>
            <a:off x="9573904" y="2231409"/>
            <a:ext cx="1569493" cy="1569493"/>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476427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0B61F-BFE2-C91F-F55D-0F5638BE0CE3}"/>
              </a:ext>
            </a:extLst>
          </p:cNvPr>
          <p:cNvSpPr>
            <a:spLocks noGrp="1"/>
          </p:cNvSpPr>
          <p:nvPr>
            <p:ph type="title"/>
          </p:nvPr>
        </p:nvSpPr>
        <p:spPr/>
        <p:txBody>
          <a:bodyPr/>
          <a:lstStyle/>
          <a:p>
            <a:r>
              <a:rPr lang="en-US" dirty="0"/>
              <a:t>What questions do you have?</a:t>
            </a:r>
            <a:endParaRPr lang="en-BE" dirty="0"/>
          </a:p>
        </p:txBody>
      </p:sp>
    </p:spTree>
    <p:extLst>
      <p:ext uri="{BB962C8B-B14F-4D97-AF65-F5344CB8AC3E}">
        <p14:creationId xmlns:p14="http://schemas.microsoft.com/office/powerpoint/2010/main" val="1386315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4832-2A04-C12C-19D4-31749239F40B}"/>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047AE3BC-0C59-672A-39CD-A07B2795AD24}"/>
              </a:ext>
            </a:extLst>
          </p:cNvPr>
          <p:cNvSpPr txBox="1"/>
          <p:nvPr/>
        </p:nvSpPr>
        <p:spPr>
          <a:xfrm>
            <a:off x="989902" y="1690689"/>
            <a:ext cx="4925486"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Contents of this course</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Evaluation of this course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Some bureaucracy</a:t>
            </a:r>
          </a:p>
          <a:p>
            <a:pPr marL="285750" indent="-285750">
              <a:buFont typeface="Arial" panose="020B0604020202020204" pitchFamily="34" charset="0"/>
              <a:buChar char="•"/>
            </a:pPr>
            <a:r>
              <a:rPr lang="en-US" sz="2800" dirty="0"/>
              <a:t>Get our hands dirty with Unity</a:t>
            </a:r>
            <a:endParaRPr lang="nl-BE" sz="2800" dirty="0"/>
          </a:p>
        </p:txBody>
      </p:sp>
    </p:spTree>
    <p:extLst>
      <p:ext uri="{BB962C8B-B14F-4D97-AF65-F5344CB8AC3E}">
        <p14:creationId xmlns:p14="http://schemas.microsoft.com/office/powerpoint/2010/main" val="3664531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8FDA0-FBB7-8B14-26E3-BA458B80FCB8}"/>
              </a:ext>
            </a:extLst>
          </p:cNvPr>
          <p:cNvSpPr>
            <a:spLocks noGrp="1"/>
          </p:cNvSpPr>
          <p:nvPr>
            <p:ph type="title"/>
          </p:nvPr>
        </p:nvSpPr>
        <p:spPr/>
        <p:txBody>
          <a:bodyPr/>
          <a:lstStyle/>
          <a:p>
            <a:r>
              <a:rPr lang="en-US" dirty="0"/>
              <a:t>Evaluation of this course</a:t>
            </a:r>
            <a:endParaRPr lang="nl-BE" dirty="0"/>
          </a:p>
        </p:txBody>
      </p:sp>
      <p:sp>
        <p:nvSpPr>
          <p:cNvPr id="3" name="TextBox 2">
            <a:extLst>
              <a:ext uri="{FF2B5EF4-FFF2-40B4-BE49-F238E27FC236}">
                <a16:creationId xmlns:a16="http://schemas.microsoft.com/office/drawing/2014/main" id="{D75804F9-E61B-8382-378A-C4940166972B}"/>
              </a:ext>
            </a:extLst>
          </p:cNvPr>
          <p:cNvSpPr txBox="1"/>
          <p:nvPr/>
        </p:nvSpPr>
        <p:spPr>
          <a:xfrm>
            <a:off x="510073" y="2306971"/>
            <a:ext cx="11489094"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20 points on the oral exam</a:t>
            </a:r>
          </a:p>
          <a:p>
            <a:pPr marL="285750" indent="-285750">
              <a:buFont typeface="Arial" panose="020B0604020202020204" pitchFamily="34" charset="0"/>
              <a:buChar char="•"/>
            </a:pPr>
            <a:r>
              <a:rPr lang="en-US" sz="2400" dirty="0"/>
              <a:t>Defend your project (Minecraft-like)</a:t>
            </a:r>
          </a:p>
          <a:p>
            <a:pPr marL="285750" indent="-285750">
              <a:buFont typeface="Arial" panose="020B0604020202020204" pitchFamily="34" charset="0"/>
              <a:buChar char="•"/>
            </a:pPr>
            <a:r>
              <a:rPr lang="en-US" sz="2400" dirty="0"/>
              <a:t>Also defend it theoretically</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nl-BE" sz="2400" dirty="0"/>
              <a:t>It’s </a:t>
            </a:r>
            <a:r>
              <a:rPr lang="nl-BE" sz="2400" dirty="0" err="1"/>
              <a:t>not</a:t>
            </a:r>
            <a:r>
              <a:rPr lang="nl-BE" sz="2400" dirty="0"/>
              <a:t> </a:t>
            </a:r>
            <a:r>
              <a:rPr lang="nl-BE" sz="2400" dirty="0" err="1"/>
              <a:t>going</a:t>
            </a:r>
            <a:r>
              <a:rPr lang="nl-BE" sz="2400" dirty="0"/>
              <a:t> </a:t>
            </a:r>
            <a:r>
              <a:rPr lang="nl-BE" sz="2400" dirty="0" err="1"/>
              <a:t>to</a:t>
            </a:r>
            <a:r>
              <a:rPr lang="nl-BE" sz="2400" dirty="0"/>
              <a:t> </a:t>
            </a:r>
            <a:r>
              <a:rPr lang="nl-BE" sz="2400" dirty="0" err="1"/>
              <a:t>be</a:t>
            </a:r>
            <a:r>
              <a:rPr lang="nl-BE" sz="2400" dirty="0"/>
              <a:t> </a:t>
            </a:r>
            <a:r>
              <a:rPr lang="nl-BE" sz="2400" dirty="0" err="1"/>
              <a:t>very</a:t>
            </a:r>
            <a:r>
              <a:rPr lang="nl-BE" sz="2400" dirty="0"/>
              <a:t> different </a:t>
            </a:r>
            <a:r>
              <a:rPr lang="nl-BE" sz="2400" dirty="0" err="1"/>
              <a:t>from</a:t>
            </a:r>
            <a:r>
              <a:rPr lang="nl-BE" sz="2400" dirty="0"/>
              <a:t> DAML</a:t>
            </a:r>
            <a:br>
              <a:rPr lang="nl-BE" sz="2400" dirty="0"/>
            </a:br>
            <a:r>
              <a:rPr lang="nl-BE" sz="2400" dirty="0" err="1"/>
              <a:t>except</a:t>
            </a:r>
            <a:r>
              <a:rPr lang="nl-BE" sz="2400" dirty="0"/>
              <a:t> </a:t>
            </a:r>
            <a:r>
              <a:rPr lang="nl-BE" sz="2400" dirty="0" err="1"/>
              <a:t>you</a:t>
            </a:r>
            <a:r>
              <a:rPr lang="nl-BE" sz="2400" dirty="0"/>
              <a:t> have more time </a:t>
            </a:r>
            <a:r>
              <a:rPr lang="nl-BE" sz="2400" dirty="0" err="1"/>
              <a:t>for</a:t>
            </a:r>
            <a:r>
              <a:rPr lang="nl-BE" sz="2400" dirty="0"/>
              <a:t> </a:t>
            </a:r>
            <a:r>
              <a:rPr lang="nl-BE" sz="2400" dirty="0" err="1"/>
              <a:t>your</a:t>
            </a:r>
            <a:r>
              <a:rPr lang="nl-BE" sz="2400" dirty="0"/>
              <a:t> project</a:t>
            </a:r>
            <a:br>
              <a:rPr lang="nl-BE" sz="2400" dirty="0"/>
            </a:br>
            <a:r>
              <a:rPr lang="nl-BE" sz="2400" dirty="0" err="1"/>
              <a:t>except</a:t>
            </a:r>
            <a:r>
              <a:rPr lang="nl-BE" sz="2400" dirty="0"/>
              <a:t> </a:t>
            </a:r>
            <a:r>
              <a:rPr lang="nl-BE" sz="2400" dirty="0" err="1"/>
              <a:t>the</a:t>
            </a:r>
            <a:r>
              <a:rPr lang="nl-BE" sz="2400" dirty="0"/>
              <a:t> </a:t>
            </a:r>
            <a:r>
              <a:rPr lang="nl-BE" sz="2400" dirty="0" err="1"/>
              <a:t>theory</a:t>
            </a:r>
            <a:r>
              <a:rPr lang="nl-BE" sz="2400" dirty="0"/>
              <a:t> </a:t>
            </a:r>
            <a:r>
              <a:rPr lang="nl-BE" sz="2400" dirty="0" err="1"/>
              <a:t>questions</a:t>
            </a:r>
            <a:r>
              <a:rPr lang="nl-BE" sz="2400" dirty="0"/>
              <a:t> are </a:t>
            </a:r>
            <a:r>
              <a:rPr lang="nl-BE" sz="2400" dirty="0" err="1"/>
              <a:t>used</a:t>
            </a:r>
            <a:r>
              <a:rPr lang="nl-BE" sz="2400" dirty="0"/>
              <a:t> in </a:t>
            </a:r>
            <a:r>
              <a:rPr lang="nl-BE" sz="2400" dirty="0" err="1"/>
              <a:t>your</a:t>
            </a:r>
            <a:r>
              <a:rPr lang="nl-BE" sz="2400" dirty="0"/>
              <a:t> project</a:t>
            </a:r>
          </a:p>
        </p:txBody>
      </p:sp>
      <p:pic>
        <p:nvPicPr>
          <p:cNvPr id="7" name="Picture 6" descr="A video game with a pixelated image&#10;&#10;Description automatically generated with medium confidence">
            <a:extLst>
              <a:ext uri="{FF2B5EF4-FFF2-40B4-BE49-F238E27FC236}">
                <a16:creationId xmlns:a16="http://schemas.microsoft.com/office/drawing/2014/main" id="{E969F84D-795A-7BF0-2D39-3CB88CE5DD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5830" y="1369046"/>
            <a:ext cx="5216170" cy="2999298"/>
          </a:xfrm>
          <a:prstGeom prst="rect">
            <a:avLst/>
          </a:prstGeom>
        </p:spPr>
      </p:pic>
    </p:spTree>
    <p:extLst>
      <p:ext uri="{BB962C8B-B14F-4D97-AF65-F5344CB8AC3E}">
        <p14:creationId xmlns:p14="http://schemas.microsoft.com/office/powerpoint/2010/main" val="1362790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D054A-0789-B865-A270-DCC06E7421F9}"/>
              </a:ext>
            </a:extLst>
          </p:cNvPr>
          <p:cNvSpPr>
            <a:spLocks noGrp="1"/>
          </p:cNvSpPr>
          <p:nvPr>
            <p:ph type="title"/>
          </p:nvPr>
        </p:nvSpPr>
        <p:spPr/>
        <p:txBody>
          <a:bodyPr/>
          <a:lstStyle/>
          <a:p>
            <a:r>
              <a:rPr lang="en-US" dirty="0"/>
              <a:t>Project</a:t>
            </a:r>
            <a:endParaRPr lang="en-BE" dirty="0"/>
          </a:p>
        </p:txBody>
      </p:sp>
      <p:sp>
        <p:nvSpPr>
          <p:cNvPr id="3" name="TextBox 2">
            <a:extLst>
              <a:ext uri="{FF2B5EF4-FFF2-40B4-BE49-F238E27FC236}">
                <a16:creationId xmlns:a16="http://schemas.microsoft.com/office/drawing/2014/main" id="{0BAF0B70-28D2-3DDD-2DC1-C593A699C738}"/>
              </a:ext>
            </a:extLst>
          </p:cNvPr>
          <p:cNvSpPr txBox="1"/>
          <p:nvPr/>
        </p:nvSpPr>
        <p:spPr>
          <a:xfrm>
            <a:off x="335901" y="3580047"/>
            <a:ext cx="4787464" cy="3046988"/>
          </a:xfrm>
          <a:prstGeom prst="rect">
            <a:avLst/>
          </a:prstGeom>
          <a:noFill/>
        </p:spPr>
        <p:txBody>
          <a:bodyPr wrap="none" rtlCol="0">
            <a:spAutoFit/>
          </a:bodyPr>
          <a:lstStyle/>
          <a:p>
            <a:pPr marL="285750" indent="-285750">
              <a:buFont typeface="Arial" panose="020B0604020202020204" pitchFamily="34" charset="0"/>
              <a:buChar char="•"/>
            </a:pPr>
            <a:r>
              <a:rPr lang="en-US" sz="3200" dirty="0"/>
              <a:t>Minecraft-like</a:t>
            </a:r>
          </a:p>
          <a:p>
            <a:pPr marL="285750" indent="-285750">
              <a:buFont typeface="Arial" panose="020B0604020202020204" pitchFamily="34" charset="0"/>
              <a:buChar char="•"/>
            </a:pPr>
            <a:r>
              <a:rPr lang="en-US" sz="3200" dirty="0"/>
              <a:t>Not a group project</a:t>
            </a:r>
          </a:p>
          <a:p>
            <a:pPr marL="285750" indent="-285750">
              <a:buFont typeface="Arial" panose="020B0604020202020204" pitchFamily="34" charset="0"/>
              <a:buChar char="•"/>
            </a:pPr>
            <a:r>
              <a:rPr lang="en-US" sz="3200" dirty="0"/>
              <a:t>Implement infinite terrain</a:t>
            </a:r>
          </a:p>
          <a:p>
            <a:pPr marL="285750" indent="-285750">
              <a:buFont typeface="Arial" panose="020B0604020202020204" pitchFamily="34" charset="0"/>
              <a:buChar char="•"/>
            </a:pPr>
            <a:r>
              <a:rPr lang="en-US" sz="3200" dirty="0"/>
              <a:t>Implement visual effects</a:t>
            </a:r>
          </a:p>
          <a:p>
            <a:pPr marL="285750" indent="-285750">
              <a:buFont typeface="Arial" panose="020B0604020202020204" pitchFamily="34" charset="0"/>
              <a:buChar char="•"/>
            </a:pPr>
            <a:r>
              <a:rPr lang="en-US" sz="3200" dirty="0"/>
              <a:t>Optimize</a:t>
            </a:r>
          </a:p>
          <a:p>
            <a:pPr marL="285750" indent="-285750">
              <a:buFont typeface="Arial" panose="020B0604020202020204" pitchFamily="34" charset="0"/>
              <a:buChar char="•"/>
            </a:pPr>
            <a:r>
              <a:rPr lang="en-US" sz="3200" dirty="0"/>
              <a:t>…. And more….</a:t>
            </a:r>
            <a:endParaRPr lang="en-BE" sz="3200" dirty="0"/>
          </a:p>
        </p:txBody>
      </p:sp>
      <p:pic>
        <p:nvPicPr>
          <p:cNvPr id="4" name="Picture 3" descr="A video game with a pixelated image&#10;&#10;Description automatically generated with medium confidence">
            <a:extLst>
              <a:ext uri="{FF2B5EF4-FFF2-40B4-BE49-F238E27FC236}">
                <a16:creationId xmlns:a16="http://schemas.microsoft.com/office/drawing/2014/main" id="{D2F07497-BEC4-0B22-AC3C-CBB8DBBED2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3365" y="-101600"/>
            <a:ext cx="7115114" cy="4091191"/>
          </a:xfrm>
          <a:prstGeom prst="rect">
            <a:avLst/>
          </a:prstGeom>
        </p:spPr>
      </p:pic>
    </p:spTree>
    <p:extLst>
      <p:ext uri="{BB962C8B-B14F-4D97-AF65-F5344CB8AC3E}">
        <p14:creationId xmlns:p14="http://schemas.microsoft.com/office/powerpoint/2010/main" val="2121499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57594-9EE1-007A-A45D-35AD461397B7}"/>
              </a:ext>
            </a:extLst>
          </p:cNvPr>
          <p:cNvSpPr>
            <a:spLocks noGrp="1"/>
          </p:cNvSpPr>
          <p:nvPr>
            <p:ph type="title"/>
          </p:nvPr>
        </p:nvSpPr>
        <p:spPr/>
        <p:txBody>
          <a:bodyPr/>
          <a:lstStyle/>
          <a:p>
            <a:r>
              <a:rPr lang="en-US" dirty="0"/>
              <a:t>Is that clear? Any concerns?</a:t>
            </a:r>
            <a:endParaRPr lang="en-BE" dirty="0"/>
          </a:p>
        </p:txBody>
      </p:sp>
    </p:spTree>
    <p:extLst>
      <p:ext uri="{BB962C8B-B14F-4D97-AF65-F5344CB8AC3E}">
        <p14:creationId xmlns:p14="http://schemas.microsoft.com/office/powerpoint/2010/main" val="1884609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4832-2A04-C12C-19D4-31749239F40B}"/>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047AE3BC-0C59-672A-39CD-A07B2795AD24}"/>
              </a:ext>
            </a:extLst>
          </p:cNvPr>
          <p:cNvSpPr txBox="1"/>
          <p:nvPr/>
        </p:nvSpPr>
        <p:spPr>
          <a:xfrm>
            <a:off x="989902" y="1690689"/>
            <a:ext cx="4925486"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Contents of this course</a:t>
            </a:r>
          </a:p>
          <a:p>
            <a:pPr marL="285750" indent="-285750">
              <a:buFont typeface="Arial" panose="020B0604020202020204" pitchFamily="34" charset="0"/>
              <a:buChar char="•"/>
            </a:pPr>
            <a:r>
              <a:rPr lang="en-US" sz="2800" dirty="0"/>
              <a:t>Evaluation of this course </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Some bureaucracy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Get our hands dirty with Unity</a:t>
            </a:r>
            <a:endParaRPr lang="nl-BE" sz="2800" dirty="0"/>
          </a:p>
        </p:txBody>
      </p:sp>
    </p:spTree>
    <p:extLst>
      <p:ext uri="{BB962C8B-B14F-4D97-AF65-F5344CB8AC3E}">
        <p14:creationId xmlns:p14="http://schemas.microsoft.com/office/powerpoint/2010/main" val="593491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B1895-43DE-C445-AA56-40D99785FB06}"/>
              </a:ext>
            </a:extLst>
          </p:cNvPr>
          <p:cNvSpPr>
            <a:spLocks noGrp="1"/>
          </p:cNvSpPr>
          <p:nvPr>
            <p:ph type="title"/>
          </p:nvPr>
        </p:nvSpPr>
        <p:spPr/>
        <p:txBody>
          <a:bodyPr/>
          <a:lstStyle/>
          <a:p>
            <a:r>
              <a:rPr lang="en-US" dirty="0"/>
              <a:t>Questions</a:t>
            </a:r>
            <a:endParaRPr lang="en-BE" dirty="0"/>
          </a:p>
        </p:txBody>
      </p:sp>
      <p:sp>
        <p:nvSpPr>
          <p:cNvPr id="3" name="TextBox 2">
            <a:extLst>
              <a:ext uri="{FF2B5EF4-FFF2-40B4-BE49-F238E27FC236}">
                <a16:creationId xmlns:a16="http://schemas.microsoft.com/office/drawing/2014/main" id="{0286D6B1-80FC-0672-8E67-7068E0EB89C3}"/>
              </a:ext>
            </a:extLst>
          </p:cNvPr>
          <p:cNvSpPr txBox="1"/>
          <p:nvPr/>
        </p:nvSpPr>
        <p:spPr>
          <a:xfrm>
            <a:off x="883297" y="2313991"/>
            <a:ext cx="4150688" cy="584775"/>
          </a:xfrm>
          <a:prstGeom prst="rect">
            <a:avLst/>
          </a:prstGeom>
          <a:noFill/>
        </p:spPr>
        <p:txBody>
          <a:bodyPr wrap="none" rtlCol="0">
            <a:spAutoFit/>
          </a:bodyPr>
          <a:lstStyle/>
          <a:p>
            <a:pPr marL="342900" indent="-342900">
              <a:buFont typeface="Arial" panose="020B0604020202020204" pitchFamily="34" charset="0"/>
              <a:buChar char="•"/>
            </a:pPr>
            <a:r>
              <a:rPr lang="en-US" sz="3200" dirty="0"/>
              <a:t>Just put up your hand</a:t>
            </a:r>
            <a:endParaRPr lang="en-BE" sz="3200" dirty="0"/>
          </a:p>
        </p:txBody>
      </p:sp>
    </p:spTree>
    <p:extLst>
      <p:ext uri="{BB962C8B-B14F-4D97-AF65-F5344CB8AC3E}">
        <p14:creationId xmlns:p14="http://schemas.microsoft.com/office/powerpoint/2010/main" val="1348893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7507C-0B54-2BDE-0F0F-C4166B8A3125}"/>
              </a:ext>
            </a:extLst>
          </p:cNvPr>
          <p:cNvSpPr>
            <a:spLocks noGrp="1"/>
          </p:cNvSpPr>
          <p:nvPr>
            <p:ph type="title"/>
          </p:nvPr>
        </p:nvSpPr>
        <p:spPr/>
        <p:txBody>
          <a:bodyPr/>
          <a:lstStyle/>
          <a:p>
            <a:r>
              <a:rPr lang="en-US" dirty="0"/>
              <a:t>Contacting me : send me an email!</a:t>
            </a:r>
            <a:endParaRPr lang="nl-BE" dirty="0"/>
          </a:p>
        </p:txBody>
      </p:sp>
      <p:sp>
        <p:nvSpPr>
          <p:cNvPr id="3" name="TextBox 2">
            <a:extLst>
              <a:ext uri="{FF2B5EF4-FFF2-40B4-BE49-F238E27FC236}">
                <a16:creationId xmlns:a16="http://schemas.microsoft.com/office/drawing/2014/main" id="{EA2F60DC-C119-F9E9-4F9E-BFB0062DC2FB}"/>
              </a:ext>
            </a:extLst>
          </p:cNvPr>
          <p:cNvSpPr txBox="1"/>
          <p:nvPr/>
        </p:nvSpPr>
        <p:spPr>
          <a:xfrm>
            <a:off x="503340" y="1690688"/>
            <a:ext cx="7857664"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I usually respond in 3 or 4 working</a:t>
            </a:r>
          </a:p>
          <a:p>
            <a:pPr marL="285750" indent="-285750">
              <a:buFont typeface="Arial" panose="020B0604020202020204" pitchFamily="34" charset="0"/>
              <a:buChar char="•"/>
            </a:pPr>
            <a:r>
              <a:rPr lang="nl-BE" sz="2400" dirty="0"/>
              <a:t>I </a:t>
            </a:r>
            <a:r>
              <a:rPr lang="nl-BE" sz="2400" dirty="0" err="1"/>
              <a:t>might</a:t>
            </a:r>
            <a:r>
              <a:rPr lang="nl-BE" sz="2400" dirty="0"/>
              <a:t> miss </a:t>
            </a:r>
            <a:r>
              <a:rPr lang="nl-BE" sz="2400" dirty="0" err="1"/>
              <a:t>you</a:t>
            </a:r>
            <a:r>
              <a:rPr lang="nl-BE" sz="2400" dirty="0"/>
              <a:t> on Toledo or Teams, </a:t>
            </a:r>
            <a:r>
              <a:rPr lang="nl-BE" sz="2400" dirty="0" err="1"/>
              <a:t>just</a:t>
            </a:r>
            <a:r>
              <a:rPr lang="nl-BE" sz="2400" dirty="0"/>
              <a:t> </a:t>
            </a:r>
            <a:r>
              <a:rPr lang="nl-BE" sz="2400" dirty="0" err="1"/>
              <a:t>send</a:t>
            </a:r>
            <a:r>
              <a:rPr lang="nl-BE" sz="2400" dirty="0"/>
              <a:t> me </a:t>
            </a:r>
            <a:r>
              <a:rPr lang="nl-BE" sz="2400" dirty="0" err="1"/>
              <a:t>an</a:t>
            </a:r>
            <a:r>
              <a:rPr lang="nl-BE" sz="2400" dirty="0"/>
              <a:t> email</a:t>
            </a:r>
          </a:p>
          <a:p>
            <a:pPr marL="285750" indent="-285750">
              <a:buFont typeface="Arial" panose="020B0604020202020204" pitchFamily="34" charset="0"/>
              <a:buChar char="•"/>
            </a:pPr>
            <a:r>
              <a:rPr lang="nl-BE" sz="2400" dirty="0"/>
              <a:t>I never get </a:t>
            </a:r>
            <a:r>
              <a:rPr lang="nl-BE" sz="2400" dirty="0" err="1"/>
              <a:t>enough</a:t>
            </a:r>
            <a:r>
              <a:rPr lang="nl-BE" sz="2400" dirty="0"/>
              <a:t> </a:t>
            </a:r>
            <a:r>
              <a:rPr lang="nl-BE" sz="2400" dirty="0" err="1"/>
              <a:t>emails</a:t>
            </a:r>
            <a:r>
              <a:rPr lang="nl-BE" sz="2400" dirty="0"/>
              <a:t> </a:t>
            </a:r>
            <a:r>
              <a:rPr lang="nl-BE" sz="2400" dirty="0" err="1"/>
              <a:t>from</a:t>
            </a:r>
            <a:r>
              <a:rPr lang="nl-BE" sz="2400" dirty="0"/>
              <a:t> </a:t>
            </a:r>
            <a:r>
              <a:rPr lang="nl-BE" sz="2400" dirty="0" err="1"/>
              <a:t>my</a:t>
            </a:r>
            <a:r>
              <a:rPr lang="nl-BE" sz="2400" dirty="0"/>
              <a:t> </a:t>
            </a:r>
            <a:r>
              <a:rPr lang="nl-BE" sz="2400" dirty="0" err="1"/>
              <a:t>students</a:t>
            </a:r>
            <a:endParaRPr lang="nl-BE" sz="2400" dirty="0"/>
          </a:p>
          <a:p>
            <a:pPr marL="285750" indent="-285750">
              <a:buFont typeface="Arial" panose="020B0604020202020204" pitchFamily="34" charset="0"/>
              <a:buChar char="•"/>
            </a:pPr>
            <a:r>
              <a:rPr lang="nl-BE" sz="2400" dirty="0"/>
              <a:t>Write me in English or Dutch</a:t>
            </a:r>
          </a:p>
        </p:txBody>
      </p:sp>
      <p:pic>
        <p:nvPicPr>
          <p:cNvPr id="5" name="Picture 4" descr="A person sitting on a bench eating food&#10;&#10;Description automatically generated">
            <a:extLst>
              <a:ext uri="{FF2B5EF4-FFF2-40B4-BE49-F238E27FC236}">
                <a16:creationId xmlns:a16="http://schemas.microsoft.com/office/drawing/2014/main" id="{EF5F67EF-7955-DFE1-8CC8-EF3B3619F0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9829" y="3137483"/>
            <a:ext cx="5582171" cy="3720517"/>
          </a:xfrm>
          <a:prstGeom prst="rect">
            <a:avLst/>
          </a:prstGeom>
        </p:spPr>
      </p:pic>
    </p:spTree>
    <p:extLst>
      <p:ext uri="{BB962C8B-B14F-4D97-AF65-F5344CB8AC3E}">
        <p14:creationId xmlns:p14="http://schemas.microsoft.com/office/powerpoint/2010/main" val="2415387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C451-75D0-B6FF-3945-AAF7C328E47E}"/>
              </a:ext>
            </a:extLst>
          </p:cNvPr>
          <p:cNvSpPr>
            <a:spLocks noGrp="1"/>
          </p:cNvSpPr>
          <p:nvPr>
            <p:ph type="title"/>
          </p:nvPr>
        </p:nvSpPr>
        <p:spPr/>
        <p:txBody>
          <a:bodyPr/>
          <a:lstStyle/>
          <a:p>
            <a:r>
              <a:rPr lang="en-US" dirty="0" err="1"/>
              <a:t>Abscences</a:t>
            </a:r>
            <a:endParaRPr lang="en-BE" dirty="0"/>
          </a:p>
        </p:txBody>
      </p:sp>
      <p:sp>
        <p:nvSpPr>
          <p:cNvPr id="3" name="TextBox 2">
            <a:extLst>
              <a:ext uri="{FF2B5EF4-FFF2-40B4-BE49-F238E27FC236}">
                <a16:creationId xmlns:a16="http://schemas.microsoft.com/office/drawing/2014/main" id="{0E424024-0B04-A7EE-A568-ECBE31A82596}"/>
              </a:ext>
            </a:extLst>
          </p:cNvPr>
          <p:cNvSpPr txBox="1"/>
          <p:nvPr/>
        </p:nvSpPr>
        <p:spPr>
          <a:xfrm>
            <a:off x="746449" y="2121159"/>
            <a:ext cx="6310510" cy="2246769"/>
          </a:xfrm>
          <a:prstGeom prst="rect">
            <a:avLst/>
          </a:prstGeom>
          <a:noFill/>
        </p:spPr>
        <p:txBody>
          <a:bodyPr wrap="none" rtlCol="0">
            <a:spAutoFit/>
          </a:bodyPr>
          <a:lstStyle/>
          <a:p>
            <a:pPr marL="285750" indent="-285750">
              <a:buFont typeface="Arial" panose="020B0604020202020204" pitchFamily="34" charset="0"/>
              <a:buChar char="•"/>
            </a:pPr>
            <a:r>
              <a:rPr lang="en-US" sz="2800" dirty="0"/>
              <a:t>Class is not mandatory \o/</a:t>
            </a:r>
          </a:p>
          <a:p>
            <a:pPr marL="285750" indent="-285750">
              <a:buFont typeface="Arial" panose="020B0604020202020204" pitchFamily="34" charset="0"/>
              <a:buChar char="•"/>
            </a:pPr>
            <a:r>
              <a:rPr lang="en-US" sz="2800" dirty="0"/>
              <a:t>I *very strongly* recommend you come </a:t>
            </a:r>
          </a:p>
          <a:p>
            <a:pPr marL="285750" indent="-285750">
              <a:buFont typeface="Arial" panose="020B0604020202020204" pitchFamily="34" charset="0"/>
              <a:buChar char="•"/>
            </a:pPr>
            <a:r>
              <a:rPr lang="en-US" sz="2800" dirty="0"/>
              <a:t>This is a hard subject to learn remotely</a:t>
            </a:r>
          </a:p>
          <a:p>
            <a:pPr marL="285750" indent="-285750">
              <a:buFont typeface="Arial" panose="020B0604020202020204" pitchFamily="34" charset="0"/>
              <a:buChar char="•"/>
            </a:pPr>
            <a:r>
              <a:rPr lang="en-US" sz="2800" dirty="0"/>
              <a:t>Last year attendance was great,</a:t>
            </a:r>
            <a:br>
              <a:rPr lang="en-US" sz="2800" dirty="0"/>
            </a:br>
            <a:r>
              <a:rPr lang="en-US" sz="2800" dirty="0"/>
              <a:t>and so was pass rate</a:t>
            </a:r>
          </a:p>
        </p:txBody>
      </p:sp>
      <p:pic>
        <p:nvPicPr>
          <p:cNvPr id="5" name="Picture 4" descr="A person wearing a garment&#10;&#10;Description automatically generated">
            <a:extLst>
              <a:ext uri="{FF2B5EF4-FFF2-40B4-BE49-F238E27FC236}">
                <a16:creationId xmlns:a16="http://schemas.microsoft.com/office/drawing/2014/main" id="{EDF113EA-21BD-0BE1-65B0-C3E66F3E22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6959" y="235390"/>
            <a:ext cx="5181600" cy="6387219"/>
          </a:xfrm>
          <a:prstGeom prst="rect">
            <a:avLst/>
          </a:prstGeom>
        </p:spPr>
      </p:pic>
    </p:spTree>
    <p:extLst>
      <p:ext uri="{BB962C8B-B14F-4D97-AF65-F5344CB8AC3E}">
        <p14:creationId xmlns:p14="http://schemas.microsoft.com/office/powerpoint/2010/main" val="2903782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79D0A-6850-BEFB-7A85-EEB9761E127B}"/>
              </a:ext>
            </a:extLst>
          </p:cNvPr>
          <p:cNvSpPr>
            <a:spLocks noGrp="1"/>
          </p:cNvSpPr>
          <p:nvPr>
            <p:ph type="title"/>
          </p:nvPr>
        </p:nvSpPr>
        <p:spPr>
          <a:xfrm>
            <a:off x="838200" y="-215139"/>
            <a:ext cx="10515600" cy="1325563"/>
          </a:xfrm>
        </p:spPr>
        <p:txBody>
          <a:bodyPr/>
          <a:lstStyle/>
          <a:p>
            <a:r>
              <a:rPr lang="en-US" dirty="0"/>
              <a:t>ChatGPT et al</a:t>
            </a:r>
            <a:endParaRPr lang="en-BE" dirty="0"/>
          </a:p>
        </p:txBody>
      </p:sp>
      <p:sp>
        <p:nvSpPr>
          <p:cNvPr id="3" name="TextBox 2">
            <a:extLst>
              <a:ext uri="{FF2B5EF4-FFF2-40B4-BE49-F238E27FC236}">
                <a16:creationId xmlns:a16="http://schemas.microsoft.com/office/drawing/2014/main" id="{783E8B4C-9908-5699-1132-684B9D4DA71B}"/>
              </a:ext>
            </a:extLst>
          </p:cNvPr>
          <p:cNvSpPr txBox="1"/>
          <p:nvPr/>
        </p:nvSpPr>
        <p:spPr>
          <a:xfrm>
            <a:off x="107794" y="1110424"/>
            <a:ext cx="12084206" cy="3046988"/>
          </a:xfrm>
          <a:prstGeom prst="rect">
            <a:avLst/>
          </a:prstGeom>
          <a:noFill/>
        </p:spPr>
        <p:txBody>
          <a:bodyPr wrap="none" rtlCol="0">
            <a:spAutoFit/>
          </a:bodyPr>
          <a:lstStyle/>
          <a:p>
            <a:pPr marL="285750" indent="-285750">
              <a:buFont typeface="Arial" panose="020B0604020202020204" pitchFamily="34" charset="0"/>
              <a:buChar char="•"/>
            </a:pPr>
            <a:r>
              <a:rPr lang="en-US" sz="3200" dirty="0"/>
              <a:t>Of course, you’re allowed to use ChatGPT to do your labs / project</a:t>
            </a:r>
          </a:p>
          <a:p>
            <a:pPr marL="285750" indent="-285750">
              <a:buFont typeface="Arial" panose="020B0604020202020204" pitchFamily="34" charset="0"/>
              <a:buChar char="•"/>
            </a:pPr>
            <a:r>
              <a:rPr lang="en-US" sz="3200" dirty="0"/>
              <a:t>ChatGPT and other LLM’s are not allowed during the exam</a:t>
            </a:r>
          </a:p>
          <a:p>
            <a:pPr marL="285750" indent="-285750">
              <a:buFont typeface="Arial" panose="020B0604020202020204" pitchFamily="34" charset="0"/>
              <a:buChar char="•"/>
            </a:pPr>
            <a:r>
              <a:rPr lang="en-US" sz="3200" dirty="0"/>
              <a:t>Use it to </a:t>
            </a:r>
            <a:r>
              <a:rPr lang="en-US" sz="3200" b="1" dirty="0"/>
              <a:t>understand</a:t>
            </a:r>
            <a:r>
              <a:rPr lang="en-US" sz="3200" dirty="0"/>
              <a:t>, not to make</a:t>
            </a:r>
          </a:p>
          <a:p>
            <a:pPr marL="285750" indent="-285750">
              <a:buFont typeface="Arial" panose="020B0604020202020204" pitchFamily="34" charset="0"/>
              <a:buChar char="•"/>
            </a:pPr>
            <a:r>
              <a:rPr lang="en-US" sz="3200" dirty="0"/>
              <a:t>I’ve used ChatGPT and it creates Unity code that…. I disagree with</a:t>
            </a:r>
          </a:p>
          <a:p>
            <a:pPr marL="285750" indent="-285750">
              <a:buFont typeface="Arial" panose="020B0604020202020204" pitchFamily="34" charset="0"/>
              <a:buChar char="•"/>
            </a:pPr>
            <a:r>
              <a:rPr lang="en-US" sz="3200" dirty="0"/>
              <a:t>I’ve seen students try to understand ChatGPT code I don’t understand</a:t>
            </a:r>
          </a:p>
          <a:p>
            <a:pPr marL="285750" indent="-285750">
              <a:buFont typeface="Arial" panose="020B0604020202020204" pitchFamily="34" charset="0"/>
              <a:buChar char="•"/>
            </a:pPr>
            <a:r>
              <a:rPr lang="en-US" sz="3200" dirty="0"/>
              <a:t>Use it in a smart way, or it will make you stupid</a:t>
            </a:r>
            <a:endParaRPr lang="en-BE" sz="3200" dirty="0"/>
          </a:p>
        </p:txBody>
      </p:sp>
      <p:pic>
        <p:nvPicPr>
          <p:cNvPr id="7" name="Picture 6">
            <a:extLst>
              <a:ext uri="{FF2B5EF4-FFF2-40B4-BE49-F238E27FC236}">
                <a16:creationId xmlns:a16="http://schemas.microsoft.com/office/drawing/2014/main" id="{8BAB3EA0-FA41-6A6A-D79C-7003FEFF0590}"/>
              </a:ext>
            </a:extLst>
          </p:cNvPr>
          <p:cNvPicPr>
            <a:picLocks noChangeAspect="1"/>
          </p:cNvPicPr>
          <p:nvPr/>
        </p:nvPicPr>
        <p:blipFill>
          <a:blip r:embed="rId3"/>
          <a:stretch>
            <a:fillRect/>
          </a:stretch>
        </p:blipFill>
        <p:spPr>
          <a:xfrm>
            <a:off x="1636827" y="4181101"/>
            <a:ext cx="10555173" cy="2676899"/>
          </a:xfrm>
          <a:prstGeom prst="rect">
            <a:avLst/>
          </a:prstGeom>
        </p:spPr>
      </p:pic>
    </p:spTree>
    <p:extLst>
      <p:ext uri="{BB962C8B-B14F-4D97-AF65-F5344CB8AC3E}">
        <p14:creationId xmlns:p14="http://schemas.microsoft.com/office/powerpoint/2010/main" val="2934314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4832-2A04-C12C-19D4-31749239F40B}"/>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047AE3BC-0C59-672A-39CD-A07B2795AD24}"/>
              </a:ext>
            </a:extLst>
          </p:cNvPr>
          <p:cNvSpPr txBox="1"/>
          <p:nvPr/>
        </p:nvSpPr>
        <p:spPr>
          <a:xfrm>
            <a:off x="670587" y="1596346"/>
            <a:ext cx="6141053"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Contents of this course</a:t>
            </a:r>
          </a:p>
          <a:p>
            <a:pPr marL="285750" indent="-285750">
              <a:buFont typeface="Arial" panose="020B0604020202020204" pitchFamily="34" charset="0"/>
              <a:buChar char="•"/>
            </a:pPr>
            <a:r>
              <a:rPr lang="en-US" sz="2800" dirty="0"/>
              <a:t>Evaluation of this course </a:t>
            </a:r>
          </a:p>
          <a:p>
            <a:pPr marL="285750" indent="-285750">
              <a:buFont typeface="Arial" panose="020B0604020202020204" pitchFamily="34" charset="0"/>
              <a:buChar char="•"/>
            </a:pPr>
            <a:r>
              <a:rPr lang="en-US" sz="2800" dirty="0"/>
              <a:t>Some bureaucracy</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Get our hands dirty with Unity </a:t>
            </a:r>
            <a:r>
              <a:rPr lang="en-US" sz="2800" dirty="0">
                <a:sym typeface="Wingdings" panose="05000000000000000000" pitchFamily="2" charset="2"/>
              </a:rPr>
              <a:t></a:t>
            </a:r>
            <a:endParaRPr lang="nl-BE" sz="2800" dirty="0"/>
          </a:p>
        </p:txBody>
      </p:sp>
    </p:spTree>
    <p:extLst>
      <p:ext uri="{BB962C8B-B14F-4D97-AF65-F5344CB8AC3E}">
        <p14:creationId xmlns:p14="http://schemas.microsoft.com/office/powerpoint/2010/main" val="2341048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8D942-3033-3508-3307-6298C5E5ABC9}"/>
              </a:ext>
            </a:extLst>
          </p:cNvPr>
          <p:cNvSpPr>
            <a:spLocks noGrp="1"/>
          </p:cNvSpPr>
          <p:nvPr>
            <p:ph type="title"/>
          </p:nvPr>
        </p:nvSpPr>
        <p:spPr/>
        <p:txBody>
          <a:bodyPr/>
          <a:lstStyle/>
          <a:p>
            <a:r>
              <a:rPr lang="en-US" dirty="0"/>
              <a:t>First install the following</a:t>
            </a:r>
            <a:endParaRPr lang="en-BE" dirty="0"/>
          </a:p>
        </p:txBody>
      </p:sp>
      <p:sp>
        <p:nvSpPr>
          <p:cNvPr id="3" name="TextBox 2">
            <a:extLst>
              <a:ext uri="{FF2B5EF4-FFF2-40B4-BE49-F238E27FC236}">
                <a16:creationId xmlns:a16="http://schemas.microsoft.com/office/drawing/2014/main" id="{DCEE4C28-3FC0-E9C1-CA65-C4ED24AC88FD}"/>
              </a:ext>
            </a:extLst>
          </p:cNvPr>
          <p:cNvSpPr txBox="1"/>
          <p:nvPr/>
        </p:nvSpPr>
        <p:spPr>
          <a:xfrm>
            <a:off x="349405" y="1437927"/>
            <a:ext cx="10321993"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Unity Hub : </a:t>
            </a:r>
            <a:r>
              <a:rPr lang="en-US" sz="2800" dirty="0">
                <a:hlinkClick r:id="rId3"/>
              </a:rPr>
              <a:t>https://unity.com/download</a:t>
            </a:r>
            <a:endParaRPr lang="en-US" sz="2800" dirty="0"/>
          </a:p>
          <a:p>
            <a:pPr marL="285750" indent="-285750">
              <a:buFont typeface="Arial" panose="020B0604020202020204" pitchFamily="34" charset="0"/>
              <a:buChar char="•"/>
            </a:pPr>
            <a:r>
              <a:rPr lang="en-US" sz="2800" dirty="0"/>
              <a:t>Still need to install an engine! Open the hub, install what it suggests</a:t>
            </a:r>
          </a:p>
        </p:txBody>
      </p:sp>
      <p:pic>
        <p:nvPicPr>
          <p:cNvPr id="5" name="Picture 4" descr="A screenshot of a computer&#10;&#10;Description automatically generated">
            <a:extLst>
              <a:ext uri="{FF2B5EF4-FFF2-40B4-BE49-F238E27FC236}">
                <a16:creationId xmlns:a16="http://schemas.microsoft.com/office/drawing/2014/main" id="{50DD42DF-0D86-10EC-212C-E48AEAC428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9890" y="2951356"/>
            <a:ext cx="6740126" cy="3944157"/>
          </a:xfrm>
          <a:prstGeom prst="rect">
            <a:avLst/>
          </a:prstGeom>
        </p:spPr>
      </p:pic>
      <p:cxnSp>
        <p:nvCxnSpPr>
          <p:cNvPr id="9" name="Straight Arrow Connector 8">
            <a:extLst>
              <a:ext uri="{FF2B5EF4-FFF2-40B4-BE49-F238E27FC236}">
                <a16:creationId xmlns:a16="http://schemas.microsoft.com/office/drawing/2014/main" id="{BD463DDC-6BC7-A3D3-D970-F16B45E83E71}"/>
              </a:ext>
            </a:extLst>
          </p:cNvPr>
          <p:cNvCxnSpPr/>
          <p:nvPr/>
        </p:nvCxnSpPr>
        <p:spPr>
          <a:xfrm>
            <a:off x="7620000" y="2423532"/>
            <a:ext cx="1360449" cy="1144858"/>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0759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DBF8F-7810-A645-E413-F52943FE9AAD}"/>
              </a:ext>
            </a:extLst>
          </p:cNvPr>
          <p:cNvSpPr>
            <a:spLocks noGrp="1"/>
          </p:cNvSpPr>
          <p:nvPr>
            <p:ph type="title"/>
          </p:nvPr>
        </p:nvSpPr>
        <p:spPr/>
        <p:txBody>
          <a:bodyPr/>
          <a:lstStyle/>
          <a:p>
            <a:r>
              <a:rPr lang="en-US" dirty="0"/>
              <a:t>What is Unity?</a:t>
            </a:r>
            <a:endParaRPr lang="en-BE" dirty="0"/>
          </a:p>
        </p:txBody>
      </p:sp>
      <p:sp>
        <p:nvSpPr>
          <p:cNvPr id="3" name="TextBox 2">
            <a:extLst>
              <a:ext uri="{FF2B5EF4-FFF2-40B4-BE49-F238E27FC236}">
                <a16:creationId xmlns:a16="http://schemas.microsoft.com/office/drawing/2014/main" id="{4CFF6900-DF71-849D-9B2F-DB72CA71435B}"/>
              </a:ext>
            </a:extLst>
          </p:cNvPr>
          <p:cNvSpPr txBox="1"/>
          <p:nvPr/>
        </p:nvSpPr>
        <p:spPr>
          <a:xfrm>
            <a:off x="838200" y="1997509"/>
            <a:ext cx="9942337"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Unity is a “game engine”</a:t>
            </a:r>
          </a:p>
          <a:p>
            <a:pPr marL="285750" indent="-285750">
              <a:buFont typeface="Arial" panose="020B0604020202020204" pitchFamily="34" charset="0"/>
              <a:buChar char="•"/>
            </a:pPr>
            <a:r>
              <a:rPr lang="en-US" sz="2400" dirty="0"/>
              <a:t>Framework for interactive application (do you know any other than games?)</a:t>
            </a:r>
          </a:p>
          <a:p>
            <a:pPr marL="285750" indent="-285750">
              <a:buFont typeface="Arial" panose="020B0604020202020204" pitchFamily="34" charset="0"/>
              <a:buChar char="•"/>
            </a:pPr>
            <a:r>
              <a:rPr lang="en-US" sz="2400" dirty="0"/>
              <a:t>Provides API for rendering, physics, networking, AI, collision, </a:t>
            </a:r>
            <a:r>
              <a:rPr lang="en-US" sz="2400" dirty="0" err="1"/>
              <a:t>etc</a:t>
            </a:r>
            <a:r>
              <a:rPr lang="en-US" sz="2400" dirty="0"/>
              <a:t>….</a:t>
            </a:r>
            <a:endParaRPr lang="en-BE" sz="2400" dirty="0"/>
          </a:p>
        </p:txBody>
      </p:sp>
    </p:spTree>
    <p:extLst>
      <p:ext uri="{BB962C8B-B14F-4D97-AF65-F5344CB8AC3E}">
        <p14:creationId xmlns:p14="http://schemas.microsoft.com/office/powerpoint/2010/main" val="2163075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B9BA3-DA0A-7F83-F670-BEE295EB36C3}"/>
              </a:ext>
            </a:extLst>
          </p:cNvPr>
          <p:cNvSpPr>
            <a:spLocks noGrp="1"/>
          </p:cNvSpPr>
          <p:nvPr>
            <p:ph type="title"/>
          </p:nvPr>
        </p:nvSpPr>
        <p:spPr/>
        <p:txBody>
          <a:bodyPr/>
          <a:lstStyle/>
          <a:p>
            <a:r>
              <a:rPr lang="en-US" dirty="0"/>
              <a:t>Why Unity? Any ideas?</a:t>
            </a:r>
            <a:endParaRPr lang="en-BE" dirty="0"/>
          </a:p>
        </p:txBody>
      </p:sp>
    </p:spTree>
    <p:extLst>
      <p:ext uri="{BB962C8B-B14F-4D97-AF65-F5344CB8AC3E}">
        <p14:creationId xmlns:p14="http://schemas.microsoft.com/office/powerpoint/2010/main" val="1445876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14ACC-F607-0A0D-44C9-A1738CE94FD2}"/>
              </a:ext>
            </a:extLst>
          </p:cNvPr>
          <p:cNvSpPr>
            <a:spLocks noGrp="1"/>
          </p:cNvSpPr>
          <p:nvPr>
            <p:ph type="title"/>
          </p:nvPr>
        </p:nvSpPr>
        <p:spPr/>
        <p:txBody>
          <a:bodyPr/>
          <a:lstStyle/>
          <a:p>
            <a:r>
              <a:rPr lang="en-US" dirty="0"/>
              <a:t>Why Unity?</a:t>
            </a:r>
            <a:endParaRPr lang="en-BE" dirty="0"/>
          </a:p>
        </p:txBody>
      </p:sp>
      <p:sp>
        <p:nvSpPr>
          <p:cNvPr id="3" name="TextBox 2">
            <a:extLst>
              <a:ext uri="{FF2B5EF4-FFF2-40B4-BE49-F238E27FC236}">
                <a16:creationId xmlns:a16="http://schemas.microsoft.com/office/drawing/2014/main" id="{3C9685D0-5CB6-9CA1-8FDE-55AC10FBED04}"/>
              </a:ext>
            </a:extLst>
          </p:cNvPr>
          <p:cNvSpPr txBox="1"/>
          <p:nvPr/>
        </p:nvSpPr>
        <p:spPr>
          <a:xfrm>
            <a:off x="921224" y="1774209"/>
            <a:ext cx="6031395"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Most popular game engine on the market</a:t>
            </a:r>
          </a:p>
          <a:p>
            <a:pPr marL="285750" indent="-285750">
              <a:buFont typeface="Arial" panose="020B0604020202020204" pitchFamily="34" charset="0"/>
              <a:buChar char="•"/>
            </a:pPr>
            <a:r>
              <a:rPr lang="en-US" sz="2400" dirty="0"/>
              <a:t>Easier to google problems (or ChatGPT </a:t>
            </a:r>
            <a:r>
              <a:rPr lang="en-US" sz="2400" dirty="0">
                <a:sym typeface="Wingdings" panose="05000000000000000000" pitchFamily="2" charset="2"/>
              </a:rPr>
              <a:t>)</a:t>
            </a:r>
            <a:endParaRPr lang="en-US" sz="2400" dirty="0"/>
          </a:p>
          <a:p>
            <a:pPr marL="285750" indent="-285750">
              <a:buFont typeface="Arial" panose="020B0604020202020204" pitchFamily="34" charset="0"/>
              <a:buChar char="•"/>
            </a:pPr>
            <a:r>
              <a:rPr lang="en-US" sz="2400" dirty="0"/>
              <a:t>C# is a low barrier to entry (Unreal uses C++)</a:t>
            </a:r>
          </a:p>
          <a:p>
            <a:pPr marL="285750" indent="-285750">
              <a:buFont typeface="Arial" panose="020B0604020202020204" pitchFamily="34" charset="0"/>
              <a:buChar char="•"/>
            </a:pPr>
            <a:r>
              <a:rPr lang="en-US" sz="2400" dirty="0"/>
              <a:t>Useful for other courses </a:t>
            </a:r>
            <a:endParaRPr lang="en-BE" sz="2400" dirty="0"/>
          </a:p>
        </p:txBody>
      </p:sp>
    </p:spTree>
    <p:extLst>
      <p:ext uri="{BB962C8B-B14F-4D97-AF65-F5344CB8AC3E}">
        <p14:creationId xmlns:p14="http://schemas.microsoft.com/office/powerpoint/2010/main" val="1332355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14B19-D9ED-ADD8-699C-ACB168D3CC0D}"/>
              </a:ext>
            </a:extLst>
          </p:cNvPr>
          <p:cNvSpPr>
            <a:spLocks noGrp="1"/>
          </p:cNvSpPr>
          <p:nvPr>
            <p:ph type="title"/>
          </p:nvPr>
        </p:nvSpPr>
        <p:spPr/>
        <p:txBody>
          <a:bodyPr/>
          <a:lstStyle/>
          <a:p>
            <a:r>
              <a:rPr lang="en-US" dirty="0"/>
              <a:t>Why not Unity? Any ideas?</a:t>
            </a:r>
            <a:endParaRPr lang="en-BE" dirty="0"/>
          </a:p>
        </p:txBody>
      </p:sp>
    </p:spTree>
    <p:extLst>
      <p:ext uri="{BB962C8B-B14F-4D97-AF65-F5344CB8AC3E}">
        <p14:creationId xmlns:p14="http://schemas.microsoft.com/office/powerpoint/2010/main" val="1955326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879A-2836-767F-44AD-3D531B163638}"/>
              </a:ext>
            </a:extLst>
          </p:cNvPr>
          <p:cNvSpPr>
            <a:spLocks noGrp="1"/>
          </p:cNvSpPr>
          <p:nvPr>
            <p:ph type="title"/>
          </p:nvPr>
        </p:nvSpPr>
        <p:spPr/>
        <p:txBody>
          <a:bodyPr/>
          <a:lstStyle/>
          <a:p>
            <a:r>
              <a:rPr lang="en-US" dirty="0"/>
              <a:t>Why not Unity?</a:t>
            </a:r>
            <a:endParaRPr lang="en-BE" dirty="0"/>
          </a:p>
        </p:txBody>
      </p:sp>
      <p:sp>
        <p:nvSpPr>
          <p:cNvPr id="3" name="TextBox 2">
            <a:extLst>
              <a:ext uri="{FF2B5EF4-FFF2-40B4-BE49-F238E27FC236}">
                <a16:creationId xmlns:a16="http://schemas.microsoft.com/office/drawing/2014/main" id="{98226002-4877-0BAE-909E-04AFFE0EB13B}"/>
              </a:ext>
            </a:extLst>
          </p:cNvPr>
          <p:cNvSpPr txBox="1"/>
          <p:nvPr/>
        </p:nvSpPr>
        <p:spPr>
          <a:xfrm>
            <a:off x="1166884" y="2197290"/>
            <a:ext cx="5595763"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Closed source</a:t>
            </a:r>
          </a:p>
          <a:p>
            <a:pPr marL="285750" indent="-285750">
              <a:buFont typeface="Arial" panose="020B0604020202020204" pitchFamily="34" charset="0"/>
              <a:buChar char="•"/>
            </a:pPr>
            <a:r>
              <a:rPr lang="en-US" sz="2400" dirty="0"/>
              <a:t>Hides what we’re interested in</a:t>
            </a:r>
          </a:p>
          <a:p>
            <a:pPr marL="285750" indent="-285750">
              <a:buFont typeface="Arial" panose="020B0604020202020204" pitchFamily="34" charset="0"/>
              <a:buChar char="•"/>
            </a:pPr>
            <a:r>
              <a:rPr lang="en-US" sz="2400" dirty="0"/>
              <a:t>Has a lot of things we don’t need</a:t>
            </a:r>
          </a:p>
          <a:p>
            <a:pPr marL="285750" indent="-285750">
              <a:buFont typeface="Arial" panose="020B0604020202020204" pitchFamily="34" charset="0"/>
              <a:buChar char="•"/>
            </a:pPr>
            <a:r>
              <a:rPr lang="en-US" sz="2400" dirty="0"/>
              <a:t>Maybe we would like to do things ourself</a:t>
            </a:r>
          </a:p>
          <a:p>
            <a:pPr marL="285750" indent="-285750">
              <a:buFont typeface="Arial" panose="020B0604020202020204" pitchFamily="34" charset="0"/>
              <a:buChar char="•"/>
            </a:pPr>
            <a:r>
              <a:rPr lang="en-US" sz="2400" dirty="0"/>
              <a:t>Uncertain future</a:t>
            </a:r>
            <a:endParaRPr lang="en-BE" sz="2400" dirty="0"/>
          </a:p>
        </p:txBody>
      </p:sp>
    </p:spTree>
    <p:extLst>
      <p:ext uri="{BB962C8B-B14F-4D97-AF65-F5344CB8AC3E}">
        <p14:creationId xmlns:p14="http://schemas.microsoft.com/office/powerpoint/2010/main" val="2820478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FA7C2-AC55-6A5C-2138-9A3F77D41E75}"/>
              </a:ext>
            </a:extLst>
          </p:cNvPr>
          <p:cNvSpPr>
            <a:spLocks noGrp="1"/>
          </p:cNvSpPr>
          <p:nvPr>
            <p:ph type="title"/>
          </p:nvPr>
        </p:nvSpPr>
        <p:spPr/>
        <p:txBody>
          <a:bodyPr/>
          <a:lstStyle/>
          <a:p>
            <a:r>
              <a:rPr lang="en-US" dirty="0"/>
              <a:t>What do we need to learn</a:t>
            </a:r>
            <a:endParaRPr lang="en-BE" dirty="0"/>
          </a:p>
        </p:txBody>
      </p:sp>
      <p:sp>
        <p:nvSpPr>
          <p:cNvPr id="3" name="TextBox 2">
            <a:extLst>
              <a:ext uri="{FF2B5EF4-FFF2-40B4-BE49-F238E27FC236}">
                <a16:creationId xmlns:a16="http://schemas.microsoft.com/office/drawing/2014/main" id="{A0DE77EA-9793-9850-D709-F9FD316328C1}"/>
              </a:ext>
            </a:extLst>
          </p:cNvPr>
          <p:cNvSpPr txBox="1"/>
          <p:nvPr/>
        </p:nvSpPr>
        <p:spPr>
          <a:xfrm>
            <a:off x="1492897" y="1642189"/>
            <a:ext cx="3029339" cy="1200329"/>
          </a:xfrm>
          <a:prstGeom prst="rect">
            <a:avLst/>
          </a:prstGeom>
          <a:noFill/>
        </p:spPr>
        <p:txBody>
          <a:bodyPr wrap="square" rtlCol="0">
            <a:spAutoFit/>
          </a:bodyPr>
          <a:lstStyle/>
          <a:p>
            <a:pPr marL="457200" indent="-457200">
              <a:buFont typeface="+mj-lt"/>
              <a:buAutoNum type="arabicPeriod"/>
            </a:pPr>
            <a:r>
              <a:rPr lang="en-US" sz="2400" dirty="0"/>
              <a:t>Unity Editor</a:t>
            </a:r>
          </a:p>
          <a:p>
            <a:pPr marL="457200" indent="-457200">
              <a:buFont typeface="+mj-lt"/>
              <a:buAutoNum type="arabicPeriod"/>
            </a:pPr>
            <a:r>
              <a:rPr lang="en-US" sz="2400" dirty="0"/>
              <a:t>C#</a:t>
            </a:r>
          </a:p>
          <a:p>
            <a:pPr marL="457200" indent="-457200">
              <a:buFont typeface="+mj-lt"/>
              <a:buAutoNum type="arabicPeriod"/>
            </a:pPr>
            <a:r>
              <a:rPr lang="en-US" sz="2400" dirty="0"/>
              <a:t>HLSL</a:t>
            </a:r>
            <a:endParaRPr lang="en-BE" sz="2400" dirty="0"/>
          </a:p>
        </p:txBody>
      </p:sp>
    </p:spTree>
    <p:extLst>
      <p:ext uri="{BB962C8B-B14F-4D97-AF65-F5344CB8AC3E}">
        <p14:creationId xmlns:p14="http://schemas.microsoft.com/office/powerpoint/2010/main" val="36970354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40716-1FCC-41DE-1866-3DFA0A8C52F8}"/>
              </a:ext>
            </a:extLst>
          </p:cNvPr>
          <p:cNvSpPr>
            <a:spLocks noGrp="1"/>
          </p:cNvSpPr>
          <p:nvPr>
            <p:ph type="title"/>
          </p:nvPr>
        </p:nvSpPr>
        <p:spPr/>
        <p:txBody>
          <a:bodyPr/>
          <a:lstStyle/>
          <a:p>
            <a:r>
              <a:rPr lang="en-US" dirty="0"/>
              <a:t>1 Unity Editor</a:t>
            </a:r>
            <a:endParaRPr lang="en-BE" dirty="0"/>
          </a:p>
        </p:txBody>
      </p:sp>
      <p:pic>
        <p:nvPicPr>
          <p:cNvPr id="4" name="Picture 3">
            <a:extLst>
              <a:ext uri="{FF2B5EF4-FFF2-40B4-BE49-F238E27FC236}">
                <a16:creationId xmlns:a16="http://schemas.microsoft.com/office/drawing/2014/main" id="{98F61126-5519-82AC-0330-E0CCF09E0951}"/>
              </a:ext>
            </a:extLst>
          </p:cNvPr>
          <p:cNvPicPr>
            <a:picLocks noChangeAspect="1"/>
          </p:cNvPicPr>
          <p:nvPr/>
        </p:nvPicPr>
        <p:blipFill>
          <a:blip r:embed="rId3"/>
          <a:stretch>
            <a:fillRect/>
          </a:stretch>
        </p:blipFill>
        <p:spPr>
          <a:xfrm>
            <a:off x="5026627" y="1524000"/>
            <a:ext cx="7165373" cy="5334000"/>
          </a:xfrm>
          <a:prstGeom prst="rect">
            <a:avLst/>
          </a:prstGeom>
        </p:spPr>
      </p:pic>
      <p:sp>
        <p:nvSpPr>
          <p:cNvPr id="5" name="TextBox 4">
            <a:extLst>
              <a:ext uri="{FF2B5EF4-FFF2-40B4-BE49-F238E27FC236}">
                <a16:creationId xmlns:a16="http://schemas.microsoft.com/office/drawing/2014/main" id="{1888AA2A-8C49-6AB8-8B63-BBBB8BCD82D1}"/>
              </a:ext>
            </a:extLst>
          </p:cNvPr>
          <p:cNvSpPr txBox="1"/>
          <p:nvPr/>
        </p:nvSpPr>
        <p:spPr>
          <a:xfrm>
            <a:off x="360784" y="2015412"/>
            <a:ext cx="4447592"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Lot’s of buttons </a:t>
            </a:r>
            <a:r>
              <a:rPr lang="en-US" sz="2400" dirty="0">
                <a:sym typeface="Wingdings" panose="05000000000000000000" pitchFamily="2" charset="2"/>
              </a:rPr>
              <a:t></a:t>
            </a:r>
          </a:p>
          <a:p>
            <a:pPr marL="285750" indent="-285750">
              <a:buFont typeface="Arial" panose="020B0604020202020204" pitchFamily="34" charset="0"/>
              <a:buChar char="•"/>
            </a:pPr>
            <a:r>
              <a:rPr lang="en-US" sz="2400" dirty="0">
                <a:sym typeface="Wingdings" panose="05000000000000000000" pitchFamily="2" charset="2"/>
              </a:rPr>
              <a:t>Artist focused </a:t>
            </a:r>
          </a:p>
        </p:txBody>
      </p:sp>
    </p:spTree>
    <p:extLst>
      <p:ext uri="{BB962C8B-B14F-4D97-AF65-F5344CB8AC3E}">
        <p14:creationId xmlns:p14="http://schemas.microsoft.com/office/powerpoint/2010/main" val="2102983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0FCA-DDBD-9886-F125-FF42E0E9A88B}"/>
              </a:ext>
            </a:extLst>
          </p:cNvPr>
          <p:cNvSpPr>
            <a:spLocks noGrp="1"/>
          </p:cNvSpPr>
          <p:nvPr>
            <p:ph type="title"/>
          </p:nvPr>
        </p:nvSpPr>
        <p:spPr/>
        <p:txBody>
          <a:bodyPr/>
          <a:lstStyle/>
          <a:p>
            <a:r>
              <a:rPr lang="en-US" dirty="0"/>
              <a:t>2 C#</a:t>
            </a:r>
            <a:endParaRPr lang="en-BE" dirty="0"/>
          </a:p>
        </p:txBody>
      </p:sp>
      <p:sp>
        <p:nvSpPr>
          <p:cNvPr id="3" name="TextBox 2">
            <a:extLst>
              <a:ext uri="{FF2B5EF4-FFF2-40B4-BE49-F238E27FC236}">
                <a16:creationId xmlns:a16="http://schemas.microsoft.com/office/drawing/2014/main" id="{1F7895CB-7E60-E0D9-6DAD-DDC207A3A4B8}"/>
              </a:ext>
            </a:extLst>
          </p:cNvPr>
          <p:cNvSpPr txBox="1"/>
          <p:nvPr/>
        </p:nvSpPr>
        <p:spPr>
          <a:xfrm>
            <a:off x="454090" y="1908403"/>
            <a:ext cx="3725892" cy="1015663"/>
          </a:xfrm>
          <a:prstGeom prst="rect">
            <a:avLst/>
          </a:prstGeom>
          <a:noFill/>
        </p:spPr>
        <p:txBody>
          <a:bodyPr wrap="none" rtlCol="0">
            <a:spAutoFit/>
          </a:bodyPr>
          <a:lstStyle/>
          <a:p>
            <a:pPr marL="285750" indent="-285750">
              <a:buFont typeface="Arial" panose="020B0604020202020204" pitchFamily="34" charset="0"/>
              <a:buChar char="•"/>
            </a:pPr>
            <a:r>
              <a:rPr lang="en-US" sz="2000" dirty="0"/>
              <a:t>Used by Unity for CPU scripting</a:t>
            </a:r>
          </a:p>
          <a:p>
            <a:pPr marL="285750" indent="-285750">
              <a:buFont typeface="Arial" panose="020B0604020202020204" pitchFamily="34" charset="0"/>
              <a:buChar char="•"/>
            </a:pPr>
            <a:r>
              <a:rPr lang="en-US" sz="2000" dirty="0"/>
              <a:t>Very useful language to know</a:t>
            </a:r>
          </a:p>
          <a:p>
            <a:pPr marL="285750" indent="-285750">
              <a:buFont typeface="Arial" panose="020B0604020202020204" pitchFamily="34" charset="0"/>
              <a:buChar char="•"/>
            </a:pPr>
            <a:r>
              <a:rPr lang="en-US" sz="2000" dirty="0"/>
              <a:t>Looks a lot like Java</a:t>
            </a:r>
            <a:endParaRPr lang="en-BE" sz="2000" dirty="0"/>
          </a:p>
        </p:txBody>
      </p:sp>
      <p:pic>
        <p:nvPicPr>
          <p:cNvPr id="7" name="Picture 6">
            <a:extLst>
              <a:ext uri="{FF2B5EF4-FFF2-40B4-BE49-F238E27FC236}">
                <a16:creationId xmlns:a16="http://schemas.microsoft.com/office/drawing/2014/main" id="{56AF0AF8-C1DE-986D-ACB5-7FD9F0742373}"/>
              </a:ext>
            </a:extLst>
          </p:cNvPr>
          <p:cNvPicPr>
            <a:picLocks noChangeAspect="1"/>
          </p:cNvPicPr>
          <p:nvPr/>
        </p:nvPicPr>
        <p:blipFill>
          <a:blip r:embed="rId3"/>
          <a:stretch>
            <a:fillRect/>
          </a:stretch>
        </p:blipFill>
        <p:spPr>
          <a:xfrm>
            <a:off x="4871635" y="904522"/>
            <a:ext cx="7163800" cy="5048955"/>
          </a:xfrm>
          <a:prstGeom prst="rect">
            <a:avLst/>
          </a:prstGeom>
        </p:spPr>
      </p:pic>
    </p:spTree>
    <p:extLst>
      <p:ext uri="{BB962C8B-B14F-4D97-AF65-F5344CB8AC3E}">
        <p14:creationId xmlns:p14="http://schemas.microsoft.com/office/powerpoint/2010/main" val="1965133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8EA14-E872-5CD8-C1F3-AB140B8BDE81}"/>
              </a:ext>
            </a:extLst>
          </p:cNvPr>
          <p:cNvSpPr>
            <a:spLocks noGrp="1"/>
          </p:cNvSpPr>
          <p:nvPr>
            <p:ph type="title"/>
          </p:nvPr>
        </p:nvSpPr>
        <p:spPr/>
        <p:txBody>
          <a:bodyPr/>
          <a:lstStyle/>
          <a:p>
            <a:r>
              <a:rPr lang="en-US" dirty="0"/>
              <a:t>3 HLSL</a:t>
            </a:r>
            <a:endParaRPr lang="en-BE" dirty="0"/>
          </a:p>
        </p:txBody>
      </p:sp>
      <p:sp>
        <p:nvSpPr>
          <p:cNvPr id="3" name="TextBox 2">
            <a:extLst>
              <a:ext uri="{FF2B5EF4-FFF2-40B4-BE49-F238E27FC236}">
                <a16:creationId xmlns:a16="http://schemas.microsoft.com/office/drawing/2014/main" id="{5F1916A4-5C29-696D-6616-39B2F937D1F0}"/>
              </a:ext>
            </a:extLst>
          </p:cNvPr>
          <p:cNvSpPr txBox="1"/>
          <p:nvPr/>
        </p:nvSpPr>
        <p:spPr>
          <a:xfrm>
            <a:off x="404326" y="1835021"/>
            <a:ext cx="3976410"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GPU programming language</a:t>
            </a:r>
          </a:p>
          <a:p>
            <a:pPr marL="285750" indent="-285750">
              <a:buFont typeface="Arial" panose="020B0604020202020204" pitchFamily="34" charset="0"/>
              <a:buChar char="•"/>
            </a:pPr>
            <a:r>
              <a:rPr lang="en-US" sz="2400" dirty="0"/>
              <a:t>No </a:t>
            </a:r>
            <a:r>
              <a:rPr lang="en-US" sz="2400" dirty="0" err="1"/>
              <a:t>oop</a:t>
            </a:r>
            <a:r>
              <a:rPr lang="en-US" sz="2400" dirty="0"/>
              <a:t> </a:t>
            </a:r>
            <a:r>
              <a:rPr lang="en-US" sz="2400" dirty="0">
                <a:sym typeface="Wingdings" panose="05000000000000000000" pitchFamily="2" charset="2"/>
              </a:rPr>
              <a:t></a:t>
            </a:r>
          </a:p>
          <a:p>
            <a:pPr marL="285750" indent="-285750">
              <a:buFont typeface="Arial" panose="020B0604020202020204" pitchFamily="34" charset="0"/>
              <a:buChar char="•"/>
            </a:pPr>
            <a:r>
              <a:rPr lang="en-US" sz="2400" dirty="0">
                <a:sym typeface="Wingdings" panose="05000000000000000000" pitchFamily="2" charset="2"/>
              </a:rPr>
              <a:t>Lots of support for math</a:t>
            </a:r>
            <a:r>
              <a:rPr lang="en-US" sz="2400" dirty="0"/>
              <a:t> </a:t>
            </a:r>
            <a:endParaRPr lang="en-BE" sz="2400" dirty="0"/>
          </a:p>
        </p:txBody>
      </p:sp>
      <p:pic>
        <p:nvPicPr>
          <p:cNvPr id="5" name="Picture 4" descr="A screen shot of a computer code&#10;&#10;Description automatically generated">
            <a:extLst>
              <a:ext uri="{FF2B5EF4-FFF2-40B4-BE49-F238E27FC236}">
                <a16:creationId xmlns:a16="http://schemas.microsoft.com/office/drawing/2014/main" id="{78390E7B-24CD-FD1D-CD2B-B73BBCBDBD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156" y="3562226"/>
            <a:ext cx="11165844" cy="3366267"/>
          </a:xfrm>
          <a:prstGeom prst="rect">
            <a:avLst/>
          </a:prstGeom>
        </p:spPr>
      </p:pic>
    </p:spTree>
    <p:extLst>
      <p:ext uri="{BB962C8B-B14F-4D97-AF65-F5344CB8AC3E}">
        <p14:creationId xmlns:p14="http://schemas.microsoft.com/office/powerpoint/2010/main" val="3768024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67F1-0E6A-968D-BF8C-52F8F0DB811E}"/>
              </a:ext>
            </a:extLst>
          </p:cNvPr>
          <p:cNvSpPr>
            <a:spLocks noGrp="1"/>
          </p:cNvSpPr>
          <p:nvPr>
            <p:ph type="title"/>
          </p:nvPr>
        </p:nvSpPr>
        <p:spPr/>
        <p:txBody>
          <a:bodyPr/>
          <a:lstStyle/>
          <a:p>
            <a:r>
              <a:rPr lang="en-US" dirty="0"/>
              <a:t>The next hour-</a:t>
            </a:r>
            <a:r>
              <a:rPr lang="en-US" dirty="0" err="1"/>
              <a:t>ish</a:t>
            </a:r>
            <a:endParaRPr lang="en-BE" dirty="0"/>
          </a:p>
        </p:txBody>
      </p:sp>
      <p:sp>
        <p:nvSpPr>
          <p:cNvPr id="3" name="TextBox 2">
            <a:extLst>
              <a:ext uri="{FF2B5EF4-FFF2-40B4-BE49-F238E27FC236}">
                <a16:creationId xmlns:a16="http://schemas.microsoft.com/office/drawing/2014/main" id="{9D805B63-6D6F-2A15-642F-49D212CDC87C}"/>
              </a:ext>
            </a:extLst>
          </p:cNvPr>
          <p:cNvSpPr txBox="1"/>
          <p:nvPr/>
        </p:nvSpPr>
        <p:spPr>
          <a:xfrm>
            <a:off x="571500" y="1997242"/>
            <a:ext cx="10734798" cy="2677656"/>
          </a:xfrm>
          <a:prstGeom prst="rect">
            <a:avLst/>
          </a:prstGeom>
          <a:noFill/>
        </p:spPr>
        <p:txBody>
          <a:bodyPr wrap="none" rtlCol="0">
            <a:spAutoFit/>
          </a:bodyPr>
          <a:lstStyle/>
          <a:p>
            <a:pPr marL="285750" indent="-285750">
              <a:buFont typeface="Arial" panose="020B0604020202020204" pitchFamily="34" charset="0"/>
              <a:buChar char="•"/>
            </a:pPr>
            <a:r>
              <a:rPr lang="en-US" sz="2800" dirty="0"/>
              <a:t>We’re going to do an experiment</a:t>
            </a:r>
          </a:p>
          <a:p>
            <a:pPr marL="285750" indent="-285750">
              <a:buFont typeface="Arial" panose="020B0604020202020204" pitchFamily="34" charset="0"/>
              <a:buChar char="•"/>
            </a:pPr>
            <a:r>
              <a:rPr lang="en-US" sz="2800" dirty="0"/>
              <a:t>We’re going to implement a “material” (how something looks) in Unity</a:t>
            </a:r>
          </a:p>
          <a:p>
            <a:pPr marL="285750" indent="-285750">
              <a:buFont typeface="Arial" panose="020B0604020202020204" pitchFamily="34" charset="0"/>
              <a:buChar char="•"/>
            </a:pPr>
            <a:r>
              <a:rPr lang="en-US" sz="2800" dirty="0"/>
              <a:t>We want to see if we can render a blue sphere</a:t>
            </a:r>
          </a:p>
          <a:p>
            <a:pPr marL="285750" indent="-285750">
              <a:buFont typeface="Arial" panose="020B0604020202020204" pitchFamily="34" charset="0"/>
              <a:buChar char="•"/>
            </a:pPr>
            <a:r>
              <a:rPr lang="en-US" sz="2800" dirty="0"/>
              <a:t>We’re going to introduce a lot of terms fast</a:t>
            </a:r>
          </a:p>
          <a:p>
            <a:pPr marL="285750" indent="-285750">
              <a:buFont typeface="Arial" panose="020B0604020202020204" pitchFamily="34" charset="0"/>
              <a:buChar char="•"/>
            </a:pPr>
            <a:r>
              <a:rPr lang="en-US" sz="2800" dirty="0"/>
              <a:t>Don’t worry! Will come back in detail in class</a:t>
            </a:r>
          </a:p>
          <a:p>
            <a:pPr marL="285750" indent="-285750">
              <a:buFont typeface="Arial" panose="020B0604020202020204" pitchFamily="34" charset="0"/>
              <a:buChar char="•"/>
            </a:pPr>
            <a:r>
              <a:rPr lang="en-US" sz="2800" dirty="0"/>
              <a:t>This is an exercise to show you (a lot of) what we’re going to see</a:t>
            </a:r>
            <a:endParaRPr lang="en-BE" sz="2800" dirty="0"/>
          </a:p>
        </p:txBody>
      </p:sp>
      <p:sp>
        <p:nvSpPr>
          <p:cNvPr id="4" name="Oval 3">
            <a:extLst>
              <a:ext uri="{FF2B5EF4-FFF2-40B4-BE49-F238E27FC236}">
                <a16:creationId xmlns:a16="http://schemas.microsoft.com/office/drawing/2014/main" id="{4C4E1A02-342E-8D98-C174-26F19520485C}"/>
              </a:ext>
            </a:extLst>
          </p:cNvPr>
          <p:cNvSpPr/>
          <p:nvPr/>
        </p:nvSpPr>
        <p:spPr>
          <a:xfrm>
            <a:off x="9950116" y="4800599"/>
            <a:ext cx="1816768" cy="1816768"/>
          </a:xfrm>
          <a:prstGeom prst="ellipse">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884616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A1E26-C0D6-A12C-83CF-8895BB040D72}"/>
              </a:ext>
            </a:extLst>
          </p:cNvPr>
          <p:cNvSpPr>
            <a:spLocks noGrp="1"/>
          </p:cNvSpPr>
          <p:nvPr>
            <p:ph type="title"/>
          </p:nvPr>
        </p:nvSpPr>
        <p:spPr/>
        <p:txBody>
          <a:bodyPr/>
          <a:lstStyle/>
          <a:p>
            <a:r>
              <a:rPr lang="en-US" dirty="0"/>
              <a:t>1 : Create a new project</a:t>
            </a:r>
            <a:endParaRPr lang="en-BE" dirty="0"/>
          </a:p>
        </p:txBody>
      </p:sp>
      <p:pic>
        <p:nvPicPr>
          <p:cNvPr id="4" name="Picture 3">
            <a:extLst>
              <a:ext uri="{FF2B5EF4-FFF2-40B4-BE49-F238E27FC236}">
                <a16:creationId xmlns:a16="http://schemas.microsoft.com/office/drawing/2014/main" id="{D59597FB-A575-CDD7-8312-249CACC37EBF}"/>
              </a:ext>
            </a:extLst>
          </p:cNvPr>
          <p:cNvPicPr>
            <a:picLocks noChangeAspect="1"/>
          </p:cNvPicPr>
          <p:nvPr/>
        </p:nvPicPr>
        <p:blipFill>
          <a:blip r:embed="rId3"/>
          <a:stretch>
            <a:fillRect/>
          </a:stretch>
        </p:blipFill>
        <p:spPr>
          <a:xfrm>
            <a:off x="1470192" y="1412515"/>
            <a:ext cx="9564435" cy="2781688"/>
          </a:xfrm>
          <a:prstGeom prst="rect">
            <a:avLst/>
          </a:prstGeom>
        </p:spPr>
      </p:pic>
      <p:cxnSp>
        <p:nvCxnSpPr>
          <p:cNvPr id="6" name="Straight Arrow Connector 5">
            <a:extLst>
              <a:ext uri="{FF2B5EF4-FFF2-40B4-BE49-F238E27FC236}">
                <a16:creationId xmlns:a16="http://schemas.microsoft.com/office/drawing/2014/main" id="{6D2730B3-F68C-C510-A405-4046C250AEF2}"/>
              </a:ext>
            </a:extLst>
          </p:cNvPr>
          <p:cNvCxnSpPr/>
          <p:nvPr/>
        </p:nvCxnSpPr>
        <p:spPr>
          <a:xfrm>
            <a:off x="5504447" y="1882942"/>
            <a:ext cx="4223085" cy="15641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3295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71FEB-A4A8-4C1C-B13E-F1583D7AD5D2}"/>
              </a:ext>
            </a:extLst>
          </p:cNvPr>
          <p:cNvSpPr>
            <a:spLocks noGrp="1"/>
          </p:cNvSpPr>
          <p:nvPr>
            <p:ph type="title"/>
          </p:nvPr>
        </p:nvSpPr>
        <p:spPr/>
        <p:txBody>
          <a:bodyPr/>
          <a:lstStyle/>
          <a:p>
            <a:r>
              <a:rPr lang="en-US" dirty="0"/>
              <a:t>2. Choose 3D (URP), download template</a:t>
            </a:r>
            <a:endParaRPr lang="en-BE" dirty="0"/>
          </a:p>
        </p:txBody>
      </p:sp>
      <p:pic>
        <p:nvPicPr>
          <p:cNvPr id="4" name="Picture 3">
            <a:extLst>
              <a:ext uri="{FF2B5EF4-FFF2-40B4-BE49-F238E27FC236}">
                <a16:creationId xmlns:a16="http://schemas.microsoft.com/office/drawing/2014/main" id="{74AED44F-1CD2-1DD0-F0BC-19CA0754B253}"/>
              </a:ext>
            </a:extLst>
          </p:cNvPr>
          <p:cNvPicPr>
            <a:picLocks noChangeAspect="1"/>
          </p:cNvPicPr>
          <p:nvPr/>
        </p:nvPicPr>
        <p:blipFill>
          <a:blip r:embed="rId3"/>
          <a:stretch>
            <a:fillRect/>
          </a:stretch>
        </p:blipFill>
        <p:spPr>
          <a:xfrm>
            <a:off x="1215272" y="2141621"/>
            <a:ext cx="9593014" cy="4611198"/>
          </a:xfrm>
          <a:prstGeom prst="rect">
            <a:avLst/>
          </a:prstGeom>
        </p:spPr>
      </p:pic>
      <p:cxnSp>
        <p:nvCxnSpPr>
          <p:cNvPr id="6" name="Straight Arrow Connector 5">
            <a:extLst>
              <a:ext uri="{FF2B5EF4-FFF2-40B4-BE49-F238E27FC236}">
                <a16:creationId xmlns:a16="http://schemas.microsoft.com/office/drawing/2014/main" id="{EB158106-8120-F374-3A7F-1AD5AA31E131}"/>
              </a:ext>
            </a:extLst>
          </p:cNvPr>
          <p:cNvCxnSpPr/>
          <p:nvPr/>
        </p:nvCxnSpPr>
        <p:spPr>
          <a:xfrm>
            <a:off x="838200" y="4114800"/>
            <a:ext cx="2638926" cy="203935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996F67E-5345-9A85-3522-38210DD71D03}"/>
              </a:ext>
            </a:extLst>
          </p:cNvPr>
          <p:cNvCxnSpPr/>
          <p:nvPr/>
        </p:nvCxnSpPr>
        <p:spPr>
          <a:xfrm flipH="1">
            <a:off x="10082463" y="3735805"/>
            <a:ext cx="1335505" cy="209349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73019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2B75A-A104-2CD8-31B9-344B72B7256F}"/>
              </a:ext>
            </a:extLst>
          </p:cNvPr>
          <p:cNvSpPr>
            <a:spLocks noGrp="1"/>
          </p:cNvSpPr>
          <p:nvPr>
            <p:ph type="title"/>
          </p:nvPr>
        </p:nvSpPr>
        <p:spPr/>
        <p:txBody>
          <a:bodyPr/>
          <a:lstStyle/>
          <a:p>
            <a:r>
              <a:rPr lang="en-US" dirty="0"/>
              <a:t>3 Actually create the project</a:t>
            </a:r>
            <a:endParaRPr lang="en-BE" dirty="0"/>
          </a:p>
        </p:txBody>
      </p:sp>
      <p:pic>
        <p:nvPicPr>
          <p:cNvPr id="4" name="Picture 3">
            <a:extLst>
              <a:ext uri="{FF2B5EF4-FFF2-40B4-BE49-F238E27FC236}">
                <a16:creationId xmlns:a16="http://schemas.microsoft.com/office/drawing/2014/main" id="{BF401E67-0578-5CA1-1402-E970C24F1790}"/>
              </a:ext>
            </a:extLst>
          </p:cNvPr>
          <p:cNvPicPr>
            <a:picLocks noChangeAspect="1"/>
          </p:cNvPicPr>
          <p:nvPr/>
        </p:nvPicPr>
        <p:blipFill>
          <a:blip r:embed="rId3"/>
          <a:stretch>
            <a:fillRect/>
          </a:stretch>
        </p:blipFill>
        <p:spPr>
          <a:xfrm>
            <a:off x="5125646" y="1690688"/>
            <a:ext cx="6953981" cy="4480693"/>
          </a:xfrm>
          <a:prstGeom prst="rect">
            <a:avLst/>
          </a:prstGeom>
        </p:spPr>
      </p:pic>
      <p:sp>
        <p:nvSpPr>
          <p:cNvPr id="5" name="TextBox 4">
            <a:extLst>
              <a:ext uri="{FF2B5EF4-FFF2-40B4-BE49-F238E27FC236}">
                <a16:creationId xmlns:a16="http://schemas.microsoft.com/office/drawing/2014/main" id="{D9B91869-AA5F-67D8-6BA9-8BC0F1922585}"/>
              </a:ext>
            </a:extLst>
          </p:cNvPr>
          <p:cNvSpPr txBox="1"/>
          <p:nvPr/>
        </p:nvSpPr>
        <p:spPr>
          <a:xfrm>
            <a:off x="212557" y="1834815"/>
            <a:ext cx="4557963" cy="1221206"/>
          </a:xfrm>
          <a:prstGeom prst="rect">
            <a:avLst/>
          </a:prstGeom>
          <a:noFill/>
        </p:spPr>
        <p:txBody>
          <a:bodyPr wrap="square" rtlCol="0">
            <a:spAutoFit/>
          </a:bodyPr>
          <a:lstStyle/>
          <a:p>
            <a:pPr marL="285750" indent="-285750">
              <a:buFont typeface="Arial" panose="020B0604020202020204" pitchFamily="34" charset="0"/>
              <a:buChar char="•"/>
            </a:pPr>
            <a:r>
              <a:rPr lang="en-US" dirty="0"/>
              <a:t>Location doesn’t matter</a:t>
            </a:r>
          </a:p>
          <a:p>
            <a:pPr marL="285750" indent="-285750">
              <a:buFont typeface="Arial" panose="020B0604020202020204" pitchFamily="34" charset="0"/>
              <a:buChar char="•"/>
            </a:pPr>
            <a:r>
              <a:rPr lang="en-US" dirty="0"/>
              <a:t>We won’t use this project after this class</a:t>
            </a:r>
          </a:p>
          <a:p>
            <a:pPr marL="285750" indent="-285750">
              <a:buFont typeface="Arial" panose="020B0604020202020204" pitchFamily="34" charset="0"/>
              <a:buChar char="•"/>
            </a:pPr>
            <a:r>
              <a:rPr lang="en-US" dirty="0"/>
              <a:t>Not a cloud drive (like OneDrive)!</a:t>
            </a:r>
          </a:p>
          <a:p>
            <a:endParaRPr lang="en-BE" dirty="0"/>
          </a:p>
        </p:txBody>
      </p:sp>
    </p:spTree>
    <p:extLst>
      <p:ext uri="{BB962C8B-B14F-4D97-AF65-F5344CB8AC3E}">
        <p14:creationId xmlns:p14="http://schemas.microsoft.com/office/powerpoint/2010/main" val="12463701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72582-9D4F-7CC8-4B06-EC393C845A51}"/>
              </a:ext>
            </a:extLst>
          </p:cNvPr>
          <p:cNvSpPr>
            <a:spLocks noGrp="1"/>
          </p:cNvSpPr>
          <p:nvPr>
            <p:ph type="title"/>
          </p:nvPr>
        </p:nvSpPr>
        <p:spPr>
          <a:xfrm>
            <a:off x="246647" y="365125"/>
            <a:ext cx="11718758" cy="1325563"/>
          </a:xfrm>
        </p:spPr>
        <p:txBody>
          <a:bodyPr/>
          <a:lstStyle/>
          <a:p>
            <a:r>
              <a:rPr lang="en-US" dirty="0"/>
              <a:t>4 Check that you see this, and try to move around</a:t>
            </a:r>
            <a:endParaRPr lang="en-BE" dirty="0"/>
          </a:p>
        </p:txBody>
      </p:sp>
      <p:pic>
        <p:nvPicPr>
          <p:cNvPr id="4" name="Picture 3">
            <a:extLst>
              <a:ext uri="{FF2B5EF4-FFF2-40B4-BE49-F238E27FC236}">
                <a16:creationId xmlns:a16="http://schemas.microsoft.com/office/drawing/2014/main" id="{E8CD6479-5F10-CA80-DDFE-B584FAECB17E}"/>
              </a:ext>
            </a:extLst>
          </p:cNvPr>
          <p:cNvPicPr>
            <a:picLocks noChangeAspect="1"/>
          </p:cNvPicPr>
          <p:nvPr/>
        </p:nvPicPr>
        <p:blipFill>
          <a:blip r:embed="rId3"/>
          <a:stretch>
            <a:fillRect/>
          </a:stretch>
        </p:blipFill>
        <p:spPr>
          <a:xfrm>
            <a:off x="4950993" y="1690689"/>
            <a:ext cx="7282165" cy="5167312"/>
          </a:xfrm>
          <a:prstGeom prst="rect">
            <a:avLst/>
          </a:prstGeom>
        </p:spPr>
      </p:pic>
      <p:sp>
        <p:nvSpPr>
          <p:cNvPr id="5" name="TextBox 4">
            <a:extLst>
              <a:ext uri="{FF2B5EF4-FFF2-40B4-BE49-F238E27FC236}">
                <a16:creationId xmlns:a16="http://schemas.microsoft.com/office/drawing/2014/main" id="{1A704F33-F9DF-7F0C-E4EF-E3893CC4D847}"/>
              </a:ext>
            </a:extLst>
          </p:cNvPr>
          <p:cNvSpPr txBox="1"/>
          <p:nvPr/>
        </p:nvSpPr>
        <p:spPr>
          <a:xfrm>
            <a:off x="330868" y="2130315"/>
            <a:ext cx="4253985"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RMB to rotate the camera</a:t>
            </a:r>
          </a:p>
          <a:p>
            <a:pPr marL="285750" indent="-285750">
              <a:buFont typeface="Arial" panose="020B0604020202020204" pitchFamily="34" charset="0"/>
              <a:buChar char="•"/>
            </a:pPr>
            <a:r>
              <a:rPr lang="en-US" sz="2800" dirty="0"/>
              <a:t>MMB to pan the camera</a:t>
            </a:r>
          </a:p>
          <a:p>
            <a:pPr marL="285750" indent="-285750">
              <a:buFont typeface="Arial" panose="020B0604020202020204" pitchFamily="34" charset="0"/>
              <a:buChar char="•"/>
            </a:pPr>
            <a:r>
              <a:rPr lang="en-US" sz="2800" dirty="0" err="1"/>
              <a:t>Scrollwheel</a:t>
            </a:r>
            <a:r>
              <a:rPr lang="en-US" sz="2800" dirty="0"/>
              <a:t> to zoom</a:t>
            </a:r>
          </a:p>
        </p:txBody>
      </p:sp>
    </p:spTree>
    <p:extLst>
      <p:ext uri="{BB962C8B-B14F-4D97-AF65-F5344CB8AC3E}">
        <p14:creationId xmlns:p14="http://schemas.microsoft.com/office/powerpoint/2010/main" val="23688493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A28E3-3657-CA96-E48E-BA4872112A77}"/>
              </a:ext>
            </a:extLst>
          </p:cNvPr>
          <p:cNvSpPr>
            <a:spLocks noGrp="1"/>
          </p:cNvSpPr>
          <p:nvPr>
            <p:ph type="title"/>
          </p:nvPr>
        </p:nvSpPr>
        <p:spPr/>
        <p:txBody>
          <a:bodyPr/>
          <a:lstStyle/>
          <a:p>
            <a:r>
              <a:rPr lang="en-US" dirty="0"/>
              <a:t>5 Add a sphere to the world</a:t>
            </a:r>
            <a:endParaRPr lang="en-BE" dirty="0"/>
          </a:p>
        </p:txBody>
      </p:sp>
      <p:pic>
        <p:nvPicPr>
          <p:cNvPr id="6" name="Picture 5">
            <a:extLst>
              <a:ext uri="{FF2B5EF4-FFF2-40B4-BE49-F238E27FC236}">
                <a16:creationId xmlns:a16="http://schemas.microsoft.com/office/drawing/2014/main" id="{2637F317-FFB1-1983-C7DF-81E160D756D0}"/>
              </a:ext>
            </a:extLst>
          </p:cNvPr>
          <p:cNvPicPr>
            <a:picLocks noChangeAspect="1"/>
          </p:cNvPicPr>
          <p:nvPr/>
        </p:nvPicPr>
        <p:blipFill>
          <a:blip r:embed="rId3"/>
          <a:stretch>
            <a:fillRect/>
          </a:stretch>
        </p:blipFill>
        <p:spPr>
          <a:xfrm>
            <a:off x="0" y="2286000"/>
            <a:ext cx="4753366" cy="4512690"/>
          </a:xfrm>
          <a:prstGeom prst="rect">
            <a:avLst/>
          </a:prstGeom>
        </p:spPr>
      </p:pic>
      <p:pic>
        <p:nvPicPr>
          <p:cNvPr id="8" name="Picture 7">
            <a:extLst>
              <a:ext uri="{FF2B5EF4-FFF2-40B4-BE49-F238E27FC236}">
                <a16:creationId xmlns:a16="http://schemas.microsoft.com/office/drawing/2014/main" id="{CBA2C656-3DD0-8E80-4F34-86147C5C89A8}"/>
              </a:ext>
            </a:extLst>
          </p:cNvPr>
          <p:cNvPicPr>
            <a:picLocks noChangeAspect="1"/>
          </p:cNvPicPr>
          <p:nvPr/>
        </p:nvPicPr>
        <p:blipFill>
          <a:blip r:embed="rId4"/>
          <a:stretch>
            <a:fillRect/>
          </a:stretch>
        </p:blipFill>
        <p:spPr>
          <a:xfrm>
            <a:off x="4811688" y="2558955"/>
            <a:ext cx="3313044" cy="2695433"/>
          </a:xfrm>
          <a:prstGeom prst="rect">
            <a:avLst/>
          </a:prstGeom>
        </p:spPr>
      </p:pic>
      <p:pic>
        <p:nvPicPr>
          <p:cNvPr id="10" name="Picture 9">
            <a:extLst>
              <a:ext uri="{FF2B5EF4-FFF2-40B4-BE49-F238E27FC236}">
                <a16:creationId xmlns:a16="http://schemas.microsoft.com/office/drawing/2014/main" id="{416F6651-31B5-8175-D2F1-063E0C5417D1}"/>
              </a:ext>
            </a:extLst>
          </p:cNvPr>
          <p:cNvPicPr>
            <a:picLocks noChangeAspect="1"/>
          </p:cNvPicPr>
          <p:nvPr/>
        </p:nvPicPr>
        <p:blipFill>
          <a:blip r:embed="rId5"/>
          <a:stretch>
            <a:fillRect/>
          </a:stretch>
        </p:blipFill>
        <p:spPr>
          <a:xfrm>
            <a:off x="8225602" y="2846141"/>
            <a:ext cx="3943900" cy="1848108"/>
          </a:xfrm>
          <a:prstGeom prst="rect">
            <a:avLst/>
          </a:prstGeom>
        </p:spPr>
      </p:pic>
    </p:spTree>
    <p:extLst>
      <p:ext uri="{BB962C8B-B14F-4D97-AF65-F5344CB8AC3E}">
        <p14:creationId xmlns:p14="http://schemas.microsoft.com/office/powerpoint/2010/main" val="15197658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A02E-3C5E-9A36-B0AE-085E7655C5EE}"/>
              </a:ext>
            </a:extLst>
          </p:cNvPr>
          <p:cNvSpPr>
            <a:spLocks noGrp="1"/>
          </p:cNvSpPr>
          <p:nvPr>
            <p:ph type="title"/>
          </p:nvPr>
        </p:nvSpPr>
        <p:spPr>
          <a:xfrm>
            <a:off x="264695" y="365125"/>
            <a:ext cx="11089105" cy="1325563"/>
          </a:xfrm>
        </p:spPr>
        <p:txBody>
          <a:bodyPr>
            <a:normAutofit fontScale="90000"/>
          </a:bodyPr>
          <a:lstStyle/>
          <a:p>
            <a:r>
              <a:rPr lang="en-US" dirty="0"/>
              <a:t>6 Right click in project window, </a:t>
            </a:r>
            <a:br>
              <a:rPr lang="en-US" dirty="0"/>
            </a:br>
            <a:r>
              <a:rPr lang="en-US" dirty="0"/>
              <a:t>	Create-&gt;Shader Graph-&gt;URP-&gt;Lit Shader Graph</a:t>
            </a:r>
            <a:endParaRPr lang="en-BE" dirty="0"/>
          </a:p>
        </p:txBody>
      </p:sp>
      <p:pic>
        <p:nvPicPr>
          <p:cNvPr id="6" name="Picture 5">
            <a:extLst>
              <a:ext uri="{FF2B5EF4-FFF2-40B4-BE49-F238E27FC236}">
                <a16:creationId xmlns:a16="http://schemas.microsoft.com/office/drawing/2014/main" id="{80BDFFA1-EB9A-6330-EFFA-B34E7E69C11A}"/>
              </a:ext>
            </a:extLst>
          </p:cNvPr>
          <p:cNvPicPr>
            <a:picLocks noChangeAspect="1"/>
          </p:cNvPicPr>
          <p:nvPr/>
        </p:nvPicPr>
        <p:blipFill>
          <a:blip r:embed="rId3"/>
          <a:stretch>
            <a:fillRect/>
          </a:stretch>
        </p:blipFill>
        <p:spPr>
          <a:xfrm>
            <a:off x="1529509" y="1876926"/>
            <a:ext cx="7009882" cy="4981074"/>
          </a:xfrm>
          <a:prstGeom prst="rect">
            <a:avLst/>
          </a:prstGeom>
        </p:spPr>
      </p:pic>
    </p:spTree>
    <p:extLst>
      <p:ext uri="{BB962C8B-B14F-4D97-AF65-F5344CB8AC3E}">
        <p14:creationId xmlns:p14="http://schemas.microsoft.com/office/powerpoint/2010/main" val="2449426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D8B0F-CA88-F34D-26C5-857F2F859846}"/>
              </a:ext>
            </a:extLst>
          </p:cNvPr>
          <p:cNvSpPr>
            <a:spLocks noGrp="1"/>
          </p:cNvSpPr>
          <p:nvPr>
            <p:ph type="title"/>
          </p:nvPr>
        </p:nvSpPr>
        <p:spPr>
          <a:xfrm>
            <a:off x="60157" y="365125"/>
            <a:ext cx="11742821" cy="1325563"/>
          </a:xfrm>
        </p:spPr>
        <p:txBody>
          <a:bodyPr/>
          <a:lstStyle/>
          <a:p>
            <a:r>
              <a:rPr lang="en-US" dirty="0"/>
              <a:t>7 Click the box next to “Base Color”, and pick blue </a:t>
            </a:r>
            <a:endParaRPr lang="en-BE" dirty="0"/>
          </a:p>
        </p:txBody>
      </p:sp>
      <p:pic>
        <p:nvPicPr>
          <p:cNvPr id="4" name="Picture 3">
            <a:extLst>
              <a:ext uri="{FF2B5EF4-FFF2-40B4-BE49-F238E27FC236}">
                <a16:creationId xmlns:a16="http://schemas.microsoft.com/office/drawing/2014/main" id="{E3BA3696-A9FE-3EF7-45FA-B5850FC6FF98}"/>
              </a:ext>
            </a:extLst>
          </p:cNvPr>
          <p:cNvPicPr>
            <a:picLocks noChangeAspect="1"/>
          </p:cNvPicPr>
          <p:nvPr/>
        </p:nvPicPr>
        <p:blipFill>
          <a:blip r:embed="rId3"/>
          <a:stretch>
            <a:fillRect/>
          </a:stretch>
        </p:blipFill>
        <p:spPr>
          <a:xfrm>
            <a:off x="605861" y="2003257"/>
            <a:ext cx="3009479" cy="4704347"/>
          </a:xfrm>
          <a:prstGeom prst="rect">
            <a:avLst/>
          </a:prstGeom>
        </p:spPr>
      </p:pic>
      <p:pic>
        <p:nvPicPr>
          <p:cNvPr id="6" name="Picture 5">
            <a:extLst>
              <a:ext uri="{FF2B5EF4-FFF2-40B4-BE49-F238E27FC236}">
                <a16:creationId xmlns:a16="http://schemas.microsoft.com/office/drawing/2014/main" id="{B2F966EE-ACDE-B89A-F681-E37D3E9EC339}"/>
              </a:ext>
            </a:extLst>
          </p:cNvPr>
          <p:cNvPicPr>
            <a:picLocks noChangeAspect="1"/>
          </p:cNvPicPr>
          <p:nvPr/>
        </p:nvPicPr>
        <p:blipFill>
          <a:blip r:embed="rId4"/>
          <a:stretch>
            <a:fillRect/>
          </a:stretch>
        </p:blipFill>
        <p:spPr>
          <a:xfrm>
            <a:off x="4407350" y="1991597"/>
            <a:ext cx="2109170" cy="4501278"/>
          </a:xfrm>
          <a:prstGeom prst="rect">
            <a:avLst/>
          </a:prstGeom>
        </p:spPr>
      </p:pic>
    </p:spTree>
    <p:extLst>
      <p:ext uri="{BB962C8B-B14F-4D97-AF65-F5344CB8AC3E}">
        <p14:creationId xmlns:p14="http://schemas.microsoft.com/office/powerpoint/2010/main" val="1887395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2D78E-44E4-662F-82AA-973BC968B8EA}"/>
              </a:ext>
            </a:extLst>
          </p:cNvPr>
          <p:cNvSpPr>
            <a:spLocks noGrp="1"/>
          </p:cNvSpPr>
          <p:nvPr>
            <p:ph type="title"/>
          </p:nvPr>
        </p:nvSpPr>
        <p:spPr>
          <a:xfrm>
            <a:off x="300789" y="365125"/>
            <a:ext cx="11827043" cy="1325563"/>
          </a:xfrm>
        </p:spPr>
        <p:txBody>
          <a:bodyPr>
            <a:normAutofit fontScale="90000"/>
          </a:bodyPr>
          <a:lstStyle/>
          <a:p>
            <a:r>
              <a:rPr lang="en-US" dirty="0"/>
              <a:t>8 Go back to scene view. Click arrow next to </a:t>
            </a:r>
            <a:br>
              <a:rPr lang="en-US" dirty="0"/>
            </a:br>
            <a:r>
              <a:rPr lang="en-US" dirty="0"/>
              <a:t>	graph, and drag that (material) on the scene sphere</a:t>
            </a:r>
            <a:endParaRPr lang="en-BE" dirty="0"/>
          </a:p>
        </p:txBody>
      </p:sp>
      <p:pic>
        <p:nvPicPr>
          <p:cNvPr id="4" name="Picture 3">
            <a:extLst>
              <a:ext uri="{FF2B5EF4-FFF2-40B4-BE49-F238E27FC236}">
                <a16:creationId xmlns:a16="http://schemas.microsoft.com/office/drawing/2014/main" id="{D7CDD521-E588-13CF-51CB-9F80275EF1DA}"/>
              </a:ext>
            </a:extLst>
          </p:cNvPr>
          <p:cNvPicPr>
            <a:picLocks noChangeAspect="1"/>
          </p:cNvPicPr>
          <p:nvPr/>
        </p:nvPicPr>
        <p:blipFill>
          <a:blip r:embed="rId3"/>
          <a:stretch>
            <a:fillRect/>
          </a:stretch>
        </p:blipFill>
        <p:spPr>
          <a:xfrm>
            <a:off x="475432" y="1902409"/>
            <a:ext cx="5823099" cy="1547913"/>
          </a:xfrm>
          <a:prstGeom prst="rect">
            <a:avLst/>
          </a:prstGeom>
        </p:spPr>
      </p:pic>
      <p:pic>
        <p:nvPicPr>
          <p:cNvPr id="6" name="Picture 5">
            <a:extLst>
              <a:ext uri="{FF2B5EF4-FFF2-40B4-BE49-F238E27FC236}">
                <a16:creationId xmlns:a16="http://schemas.microsoft.com/office/drawing/2014/main" id="{A1CB8AEF-0B1A-090A-D3AA-9C461DD122BC}"/>
              </a:ext>
            </a:extLst>
          </p:cNvPr>
          <p:cNvPicPr>
            <a:picLocks noChangeAspect="1"/>
          </p:cNvPicPr>
          <p:nvPr/>
        </p:nvPicPr>
        <p:blipFill>
          <a:blip r:embed="rId4"/>
          <a:stretch>
            <a:fillRect/>
          </a:stretch>
        </p:blipFill>
        <p:spPr>
          <a:xfrm>
            <a:off x="475432" y="3635239"/>
            <a:ext cx="2523093" cy="2573056"/>
          </a:xfrm>
          <a:prstGeom prst="rect">
            <a:avLst/>
          </a:prstGeom>
        </p:spPr>
      </p:pic>
      <p:pic>
        <p:nvPicPr>
          <p:cNvPr id="8" name="Picture 7">
            <a:extLst>
              <a:ext uri="{FF2B5EF4-FFF2-40B4-BE49-F238E27FC236}">
                <a16:creationId xmlns:a16="http://schemas.microsoft.com/office/drawing/2014/main" id="{8AA9603C-3FDC-89B2-A6F4-1455C4E028A7}"/>
              </a:ext>
            </a:extLst>
          </p:cNvPr>
          <p:cNvPicPr>
            <a:picLocks noChangeAspect="1"/>
          </p:cNvPicPr>
          <p:nvPr/>
        </p:nvPicPr>
        <p:blipFill>
          <a:blip r:embed="rId5"/>
          <a:stretch>
            <a:fillRect/>
          </a:stretch>
        </p:blipFill>
        <p:spPr>
          <a:xfrm>
            <a:off x="7257861" y="2196497"/>
            <a:ext cx="2705478" cy="3848637"/>
          </a:xfrm>
          <a:prstGeom prst="rect">
            <a:avLst/>
          </a:prstGeom>
        </p:spPr>
      </p:pic>
      <p:cxnSp>
        <p:nvCxnSpPr>
          <p:cNvPr id="10" name="Straight Arrow Connector 9">
            <a:extLst>
              <a:ext uri="{FF2B5EF4-FFF2-40B4-BE49-F238E27FC236}">
                <a16:creationId xmlns:a16="http://schemas.microsoft.com/office/drawing/2014/main" id="{CB9D0976-5A0A-67D5-C962-717F727CE2F8}"/>
              </a:ext>
            </a:extLst>
          </p:cNvPr>
          <p:cNvCxnSpPr/>
          <p:nvPr/>
        </p:nvCxnSpPr>
        <p:spPr>
          <a:xfrm flipV="1">
            <a:off x="8542421" y="3429000"/>
            <a:ext cx="715879" cy="2027321"/>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4331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48E92-E2D7-7B5B-F8FF-5BD6C372CBDD}"/>
              </a:ext>
            </a:extLst>
          </p:cNvPr>
          <p:cNvSpPr>
            <a:spLocks noGrp="1"/>
          </p:cNvSpPr>
          <p:nvPr>
            <p:ph type="title"/>
          </p:nvPr>
        </p:nvSpPr>
        <p:spPr/>
        <p:txBody>
          <a:bodyPr/>
          <a:lstStyle/>
          <a:p>
            <a:r>
              <a:rPr lang="en-US" dirty="0"/>
              <a:t>9 Victory?</a:t>
            </a:r>
            <a:endParaRPr lang="en-BE" dirty="0"/>
          </a:p>
        </p:txBody>
      </p:sp>
      <p:pic>
        <p:nvPicPr>
          <p:cNvPr id="4" name="Picture 3" descr="A collage of a person holding a white board&#10;&#10;Description automatically generated">
            <a:extLst>
              <a:ext uri="{FF2B5EF4-FFF2-40B4-BE49-F238E27FC236}">
                <a16:creationId xmlns:a16="http://schemas.microsoft.com/office/drawing/2014/main" id="{0B775CF1-354A-F3A2-855E-81F59DCA6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3945" y="2216150"/>
            <a:ext cx="6667500" cy="4276725"/>
          </a:xfrm>
          <a:prstGeom prst="rect">
            <a:avLst/>
          </a:prstGeom>
        </p:spPr>
      </p:pic>
      <p:sp>
        <p:nvSpPr>
          <p:cNvPr id="5" name="Oval 4">
            <a:extLst>
              <a:ext uri="{FF2B5EF4-FFF2-40B4-BE49-F238E27FC236}">
                <a16:creationId xmlns:a16="http://schemas.microsoft.com/office/drawing/2014/main" id="{F0522B26-8A2C-0679-E2C8-E39DC0F1CBCD}"/>
              </a:ext>
            </a:extLst>
          </p:cNvPr>
          <p:cNvSpPr/>
          <p:nvPr/>
        </p:nvSpPr>
        <p:spPr>
          <a:xfrm>
            <a:off x="3791953" y="2893594"/>
            <a:ext cx="1221203" cy="1221203"/>
          </a:xfrm>
          <a:prstGeom prst="ellipse">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7" name="Picture 6" descr="A black and white logo&#10;&#10;Description automatically generated">
            <a:extLst>
              <a:ext uri="{FF2B5EF4-FFF2-40B4-BE49-F238E27FC236}">
                <a16:creationId xmlns:a16="http://schemas.microsoft.com/office/drawing/2014/main" id="{46F41102-21DC-A814-7719-51DA39E693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8846" y="3308685"/>
            <a:ext cx="1184007" cy="657782"/>
          </a:xfrm>
          <a:prstGeom prst="rect">
            <a:avLst/>
          </a:prstGeom>
        </p:spPr>
      </p:pic>
      <p:pic>
        <p:nvPicPr>
          <p:cNvPr id="9" name="Picture 8">
            <a:extLst>
              <a:ext uri="{FF2B5EF4-FFF2-40B4-BE49-F238E27FC236}">
                <a16:creationId xmlns:a16="http://schemas.microsoft.com/office/drawing/2014/main" id="{0D854946-D960-967D-A3F5-094D597AC50E}"/>
              </a:ext>
            </a:extLst>
          </p:cNvPr>
          <p:cNvPicPr>
            <a:picLocks noChangeAspect="1"/>
          </p:cNvPicPr>
          <p:nvPr/>
        </p:nvPicPr>
        <p:blipFill>
          <a:blip r:embed="rId5"/>
          <a:stretch>
            <a:fillRect/>
          </a:stretch>
        </p:blipFill>
        <p:spPr>
          <a:xfrm>
            <a:off x="3874136" y="5209673"/>
            <a:ext cx="1056836" cy="1044154"/>
          </a:xfrm>
          <a:prstGeom prst="rect">
            <a:avLst/>
          </a:prstGeom>
        </p:spPr>
      </p:pic>
      <p:pic>
        <p:nvPicPr>
          <p:cNvPr id="11" name="Picture 10">
            <a:extLst>
              <a:ext uri="{FF2B5EF4-FFF2-40B4-BE49-F238E27FC236}">
                <a16:creationId xmlns:a16="http://schemas.microsoft.com/office/drawing/2014/main" id="{308E200B-1473-7896-798D-7A6A6499CFF1}"/>
              </a:ext>
            </a:extLst>
          </p:cNvPr>
          <p:cNvPicPr>
            <a:picLocks noChangeAspect="1"/>
          </p:cNvPicPr>
          <p:nvPr/>
        </p:nvPicPr>
        <p:blipFill>
          <a:blip r:embed="rId5"/>
          <a:stretch>
            <a:fillRect/>
          </a:stretch>
        </p:blipFill>
        <p:spPr>
          <a:xfrm>
            <a:off x="7119387" y="4966538"/>
            <a:ext cx="1302924" cy="1287289"/>
          </a:xfrm>
          <a:prstGeom prst="rect">
            <a:avLst/>
          </a:prstGeom>
        </p:spPr>
      </p:pic>
    </p:spTree>
    <p:extLst>
      <p:ext uri="{BB962C8B-B14F-4D97-AF65-F5344CB8AC3E}">
        <p14:creationId xmlns:p14="http://schemas.microsoft.com/office/powerpoint/2010/main" val="34337741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DF0CE-6F3F-7241-DB26-F9F818FF266C}"/>
              </a:ext>
            </a:extLst>
          </p:cNvPr>
          <p:cNvSpPr>
            <a:spLocks noGrp="1"/>
          </p:cNvSpPr>
          <p:nvPr>
            <p:ph type="title"/>
          </p:nvPr>
        </p:nvSpPr>
        <p:spPr/>
        <p:txBody>
          <a:bodyPr/>
          <a:lstStyle/>
          <a:p>
            <a:r>
              <a:rPr lang="en-US" dirty="0"/>
              <a:t>What is the difference between these two?</a:t>
            </a:r>
            <a:endParaRPr lang="en-BE" dirty="0"/>
          </a:p>
        </p:txBody>
      </p:sp>
      <p:pic>
        <p:nvPicPr>
          <p:cNvPr id="4" name="Picture 3">
            <a:extLst>
              <a:ext uri="{FF2B5EF4-FFF2-40B4-BE49-F238E27FC236}">
                <a16:creationId xmlns:a16="http://schemas.microsoft.com/office/drawing/2014/main" id="{14177C40-EFF4-1B64-6264-CB77EA152459}"/>
              </a:ext>
            </a:extLst>
          </p:cNvPr>
          <p:cNvPicPr>
            <a:picLocks noChangeAspect="1"/>
          </p:cNvPicPr>
          <p:nvPr/>
        </p:nvPicPr>
        <p:blipFill>
          <a:blip r:embed="rId3"/>
          <a:stretch>
            <a:fillRect/>
          </a:stretch>
        </p:blipFill>
        <p:spPr>
          <a:xfrm>
            <a:off x="6553536" y="2805950"/>
            <a:ext cx="2381582" cy="2353003"/>
          </a:xfrm>
          <a:prstGeom prst="rect">
            <a:avLst/>
          </a:prstGeom>
        </p:spPr>
      </p:pic>
      <p:sp>
        <p:nvSpPr>
          <p:cNvPr id="5" name="Oval 4">
            <a:extLst>
              <a:ext uri="{FF2B5EF4-FFF2-40B4-BE49-F238E27FC236}">
                <a16:creationId xmlns:a16="http://schemas.microsoft.com/office/drawing/2014/main" id="{5AFBF7AE-0C58-62C9-C529-30E16E68437B}"/>
              </a:ext>
            </a:extLst>
          </p:cNvPr>
          <p:cNvSpPr/>
          <p:nvPr/>
        </p:nvSpPr>
        <p:spPr>
          <a:xfrm>
            <a:off x="1410371" y="3033962"/>
            <a:ext cx="1953126" cy="1953126"/>
          </a:xfrm>
          <a:prstGeom prst="ellipse">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6699930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00834-CC51-3820-E58A-1467DE4480EB}"/>
              </a:ext>
            </a:extLst>
          </p:cNvPr>
          <p:cNvSpPr>
            <a:spLocks noGrp="1"/>
          </p:cNvSpPr>
          <p:nvPr>
            <p:ph type="title"/>
          </p:nvPr>
        </p:nvSpPr>
        <p:spPr/>
        <p:txBody>
          <a:bodyPr/>
          <a:lstStyle/>
          <a:p>
            <a:r>
              <a:rPr lang="en-US" dirty="0"/>
              <a:t>This is a sphere that is pure blue</a:t>
            </a:r>
            <a:endParaRPr lang="en-BE" dirty="0"/>
          </a:p>
        </p:txBody>
      </p:sp>
      <p:sp>
        <p:nvSpPr>
          <p:cNvPr id="3" name="Oval 2">
            <a:extLst>
              <a:ext uri="{FF2B5EF4-FFF2-40B4-BE49-F238E27FC236}">
                <a16:creationId xmlns:a16="http://schemas.microsoft.com/office/drawing/2014/main" id="{54F4AC38-2B8B-BA0C-0F39-1C0F86C77FA9}"/>
              </a:ext>
            </a:extLst>
          </p:cNvPr>
          <p:cNvSpPr/>
          <p:nvPr/>
        </p:nvSpPr>
        <p:spPr>
          <a:xfrm>
            <a:off x="3166311" y="2330114"/>
            <a:ext cx="3769894" cy="3769894"/>
          </a:xfrm>
          <a:prstGeom prst="ellipse">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33344101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E991A-21C3-9201-1C8B-84C55F7405EE}"/>
              </a:ext>
            </a:extLst>
          </p:cNvPr>
          <p:cNvSpPr>
            <a:spLocks noGrp="1"/>
          </p:cNvSpPr>
          <p:nvPr>
            <p:ph type="title"/>
          </p:nvPr>
        </p:nvSpPr>
        <p:spPr/>
        <p:txBody>
          <a:bodyPr/>
          <a:lstStyle/>
          <a:p>
            <a:r>
              <a:rPr lang="en-US" dirty="0"/>
              <a:t>This is a blue sphere, lit by a light</a:t>
            </a:r>
            <a:endParaRPr lang="en-BE" dirty="0"/>
          </a:p>
        </p:txBody>
      </p:sp>
      <p:pic>
        <p:nvPicPr>
          <p:cNvPr id="3" name="Picture 2">
            <a:extLst>
              <a:ext uri="{FF2B5EF4-FFF2-40B4-BE49-F238E27FC236}">
                <a16:creationId xmlns:a16="http://schemas.microsoft.com/office/drawing/2014/main" id="{000DD62A-31A4-7F8C-722F-D87AC87F536B}"/>
              </a:ext>
            </a:extLst>
          </p:cNvPr>
          <p:cNvPicPr>
            <a:picLocks noChangeAspect="1"/>
          </p:cNvPicPr>
          <p:nvPr/>
        </p:nvPicPr>
        <p:blipFill>
          <a:blip r:embed="rId3"/>
          <a:stretch>
            <a:fillRect/>
          </a:stretch>
        </p:blipFill>
        <p:spPr>
          <a:xfrm>
            <a:off x="3237129" y="1944806"/>
            <a:ext cx="4434243" cy="4381032"/>
          </a:xfrm>
          <a:prstGeom prst="rect">
            <a:avLst/>
          </a:prstGeom>
        </p:spPr>
      </p:pic>
    </p:spTree>
    <p:extLst>
      <p:ext uri="{BB962C8B-B14F-4D97-AF65-F5344CB8AC3E}">
        <p14:creationId xmlns:p14="http://schemas.microsoft.com/office/powerpoint/2010/main" val="6459222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A13F-7A26-ACA6-C195-B711C974F9A5}"/>
              </a:ext>
            </a:extLst>
          </p:cNvPr>
          <p:cNvSpPr>
            <a:spLocks noGrp="1"/>
          </p:cNvSpPr>
          <p:nvPr>
            <p:ph type="title"/>
          </p:nvPr>
        </p:nvSpPr>
        <p:spPr/>
        <p:txBody>
          <a:bodyPr/>
          <a:lstStyle/>
          <a:p>
            <a:r>
              <a:rPr lang="en-US" dirty="0"/>
              <a:t>We are going to learn how to make the lit one</a:t>
            </a:r>
            <a:endParaRPr lang="en-BE" dirty="0"/>
          </a:p>
        </p:txBody>
      </p:sp>
      <p:sp>
        <p:nvSpPr>
          <p:cNvPr id="3" name="TextBox 2">
            <a:extLst>
              <a:ext uri="{FF2B5EF4-FFF2-40B4-BE49-F238E27FC236}">
                <a16:creationId xmlns:a16="http://schemas.microsoft.com/office/drawing/2014/main" id="{33D6B68F-3B95-C296-66CD-7498BD04A7FF}"/>
              </a:ext>
            </a:extLst>
          </p:cNvPr>
          <p:cNvSpPr txBox="1"/>
          <p:nvPr/>
        </p:nvSpPr>
        <p:spPr>
          <a:xfrm>
            <a:off x="1179095" y="2219826"/>
            <a:ext cx="10020179"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By ourself</a:t>
            </a:r>
          </a:p>
          <a:p>
            <a:pPr marL="285750" indent="-285750">
              <a:buFont typeface="Arial" panose="020B0604020202020204" pitchFamily="34" charset="0"/>
              <a:buChar char="•"/>
            </a:pPr>
            <a:r>
              <a:rPr lang="en-US" sz="2800" dirty="0"/>
              <a:t>This is an example of Unity being helpful (we don’t need to know)</a:t>
            </a:r>
          </a:p>
          <a:p>
            <a:pPr marL="285750" indent="-285750">
              <a:buFont typeface="Arial" panose="020B0604020202020204" pitchFamily="34" charset="0"/>
              <a:buChar char="•"/>
            </a:pPr>
            <a:r>
              <a:rPr lang="en-US" sz="2800" dirty="0"/>
              <a:t>But it’s unhelpful (we want to learn how it to do it)</a:t>
            </a:r>
            <a:endParaRPr lang="en-BE" sz="2800" dirty="0"/>
          </a:p>
        </p:txBody>
      </p:sp>
    </p:spTree>
    <p:extLst>
      <p:ext uri="{BB962C8B-B14F-4D97-AF65-F5344CB8AC3E}">
        <p14:creationId xmlns:p14="http://schemas.microsoft.com/office/powerpoint/2010/main" val="21397695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A112-32FC-2AC3-9B15-067335AA92B9}"/>
              </a:ext>
            </a:extLst>
          </p:cNvPr>
          <p:cNvSpPr>
            <a:spLocks noGrp="1"/>
          </p:cNvSpPr>
          <p:nvPr>
            <p:ph type="title"/>
          </p:nvPr>
        </p:nvSpPr>
        <p:spPr>
          <a:xfrm>
            <a:off x="144379" y="365125"/>
            <a:ext cx="11209421" cy="1325563"/>
          </a:xfrm>
        </p:spPr>
        <p:txBody>
          <a:bodyPr>
            <a:normAutofit fontScale="90000"/>
          </a:bodyPr>
          <a:lstStyle/>
          <a:p>
            <a:r>
              <a:rPr lang="en-US" dirty="0"/>
              <a:t>10 Right click in project window, </a:t>
            </a:r>
            <a:br>
              <a:rPr lang="en-US" dirty="0"/>
            </a:br>
            <a:r>
              <a:rPr lang="en-US" dirty="0"/>
              <a:t>	Create-&gt;Shader Graph-&gt;URP-&gt;Unlit Shader Graph </a:t>
            </a:r>
            <a:endParaRPr lang="en-BE" dirty="0"/>
          </a:p>
        </p:txBody>
      </p:sp>
      <p:pic>
        <p:nvPicPr>
          <p:cNvPr id="4" name="Picture 3">
            <a:extLst>
              <a:ext uri="{FF2B5EF4-FFF2-40B4-BE49-F238E27FC236}">
                <a16:creationId xmlns:a16="http://schemas.microsoft.com/office/drawing/2014/main" id="{08042411-E09B-ACBE-C635-33AB8C1B88A0}"/>
              </a:ext>
            </a:extLst>
          </p:cNvPr>
          <p:cNvPicPr>
            <a:picLocks noChangeAspect="1"/>
          </p:cNvPicPr>
          <p:nvPr/>
        </p:nvPicPr>
        <p:blipFill>
          <a:blip r:embed="rId3"/>
          <a:stretch>
            <a:fillRect/>
          </a:stretch>
        </p:blipFill>
        <p:spPr>
          <a:xfrm>
            <a:off x="637142" y="1756611"/>
            <a:ext cx="4908913" cy="4975058"/>
          </a:xfrm>
          <a:prstGeom prst="rect">
            <a:avLst/>
          </a:prstGeom>
        </p:spPr>
      </p:pic>
      <p:pic>
        <p:nvPicPr>
          <p:cNvPr id="6" name="Picture 5">
            <a:extLst>
              <a:ext uri="{FF2B5EF4-FFF2-40B4-BE49-F238E27FC236}">
                <a16:creationId xmlns:a16="http://schemas.microsoft.com/office/drawing/2014/main" id="{263AEBFF-35A6-229C-7912-F57E1993FB60}"/>
              </a:ext>
            </a:extLst>
          </p:cNvPr>
          <p:cNvPicPr>
            <a:picLocks noChangeAspect="1"/>
          </p:cNvPicPr>
          <p:nvPr/>
        </p:nvPicPr>
        <p:blipFill>
          <a:blip r:embed="rId4"/>
          <a:stretch>
            <a:fillRect/>
          </a:stretch>
        </p:blipFill>
        <p:spPr>
          <a:xfrm>
            <a:off x="5996612" y="1672031"/>
            <a:ext cx="5420481" cy="5144218"/>
          </a:xfrm>
          <a:prstGeom prst="rect">
            <a:avLst/>
          </a:prstGeom>
        </p:spPr>
      </p:pic>
    </p:spTree>
    <p:extLst>
      <p:ext uri="{BB962C8B-B14F-4D97-AF65-F5344CB8AC3E}">
        <p14:creationId xmlns:p14="http://schemas.microsoft.com/office/powerpoint/2010/main" val="29819191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1CE13-019F-8ECF-DE27-6055F9BB7A65}"/>
              </a:ext>
            </a:extLst>
          </p:cNvPr>
          <p:cNvSpPr>
            <a:spLocks noGrp="1"/>
          </p:cNvSpPr>
          <p:nvPr>
            <p:ph type="title"/>
          </p:nvPr>
        </p:nvSpPr>
        <p:spPr>
          <a:xfrm>
            <a:off x="96253" y="365125"/>
            <a:ext cx="11604455" cy="1325563"/>
          </a:xfrm>
        </p:spPr>
        <p:txBody>
          <a:bodyPr/>
          <a:lstStyle/>
          <a:p>
            <a:r>
              <a:rPr lang="en-US" dirty="0"/>
              <a:t>11 Set base color to blue, SAVE, apply the material</a:t>
            </a:r>
            <a:endParaRPr lang="en-BE" dirty="0"/>
          </a:p>
        </p:txBody>
      </p:sp>
      <p:pic>
        <p:nvPicPr>
          <p:cNvPr id="4" name="Picture 3">
            <a:extLst>
              <a:ext uri="{FF2B5EF4-FFF2-40B4-BE49-F238E27FC236}">
                <a16:creationId xmlns:a16="http://schemas.microsoft.com/office/drawing/2014/main" id="{39759038-46D1-2792-8884-4BC096AC1837}"/>
              </a:ext>
            </a:extLst>
          </p:cNvPr>
          <p:cNvPicPr>
            <a:picLocks noChangeAspect="1"/>
          </p:cNvPicPr>
          <p:nvPr/>
        </p:nvPicPr>
        <p:blipFill>
          <a:blip r:embed="rId3"/>
          <a:stretch>
            <a:fillRect/>
          </a:stretch>
        </p:blipFill>
        <p:spPr>
          <a:xfrm>
            <a:off x="0" y="1540042"/>
            <a:ext cx="5946131" cy="5317958"/>
          </a:xfrm>
          <a:prstGeom prst="rect">
            <a:avLst/>
          </a:prstGeom>
        </p:spPr>
      </p:pic>
      <p:cxnSp>
        <p:nvCxnSpPr>
          <p:cNvPr id="6" name="Straight Arrow Connector 5">
            <a:extLst>
              <a:ext uri="{FF2B5EF4-FFF2-40B4-BE49-F238E27FC236}">
                <a16:creationId xmlns:a16="http://schemas.microsoft.com/office/drawing/2014/main" id="{0324A0AB-0F49-9BD1-5766-2140863F5893}"/>
              </a:ext>
            </a:extLst>
          </p:cNvPr>
          <p:cNvCxnSpPr/>
          <p:nvPr/>
        </p:nvCxnSpPr>
        <p:spPr>
          <a:xfrm flipV="1">
            <a:off x="3820026" y="5095374"/>
            <a:ext cx="0" cy="1467852"/>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F7A2D58-0BF2-0D27-822C-0E74E9896FAC}"/>
              </a:ext>
            </a:extLst>
          </p:cNvPr>
          <p:cNvPicPr>
            <a:picLocks noChangeAspect="1"/>
          </p:cNvPicPr>
          <p:nvPr/>
        </p:nvPicPr>
        <p:blipFill>
          <a:blip r:embed="rId4"/>
          <a:stretch>
            <a:fillRect/>
          </a:stretch>
        </p:blipFill>
        <p:spPr>
          <a:xfrm>
            <a:off x="7168711" y="1888958"/>
            <a:ext cx="2993196" cy="4969042"/>
          </a:xfrm>
          <a:prstGeom prst="rect">
            <a:avLst/>
          </a:prstGeom>
        </p:spPr>
      </p:pic>
      <p:cxnSp>
        <p:nvCxnSpPr>
          <p:cNvPr id="12" name="Straight Arrow Connector 11">
            <a:extLst>
              <a:ext uri="{FF2B5EF4-FFF2-40B4-BE49-F238E27FC236}">
                <a16:creationId xmlns:a16="http://schemas.microsoft.com/office/drawing/2014/main" id="{E4EE8B46-59AB-07DC-3005-77ABF4DDF1AD}"/>
              </a:ext>
            </a:extLst>
          </p:cNvPr>
          <p:cNvCxnSpPr/>
          <p:nvPr/>
        </p:nvCxnSpPr>
        <p:spPr>
          <a:xfrm flipV="1">
            <a:off x="8434137" y="4193005"/>
            <a:ext cx="427121" cy="1876927"/>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38463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0F3C7-E397-661F-419C-C2FCA72237F4}"/>
              </a:ext>
            </a:extLst>
          </p:cNvPr>
          <p:cNvSpPr>
            <a:spLocks noGrp="1"/>
          </p:cNvSpPr>
          <p:nvPr>
            <p:ph type="title"/>
          </p:nvPr>
        </p:nvSpPr>
        <p:spPr/>
        <p:txBody>
          <a:bodyPr/>
          <a:lstStyle/>
          <a:p>
            <a:r>
              <a:rPr lang="en-US" dirty="0"/>
              <a:t>12 Check your results in Scene View</a:t>
            </a:r>
            <a:endParaRPr lang="en-BE" dirty="0"/>
          </a:p>
        </p:txBody>
      </p:sp>
      <p:pic>
        <p:nvPicPr>
          <p:cNvPr id="4" name="Picture 3">
            <a:extLst>
              <a:ext uri="{FF2B5EF4-FFF2-40B4-BE49-F238E27FC236}">
                <a16:creationId xmlns:a16="http://schemas.microsoft.com/office/drawing/2014/main" id="{B8C2BAE4-EFDF-4C6E-B9F5-D408085367BE}"/>
              </a:ext>
            </a:extLst>
          </p:cNvPr>
          <p:cNvPicPr>
            <a:picLocks noChangeAspect="1"/>
          </p:cNvPicPr>
          <p:nvPr/>
        </p:nvPicPr>
        <p:blipFill>
          <a:blip r:embed="rId3"/>
          <a:stretch>
            <a:fillRect/>
          </a:stretch>
        </p:blipFill>
        <p:spPr>
          <a:xfrm>
            <a:off x="577008" y="1893187"/>
            <a:ext cx="3686689" cy="4058216"/>
          </a:xfrm>
          <a:prstGeom prst="rect">
            <a:avLst/>
          </a:prstGeom>
        </p:spPr>
      </p:pic>
      <p:pic>
        <p:nvPicPr>
          <p:cNvPr id="6" name="Picture 5" descr="A blue drawing of a person with his hands on his face&#10;&#10;Description automatically generated">
            <a:extLst>
              <a:ext uri="{FF2B5EF4-FFF2-40B4-BE49-F238E27FC236}">
                <a16:creationId xmlns:a16="http://schemas.microsoft.com/office/drawing/2014/main" id="{DD166E63-1358-641B-630E-A792922A40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537" y="1395174"/>
            <a:ext cx="7470530" cy="5462825"/>
          </a:xfrm>
          <a:prstGeom prst="rect">
            <a:avLst/>
          </a:prstGeom>
        </p:spPr>
      </p:pic>
    </p:spTree>
    <p:extLst>
      <p:ext uri="{BB962C8B-B14F-4D97-AF65-F5344CB8AC3E}">
        <p14:creationId xmlns:p14="http://schemas.microsoft.com/office/powerpoint/2010/main" val="18089075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F26E3-AAB6-F9C8-AE90-54125049B8AD}"/>
              </a:ext>
            </a:extLst>
          </p:cNvPr>
          <p:cNvSpPr>
            <a:spLocks noGrp="1"/>
          </p:cNvSpPr>
          <p:nvPr>
            <p:ph type="title"/>
          </p:nvPr>
        </p:nvSpPr>
        <p:spPr>
          <a:xfrm>
            <a:off x="735842" y="208176"/>
            <a:ext cx="10515600" cy="1325563"/>
          </a:xfrm>
        </p:spPr>
        <p:txBody>
          <a:bodyPr/>
          <a:lstStyle/>
          <a:p>
            <a:r>
              <a:rPr lang="en-US" dirty="0"/>
              <a:t>13 Start adding nodes to your graph</a:t>
            </a:r>
            <a:br>
              <a:rPr lang="en-US" dirty="0"/>
            </a:br>
            <a:r>
              <a:rPr lang="en-US" dirty="0"/>
              <a:t>	On graph: right click, create node</a:t>
            </a:r>
            <a:endParaRPr lang="en-BE" dirty="0"/>
          </a:p>
        </p:txBody>
      </p:sp>
      <p:sp>
        <p:nvSpPr>
          <p:cNvPr id="5" name="TextBox 4">
            <a:extLst>
              <a:ext uri="{FF2B5EF4-FFF2-40B4-BE49-F238E27FC236}">
                <a16:creationId xmlns:a16="http://schemas.microsoft.com/office/drawing/2014/main" id="{1DD1067F-2CCF-8604-041D-151836AC8BD2}"/>
              </a:ext>
            </a:extLst>
          </p:cNvPr>
          <p:cNvSpPr txBox="1"/>
          <p:nvPr/>
        </p:nvSpPr>
        <p:spPr>
          <a:xfrm>
            <a:off x="266132" y="1573428"/>
            <a:ext cx="9662614" cy="1200329"/>
          </a:xfrm>
          <a:prstGeom prst="rect">
            <a:avLst/>
          </a:prstGeom>
          <a:noFill/>
        </p:spPr>
        <p:txBody>
          <a:bodyPr wrap="square" rtlCol="0">
            <a:spAutoFit/>
          </a:bodyPr>
          <a:lstStyle/>
          <a:p>
            <a:pPr marL="342900" indent="-342900">
              <a:buFont typeface="+mj-lt"/>
              <a:buAutoNum type="arabicPeriod"/>
            </a:pPr>
            <a:r>
              <a:rPr lang="en-US" sz="2400" dirty="0"/>
              <a:t>Create a </a:t>
            </a:r>
            <a:r>
              <a:rPr lang="en-US" sz="2400" b="1" dirty="0"/>
              <a:t>Saturate</a:t>
            </a:r>
            <a:r>
              <a:rPr lang="en-US" sz="2400" dirty="0"/>
              <a:t> node, connect its output to </a:t>
            </a:r>
            <a:r>
              <a:rPr lang="en-US" sz="2400" b="1" dirty="0"/>
              <a:t>Base Color</a:t>
            </a:r>
            <a:r>
              <a:rPr lang="en-US" sz="2400" dirty="0"/>
              <a:t>’s input</a:t>
            </a:r>
          </a:p>
          <a:p>
            <a:pPr marL="342900" indent="-342900">
              <a:buFont typeface="+mj-lt"/>
              <a:buAutoNum type="arabicPeriod"/>
            </a:pPr>
            <a:r>
              <a:rPr lang="en-US" sz="2400" dirty="0"/>
              <a:t>Create a </a:t>
            </a:r>
            <a:r>
              <a:rPr lang="en-US" sz="2400" b="1" dirty="0"/>
              <a:t>Dot Product</a:t>
            </a:r>
            <a:r>
              <a:rPr lang="en-US" sz="2400" dirty="0"/>
              <a:t> node, connect its output to </a:t>
            </a:r>
            <a:r>
              <a:rPr lang="en-US" sz="2400" b="1" dirty="0" err="1"/>
              <a:t>Saturate</a:t>
            </a:r>
            <a:r>
              <a:rPr lang="en-US" sz="2400" dirty="0" err="1"/>
              <a:t>’s</a:t>
            </a:r>
            <a:r>
              <a:rPr lang="en-US" sz="2400" dirty="0"/>
              <a:t> input</a:t>
            </a:r>
          </a:p>
          <a:p>
            <a:pPr marL="342900" indent="-342900">
              <a:buFont typeface="+mj-lt"/>
              <a:buAutoNum type="arabicPeriod"/>
            </a:pPr>
            <a:r>
              <a:rPr lang="en-US" sz="2400" dirty="0"/>
              <a:t>Create a </a:t>
            </a:r>
            <a:r>
              <a:rPr lang="en-US" sz="2400" b="1" dirty="0"/>
              <a:t>Normal Vector </a:t>
            </a:r>
            <a:r>
              <a:rPr lang="en-US" sz="2400" dirty="0"/>
              <a:t>node, connect it’s </a:t>
            </a:r>
            <a:r>
              <a:rPr lang="en-US" sz="2400" dirty="0" err="1"/>
              <a:t>ouptup</a:t>
            </a:r>
            <a:r>
              <a:rPr lang="en-US" sz="2400" dirty="0"/>
              <a:t> to </a:t>
            </a:r>
            <a:r>
              <a:rPr lang="en-US" sz="2400" b="1" dirty="0"/>
              <a:t>Dot Product</a:t>
            </a:r>
            <a:r>
              <a:rPr lang="en-US" sz="2400" dirty="0"/>
              <a:t>’s input</a:t>
            </a:r>
            <a:endParaRPr lang="en-BE" sz="2400" dirty="0"/>
          </a:p>
        </p:txBody>
      </p:sp>
      <p:pic>
        <p:nvPicPr>
          <p:cNvPr id="7" name="Picture 6">
            <a:extLst>
              <a:ext uri="{FF2B5EF4-FFF2-40B4-BE49-F238E27FC236}">
                <a16:creationId xmlns:a16="http://schemas.microsoft.com/office/drawing/2014/main" id="{618A85B2-3FCD-B005-1F72-98214CEAD0CB}"/>
              </a:ext>
            </a:extLst>
          </p:cNvPr>
          <p:cNvPicPr>
            <a:picLocks noChangeAspect="1"/>
          </p:cNvPicPr>
          <p:nvPr/>
        </p:nvPicPr>
        <p:blipFill>
          <a:blip r:embed="rId3"/>
          <a:stretch>
            <a:fillRect/>
          </a:stretch>
        </p:blipFill>
        <p:spPr>
          <a:xfrm>
            <a:off x="0" y="2870446"/>
            <a:ext cx="12192000" cy="4052812"/>
          </a:xfrm>
          <a:prstGeom prst="rect">
            <a:avLst/>
          </a:prstGeom>
        </p:spPr>
      </p:pic>
    </p:spTree>
    <p:extLst>
      <p:ext uri="{BB962C8B-B14F-4D97-AF65-F5344CB8AC3E}">
        <p14:creationId xmlns:p14="http://schemas.microsoft.com/office/powerpoint/2010/main" val="37664063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5BE5F3-B5C4-90D5-91C9-125C8D2FAF60}"/>
              </a:ext>
            </a:extLst>
          </p:cNvPr>
          <p:cNvPicPr>
            <a:picLocks noChangeAspect="1"/>
          </p:cNvPicPr>
          <p:nvPr/>
        </p:nvPicPr>
        <p:blipFill>
          <a:blip r:embed="rId3"/>
          <a:stretch>
            <a:fillRect/>
          </a:stretch>
        </p:blipFill>
        <p:spPr>
          <a:xfrm>
            <a:off x="5993642" y="1454166"/>
            <a:ext cx="6215358" cy="5260156"/>
          </a:xfrm>
          <a:prstGeom prst="rect">
            <a:avLst/>
          </a:prstGeom>
        </p:spPr>
      </p:pic>
      <p:sp>
        <p:nvSpPr>
          <p:cNvPr id="2" name="Title 1">
            <a:extLst>
              <a:ext uri="{FF2B5EF4-FFF2-40B4-BE49-F238E27FC236}">
                <a16:creationId xmlns:a16="http://schemas.microsoft.com/office/drawing/2014/main" id="{838F26E3-AAB6-F9C8-AE90-54125049B8AD}"/>
              </a:ext>
            </a:extLst>
          </p:cNvPr>
          <p:cNvSpPr>
            <a:spLocks noGrp="1"/>
          </p:cNvSpPr>
          <p:nvPr>
            <p:ph type="title"/>
          </p:nvPr>
        </p:nvSpPr>
        <p:spPr>
          <a:xfrm>
            <a:off x="735842" y="208176"/>
            <a:ext cx="10515600" cy="1325563"/>
          </a:xfrm>
        </p:spPr>
        <p:txBody>
          <a:bodyPr/>
          <a:lstStyle/>
          <a:p>
            <a:r>
              <a:rPr lang="en-US" dirty="0"/>
              <a:t>14 Continue adding nodes to your graph</a:t>
            </a:r>
            <a:endParaRPr lang="en-BE" dirty="0"/>
          </a:p>
        </p:txBody>
      </p:sp>
      <p:sp>
        <p:nvSpPr>
          <p:cNvPr id="5" name="TextBox 4">
            <a:extLst>
              <a:ext uri="{FF2B5EF4-FFF2-40B4-BE49-F238E27FC236}">
                <a16:creationId xmlns:a16="http://schemas.microsoft.com/office/drawing/2014/main" id="{1DD1067F-2CCF-8604-041D-151836AC8BD2}"/>
              </a:ext>
            </a:extLst>
          </p:cNvPr>
          <p:cNvSpPr txBox="1"/>
          <p:nvPr/>
        </p:nvSpPr>
        <p:spPr>
          <a:xfrm>
            <a:off x="266132" y="1573428"/>
            <a:ext cx="9662614" cy="1569660"/>
          </a:xfrm>
          <a:prstGeom prst="rect">
            <a:avLst/>
          </a:prstGeom>
          <a:noFill/>
        </p:spPr>
        <p:txBody>
          <a:bodyPr wrap="square" rtlCol="0">
            <a:spAutoFit/>
          </a:bodyPr>
          <a:lstStyle/>
          <a:p>
            <a:pPr marL="342900" indent="-342900">
              <a:buFont typeface="+mj-lt"/>
              <a:buAutoNum type="arabicPeriod"/>
            </a:pPr>
            <a:r>
              <a:rPr lang="en-US" sz="2400" dirty="0"/>
              <a:t>Create a </a:t>
            </a:r>
            <a:r>
              <a:rPr lang="en-US" sz="2400" b="1" dirty="0"/>
              <a:t>Negate</a:t>
            </a:r>
            <a:r>
              <a:rPr lang="en-US" sz="2400" dirty="0"/>
              <a:t> node</a:t>
            </a:r>
          </a:p>
          <a:p>
            <a:pPr marL="342900" indent="-342900">
              <a:buFont typeface="+mj-lt"/>
              <a:buAutoNum type="arabicPeriod"/>
            </a:pPr>
            <a:r>
              <a:rPr lang="en-US" sz="2400" dirty="0"/>
              <a:t>Connect it to </a:t>
            </a:r>
            <a:r>
              <a:rPr lang="en-US" sz="2400" b="1" dirty="0"/>
              <a:t>Dot Product</a:t>
            </a:r>
            <a:r>
              <a:rPr lang="en-US" sz="2400" dirty="0"/>
              <a:t>’s free input</a:t>
            </a:r>
          </a:p>
          <a:p>
            <a:pPr marL="342900" indent="-342900">
              <a:buFont typeface="+mj-lt"/>
              <a:buAutoNum type="arabicPeriod"/>
            </a:pPr>
            <a:r>
              <a:rPr lang="en-US" sz="2400" dirty="0"/>
              <a:t>Create a </a:t>
            </a:r>
            <a:r>
              <a:rPr lang="en-US" sz="2400" b="1" dirty="0"/>
              <a:t>Main Light Direction </a:t>
            </a:r>
            <a:r>
              <a:rPr lang="en-US" sz="2400" dirty="0"/>
              <a:t>node</a:t>
            </a:r>
          </a:p>
          <a:p>
            <a:pPr marL="342900" indent="-342900">
              <a:buFont typeface="+mj-lt"/>
              <a:buAutoNum type="arabicPeriod"/>
            </a:pPr>
            <a:r>
              <a:rPr lang="en-US" sz="2400" dirty="0"/>
              <a:t>Connect it to </a:t>
            </a:r>
            <a:r>
              <a:rPr lang="en-US" sz="2400" b="1" dirty="0" err="1"/>
              <a:t>Negate</a:t>
            </a:r>
            <a:r>
              <a:rPr lang="en-US" sz="2400" dirty="0" err="1"/>
              <a:t>’s</a:t>
            </a:r>
            <a:r>
              <a:rPr lang="en-US" sz="2400" dirty="0"/>
              <a:t> input</a:t>
            </a:r>
            <a:endParaRPr lang="en-BE" sz="2400" dirty="0"/>
          </a:p>
        </p:txBody>
      </p:sp>
    </p:spTree>
    <p:extLst>
      <p:ext uri="{BB962C8B-B14F-4D97-AF65-F5344CB8AC3E}">
        <p14:creationId xmlns:p14="http://schemas.microsoft.com/office/powerpoint/2010/main" val="41478101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0E631-7824-D5EE-2DCA-469F528A5C47}"/>
              </a:ext>
            </a:extLst>
          </p:cNvPr>
          <p:cNvSpPr>
            <a:spLocks noGrp="1"/>
          </p:cNvSpPr>
          <p:nvPr>
            <p:ph type="title"/>
          </p:nvPr>
        </p:nvSpPr>
        <p:spPr/>
        <p:txBody>
          <a:bodyPr/>
          <a:lstStyle/>
          <a:p>
            <a:r>
              <a:rPr lang="en-US" dirty="0"/>
              <a:t>15 Save your graph and check your results </a:t>
            </a:r>
            <a:endParaRPr lang="en-BE" dirty="0"/>
          </a:p>
        </p:txBody>
      </p:sp>
      <p:pic>
        <p:nvPicPr>
          <p:cNvPr id="4" name="Picture 3">
            <a:extLst>
              <a:ext uri="{FF2B5EF4-FFF2-40B4-BE49-F238E27FC236}">
                <a16:creationId xmlns:a16="http://schemas.microsoft.com/office/drawing/2014/main" id="{6B0AB646-5865-2D52-EF1E-C1D9B1D443A9}"/>
              </a:ext>
            </a:extLst>
          </p:cNvPr>
          <p:cNvPicPr>
            <a:picLocks noChangeAspect="1"/>
          </p:cNvPicPr>
          <p:nvPr/>
        </p:nvPicPr>
        <p:blipFill>
          <a:blip r:embed="rId3"/>
          <a:stretch>
            <a:fillRect/>
          </a:stretch>
        </p:blipFill>
        <p:spPr>
          <a:xfrm>
            <a:off x="4448176" y="2351209"/>
            <a:ext cx="3572374" cy="3057952"/>
          </a:xfrm>
          <a:prstGeom prst="rect">
            <a:avLst/>
          </a:prstGeom>
        </p:spPr>
      </p:pic>
    </p:spTree>
    <p:extLst>
      <p:ext uri="{BB962C8B-B14F-4D97-AF65-F5344CB8AC3E}">
        <p14:creationId xmlns:p14="http://schemas.microsoft.com/office/powerpoint/2010/main" val="8601301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4F9EE-4D13-3571-8668-CB6CB9A96253}"/>
              </a:ext>
            </a:extLst>
          </p:cNvPr>
          <p:cNvSpPr>
            <a:spLocks noGrp="1"/>
          </p:cNvSpPr>
          <p:nvPr>
            <p:ph type="title"/>
          </p:nvPr>
        </p:nvSpPr>
        <p:spPr/>
        <p:txBody>
          <a:bodyPr/>
          <a:lstStyle/>
          <a:p>
            <a:r>
              <a:rPr lang="en-US" dirty="0"/>
              <a:t>This looks very interesting!</a:t>
            </a:r>
            <a:endParaRPr lang="en-BE" dirty="0"/>
          </a:p>
        </p:txBody>
      </p:sp>
      <p:pic>
        <p:nvPicPr>
          <p:cNvPr id="4" name="Picture 3">
            <a:extLst>
              <a:ext uri="{FF2B5EF4-FFF2-40B4-BE49-F238E27FC236}">
                <a16:creationId xmlns:a16="http://schemas.microsoft.com/office/drawing/2014/main" id="{28B1A39D-EF20-2579-BF50-41935D779AB9}"/>
              </a:ext>
            </a:extLst>
          </p:cNvPr>
          <p:cNvPicPr>
            <a:picLocks noChangeAspect="1"/>
          </p:cNvPicPr>
          <p:nvPr/>
        </p:nvPicPr>
        <p:blipFill>
          <a:blip r:embed="rId3"/>
          <a:stretch>
            <a:fillRect/>
          </a:stretch>
        </p:blipFill>
        <p:spPr>
          <a:xfrm>
            <a:off x="6372154" y="1876212"/>
            <a:ext cx="5819846" cy="4981788"/>
          </a:xfrm>
          <a:prstGeom prst="rect">
            <a:avLst/>
          </a:prstGeom>
        </p:spPr>
      </p:pic>
      <p:sp>
        <p:nvSpPr>
          <p:cNvPr id="5" name="TextBox 4">
            <a:extLst>
              <a:ext uri="{FF2B5EF4-FFF2-40B4-BE49-F238E27FC236}">
                <a16:creationId xmlns:a16="http://schemas.microsoft.com/office/drawing/2014/main" id="{DE28006C-EB38-5F9C-803D-4D78FAE2C900}"/>
              </a:ext>
            </a:extLst>
          </p:cNvPr>
          <p:cNvSpPr txBox="1"/>
          <p:nvPr/>
        </p:nvSpPr>
        <p:spPr>
          <a:xfrm>
            <a:off x="0" y="1690688"/>
            <a:ext cx="6040628" cy="707886"/>
          </a:xfrm>
          <a:prstGeom prst="rect">
            <a:avLst/>
          </a:prstGeom>
          <a:noFill/>
        </p:spPr>
        <p:txBody>
          <a:bodyPr wrap="none" rtlCol="0">
            <a:spAutoFit/>
          </a:bodyPr>
          <a:lstStyle/>
          <a:p>
            <a:r>
              <a:rPr lang="en-US" sz="2000" dirty="0"/>
              <a:t>Does this look like something you know?</a:t>
            </a:r>
          </a:p>
          <a:p>
            <a:r>
              <a:rPr lang="en-US" sz="2000" dirty="0"/>
              <a:t>If you think your answer is ridiculous, it might be correct</a:t>
            </a:r>
            <a:endParaRPr lang="en-BE" sz="2000" dirty="0"/>
          </a:p>
        </p:txBody>
      </p:sp>
    </p:spTree>
    <p:extLst>
      <p:ext uri="{BB962C8B-B14F-4D97-AF65-F5344CB8AC3E}">
        <p14:creationId xmlns:p14="http://schemas.microsoft.com/office/powerpoint/2010/main" val="15335574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4F9EE-4D13-3571-8668-CB6CB9A96253}"/>
              </a:ext>
            </a:extLst>
          </p:cNvPr>
          <p:cNvSpPr>
            <a:spLocks noGrp="1"/>
          </p:cNvSpPr>
          <p:nvPr>
            <p:ph type="title"/>
          </p:nvPr>
        </p:nvSpPr>
        <p:spPr/>
        <p:txBody>
          <a:bodyPr/>
          <a:lstStyle/>
          <a:p>
            <a:r>
              <a:rPr lang="en-US" dirty="0"/>
              <a:t>This looks very interesting! (not a joke)</a:t>
            </a:r>
            <a:endParaRPr lang="en-BE" dirty="0"/>
          </a:p>
        </p:txBody>
      </p:sp>
      <p:pic>
        <p:nvPicPr>
          <p:cNvPr id="4" name="Picture 3">
            <a:extLst>
              <a:ext uri="{FF2B5EF4-FFF2-40B4-BE49-F238E27FC236}">
                <a16:creationId xmlns:a16="http://schemas.microsoft.com/office/drawing/2014/main" id="{28B1A39D-EF20-2579-BF50-41935D779AB9}"/>
              </a:ext>
            </a:extLst>
          </p:cNvPr>
          <p:cNvPicPr>
            <a:picLocks noChangeAspect="1"/>
          </p:cNvPicPr>
          <p:nvPr/>
        </p:nvPicPr>
        <p:blipFill>
          <a:blip r:embed="rId3"/>
          <a:stretch>
            <a:fillRect/>
          </a:stretch>
        </p:blipFill>
        <p:spPr>
          <a:xfrm>
            <a:off x="417597" y="1780925"/>
            <a:ext cx="5819846" cy="4981788"/>
          </a:xfrm>
          <a:prstGeom prst="rect">
            <a:avLst/>
          </a:prstGeom>
        </p:spPr>
      </p:pic>
      <p:pic>
        <p:nvPicPr>
          <p:cNvPr id="5" name="Picture 4" descr="A close-up of the moon&#10;&#10;Description automatically generated">
            <a:extLst>
              <a:ext uri="{FF2B5EF4-FFF2-40B4-BE49-F238E27FC236}">
                <a16:creationId xmlns:a16="http://schemas.microsoft.com/office/drawing/2014/main" id="{CC37E32A-72E0-2B08-8119-AC2E12465F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0" y="2333587"/>
            <a:ext cx="5905500" cy="4429125"/>
          </a:xfrm>
          <a:prstGeom prst="rect">
            <a:avLst/>
          </a:prstGeom>
        </p:spPr>
      </p:pic>
    </p:spTree>
    <p:extLst>
      <p:ext uri="{BB962C8B-B14F-4D97-AF65-F5344CB8AC3E}">
        <p14:creationId xmlns:p14="http://schemas.microsoft.com/office/powerpoint/2010/main" val="25225535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E2E24-F969-02F5-50E2-9CA99D89ECE1}"/>
              </a:ext>
            </a:extLst>
          </p:cNvPr>
          <p:cNvSpPr>
            <a:spLocks noGrp="1"/>
          </p:cNvSpPr>
          <p:nvPr>
            <p:ph type="title"/>
          </p:nvPr>
        </p:nvSpPr>
        <p:spPr/>
        <p:txBody>
          <a:bodyPr/>
          <a:lstStyle/>
          <a:p>
            <a:r>
              <a:rPr lang="en-US" dirty="0"/>
              <a:t>We have just implemented diffuse lighting</a:t>
            </a:r>
            <a:endParaRPr lang="en-BE" dirty="0"/>
          </a:p>
        </p:txBody>
      </p:sp>
      <p:sp>
        <p:nvSpPr>
          <p:cNvPr id="3" name="TextBox 2">
            <a:extLst>
              <a:ext uri="{FF2B5EF4-FFF2-40B4-BE49-F238E27FC236}">
                <a16:creationId xmlns:a16="http://schemas.microsoft.com/office/drawing/2014/main" id="{795B037A-1058-FCDA-E548-285D3221FDCD}"/>
              </a:ext>
            </a:extLst>
          </p:cNvPr>
          <p:cNvSpPr txBox="1"/>
          <p:nvPr/>
        </p:nvSpPr>
        <p:spPr>
          <a:xfrm>
            <a:off x="469232" y="1858879"/>
            <a:ext cx="10840452"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Diffuse lighting dominates on rough materials : unglazed pottery, dusty surfaces</a:t>
            </a:r>
          </a:p>
          <a:p>
            <a:pPr marL="285750" indent="-285750">
              <a:buFont typeface="Arial" panose="020B0604020202020204" pitchFamily="34" charset="0"/>
              <a:buChar char="•"/>
            </a:pPr>
            <a:r>
              <a:rPr lang="en-US" sz="2800" dirty="0"/>
              <a:t>It’s color and intensity is independent of the angle you look at it from </a:t>
            </a:r>
          </a:p>
          <a:p>
            <a:pPr marL="285750" indent="-285750">
              <a:buFont typeface="Arial" panose="020B0604020202020204" pitchFamily="34" charset="0"/>
              <a:buChar char="•"/>
            </a:pPr>
            <a:r>
              <a:rPr lang="en-US" sz="2800" dirty="0"/>
              <a:t>You can check by moving your head</a:t>
            </a:r>
          </a:p>
          <a:p>
            <a:pPr marL="285750" indent="-285750">
              <a:buFont typeface="Arial" panose="020B0604020202020204" pitchFamily="34" charset="0"/>
              <a:buChar char="•"/>
            </a:pPr>
            <a:r>
              <a:rPr lang="en-US" sz="2800" dirty="0"/>
              <a:t>Any other examples of diffuse materials?</a:t>
            </a:r>
            <a:endParaRPr lang="en-BE" sz="2800" dirty="0"/>
          </a:p>
        </p:txBody>
      </p:sp>
    </p:spTree>
    <p:extLst>
      <p:ext uri="{BB962C8B-B14F-4D97-AF65-F5344CB8AC3E}">
        <p14:creationId xmlns:p14="http://schemas.microsoft.com/office/powerpoint/2010/main" val="19344750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1B11-9B59-DC2E-1FE0-FE2D300A4909}"/>
              </a:ext>
            </a:extLst>
          </p:cNvPr>
          <p:cNvSpPr>
            <a:spLocks noGrp="1"/>
          </p:cNvSpPr>
          <p:nvPr>
            <p:ph type="title"/>
          </p:nvPr>
        </p:nvSpPr>
        <p:spPr/>
        <p:txBody>
          <a:bodyPr/>
          <a:lstStyle/>
          <a:p>
            <a:r>
              <a:rPr lang="en-US" dirty="0"/>
              <a:t>We used 3 concept to implement it </a:t>
            </a:r>
            <a:endParaRPr lang="en-BE" dirty="0"/>
          </a:p>
        </p:txBody>
      </p:sp>
      <p:sp>
        <p:nvSpPr>
          <p:cNvPr id="3" name="TextBox 2">
            <a:extLst>
              <a:ext uri="{FF2B5EF4-FFF2-40B4-BE49-F238E27FC236}">
                <a16:creationId xmlns:a16="http://schemas.microsoft.com/office/drawing/2014/main" id="{714BFD3F-89F4-1404-ECFB-C857F85D4186}"/>
              </a:ext>
            </a:extLst>
          </p:cNvPr>
          <p:cNvSpPr txBox="1"/>
          <p:nvPr/>
        </p:nvSpPr>
        <p:spPr>
          <a:xfrm>
            <a:off x="933061" y="1604865"/>
            <a:ext cx="3074368" cy="1200329"/>
          </a:xfrm>
          <a:prstGeom prst="rect">
            <a:avLst/>
          </a:prstGeom>
          <a:noFill/>
        </p:spPr>
        <p:txBody>
          <a:bodyPr wrap="none" rtlCol="0">
            <a:spAutoFit/>
          </a:bodyPr>
          <a:lstStyle/>
          <a:p>
            <a:pPr marL="342900" indent="-342900">
              <a:buFont typeface="+mj-lt"/>
              <a:buAutoNum type="arabicPeriod"/>
            </a:pPr>
            <a:r>
              <a:rPr lang="en-US" sz="2400" dirty="0"/>
              <a:t>The normal, N</a:t>
            </a:r>
          </a:p>
          <a:p>
            <a:pPr marL="342900" indent="-342900">
              <a:buFont typeface="+mj-lt"/>
              <a:buAutoNum type="arabicPeriod"/>
            </a:pPr>
            <a:r>
              <a:rPr lang="en-US" sz="2400" dirty="0"/>
              <a:t>The light direction, L</a:t>
            </a:r>
          </a:p>
          <a:p>
            <a:pPr marL="342900" indent="-342900">
              <a:buFont typeface="+mj-lt"/>
              <a:buAutoNum type="arabicPeriod"/>
            </a:pPr>
            <a:r>
              <a:rPr lang="en-US" sz="2400" dirty="0"/>
              <a:t>The dot product</a:t>
            </a:r>
            <a:endParaRPr lang="en-BE" sz="2400" dirty="0"/>
          </a:p>
        </p:txBody>
      </p:sp>
      <p:pic>
        <p:nvPicPr>
          <p:cNvPr id="4" name="Picture 3">
            <a:extLst>
              <a:ext uri="{FF2B5EF4-FFF2-40B4-BE49-F238E27FC236}">
                <a16:creationId xmlns:a16="http://schemas.microsoft.com/office/drawing/2014/main" id="{561020A5-2528-2ADB-A3D5-CDE188C2F6B6}"/>
              </a:ext>
            </a:extLst>
          </p:cNvPr>
          <p:cNvPicPr>
            <a:picLocks noChangeAspect="1"/>
          </p:cNvPicPr>
          <p:nvPr/>
        </p:nvPicPr>
        <p:blipFill>
          <a:blip r:embed="rId3"/>
          <a:stretch>
            <a:fillRect/>
          </a:stretch>
        </p:blipFill>
        <p:spPr>
          <a:xfrm>
            <a:off x="4448176" y="2351209"/>
            <a:ext cx="3572374" cy="3057952"/>
          </a:xfrm>
          <a:prstGeom prst="rect">
            <a:avLst/>
          </a:prstGeom>
        </p:spPr>
      </p:pic>
    </p:spTree>
    <p:extLst>
      <p:ext uri="{BB962C8B-B14F-4D97-AF65-F5344CB8AC3E}">
        <p14:creationId xmlns:p14="http://schemas.microsoft.com/office/powerpoint/2010/main" val="20557530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7D4C3-9CE8-A329-0F6D-FCC1C4A2A6BF}"/>
              </a:ext>
            </a:extLst>
          </p:cNvPr>
          <p:cNvSpPr>
            <a:spLocks noGrp="1"/>
          </p:cNvSpPr>
          <p:nvPr>
            <p:ph type="title"/>
          </p:nvPr>
        </p:nvSpPr>
        <p:spPr/>
        <p:txBody>
          <a:bodyPr/>
          <a:lstStyle/>
          <a:p>
            <a:r>
              <a:rPr lang="en-US" dirty="0"/>
              <a:t>1 N is the vector perpendicular to the surface</a:t>
            </a:r>
            <a:endParaRPr lang="en-BE" dirty="0"/>
          </a:p>
        </p:txBody>
      </p:sp>
      <p:sp>
        <p:nvSpPr>
          <p:cNvPr id="3" name="Oval 2">
            <a:extLst>
              <a:ext uri="{FF2B5EF4-FFF2-40B4-BE49-F238E27FC236}">
                <a16:creationId xmlns:a16="http://schemas.microsoft.com/office/drawing/2014/main" id="{27562C8F-36B5-F8C8-B142-6AF6EC8BCDB8}"/>
              </a:ext>
            </a:extLst>
          </p:cNvPr>
          <p:cNvSpPr/>
          <p:nvPr/>
        </p:nvSpPr>
        <p:spPr>
          <a:xfrm>
            <a:off x="926840" y="2544146"/>
            <a:ext cx="3116425" cy="3116425"/>
          </a:xfrm>
          <a:prstGeom prst="ellipse">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 name="Straight Connector 4">
            <a:extLst>
              <a:ext uri="{FF2B5EF4-FFF2-40B4-BE49-F238E27FC236}">
                <a16:creationId xmlns:a16="http://schemas.microsoft.com/office/drawing/2014/main" id="{249D360C-AF9B-F7A7-8375-B8F35274C8B0}"/>
              </a:ext>
            </a:extLst>
          </p:cNvPr>
          <p:cNvCxnSpPr/>
          <p:nvPr/>
        </p:nvCxnSpPr>
        <p:spPr>
          <a:xfrm>
            <a:off x="7644882" y="4920343"/>
            <a:ext cx="3570514" cy="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CA88518-0973-9C58-B1FA-5A06913EF333}"/>
              </a:ext>
            </a:extLst>
          </p:cNvPr>
          <p:cNvSpPr/>
          <p:nvPr/>
        </p:nvSpPr>
        <p:spPr>
          <a:xfrm>
            <a:off x="2065175" y="2388635"/>
            <a:ext cx="746449" cy="311021"/>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8" name="Straight Arrow Connector 7">
            <a:extLst>
              <a:ext uri="{FF2B5EF4-FFF2-40B4-BE49-F238E27FC236}">
                <a16:creationId xmlns:a16="http://schemas.microsoft.com/office/drawing/2014/main" id="{87A883C6-E881-96FF-3F90-CFACD5F15DC5}"/>
              </a:ext>
            </a:extLst>
          </p:cNvPr>
          <p:cNvCxnSpPr/>
          <p:nvPr/>
        </p:nvCxnSpPr>
        <p:spPr>
          <a:xfrm>
            <a:off x="2973355" y="2401078"/>
            <a:ext cx="4267200" cy="20776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942E79F-CF6D-1B45-BD88-5F63C8F17246}"/>
              </a:ext>
            </a:extLst>
          </p:cNvPr>
          <p:cNvCxnSpPr/>
          <p:nvPr/>
        </p:nvCxnSpPr>
        <p:spPr>
          <a:xfrm flipV="1">
            <a:off x="9591869" y="2544145"/>
            <a:ext cx="0" cy="233265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2CBEC31-009F-E78C-5702-AC535CB6712C}"/>
              </a:ext>
            </a:extLst>
          </p:cNvPr>
          <p:cNvSpPr txBox="1"/>
          <p:nvPr/>
        </p:nvSpPr>
        <p:spPr>
          <a:xfrm>
            <a:off x="9915331" y="3813110"/>
            <a:ext cx="417102" cy="523220"/>
          </a:xfrm>
          <a:prstGeom prst="rect">
            <a:avLst/>
          </a:prstGeom>
          <a:noFill/>
        </p:spPr>
        <p:txBody>
          <a:bodyPr wrap="none" rtlCol="0">
            <a:spAutoFit/>
          </a:bodyPr>
          <a:lstStyle/>
          <a:p>
            <a:r>
              <a:rPr lang="en-US" sz="2800" dirty="0"/>
              <a:t>N</a:t>
            </a:r>
            <a:endParaRPr lang="en-BE" sz="2800" dirty="0"/>
          </a:p>
        </p:txBody>
      </p:sp>
    </p:spTree>
    <p:extLst>
      <p:ext uri="{BB962C8B-B14F-4D97-AF65-F5344CB8AC3E}">
        <p14:creationId xmlns:p14="http://schemas.microsoft.com/office/powerpoint/2010/main" val="2790289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E000-A26E-6FB8-5E7D-6E5E987B26F1}"/>
              </a:ext>
            </a:extLst>
          </p:cNvPr>
          <p:cNvSpPr>
            <a:spLocks noGrp="1"/>
          </p:cNvSpPr>
          <p:nvPr>
            <p:ph type="title"/>
          </p:nvPr>
        </p:nvSpPr>
        <p:spPr/>
        <p:txBody>
          <a:bodyPr/>
          <a:lstStyle/>
          <a:p>
            <a:r>
              <a:rPr lang="en-US" dirty="0"/>
              <a:t>1 N is the vector perpendicular to the surface</a:t>
            </a:r>
            <a:endParaRPr lang="en-BE" dirty="0"/>
          </a:p>
        </p:txBody>
      </p:sp>
      <p:sp>
        <p:nvSpPr>
          <p:cNvPr id="5" name="Oval 4">
            <a:extLst>
              <a:ext uri="{FF2B5EF4-FFF2-40B4-BE49-F238E27FC236}">
                <a16:creationId xmlns:a16="http://schemas.microsoft.com/office/drawing/2014/main" id="{B8B1BAE2-5E40-1E20-0F32-F4CFC24E1F6A}"/>
              </a:ext>
            </a:extLst>
          </p:cNvPr>
          <p:cNvSpPr/>
          <p:nvPr/>
        </p:nvSpPr>
        <p:spPr>
          <a:xfrm>
            <a:off x="2351313" y="2967134"/>
            <a:ext cx="3116425" cy="3116425"/>
          </a:xfrm>
          <a:prstGeom prst="ellipse">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7" name="Straight Arrow Connector 6">
            <a:extLst>
              <a:ext uri="{FF2B5EF4-FFF2-40B4-BE49-F238E27FC236}">
                <a16:creationId xmlns:a16="http://schemas.microsoft.com/office/drawing/2014/main" id="{59F5130E-3CAB-4B9E-C471-9557DFA80C20}"/>
              </a:ext>
            </a:extLst>
          </p:cNvPr>
          <p:cNvCxnSpPr>
            <a:stCxn id="5" idx="0"/>
          </p:cNvCxnSpPr>
          <p:nvPr/>
        </p:nvCxnSpPr>
        <p:spPr>
          <a:xfrm flipH="1" flipV="1">
            <a:off x="3909525" y="2065176"/>
            <a:ext cx="1" cy="90195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B9ECA0F-B674-73AC-3692-2D6B5A63FB8A}"/>
              </a:ext>
            </a:extLst>
          </p:cNvPr>
          <p:cNvCxnSpPr>
            <a:cxnSpLocks/>
          </p:cNvCxnSpPr>
          <p:nvPr/>
        </p:nvCxnSpPr>
        <p:spPr>
          <a:xfrm flipV="1">
            <a:off x="5467738" y="4211216"/>
            <a:ext cx="895740" cy="5909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2F83515-FF8A-F280-C603-70D0FFA87D92}"/>
              </a:ext>
            </a:extLst>
          </p:cNvPr>
          <p:cNvCxnSpPr>
            <a:cxnSpLocks/>
          </p:cNvCxnSpPr>
          <p:nvPr/>
        </p:nvCxnSpPr>
        <p:spPr>
          <a:xfrm flipH="1">
            <a:off x="1897224" y="5427304"/>
            <a:ext cx="727788" cy="59405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38831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B036F-6516-61F3-CE3B-308E8A46E399}"/>
              </a:ext>
            </a:extLst>
          </p:cNvPr>
          <p:cNvSpPr>
            <a:spLocks noGrp="1"/>
          </p:cNvSpPr>
          <p:nvPr>
            <p:ph type="title"/>
          </p:nvPr>
        </p:nvSpPr>
        <p:spPr/>
        <p:txBody>
          <a:bodyPr/>
          <a:lstStyle/>
          <a:p>
            <a:r>
              <a:rPr lang="en-US" dirty="0"/>
              <a:t>1 N is the vector perpendicular to the surface</a:t>
            </a:r>
            <a:endParaRPr lang="en-BE" dirty="0"/>
          </a:p>
        </p:txBody>
      </p:sp>
      <p:pic>
        <p:nvPicPr>
          <p:cNvPr id="6" name="Picture 5" descr="A screenshot of a computer program&#10;&#10;Description automatically generated">
            <a:extLst>
              <a:ext uri="{FF2B5EF4-FFF2-40B4-BE49-F238E27FC236}">
                <a16:creationId xmlns:a16="http://schemas.microsoft.com/office/drawing/2014/main" id="{DCC81F39-28A7-3F76-875D-E76C1365B8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1716" y="1523256"/>
            <a:ext cx="5544324" cy="5334744"/>
          </a:xfrm>
          <a:prstGeom prst="rect">
            <a:avLst/>
          </a:prstGeom>
        </p:spPr>
      </p:pic>
    </p:spTree>
    <p:extLst>
      <p:ext uri="{BB962C8B-B14F-4D97-AF65-F5344CB8AC3E}">
        <p14:creationId xmlns:p14="http://schemas.microsoft.com/office/powerpoint/2010/main" val="38167848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A4F1-824C-C83E-143F-000327138EDA}"/>
              </a:ext>
            </a:extLst>
          </p:cNvPr>
          <p:cNvSpPr>
            <a:spLocks noGrp="1"/>
          </p:cNvSpPr>
          <p:nvPr>
            <p:ph type="title"/>
          </p:nvPr>
        </p:nvSpPr>
        <p:spPr/>
        <p:txBody>
          <a:bodyPr/>
          <a:lstStyle/>
          <a:p>
            <a:r>
              <a:rPr lang="en-US" dirty="0"/>
              <a:t>2 The light direction </a:t>
            </a:r>
            <a:endParaRPr lang="en-BE" dirty="0"/>
          </a:p>
        </p:txBody>
      </p:sp>
      <p:cxnSp>
        <p:nvCxnSpPr>
          <p:cNvPr id="3" name="Straight Connector 2">
            <a:extLst>
              <a:ext uri="{FF2B5EF4-FFF2-40B4-BE49-F238E27FC236}">
                <a16:creationId xmlns:a16="http://schemas.microsoft.com/office/drawing/2014/main" id="{675EDF15-BBAC-8C03-7500-2180C7DA902E}"/>
              </a:ext>
            </a:extLst>
          </p:cNvPr>
          <p:cNvCxnSpPr/>
          <p:nvPr/>
        </p:nvCxnSpPr>
        <p:spPr>
          <a:xfrm>
            <a:off x="5840964" y="5816083"/>
            <a:ext cx="3570514" cy="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2F60F28C-2047-301C-FCD9-6129E8C66190}"/>
              </a:ext>
            </a:extLst>
          </p:cNvPr>
          <p:cNvCxnSpPr/>
          <p:nvPr/>
        </p:nvCxnSpPr>
        <p:spPr>
          <a:xfrm flipV="1">
            <a:off x="7787951" y="3439885"/>
            <a:ext cx="0" cy="233265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21AD014-D3A6-F338-18F7-837B8C6D290D}"/>
              </a:ext>
            </a:extLst>
          </p:cNvPr>
          <p:cNvSpPr txBox="1"/>
          <p:nvPr/>
        </p:nvSpPr>
        <p:spPr>
          <a:xfrm>
            <a:off x="8111413" y="4708850"/>
            <a:ext cx="417102" cy="523220"/>
          </a:xfrm>
          <a:prstGeom prst="rect">
            <a:avLst/>
          </a:prstGeom>
          <a:noFill/>
        </p:spPr>
        <p:txBody>
          <a:bodyPr wrap="none" rtlCol="0">
            <a:spAutoFit/>
          </a:bodyPr>
          <a:lstStyle/>
          <a:p>
            <a:r>
              <a:rPr lang="en-US" sz="2800" dirty="0"/>
              <a:t>N</a:t>
            </a:r>
            <a:endParaRPr lang="en-BE" sz="2800" dirty="0"/>
          </a:p>
        </p:txBody>
      </p:sp>
      <p:pic>
        <p:nvPicPr>
          <p:cNvPr id="12" name="Picture 11" descr="A sun and arrows pointing to the sun&#10;&#10;Description automatically generated">
            <a:extLst>
              <a:ext uri="{FF2B5EF4-FFF2-40B4-BE49-F238E27FC236}">
                <a16:creationId xmlns:a16="http://schemas.microsoft.com/office/drawing/2014/main" id="{B5C38D54-71EE-2123-112E-06ABA0BEF3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6187" y="1481188"/>
            <a:ext cx="3917394" cy="3917394"/>
          </a:xfrm>
          <a:prstGeom prst="rect">
            <a:avLst/>
          </a:prstGeom>
        </p:spPr>
      </p:pic>
    </p:spTree>
    <p:extLst>
      <p:ext uri="{BB962C8B-B14F-4D97-AF65-F5344CB8AC3E}">
        <p14:creationId xmlns:p14="http://schemas.microsoft.com/office/powerpoint/2010/main" val="3524651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75F5A-A7ED-605C-1673-30B073D3D6CD}"/>
              </a:ext>
            </a:extLst>
          </p:cNvPr>
          <p:cNvSpPr>
            <a:spLocks noGrp="1"/>
          </p:cNvSpPr>
          <p:nvPr>
            <p:ph type="title"/>
          </p:nvPr>
        </p:nvSpPr>
        <p:spPr/>
        <p:txBody>
          <a:bodyPr/>
          <a:lstStyle/>
          <a:p>
            <a:r>
              <a:rPr lang="en-US" dirty="0"/>
              <a:t>2 The light direction </a:t>
            </a:r>
            <a:endParaRPr lang="en-BE" dirty="0"/>
          </a:p>
        </p:txBody>
      </p:sp>
      <p:cxnSp>
        <p:nvCxnSpPr>
          <p:cNvPr id="5" name="Straight Connector 4">
            <a:extLst>
              <a:ext uri="{FF2B5EF4-FFF2-40B4-BE49-F238E27FC236}">
                <a16:creationId xmlns:a16="http://schemas.microsoft.com/office/drawing/2014/main" id="{CC3A9B36-4EC2-E24B-7854-311F3E1117D8}"/>
              </a:ext>
            </a:extLst>
          </p:cNvPr>
          <p:cNvCxnSpPr/>
          <p:nvPr/>
        </p:nvCxnSpPr>
        <p:spPr>
          <a:xfrm>
            <a:off x="1399592" y="5393094"/>
            <a:ext cx="3570514" cy="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57FF57C-5D21-8974-60D5-AC2CA1B3E4E2}"/>
              </a:ext>
            </a:extLst>
          </p:cNvPr>
          <p:cNvCxnSpPr/>
          <p:nvPr/>
        </p:nvCxnSpPr>
        <p:spPr>
          <a:xfrm flipV="1">
            <a:off x="3346579" y="3016896"/>
            <a:ext cx="0" cy="233265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8FAF8E4-B916-8F42-2E88-F176FBD820D8}"/>
              </a:ext>
            </a:extLst>
          </p:cNvPr>
          <p:cNvSpPr txBox="1"/>
          <p:nvPr/>
        </p:nvSpPr>
        <p:spPr>
          <a:xfrm>
            <a:off x="3670041" y="4285861"/>
            <a:ext cx="417102" cy="523220"/>
          </a:xfrm>
          <a:prstGeom prst="rect">
            <a:avLst/>
          </a:prstGeom>
          <a:noFill/>
        </p:spPr>
        <p:txBody>
          <a:bodyPr wrap="none" rtlCol="0">
            <a:spAutoFit/>
          </a:bodyPr>
          <a:lstStyle/>
          <a:p>
            <a:r>
              <a:rPr lang="en-US" sz="2800" dirty="0"/>
              <a:t>N</a:t>
            </a:r>
            <a:endParaRPr lang="en-BE" sz="2800" dirty="0"/>
          </a:p>
        </p:txBody>
      </p:sp>
      <p:cxnSp>
        <p:nvCxnSpPr>
          <p:cNvPr id="8" name="Straight Connector 7">
            <a:extLst>
              <a:ext uri="{FF2B5EF4-FFF2-40B4-BE49-F238E27FC236}">
                <a16:creationId xmlns:a16="http://schemas.microsoft.com/office/drawing/2014/main" id="{EDB94146-5FE7-6B42-CBFF-491240B3D927}"/>
              </a:ext>
            </a:extLst>
          </p:cNvPr>
          <p:cNvCxnSpPr/>
          <p:nvPr/>
        </p:nvCxnSpPr>
        <p:spPr>
          <a:xfrm>
            <a:off x="7539135" y="5349551"/>
            <a:ext cx="3570514" cy="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222417D-FE4A-A440-0F0B-C2E6CE30694A}"/>
              </a:ext>
            </a:extLst>
          </p:cNvPr>
          <p:cNvCxnSpPr/>
          <p:nvPr/>
        </p:nvCxnSpPr>
        <p:spPr>
          <a:xfrm flipV="1">
            <a:off x="9486122" y="2973353"/>
            <a:ext cx="0" cy="233265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F01E949-F938-D7E8-018C-77704F608852}"/>
              </a:ext>
            </a:extLst>
          </p:cNvPr>
          <p:cNvSpPr txBox="1"/>
          <p:nvPr/>
        </p:nvSpPr>
        <p:spPr>
          <a:xfrm>
            <a:off x="9809584" y="4242318"/>
            <a:ext cx="417102" cy="523220"/>
          </a:xfrm>
          <a:prstGeom prst="rect">
            <a:avLst/>
          </a:prstGeom>
          <a:noFill/>
        </p:spPr>
        <p:txBody>
          <a:bodyPr wrap="none" rtlCol="0">
            <a:spAutoFit/>
          </a:bodyPr>
          <a:lstStyle/>
          <a:p>
            <a:r>
              <a:rPr lang="en-US" sz="2800" dirty="0"/>
              <a:t>N</a:t>
            </a:r>
            <a:endParaRPr lang="en-BE" sz="2800" dirty="0"/>
          </a:p>
        </p:txBody>
      </p:sp>
      <p:pic>
        <p:nvPicPr>
          <p:cNvPr id="12" name="Picture 11">
            <a:extLst>
              <a:ext uri="{FF2B5EF4-FFF2-40B4-BE49-F238E27FC236}">
                <a16:creationId xmlns:a16="http://schemas.microsoft.com/office/drawing/2014/main" id="{2BD18AE0-7A25-3DCD-4C7E-98F621F06BB3}"/>
              </a:ext>
            </a:extLst>
          </p:cNvPr>
          <p:cNvPicPr>
            <a:picLocks noChangeAspect="1"/>
          </p:cNvPicPr>
          <p:nvPr/>
        </p:nvPicPr>
        <p:blipFill>
          <a:blip r:embed="rId3"/>
          <a:stretch>
            <a:fillRect/>
          </a:stretch>
        </p:blipFill>
        <p:spPr>
          <a:xfrm>
            <a:off x="398922" y="2423195"/>
            <a:ext cx="1503836" cy="1422913"/>
          </a:xfrm>
          <a:prstGeom prst="rect">
            <a:avLst/>
          </a:prstGeom>
        </p:spPr>
      </p:pic>
      <p:pic>
        <p:nvPicPr>
          <p:cNvPr id="14" name="Picture 13">
            <a:extLst>
              <a:ext uri="{FF2B5EF4-FFF2-40B4-BE49-F238E27FC236}">
                <a16:creationId xmlns:a16="http://schemas.microsoft.com/office/drawing/2014/main" id="{DEE8A567-4877-A512-72ED-80CDB584A6A9}"/>
              </a:ext>
            </a:extLst>
          </p:cNvPr>
          <p:cNvPicPr>
            <a:picLocks noChangeAspect="1"/>
          </p:cNvPicPr>
          <p:nvPr/>
        </p:nvPicPr>
        <p:blipFill>
          <a:blip r:embed="rId3"/>
          <a:stretch>
            <a:fillRect/>
          </a:stretch>
        </p:blipFill>
        <p:spPr>
          <a:xfrm>
            <a:off x="5724447" y="2129624"/>
            <a:ext cx="2124371" cy="2010056"/>
          </a:xfrm>
          <a:prstGeom prst="rect">
            <a:avLst/>
          </a:prstGeom>
        </p:spPr>
      </p:pic>
      <p:cxnSp>
        <p:nvCxnSpPr>
          <p:cNvPr id="16" name="Straight Arrow Connector 15">
            <a:extLst>
              <a:ext uri="{FF2B5EF4-FFF2-40B4-BE49-F238E27FC236}">
                <a16:creationId xmlns:a16="http://schemas.microsoft.com/office/drawing/2014/main" id="{6F125C06-B4E2-7FD2-C4C8-427101F703C4}"/>
              </a:ext>
            </a:extLst>
          </p:cNvPr>
          <p:cNvCxnSpPr>
            <a:cxnSpLocks/>
          </p:cNvCxnSpPr>
          <p:nvPr/>
        </p:nvCxnSpPr>
        <p:spPr>
          <a:xfrm>
            <a:off x="1841241" y="3713584"/>
            <a:ext cx="1443135" cy="1592424"/>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EDBFB80-4DE1-E400-18C8-96EC116B7C4B}"/>
              </a:ext>
            </a:extLst>
          </p:cNvPr>
          <p:cNvSpPr txBox="1"/>
          <p:nvPr/>
        </p:nvSpPr>
        <p:spPr>
          <a:xfrm>
            <a:off x="538682" y="4101561"/>
            <a:ext cx="1805174" cy="954107"/>
          </a:xfrm>
          <a:prstGeom prst="rect">
            <a:avLst/>
          </a:prstGeom>
          <a:noFill/>
        </p:spPr>
        <p:txBody>
          <a:bodyPr wrap="none" rtlCol="0">
            <a:spAutoFit/>
          </a:bodyPr>
          <a:lstStyle/>
          <a:p>
            <a:r>
              <a:rPr lang="en-US" sz="2800" dirty="0"/>
              <a:t>Main Light </a:t>
            </a:r>
          </a:p>
          <a:p>
            <a:r>
              <a:rPr lang="en-US" sz="2800" dirty="0"/>
              <a:t>Direction</a:t>
            </a:r>
            <a:endParaRPr lang="en-BE" sz="2800" dirty="0"/>
          </a:p>
        </p:txBody>
      </p:sp>
      <p:cxnSp>
        <p:nvCxnSpPr>
          <p:cNvPr id="19" name="Straight Arrow Connector 18">
            <a:extLst>
              <a:ext uri="{FF2B5EF4-FFF2-40B4-BE49-F238E27FC236}">
                <a16:creationId xmlns:a16="http://schemas.microsoft.com/office/drawing/2014/main" id="{54726924-141E-7A6E-76B2-942CFB4CAADF}"/>
              </a:ext>
            </a:extLst>
          </p:cNvPr>
          <p:cNvCxnSpPr>
            <a:cxnSpLocks/>
          </p:cNvCxnSpPr>
          <p:nvPr/>
        </p:nvCxnSpPr>
        <p:spPr>
          <a:xfrm flipH="1" flipV="1">
            <a:off x="7794171" y="3999722"/>
            <a:ext cx="1691951" cy="1306286"/>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793C443-AC9F-9B43-5B9B-B7CF4186EC3F}"/>
              </a:ext>
            </a:extLst>
          </p:cNvPr>
          <p:cNvSpPr txBox="1"/>
          <p:nvPr/>
        </p:nvSpPr>
        <p:spPr>
          <a:xfrm>
            <a:off x="8326183" y="3956179"/>
            <a:ext cx="335348" cy="523220"/>
          </a:xfrm>
          <a:prstGeom prst="rect">
            <a:avLst/>
          </a:prstGeom>
          <a:noFill/>
        </p:spPr>
        <p:txBody>
          <a:bodyPr wrap="none" rtlCol="0">
            <a:spAutoFit/>
          </a:bodyPr>
          <a:lstStyle/>
          <a:p>
            <a:r>
              <a:rPr lang="en-US" sz="2800" dirty="0"/>
              <a:t>L</a:t>
            </a:r>
            <a:endParaRPr lang="en-BE" sz="2800" dirty="0"/>
          </a:p>
        </p:txBody>
      </p:sp>
    </p:spTree>
    <p:extLst>
      <p:ext uri="{BB962C8B-B14F-4D97-AF65-F5344CB8AC3E}">
        <p14:creationId xmlns:p14="http://schemas.microsoft.com/office/powerpoint/2010/main" val="11531693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8FDF0-D569-2ADC-8F46-16965B7DFC0E}"/>
              </a:ext>
            </a:extLst>
          </p:cNvPr>
          <p:cNvSpPr>
            <a:spLocks noGrp="1"/>
          </p:cNvSpPr>
          <p:nvPr>
            <p:ph type="title"/>
          </p:nvPr>
        </p:nvSpPr>
        <p:spPr/>
        <p:txBody>
          <a:bodyPr/>
          <a:lstStyle/>
          <a:p>
            <a:r>
              <a:rPr lang="en-US" dirty="0"/>
              <a:t>3 The dot product</a:t>
            </a:r>
            <a:endParaRPr lang="en-BE" dirty="0"/>
          </a:p>
        </p:txBody>
      </p:sp>
      <p:sp>
        <p:nvSpPr>
          <p:cNvPr id="3" name="TextBox 2">
            <a:extLst>
              <a:ext uri="{FF2B5EF4-FFF2-40B4-BE49-F238E27FC236}">
                <a16:creationId xmlns:a16="http://schemas.microsoft.com/office/drawing/2014/main" id="{F4298377-AF81-2049-899F-B93A850E96CE}"/>
              </a:ext>
            </a:extLst>
          </p:cNvPr>
          <p:cNvSpPr txBox="1"/>
          <p:nvPr/>
        </p:nvSpPr>
        <p:spPr>
          <a:xfrm>
            <a:off x="1225421" y="1461795"/>
            <a:ext cx="7069243"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Takes two vectors</a:t>
            </a:r>
          </a:p>
          <a:p>
            <a:pPr marL="285750" indent="-285750">
              <a:buFont typeface="Arial" panose="020B0604020202020204" pitchFamily="34" charset="0"/>
              <a:buChar char="•"/>
            </a:pPr>
            <a:r>
              <a:rPr lang="en-US" sz="2800" dirty="0"/>
              <a:t>Outputs how “similar” the vectors are</a:t>
            </a:r>
          </a:p>
          <a:p>
            <a:pPr marL="285750" indent="-285750">
              <a:buFont typeface="Arial" panose="020B0604020202020204" pitchFamily="34" charset="0"/>
              <a:buChar char="•"/>
            </a:pPr>
            <a:r>
              <a:rPr lang="en-US" sz="2800" dirty="0"/>
              <a:t>Goes from -1 to +1 (if the inputs == 1 length)</a:t>
            </a:r>
          </a:p>
        </p:txBody>
      </p:sp>
      <p:cxnSp>
        <p:nvCxnSpPr>
          <p:cNvPr id="5" name="Straight Arrow Connector 4">
            <a:extLst>
              <a:ext uri="{FF2B5EF4-FFF2-40B4-BE49-F238E27FC236}">
                <a16:creationId xmlns:a16="http://schemas.microsoft.com/office/drawing/2014/main" id="{4327155C-3D14-F4D4-0A75-23CB3C9C638B}"/>
              </a:ext>
            </a:extLst>
          </p:cNvPr>
          <p:cNvCxnSpPr/>
          <p:nvPr/>
        </p:nvCxnSpPr>
        <p:spPr>
          <a:xfrm>
            <a:off x="881743" y="3253274"/>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8567D28-2147-0FC7-F55B-128ACACF6847}"/>
              </a:ext>
            </a:extLst>
          </p:cNvPr>
          <p:cNvCxnSpPr/>
          <p:nvPr/>
        </p:nvCxnSpPr>
        <p:spPr>
          <a:xfrm>
            <a:off x="934616" y="3355911"/>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CB43F11-1101-EE48-2BEA-F480A09B0430}"/>
              </a:ext>
            </a:extLst>
          </p:cNvPr>
          <p:cNvCxnSpPr>
            <a:cxnSpLocks/>
          </p:cNvCxnSpPr>
          <p:nvPr/>
        </p:nvCxnSpPr>
        <p:spPr>
          <a:xfrm>
            <a:off x="8212494" y="3355911"/>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C9B567F-86F4-992C-3CC5-8D5D12C07907}"/>
              </a:ext>
            </a:extLst>
          </p:cNvPr>
          <p:cNvCxnSpPr>
            <a:cxnSpLocks/>
          </p:cNvCxnSpPr>
          <p:nvPr/>
        </p:nvCxnSpPr>
        <p:spPr>
          <a:xfrm flipH="1">
            <a:off x="6313714" y="3355911"/>
            <a:ext cx="176504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0F98F25-601D-88BB-8B5F-3507697252E4}"/>
              </a:ext>
            </a:extLst>
          </p:cNvPr>
          <p:cNvCxnSpPr>
            <a:cxnSpLocks/>
          </p:cNvCxnSpPr>
          <p:nvPr/>
        </p:nvCxnSpPr>
        <p:spPr>
          <a:xfrm flipV="1">
            <a:off x="931506" y="4236098"/>
            <a:ext cx="0" cy="1782147"/>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8A58CA8-2566-5906-39B0-8C61797C8345}"/>
              </a:ext>
            </a:extLst>
          </p:cNvPr>
          <p:cNvCxnSpPr>
            <a:cxnSpLocks/>
          </p:cNvCxnSpPr>
          <p:nvPr/>
        </p:nvCxnSpPr>
        <p:spPr>
          <a:xfrm>
            <a:off x="984379" y="6120882"/>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29D7EBC-3FE9-129A-CB03-28F334E4EA4A}"/>
              </a:ext>
            </a:extLst>
          </p:cNvPr>
          <p:cNvCxnSpPr>
            <a:cxnSpLocks/>
          </p:cNvCxnSpPr>
          <p:nvPr/>
        </p:nvCxnSpPr>
        <p:spPr>
          <a:xfrm flipV="1">
            <a:off x="7273212" y="4460033"/>
            <a:ext cx="1391817" cy="1455575"/>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2EC95C9-0E62-206E-C347-CB7ACBEA03B2}"/>
              </a:ext>
            </a:extLst>
          </p:cNvPr>
          <p:cNvCxnSpPr>
            <a:cxnSpLocks/>
          </p:cNvCxnSpPr>
          <p:nvPr/>
        </p:nvCxnSpPr>
        <p:spPr>
          <a:xfrm>
            <a:off x="7326085" y="6018245"/>
            <a:ext cx="2228461"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9B7927F-5E9B-2A54-98F8-E146BD9D0367}"/>
              </a:ext>
            </a:extLst>
          </p:cNvPr>
          <p:cNvSpPr txBox="1"/>
          <p:nvPr/>
        </p:nvSpPr>
        <p:spPr>
          <a:xfrm>
            <a:off x="3788228" y="3143068"/>
            <a:ext cx="1039067" cy="369332"/>
          </a:xfrm>
          <a:prstGeom prst="rect">
            <a:avLst/>
          </a:prstGeom>
          <a:noFill/>
        </p:spPr>
        <p:txBody>
          <a:bodyPr wrap="none" rtlCol="0">
            <a:spAutoFit/>
          </a:bodyPr>
          <a:lstStyle/>
          <a:p>
            <a:r>
              <a:rPr lang="en-US" dirty="0"/>
              <a:t>Dot = 1.0</a:t>
            </a:r>
            <a:endParaRPr lang="en-BE" dirty="0"/>
          </a:p>
        </p:txBody>
      </p:sp>
      <p:sp>
        <p:nvSpPr>
          <p:cNvPr id="20" name="TextBox 19">
            <a:extLst>
              <a:ext uri="{FF2B5EF4-FFF2-40B4-BE49-F238E27FC236}">
                <a16:creationId xmlns:a16="http://schemas.microsoft.com/office/drawing/2014/main" id="{CE61523E-BE64-444B-A809-FAF6877D2BC0}"/>
              </a:ext>
            </a:extLst>
          </p:cNvPr>
          <p:cNvSpPr txBox="1"/>
          <p:nvPr/>
        </p:nvSpPr>
        <p:spPr>
          <a:xfrm>
            <a:off x="3788227" y="5833579"/>
            <a:ext cx="1039067" cy="369332"/>
          </a:xfrm>
          <a:prstGeom prst="rect">
            <a:avLst/>
          </a:prstGeom>
          <a:noFill/>
        </p:spPr>
        <p:txBody>
          <a:bodyPr wrap="none" rtlCol="0">
            <a:spAutoFit/>
          </a:bodyPr>
          <a:lstStyle/>
          <a:p>
            <a:r>
              <a:rPr lang="en-US" dirty="0"/>
              <a:t>Dot = 0.0</a:t>
            </a:r>
            <a:endParaRPr lang="en-BE" dirty="0"/>
          </a:p>
        </p:txBody>
      </p:sp>
      <p:sp>
        <p:nvSpPr>
          <p:cNvPr id="21" name="TextBox 20">
            <a:extLst>
              <a:ext uri="{FF2B5EF4-FFF2-40B4-BE49-F238E27FC236}">
                <a16:creationId xmlns:a16="http://schemas.microsoft.com/office/drawing/2014/main" id="{D0EFC46B-80F6-78EE-A112-A5ADC63B43C5}"/>
              </a:ext>
            </a:extLst>
          </p:cNvPr>
          <p:cNvSpPr txBox="1"/>
          <p:nvPr/>
        </p:nvSpPr>
        <p:spPr>
          <a:xfrm>
            <a:off x="10574694" y="3171245"/>
            <a:ext cx="1109599" cy="369332"/>
          </a:xfrm>
          <a:prstGeom prst="rect">
            <a:avLst/>
          </a:prstGeom>
          <a:noFill/>
        </p:spPr>
        <p:txBody>
          <a:bodyPr wrap="none" rtlCol="0">
            <a:spAutoFit/>
          </a:bodyPr>
          <a:lstStyle/>
          <a:p>
            <a:r>
              <a:rPr lang="en-US" dirty="0"/>
              <a:t>Dot = -1.0</a:t>
            </a:r>
            <a:endParaRPr lang="en-BE" dirty="0"/>
          </a:p>
        </p:txBody>
      </p:sp>
      <p:sp>
        <p:nvSpPr>
          <p:cNvPr id="22" name="TextBox 21">
            <a:extLst>
              <a:ext uri="{FF2B5EF4-FFF2-40B4-BE49-F238E27FC236}">
                <a16:creationId xmlns:a16="http://schemas.microsoft.com/office/drawing/2014/main" id="{354155E9-9295-6D20-F997-D35D66E624AC}"/>
              </a:ext>
            </a:extLst>
          </p:cNvPr>
          <p:cNvSpPr txBox="1"/>
          <p:nvPr/>
        </p:nvSpPr>
        <p:spPr>
          <a:xfrm>
            <a:off x="10475989" y="5833579"/>
            <a:ext cx="1039067" cy="369332"/>
          </a:xfrm>
          <a:prstGeom prst="rect">
            <a:avLst/>
          </a:prstGeom>
          <a:noFill/>
        </p:spPr>
        <p:txBody>
          <a:bodyPr wrap="none" rtlCol="0">
            <a:spAutoFit/>
          </a:bodyPr>
          <a:lstStyle/>
          <a:p>
            <a:r>
              <a:rPr lang="en-US" dirty="0"/>
              <a:t>Dot = 0.7</a:t>
            </a:r>
            <a:endParaRPr lang="en-BE" dirty="0"/>
          </a:p>
        </p:txBody>
      </p:sp>
    </p:spTree>
    <p:extLst>
      <p:ext uri="{BB962C8B-B14F-4D97-AF65-F5344CB8AC3E}">
        <p14:creationId xmlns:p14="http://schemas.microsoft.com/office/powerpoint/2010/main" val="35595970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9119B-33C7-A425-463E-82BA28D02DDF}"/>
              </a:ext>
            </a:extLst>
          </p:cNvPr>
          <p:cNvSpPr>
            <a:spLocks noGrp="1"/>
          </p:cNvSpPr>
          <p:nvPr>
            <p:ph type="title"/>
          </p:nvPr>
        </p:nvSpPr>
        <p:spPr>
          <a:xfrm>
            <a:off x="838200" y="44969"/>
            <a:ext cx="10515600" cy="1325563"/>
          </a:xfrm>
        </p:spPr>
        <p:txBody>
          <a:bodyPr/>
          <a:lstStyle/>
          <a:p>
            <a:r>
              <a:rPr lang="en-US" dirty="0"/>
              <a:t>So now we should understand this image</a:t>
            </a:r>
            <a:endParaRPr lang="en-BE" dirty="0"/>
          </a:p>
        </p:txBody>
      </p:sp>
      <p:pic>
        <p:nvPicPr>
          <p:cNvPr id="3" name="Picture 2">
            <a:extLst>
              <a:ext uri="{FF2B5EF4-FFF2-40B4-BE49-F238E27FC236}">
                <a16:creationId xmlns:a16="http://schemas.microsoft.com/office/drawing/2014/main" id="{9D022AAA-FF26-BE95-8988-35595FFE7BE9}"/>
              </a:ext>
            </a:extLst>
          </p:cNvPr>
          <p:cNvPicPr>
            <a:picLocks noChangeAspect="1"/>
          </p:cNvPicPr>
          <p:nvPr/>
        </p:nvPicPr>
        <p:blipFill>
          <a:blip r:embed="rId3"/>
          <a:stretch>
            <a:fillRect/>
          </a:stretch>
        </p:blipFill>
        <p:spPr>
          <a:xfrm>
            <a:off x="3608420" y="2541257"/>
            <a:ext cx="4745587" cy="4062222"/>
          </a:xfrm>
          <a:prstGeom prst="rect">
            <a:avLst/>
          </a:prstGeom>
        </p:spPr>
      </p:pic>
      <p:cxnSp>
        <p:nvCxnSpPr>
          <p:cNvPr id="5" name="Straight Arrow Connector 4">
            <a:extLst>
              <a:ext uri="{FF2B5EF4-FFF2-40B4-BE49-F238E27FC236}">
                <a16:creationId xmlns:a16="http://schemas.microsoft.com/office/drawing/2014/main" id="{8B0E2618-AFC4-651F-4D40-86EFFCE153A5}"/>
              </a:ext>
            </a:extLst>
          </p:cNvPr>
          <p:cNvCxnSpPr>
            <a:cxnSpLocks/>
          </p:cNvCxnSpPr>
          <p:nvPr/>
        </p:nvCxnSpPr>
        <p:spPr>
          <a:xfrm flipH="1" flipV="1">
            <a:off x="3608420" y="1924174"/>
            <a:ext cx="1517197" cy="1441928"/>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52770B8-81FE-5A9C-E2D7-5CE20210106A}"/>
              </a:ext>
            </a:extLst>
          </p:cNvPr>
          <p:cNvCxnSpPr>
            <a:cxnSpLocks/>
          </p:cNvCxnSpPr>
          <p:nvPr/>
        </p:nvCxnSpPr>
        <p:spPr>
          <a:xfrm flipV="1">
            <a:off x="7145463" y="2307771"/>
            <a:ext cx="1618861" cy="1334278"/>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AC77078-AA36-A3FD-CD3A-54C56B803840}"/>
              </a:ext>
            </a:extLst>
          </p:cNvPr>
          <p:cNvCxnSpPr>
            <a:cxnSpLocks/>
          </p:cNvCxnSpPr>
          <p:nvPr/>
        </p:nvCxnSpPr>
        <p:spPr>
          <a:xfrm flipH="1" flipV="1">
            <a:off x="3788229" y="1735494"/>
            <a:ext cx="1511559" cy="1449817"/>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740929A-A24E-1F04-3AA2-22496573D883}"/>
              </a:ext>
            </a:extLst>
          </p:cNvPr>
          <p:cNvSpPr txBox="1"/>
          <p:nvPr/>
        </p:nvSpPr>
        <p:spPr>
          <a:xfrm>
            <a:off x="659363" y="2923592"/>
            <a:ext cx="2574744" cy="1384995"/>
          </a:xfrm>
          <a:prstGeom prst="rect">
            <a:avLst/>
          </a:prstGeom>
          <a:noFill/>
        </p:spPr>
        <p:txBody>
          <a:bodyPr wrap="none" rtlCol="0">
            <a:spAutoFit/>
          </a:bodyPr>
          <a:lstStyle/>
          <a:p>
            <a:r>
              <a:rPr lang="en-US" sz="2800" dirty="0"/>
              <a:t>Blue = N</a:t>
            </a:r>
          </a:p>
          <a:p>
            <a:r>
              <a:rPr lang="en-US" sz="2800" dirty="0"/>
              <a:t>Yellow = L</a:t>
            </a:r>
          </a:p>
          <a:p>
            <a:r>
              <a:rPr lang="en-US" sz="2800" dirty="0"/>
              <a:t>Color = dot(N, L)</a:t>
            </a:r>
            <a:endParaRPr lang="en-BE" sz="2800" dirty="0"/>
          </a:p>
        </p:txBody>
      </p:sp>
      <p:cxnSp>
        <p:nvCxnSpPr>
          <p:cNvPr id="17" name="Straight Arrow Connector 16">
            <a:extLst>
              <a:ext uri="{FF2B5EF4-FFF2-40B4-BE49-F238E27FC236}">
                <a16:creationId xmlns:a16="http://schemas.microsoft.com/office/drawing/2014/main" id="{B43C9F3E-219F-2015-15A3-7F52AFCAC556}"/>
              </a:ext>
            </a:extLst>
          </p:cNvPr>
          <p:cNvCxnSpPr>
            <a:cxnSpLocks/>
          </p:cNvCxnSpPr>
          <p:nvPr/>
        </p:nvCxnSpPr>
        <p:spPr>
          <a:xfrm flipH="1" flipV="1">
            <a:off x="5610498" y="2202628"/>
            <a:ext cx="1517197" cy="1441928"/>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3454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9035-19AA-48D8-F036-DB00E3BCF1AE}"/>
              </a:ext>
            </a:extLst>
          </p:cNvPr>
          <p:cNvSpPr>
            <a:spLocks noGrp="1"/>
          </p:cNvSpPr>
          <p:nvPr>
            <p:ph type="title"/>
          </p:nvPr>
        </p:nvSpPr>
        <p:spPr/>
        <p:txBody>
          <a:bodyPr/>
          <a:lstStyle/>
          <a:p>
            <a:r>
              <a:rPr lang="en-US" dirty="0"/>
              <a:t>You see why this course is complex</a:t>
            </a:r>
            <a:endParaRPr lang="en-BE" dirty="0"/>
          </a:p>
        </p:txBody>
      </p:sp>
      <p:sp>
        <p:nvSpPr>
          <p:cNvPr id="3" name="TextBox 2">
            <a:extLst>
              <a:ext uri="{FF2B5EF4-FFF2-40B4-BE49-F238E27FC236}">
                <a16:creationId xmlns:a16="http://schemas.microsoft.com/office/drawing/2014/main" id="{E9BF5D65-DEE9-C31D-9EB1-920C6936A1BC}"/>
              </a:ext>
            </a:extLst>
          </p:cNvPr>
          <p:cNvSpPr txBox="1"/>
          <p:nvPr/>
        </p:nvSpPr>
        <p:spPr>
          <a:xfrm>
            <a:off x="771331" y="2121159"/>
            <a:ext cx="6413359"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Many small parts before it comes together</a:t>
            </a:r>
          </a:p>
          <a:p>
            <a:pPr marL="285750" indent="-285750">
              <a:buFont typeface="Arial" panose="020B0604020202020204" pitchFamily="34" charset="0"/>
              <a:buChar char="•"/>
            </a:pPr>
            <a:r>
              <a:rPr lang="en-US" sz="2400" dirty="0"/>
              <a:t>This diffuse implementation is incredibly simple</a:t>
            </a:r>
          </a:p>
          <a:p>
            <a:pPr marL="285750" indent="-285750">
              <a:buFont typeface="Arial" panose="020B0604020202020204" pitchFamily="34" charset="0"/>
              <a:buChar char="•"/>
            </a:pPr>
            <a:r>
              <a:rPr lang="en-US" sz="2400" dirty="0"/>
              <a:t>But now we can build on it</a:t>
            </a:r>
          </a:p>
          <a:p>
            <a:pPr marL="285750" indent="-285750">
              <a:buFont typeface="Arial" panose="020B0604020202020204" pitchFamily="34" charset="0"/>
              <a:buChar char="•"/>
            </a:pPr>
            <a:r>
              <a:rPr lang="en-US" sz="2400" dirty="0"/>
              <a:t>It’s still unclear, because I left quite a lot out</a:t>
            </a:r>
          </a:p>
        </p:txBody>
      </p:sp>
    </p:spTree>
    <p:extLst>
      <p:ext uri="{BB962C8B-B14F-4D97-AF65-F5344CB8AC3E}">
        <p14:creationId xmlns:p14="http://schemas.microsoft.com/office/powerpoint/2010/main" val="33886362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4D792-1592-FEB5-8080-808637533C6A}"/>
              </a:ext>
            </a:extLst>
          </p:cNvPr>
          <p:cNvSpPr>
            <a:spLocks noGrp="1"/>
          </p:cNvSpPr>
          <p:nvPr>
            <p:ph type="title"/>
          </p:nvPr>
        </p:nvSpPr>
        <p:spPr/>
        <p:txBody>
          <a:bodyPr/>
          <a:lstStyle/>
          <a:p>
            <a:r>
              <a:rPr lang="en-US" dirty="0"/>
              <a:t>Let’s use a texture for a nicer result</a:t>
            </a:r>
            <a:endParaRPr lang="en-BE" dirty="0"/>
          </a:p>
        </p:txBody>
      </p:sp>
      <p:sp>
        <p:nvSpPr>
          <p:cNvPr id="3" name="TextBox 2">
            <a:extLst>
              <a:ext uri="{FF2B5EF4-FFF2-40B4-BE49-F238E27FC236}">
                <a16:creationId xmlns:a16="http://schemas.microsoft.com/office/drawing/2014/main" id="{510A9819-30A5-6A71-F65D-2D37F72D7DC3}"/>
              </a:ext>
            </a:extLst>
          </p:cNvPr>
          <p:cNvSpPr txBox="1"/>
          <p:nvPr/>
        </p:nvSpPr>
        <p:spPr>
          <a:xfrm>
            <a:off x="838200" y="1782280"/>
            <a:ext cx="7365542"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Download textures from Toledo</a:t>
            </a:r>
          </a:p>
          <a:p>
            <a:pPr marL="285750" indent="-285750">
              <a:buFont typeface="Arial" panose="020B0604020202020204" pitchFamily="34" charset="0"/>
              <a:buChar char="•"/>
            </a:pPr>
            <a:r>
              <a:rPr lang="en-US" sz="2800" dirty="0"/>
              <a:t>Drag moon_color.jpg onto your project window</a:t>
            </a:r>
            <a:endParaRPr lang="en-BE" sz="2800" dirty="0"/>
          </a:p>
        </p:txBody>
      </p:sp>
      <p:pic>
        <p:nvPicPr>
          <p:cNvPr id="7" name="Picture 6">
            <a:extLst>
              <a:ext uri="{FF2B5EF4-FFF2-40B4-BE49-F238E27FC236}">
                <a16:creationId xmlns:a16="http://schemas.microsoft.com/office/drawing/2014/main" id="{CE073118-16B9-CD11-7409-0478039B533C}"/>
              </a:ext>
            </a:extLst>
          </p:cNvPr>
          <p:cNvPicPr>
            <a:picLocks noChangeAspect="1"/>
          </p:cNvPicPr>
          <p:nvPr/>
        </p:nvPicPr>
        <p:blipFill>
          <a:blip r:embed="rId3"/>
          <a:stretch>
            <a:fillRect/>
          </a:stretch>
        </p:blipFill>
        <p:spPr>
          <a:xfrm>
            <a:off x="762147" y="4121613"/>
            <a:ext cx="10431331" cy="2476846"/>
          </a:xfrm>
          <a:prstGeom prst="rect">
            <a:avLst/>
          </a:prstGeom>
        </p:spPr>
      </p:pic>
    </p:spTree>
    <p:extLst>
      <p:ext uri="{BB962C8B-B14F-4D97-AF65-F5344CB8AC3E}">
        <p14:creationId xmlns:p14="http://schemas.microsoft.com/office/powerpoint/2010/main" val="18565719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0C838-D3F6-6EBC-03C5-3F668EFAF019}"/>
              </a:ext>
            </a:extLst>
          </p:cNvPr>
          <p:cNvSpPr>
            <a:spLocks noGrp="1"/>
          </p:cNvSpPr>
          <p:nvPr>
            <p:ph type="title"/>
          </p:nvPr>
        </p:nvSpPr>
        <p:spPr>
          <a:xfrm>
            <a:off x="502298" y="377566"/>
            <a:ext cx="11297816" cy="1325563"/>
          </a:xfrm>
        </p:spPr>
        <p:txBody>
          <a:bodyPr/>
          <a:lstStyle/>
          <a:p>
            <a:r>
              <a:rPr lang="en-US" dirty="0"/>
              <a:t>Add a </a:t>
            </a:r>
            <a:r>
              <a:rPr lang="en-US" b="1" dirty="0"/>
              <a:t>Multiply</a:t>
            </a:r>
            <a:r>
              <a:rPr lang="en-US" dirty="0"/>
              <a:t> between </a:t>
            </a:r>
            <a:r>
              <a:rPr lang="en-US" b="1" dirty="0"/>
              <a:t>Saturate</a:t>
            </a:r>
            <a:r>
              <a:rPr lang="en-US" dirty="0"/>
              <a:t> and the output</a:t>
            </a:r>
            <a:endParaRPr lang="en-BE" dirty="0"/>
          </a:p>
        </p:txBody>
      </p:sp>
      <p:pic>
        <p:nvPicPr>
          <p:cNvPr id="4" name="Picture 3">
            <a:extLst>
              <a:ext uri="{FF2B5EF4-FFF2-40B4-BE49-F238E27FC236}">
                <a16:creationId xmlns:a16="http://schemas.microsoft.com/office/drawing/2014/main" id="{36B5906B-1787-C128-E2F5-42DA3DF678DD}"/>
              </a:ext>
            </a:extLst>
          </p:cNvPr>
          <p:cNvPicPr>
            <a:picLocks noChangeAspect="1"/>
          </p:cNvPicPr>
          <p:nvPr/>
        </p:nvPicPr>
        <p:blipFill>
          <a:blip r:embed="rId3"/>
          <a:stretch>
            <a:fillRect/>
          </a:stretch>
        </p:blipFill>
        <p:spPr>
          <a:xfrm>
            <a:off x="0" y="1796238"/>
            <a:ext cx="12192000" cy="4684196"/>
          </a:xfrm>
          <a:prstGeom prst="rect">
            <a:avLst/>
          </a:prstGeom>
        </p:spPr>
      </p:pic>
    </p:spTree>
    <p:extLst>
      <p:ext uri="{BB962C8B-B14F-4D97-AF65-F5344CB8AC3E}">
        <p14:creationId xmlns:p14="http://schemas.microsoft.com/office/powerpoint/2010/main" val="28999534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FC857A2-24FA-3471-B33A-5E45FB519E27}"/>
              </a:ext>
            </a:extLst>
          </p:cNvPr>
          <p:cNvPicPr>
            <a:picLocks noChangeAspect="1"/>
          </p:cNvPicPr>
          <p:nvPr/>
        </p:nvPicPr>
        <p:blipFill>
          <a:blip r:embed="rId3"/>
          <a:stretch>
            <a:fillRect/>
          </a:stretch>
        </p:blipFill>
        <p:spPr>
          <a:xfrm>
            <a:off x="6730482" y="2081428"/>
            <a:ext cx="4951935" cy="4776571"/>
          </a:xfrm>
          <a:prstGeom prst="rect">
            <a:avLst/>
          </a:prstGeom>
        </p:spPr>
      </p:pic>
      <p:sp>
        <p:nvSpPr>
          <p:cNvPr id="2" name="Title 1">
            <a:extLst>
              <a:ext uri="{FF2B5EF4-FFF2-40B4-BE49-F238E27FC236}">
                <a16:creationId xmlns:a16="http://schemas.microsoft.com/office/drawing/2014/main" id="{5EC6CE03-48FD-146A-8A9D-10BFCB635CBB}"/>
              </a:ext>
            </a:extLst>
          </p:cNvPr>
          <p:cNvSpPr>
            <a:spLocks noGrp="1"/>
          </p:cNvSpPr>
          <p:nvPr>
            <p:ph type="title"/>
          </p:nvPr>
        </p:nvSpPr>
        <p:spPr/>
        <p:txBody>
          <a:bodyPr/>
          <a:lstStyle/>
          <a:p>
            <a:r>
              <a:rPr lang="en-US" dirty="0"/>
              <a:t>Add a </a:t>
            </a:r>
            <a:r>
              <a:rPr lang="en-US" b="1" dirty="0"/>
              <a:t>Sample Texture 2D</a:t>
            </a:r>
            <a:endParaRPr lang="en-BE" b="1" dirty="0"/>
          </a:p>
        </p:txBody>
      </p:sp>
      <p:sp>
        <p:nvSpPr>
          <p:cNvPr id="3" name="TextBox 2">
            <a:extLst>
              <a:ext uri="{FF2B5EF4-FFF2-40B4-BE49-F238E27FC236}">
                <a16:creationId xmlns:a16="http://schemas.microsoft.com/office/drawing/2014/main" id="{19B06498-1B29-21BA-1A85-C62D3540A23F}"/>
              </a:ext>
            </a:extLst>
          </p:cNvPr>
          <p:cNvSpPr txBox="1"/>
          <p:nvPr/>
        </p:nvSpPr>
        <p:spPr>
          <a:xfrm>
            <a:off x="603380" y="1536442"/>
            <a:ext cx="6647333"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Connect the output to the free input on </a:t>
            </a:r>
            <a:r>
              <a:rPr lang="en-US" sz="2400" b="1" dirty="0"/>
              <a:t>Multiply</a:t>
            </a:r>
            <a:r>
              <a:rPr lang="en-US" sz="2400" dirty="0"/>
              <a:t> </a:t>
            </a:r>
          </a:p>
          <a:p>
            <a:pPr marL="285750" indent="-285750">
              <a:buFont typeface="Arial" panose="020B0604020202020204" pitchFamily="34" charset="0"/>
              <a:buChar char="•"/>
            </a:pPr>
            <a:r>
              <a:rPr lang="en-US" sz="2400" dirty="0"/>
              <a:t>Set the input texture to our </a:t>
            </a:r>
            <a:r>
              <a:rPr lang="en-US" sz="2400" dirty="0" err="1"/>
              <a:t>moon_color</a:t>
            </a:r>
            <a:endParaRPr lang="en-BE" sz="2400" dirty="0"/>
          </a:p>
        </p:txBody>
      </p:sp>
      <p:cxnSp>
        <p:nvCxnSpPr>
          <p:cNvPr id="11" name="Straight Arrow Connector 10">
            <a:extLst>
              <a:ext uri="{FF2B5EF4-FFF2-40B4-BE49-F238E27FC236}">
                <a16:creationId xmlns:a16="http://schemas.microsoft.com/office/drawing/2014/main" id="{374D2FC1-DEC8-60EE-76E8-D2FF73D78C21}"/>
              </a:ext>
            </a:extLst>
          </p:cNvPr>
          <p:cNvCxnSpPr/>
          <p:nvPr/>
        </p:nvCxnSpPr>
        <p:spPr>
          <a:xfrm flipV="1">
            <a:off x="6902370" y="2862005"/>
            <a:ext cx="348343" cy="32657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337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DB30-86F9-F55E-3922-579CF8CC22A7}"/>
              </a:ext>
            </a:extLst>
          </p:cNvPr>
          <p:cNvSpPr>
            <a:spLocks noGrp="1"/>
          </p:cNvSpPr>
          <p:nvPr>
            <p:ph type="title"/>
          </p:nvPr>
        </p:nvSpPr>
        <p:spPr/>
        <p:txBody>
          <a:bodyPr/>
          <a:lstStyle/>
          <a:p>
            <a:r>
              <a:rPr lang="en-US" dirty="0"/>
              <a:t>Save and check your results</a:t>
            </a:r>
            <a:endParaRPr lang="en-BE" dirty="0"/>
          </a:p>
        </p:txBody>
      </p:sp>
      <p:sp>
        <p:nvSpPr>
          <p:cNvPr id="5" name="TextBox 4">
            <a:extLst>
              <a:ext uri="{FF2B5EF4-FFF2-40B4-BE49-F238E27FC236}">
                <a16:creationId xmlns:a16="http://schemas.microsoft.com/office/drawing/2014/main" id="{6C05046C-54D8-0119-526E-82D4CDC60A11}"/>
              </a:ext>
            </a:extLst>
          </p:cNvPr>
          <p:cNvSpPr txBox="1"/>
          <p:nvPr/>
        </p:nvSpPr>
        <p:spPr>
          <a:xfrm>
            <a:off x="671804" y="3030023"/>
            <a:ext cx="4682116" cy="954107"/>
          </a:xfrm>
          <a:prstGeom prst="rect">
            <a:avLst/>
          </a:prstGeom>
          <a:noFill/>
        </p:spPr>
        <p:txBody>
          <a:bodyPr wrap="none" rtlCol="0">
            <a:spAutoFit/>
          </a:bodyPr>
          <a:lstStyle/>
          <a:p>
            <a:pPr marL="457200" indent="-457200">
              <a:buFont typeface="Arial" panose="020B0604020202020204" pitchFamily="34" charset="0"/>
              <a:buChar char="•"/>
            </a:pPr>
            <a:r>
              <a:rPr lang="en-US" sz="2800" dirty="0"/>
              <a:t>Does this look good to you?</a:t>
            </a:r>
          </a:p>
          <a:p>
            <a:pPr marL="457200" indent="-457200">
              <a:buFont typeface="Arial" panose="020B0604020202020204" pitchFamily="34" charset="0"/>
              <a:buChar char="•"/>
            </a:pPr>
            <a:r>
              <a:rPr lang="en-US" sz="2800" dirty="0"/>
              <a:t>What is missing?</a:t>
            </a:r>
            <a:endParaRPr lang="en-BE" sz="2800" dirty="0"/>
          </a:p>
        </p:txBody>
      </p:sp>
      <p:pic>
        <p:nvPicPr>
          <p:cNvPr id="11" name="Picture 10">
            <a:extLst>
              <a:ext uri="{FF2B5EF4-FFF2-40B4-BE49-F238E27FC236}">
                <a16:creationId xmlns:a16="http://schemas.microsoft.com/office/drawing/2014/main" id="{21E54BDB-90D9-420A-DA3D-699060292853}"/>
              </a:ext>
            </a:extLst>
          </p:cNvPr>
          <p:cNvPicPr>
            <a:picLocks noChangeAspect="1"/>
          </p:cNvPicPr>
          <p:nvPr/>
        </p:nvPicPr>
        <p:blipFill>
          <a:blip r:embed="rId3"/>
          <a:stretch>
            <a:fillRect/>
          </a:stretch>
        </p:blipFill>
        <p:spPr>
          <a:xfrm>
            <a:off x="5467007" y="1556486"/>
            <a:ext cx="4915586" cy="4944165"/>
          </a:xfrm>
          <a:prstGeom prst="rect">
            <a:avLst/>
          </a:prstGeom>
        </p:spPr>
      </p:pic>
    </p:spTree>
    <p:extLst>
      <p:ext uri="{BB962C8B-B14F-4D97-AF65-F5344CB8AC3E}">
        <p14:creationId xmlns:p14="http://schemas.microsoft.com/office/powerpoint/2010/main" val="33145514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2FACE-BD56-0D68-5C91-2CC584F79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3104E-2172-4C42-4B43-BA06708F2D91}"/>
              </a:ext>
            </a:extLst>
          </p:cNvPr>
          <p:cNvSpPr>
            <a:spLocks noGrp="1"/>
          </p:cNvSpPr>
          <p:nvPr>
            <p:ph type="title"/>
          </p:nvPr>
        </p:nvSpPr>
        <p:spPr/>
        <p:txBody>
          <a:bodyPr/>
          <a:lstStyle/>
          <a:p>
            <a:r>
              <a:rPr lang="en-US" dirty="0"/>
              <a:t>It looks flat</a:t>
            </a:r>
            <a:endParaRPr lang="en-BE" dirty="0"/>
          </a:p>
        </p:txBody>
      </p:sp>
      <p:sp>
        <p:nvSpPr>
          <p:cNvPr id="5" name="TextBox 4">
            <a:extLst>
              <a:ext uri="{FF2B5EF4-FFF2-40B4-BE49-F238E27FC236}">
                <a16:creationId xmlns:a16="http://schemas.microsoft.com/office/drawing/2014/main" id="{AB8F817D-38F0-087A-42EB-033C9C1A5CAF}"/>
              </a:ext>
            </a:extLst>
          </p:cNvPr>
          <p:cNvSpPr txBox="1"/>
          <p:nvPr/>
        </p:nvSpPr>
        <p:spPr>
          <a:xfrm>
            <a:off x="671804" y="3030023"/>
            <a:ext cx="5988562" cy="2246769"/>
          </a:xfrm>
          <a:prstGeom prst="rect">
            <a:avLst/>
          </a:prstGeom>
          <a:noFill/>
        </p:spPr>
        <p:txBody>
          <a:bodyPr wrap="none" rtlCol="0">
            <a:spAutoFit/>
          </a:bodyPr>
          <a:lstStyle/>
          <a:p>
            <a:pPr marL="457200" indent="-457200">
              <a:buFont typeface="Arial" panose="020B0604020202020204" pitchFamily="34" charset="0"/>
              <a:buChar char="•"/>
            </a:pPr>
            <a:r>
              <a:rPr lang="en-US" sz="2800" dirty="0"/>
              <a:t>It looks painted on</a:t>
            </a:r>
          </a:p>
          <a:p>
            <a:pPr marL="457200" indent="-457200">
              <a:buFont typeface="Arial" panose="020B0604020202020204" pitchFamily="34" charset="0"/>
              <a:buChar char="•"/>
            </a:pPr>
            <a:r>
              <a:rPr lang="en-US" sz="2800" dirty="0"/>
              <a:t>Almost like a balloon or marble</a:t>
            </a:r>
          </a:p>
          <a:p>
            <a:pPr marL="457200" indent="-457200">
              <a:buFont typeface="Arial" panose="020B0604020202020204" pitchFamily="34" charset="0"/>
              <a:buChar char="•"/>
            </a:pPr>
            <a:r>
              <a:rPr lang="en-US" sz="2800" dirty="0"/>
              <a:t>This is because we are still lighting it </a:t>
            </a:r>
            <a:br>
              <a:rPr lang="en-US" sz="2800" dirty="0"/>
            </a:br>
            <a:r>
              <a:rPr lang="en-US" sz="2800" dirty="0"/>
              <a:t>as a sphere</a:t>
            </a:r>
          </a:p>
          <a:p>
            <a:pPr marL="457200" indent="-457200">
              <a:buFont typeface="Arial" panose="020B0604020202020204" pitchFamily="34" charset="0"/>
              <a:buChar char="•"/>
            </a:pPr>
            <a:r>
              <a:rPr lang="en-US" sz="2800" dirty="0"/>
              <a:t>Normal maps can fix this</a:t>
            </a:r>
          </a:p>
        </p:txBody>
      </p:sp>
      <p:pic>
        <p:nvPicPr>
          <p:cNvPr id="8" name="Picture 7">
            <a:extLst>
              <a:ext uri="{FF2B5EF4-FFF2-40B4-BE49-F238E27FC236}">
                <a16:creationId xmlns:a16="http://schemas.microsoft.com/office/drawing/2014/main" id="{B9F3D9C2-0053-D697-178A-72F060E5BB1D}"/>
              </a:ext>
            </a:extLst>
          </p:cNvPr>
          <p:cNvPicPr>
            <a:picLocks noChangeAspect="1"/>
          </p:cNvPicPr>
          <p:nvPr/>
        </p:nvPicPr>
        <p:blipFill>
          <a:blip r:embed="rId3"/>
          <a:stretch>
            <a:fillRect/>
          </a:stretch>
        </p:blipFill>
        <p:spPr>
          <a:xfrm>
            <a:off x="6810615" y="1361244"/>
            <a:ext cx="4915586" cy="4944165"/>
          </a:xfrm>
          <a:prstGeom prst="rect">
            <a:avLst/>
          </a:prstGeom>
        </p:spPr>
      </p:pic>
    </p:spTree>
    <p:extLst>
      <p:ext uri="{BB962C8B-B14F-4D97-AF65-F5344CB8AC3E}">
        <p14:creationId xmlns:p14="http://schemas.microsoft.com/office/powerpoint/2010/main" val="18803587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7F47-AAA7-1B4F-AE3E-95720C9983FC}"/>
              </a:ext>
            </a:extLst>
          </p:cNvPr>
          <p:cNvSpPr>
            <a:spLocks noGrp="1"/>
          </p:cNvSpPr>
          <p:nvPr>
            <p:ph type="title"/>
          </p:nvPr>
        </p:nvSpPr>
        <p:spPr/>
        <p:txBody>
          <a:bodyPr/>
          <a:lstStyle/>
          <a:p>
            <a:r>
              <a:rPr lang="en-US" dirty="0"/>
              <a:t>Quick tour of the rest of the course</a:t>
            </a:r>
            <a:endParaRPr lang="en-BE" dirty="0"/>
          </a:p>
        </p:txBody>
      </p:sp>
    </p:spTree>
    <p:extLst>
      <p:ext uri="{BB962C8B-B14F-4D97-AF65-F5344CB8AC3E}">
        <p14:creationId xmlns:p14="http://schemas.microsoft.com/office/powerpoint/2010/main" val="10669188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60A70-B599-C2C7-2A1C-7E54CAF1DA88}"/>
              </a:ext>
            </a:extLst>
          </p:cNvPr>
          <p:cNvSpPr>
            <a:spLocks noGrp="1"/>
          </p:cNvSpPr>
          <p:nvPr>
            <p:ph type="title"/>
          </p:nvPr>
        </p:nvSpPr>
        <p:spPr/>
        <p:txBody>
          <a:bodyPr/>
          <a:lstStyle/>
          <a:p>
            <a:r>
              <a:rPr lang="en-US" dirty="0"/>
              <a:t>Camera’s </a:t>
            </a:r>
            <a:endParaRPr lang="en-BE" dirty="0"/>
          </a:p>
        </p:txBody>
      </p:sp>
      <p:pic>
        <p:nvPicPr>
          <p:cNvPr id="4" name="Picture 3" descr="A close-up of a kite&#10;&#10;Description automatically generated">
            <a:extLst>
              <a:ext uri="{FF2B5EF4-FFF2-40B4-BE49-F238E27FC236}">
                <a16:creationId xmlns:a16="http://schemas.microsoft.com/office/drawing/2014/main" id="{CDFC2C83-C925-904E-D696-ADCD94ACE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034073"/>
            <a:ext cx="10613171" cy="3320557"/>
          </a:xfrm>
          <a:prstGeom prst="rect">
            <a:avLst/>
          </a:prstGeom>
        </p:spPr>
      </p:pic>
    </p:spTree>
    <p:extLst>
      <p:ext uri="{BB962C8B-B14F-4D97-AF65-F5344CB8AC3E}">
        <p14:creationId xmlns:p14="http://schemas.microsoft.com/office/powerpoint/2010/main" val="11142874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6B31F-D7E4-2F20-FAEA-298FB4B47EEA}"/>
              </a:ext>
            </a:extLst>
          </p:cNvPr>
          <p:cNvSpPr>
            <a:spLocks noGrp="1"/>
          </p:cNvSpPr>
          <p:nvPr>
            <p:ph type="title"/>
          </p:nvPr>
        </p:nvSpPr>
        <p:spPr/>
        <p:txBody>
          <a:bodyPr/>
          <a:lstStyle/>
          <a:p>
            <a:r>
              <a:rPr lang="en-US" dirty="0"/>
              <a:t>Pipeline</a:t>
            </a:r>
            <a:endParaRPr lang="en-BE" dirty="0"/>
          </a:p>
        </p:txBody>
      </p:sp>
      <p:pic>
        <p:nvPicPr>
          <p:cNvPr id="12" name="Picture 11">
            <a:extLst>
              <a:ext uri="{FF2B5EF4-FFF2-40B4-BE49-F238E27FC236}">
                <a16:creationId xmlns:a16="http://schemas.microsoft.com/office/drawing/2014/main" id="{C94A4481-F97E-9AEB-2C54-4C6AD704CC07}"/>
              </a:ext>
            </a:extLst>
          </p:cNvPr>
          <p:cNvPicPr>
            <a:picLocks noChangeAspect="1"/>
          </p:cNvPicPr>
          <p:nvPr/>
        </p:nvPicPr>
        <p:blipFill>
          <a:blip r:embed="rId3"/>
          <a:stretch>
            <a:fillRect/>
          </a:stretch>
        </p:blipFill>
        <p:spPr>
          <a:xfrm>
            <a:off x="7504036" y="0"/>
            <a:ext cx="3914412" cy="6858000"/>
          </a:xfrm>
          <a:prstGeom prst="rect">
            <a:avLst/>
          </a:prstGeom>
        </p:spPr>
      </p:pic>
    </p:spTree>
    <p:extLst>
      <p:ext uri="{BB962C8B-B14F-4D97-AF65-F5344CB8AC3E}">
        <p14:creationId xmlns:p14="http://schemas.microsoft.com/office/powerpoint/2010/main" val="18351510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5CEF-369E-8131-D811-6844E91A3C30}"/>
              </a:ext>
            </a:extLst>
          </p:cNvPr>
          <p:cNvSpPr>
            <a:spLocks noGrp="1"/>
          </p:cNvSpPr>
          <p:nvPr>
            <p:ph type="title"/>
          </p:nvPr>
        </p:nvSpPr>
        <p:spPr/>
        <p:txBody>
          <a:bodyPr/>
          <a:lstStyle/>
          <a:p>
            <a:r>
              <a:rPr lang="en-US" dirty="0"/>
              <a:t>Materials</a:t>
            </a:r>
            <a:endParaRPr lang="en-BE" dirty="0"/>
          </a:p>
        </p:txBody>
      </p:sp>
      <p:pic>
        <p:nvPicPr>
          <p:cNvPr id="4" name="Picture 3" descr="A collage of different images of a sphere&#10;&#10;Description automatically generated">
            <a:extLst>
              <a:ext uri="{FF2B5EF4-FFF2-40B4-BE49-F238E27FC236}">
                <a16:creationId xmlns:a16="http://schemas.microsoft.com/office/drawing/2014/main" id="{5327C1A1-CE0C-2A3A-0FC1-E72B266995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939" y="2245567"/>
            <a:ext cx="5983923" cy="3206098"/>
          </a:xfrm>
          <a:prstGeom prst="rect">
            <a:avLst/>
          </a:prstGeom>
        </p:spPr>
      </p:pic>
    </p:spTree>
    <p:extLst>
      <p:ext uri="{BB962C8B-B14F-4D97-AF65-F5344CB8AC3E}">
        <p14:creationId xmlns:p14="http://schemas.microsoft.com/office/powerpoint/2010/main" val="32720901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E4B99-A2B7-E981-D7E5-400975786829}"/>
              </a:ext>
            </a:extLst>
          </p:cNvPr>
          <p:cNvSpPr>
            <a:spLocks noGrp="1"/>
          </p:cNvSpPr>
          <p:nvPr>
            <p:ph type="title"/>
          </p:nvPr>
        </p:nvSpPr>
        <p:spPr/>
        <p:txBody>
          <a:bodyPr/>
          <a:lstStyle/>
          <a:p>
            <a:r>
              <a:rPr lang="en-US" dirty="0"/>
              <a:t>Materials</a:t>
            </a:r>
            <a:endParaRPr lang="en-BE" dirty="0"/>
          </a:p>
        </p:txBody>
      </p:sp>
      <p:pic>
        <p:nvPicPr>
          <p:cNvPr id="4" name="Picture 3">
            <a:extLst>
              <a:ext uri="{FF2B5EF4-FFF2-40B4-BE49-F238E27FC236}">
                <a16:creationId xmlns:a16="http://schemas.microsoft.com/office/drawing/2014/main" id="{30EED848-3213-08D5-EA4D-D63C94F1714E}"/>
              </a:ext>
            </a:extLst>
          </p:cNvPr>
          <p:cNvPicPr>
            <a:picLocks noChangeAspect="1"/>
          </p:cNvPicPr>
          <p:nvPr/>
        </p:nvPicPr>
        <p:blipFill>
          <a:blip r:embed="rId3"/>
          <a:stretch>
            <a:fillRect/>
          </a:stretch>
        </p:blipFill>
        <p:spPr>
          <a:xfrm>
            <a:off x="9111361" y="0"/>
            <a:ext cx="2727614" cy="6858000"/>
          </a:xfrm>
          <a:prstGeom prst="rect">
            <a:avLst/>
          </a:prstGeom>
        </p:spPr>
      </p:pic>
      <p:pic>
        <p:nvPicPr>
          <p:cNvPr id="6" name="Picture 5" descr="A cartoon of a child holding a shield and a sword&#10;&#10;Description automatically generated">
            <a:extLst>
              <a:ext uri="{FF2B5EF4-FFF2-40B4-BE49-F238E27FC236}">
                <a16:creationId xmlns:a16="http://schemas.microsoft.com/office/drawing/2014/main" id="{3797B101-0A59-1D5F-C7D1-BCB2AB56C2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608" y="2055813"/>
            <a:ext cx="8256881" cy="4128441"/>
          </a:xfrm>
          <a:prstGeom prst="rect">
            <a:avLst/>
          </a:prstGeom>
        </p:spPr>
      </p:pic>
    </p:spTree>
    <p:extLst>
      <p:ext uri="{BB962C8B-B14F-4D97-AF65-F5344CB8AC3E}">
        <p14:creationId xmlns:p14="http://schemas.microsoft.com/office/powerpoint/2010/main" val="192827961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1DC15-9917-4BD1-C0E2-5B9EB754CE3E}"/>
              </a:ext>
            </a:extLst>
          </p:cNvPr>
          <p:cNvSpPr>
            <a:spLocks noGrp="1"/>
          </p:cNvSpPr>
          <p:nvPr>
            <p:ph type="title"/>
          </p:nvPr>
        </p:nvSpPr>
        <p:spPr/>
        <p:txBody>
          <a:bodyPr/>
          <a:lstStyle/>
          <a:p>
            <a:r>
              <a:rPr lang="en-US" dirty="0"/>
              <a:t>Procedural generation</a:t>
            </a:r>
            <a:endParaRPr lang="en-BE" dirty="0"/>
          </a:p>
        </p:txBody>
      </p:sp>
      <p:pic>
        <p:nvPicPr>
          <p:cNvPr id="4" name="Picture 3">
            <a:extLst>
              <a:ext uri="{FF2B5EF4-FFF2-40B4-BE49-F238E27FC236}">
                <a16:creationId xmlns:a16="http://schemas.microsoft.com/office/drawing/2014/main" id="{5859A71A-8913-4617-A32A-6365CF98C52A}"/>
              </a:ext>
            </a:extLst>
          </p:cNvPr>
          <p:cNvPicPr>
            <a:picLocks noChangeAspect="1"/>
          </p:cNvPicPr>
          <p:nvPr/>
        </p:nvPicPr>
        <p:blipFill>
          <a:blip r:embed="rId3"/>
          <a:stretch>
            <a:fillRect/>
          </a:stretch>
        </p:blipFill>
        <p:spPr>
          <a:xfrm>
            <a:off x="2266415" y="2388436"/>
            <a:ext cx="7659169" cy="4258269"/>
          </a:xfrm>
          <a:prstGeom prst="rect">
            <a:avLst/>
          </a:prstGeom>
        </p:spPr>
      </p:pic>
      <p:sp>
        <p:nvSpPr>
          <p:cNvPr id="5" name="TextBox 4">
            <a:extLst>
              <a:ext uri="{FF2B5EF4-FFF2-40B4-BE49-F238E27FC236}">
                <a16:creationId xmlns:a16="http://schemas.microsoft.com/office/drawing/2014/main" id="{52A670E3-4B24-63AB-312C-AADE6537C592}"/>
              </a:ext>
            </a:extLst>
          </p:cNvPr>
          <p:cNvSpPr txBox="1"/>
          <p:nvPr/>
        </p:nvSpPr>
        <p:spPr>
          <a:xfrm>
            <a:off x="1032588" y="1604865"/>
            <a:ext cx="5753877" cy="461665"/>
          </a:xfrm>
          <a:prstGeom prst="rect">
            <a:avLst/>
          </a:prstGeom>
          <a:noFill/>
        </p:spPr>
        <p:txBody>
          <a:bodyPr wrap="square" rtlCol="0">
            <a:spAutoFit/>
          </a:bodyPr>
          <a:lstStyle/>
          <a:p>
            <a:r>
              <a:rPr lang="en-US" sz="2400" dirty="0">
                <a:hlinkClick r:id="rId4"/>
              </a:rPr>
              <a:t>https://www.shadertoy.com/view/MdX3Rr</a:t>
            </a:r>
            <a:endParaRPr lang="en-BE" sz="2400" dirty="0"/>
          </a:p>
        </p:txBody>
      </p:sp>
    </p:spTree>
    <p:extLst>
      <p:ext uri="{BB962C8B-B14F-4D97-AF65-F5344CB8AC3E}">
        <p14:creationId xmlns:p14="http://schemas.microsoft.com/office/powerpoint/2010/main" val="22972536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80636-041A-38E5-5BAB-40AD4D5FE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40C80-20E2-517A-DE7B-3EA4EB658954}"/>
              </a:ext>
            </a:extLst>
          </p:cNvPr>
          <p:cNvSpPr>
            <a:spLocks noGrp="1"/>
          </p:cNvSpPr>
          <p:nvPr>
            <p:ph type="title"/>
          </p:nvPr>
        </p:nvSpPr>
        <p:spPr/>
        <p:txBody>
          <a:bodyPr/>
          <a:lstStyle/>
          <a:p>
            <a:r>
              <a:rPr lang="en-US" dirty="0"/>
              <a:t>Procedural generation</a:t>
            </a:r>
            <a:endParaRPr lang="en-BE" dirty="0"/>
          </a:p>
        </p:txBody>
      </p:sp>
      <p:pic>
        <p:nvPicPr>
          <p:cNvPr id="6" name="Picture 5" descr="A video game of a house&#10;&#10;Description automatically generated">
            <a:extLst>
              <a:ext uri="{FF2B5EF4-FFF2-40B4-BE49-F238E27FC236}">
                <a16:creationId xmlns:a16="http://schemas.microsoft.com/office/drawing/2014/main" id="{352CD45D-062F-7BCC-53A9-135BE7A11C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9796" y="1604864"/>
            <a:ext cx="7879703" cy="5253135"/>
          </a:xfrm>
          <a:prstGeom prst="rect">
            <a:avLst/>
          </a:prstGeom>
        </p:spPr>
      </p:pic>
    </p:spTree>
    <p:extLst>
      <p:ext uri="{BB962C8B-B14F-4D97-AF65-F5344CB8AC3E}">
        <p14:creationId xmlns:p14="http://schemas.microsoft.com/office/powerpoint/2010/main" val="11038226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FD34-83D1-105D-F137-3B4E63A58F49}"/>
              </a:ext>
            </a:extLst>
          </p:cNvPr>
          <p:cNvSpPr>
            <a:spLocks noGrp="1"/>
          </p:cNvSpPr>
          <p:nvPr>
            <p:ph type="title"/>
          </p:nvPr>
        </p:nvSpPr>
        <p:spPr/>
        <p:txBody>
          <a:bodyPr/>
          <a:lstStyle/>
          <a:p>
            <a:r>
              <a:rPr lang="en-US" dirty="0"/>
              <a:t>Post Processing</a:t>
            </a:r>
            <a:endParaRPr lang="en-BE" dirty="0"/>
          </a:p>
        </p:txBody>
      </p:sp>
      <p:pic>
        <p:nvPicPr>
          <p:cNvPr id="4" name="Picture 3" descr="A group of cubes in a room&#10;&#10;Description automatically generated">
            <a:extLst>
              <a:ext uri="{FF2B5EF4-FFF2-40B4-BE49-F238E27FC236}">
                <a16:creationId xmlns:a16="http://schemas.microsoft.com/office/drawing/2014/main" id="{9303842E-CEAE-9F3C-67C4-DAD6B20A6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5412" y="1630027"/>
            <a:ext cx="10176588" cy="5227973"/>
          </a:xfrm>
          <a:prstGeom prst="rect">
            <a:avLst/>
          </a:prstGeom>
        </p:spPr>
      </p:pic>
    </p:spTree>
    <p:extLst>
      <p:ext uri="{BB962C8B-B14F-4D97-AF65-F5344CB8AC3E}">
        <p14:creationId xmlns:p14="http://schemas.microsoft.com/office/powerpoint/2010/main" val="41508225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5B5E3-034E-6654-C329-E44549F0B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9AD9F-DA7B-4BB3-A3F8-3321AF146ECB}"/>
              </a:ext>
            </a:extLst>
          </p:cNvPr>
          <p:cNvSpPr>
            <a:spLocks noGrp="1"/>
          </p:cNvSpPr>
          <p:nvPr>
            <p:ph type="title"/>
          </p:nvPr>
        </p:nvSpPr>
        <p:spPr/>
        <p:txBody>
          <a:bodyPr/>
          <a:lstStyle/>
          <a:p>
            <a:r>
              <a:rPr lang="en-US" dirty="0"/>
              <a:t>Post Processing</a:t>
            </a:r>
            <a:endParaRPr lang="en-BE" dirty="0"/>
          </a:p>
        </p:txBody>
      </p:sp>
      <p:pic>
        <p:nvPicPr>
          <p:cNvPr id="7" name="Picture 6" descr="A collage of people and a dog&#10;&#10;Description automatically generated">
            <a:extLst>
              <a:ext uri="{FF2B5EF4-FFF2-40B4-BE49-F238E27FC236}">
                <a16:creationId xmlns:a16="http://schemas.microsoft.com/office/drawing/2014/main" id="{FFCAD4D8-28F1-8AAA-F6EB-CA267E4360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5674" y="1690688"/>
            <a:ext cx="8299707" cy="4949825"/>
          </a:xfrm>
          <a:prstGeom prst="rect">
            <a:avLst/>
          </a:prstGeom>
        </p:spPr>
      </p:pic>
    </p:spTree>
    <p:extLst>
      <p:ext uri="{BB962C8B-B14F-4D97-AF65-F5344CB8AC3E}">
        <p14:creationId xmlns:p14="http://schemas.microsoft.com/office/powerpoint/2010/main" val="35117393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82965-A131-8DD0-8D79-7748E834D5E9}"/>
              </a:ext>
            </a:extLst>
          </p:cNvPr>
          <p:cNvSpPr>
            <a:spLocks noGrp="1"/>
          </p:cNvSpPr>
          <p:nvPr>
            <p:ph type="title"/>
          </p:nvPr>
        </p:nvSpPr>
        <p:spPr/>
        <p:txBody>
          <a:bodyPr/>
          <a:lstStyle/>
          <a:p>
            <a:r>
              <a:rPr lang="en-US" dirty="0"/>
              <a:t>Aliasing</a:t>
            </a:r>
            <a:endParaRPr lang="en-BE" dirty="0"/>
          </a:p>
        </p:txBody>
      </p:sp>
      <p:pic>
        <p:nvPicPr>
          <p:cNvPr id="3" name="Content Placeholder 9" descr="A picture containing sitting, indoor, black&#10;&#10;Description automatically generated">
            <a:extLst>
              <a:ext uri="{FF2B5EF4-FFF2-40B4-BE49-F238E27FC236}">
                <a16:creationId xmlns:a16="http://schemas.microsoft.com/office/drawing/2014/main" id="{0B59A93A-8F68-BF9A-10E5-52FD401C67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4154" y="1379588"/>
            <a:ext cx="9724991" cy="5478412"/>
          </a:xfrm>
          <a:prstGeom prst="rect">
            <a:avLst/>
          </a:prstGeom>
        </p:spPr>
      </p:pic>
    </p:spTree>
    <p:extLst>
      <p:ext uri="{BB962C8B-B14F-4D97-AF65-F5344CB8AC3E}">
        <p14:creationId xmlns:p14="http://schemas.microsoft.com/office/powerpoint/2010/main" val="39220709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2EAA8-96F2-384B-C97E-061C1826AC9F}"/>
              </a:ext>
            </a:extLst>
          </p:cNvPr>
          <p:cNvSpPr>
            <a:spLocks noGrp="1"/>
          </p:cNvSpPr>
          <p:nvPr>
            <p:ph type="title"/>
          </p:nvPr>
        </p:nvSpPr>
        <p:spPr/>
        <p:txBody>
          <a:bodyPr/>
          <a:lstStyle/>
          <a:p>
            <a:r>
              <a:rPr lang="en-US" dirty="0"/>
              <a:t>(Hardware)</a:t>
            </a:r>
            <a:endParaRPr lang="en-BE" dirty="0"/>
          </a:p>
        </p:txBody>
      </p:sp>
      <p:pic>
        <p:nvPicPr>
          <p:cNvPr id="4" name="Picture 3" descr="A screenshot of a computer screen&#10;&#10;Description automatically generated">
            <a:extLst>
              <a:ext uri="{FF2B5EF4-FFF2-40B4-BE49-F238E27FC236}">
                <a16:creationId xmlns:a16="http://schemas.microsoft.com/office/drawing/2014/main" id="{C4101DA8-0A19-0D23-FC73-0E2D17C33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7429" y="43695"/>
            <a:ext cx="7184571" cy="6814306"/>
          </a:xfrm>
          <a:prstGeom prst="rect">
            <a:avLst/>
          </a:prstGeom>
        </p:spPr>
      </p:pic>
      <p:pic>
        <p:nvPicPr>
          <p:cNvPr id="5" name="Picture 4">
            <a:extLst>
              <a:ext uri="{FF2B5EF4-FFF2-40B4-BE49-F238E27FC236}">
                <a16:creationId xmlns:a16="http://schemas.microsoft.com/office/drawing/2014/main" id="{010BC05C-079F-6E32-55A8-E4E3649C7852}"/>
              </a:ext>
            </a:extLst>
          </p:cNvPr>
          <p:cNvPicPr>
            <a:picLocks noChangeAspect="1"/>
          </p:cNvPicPr>
          <p:nvPr/>
        </p:nvPicPr>
        <p:blipFill>
          <a:blip r:embed="rId4"/>
          <a:stretch>
            <a:fillRect/>
          </a:stretch>
        </p:blipFill>
        <p:spPr>
          <a:xfrm>
            <a:off x="569440" y="2310836"/>
            <a:ext cx="3505689" cy="4039164"/>
          </a:xfrm>
          <a:prstGeom prst="rect">
            <a:avLst/>
          </a:prstGeom>
        </p:spPr>
      </p:pic>
    </p:spTree>
    <p:extLst>
      <p:ext uri="{BB962C8B-B14F-4D97-AF65-F5344CB8AC3E}">
        <p14:creationId xmlns:p14="http://schemas.microsoft.com/office/powerpoint/2010/main" val="15955341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73514-D613-EAE2-FE90-317C05816B9E}"/>
              </a:ext>
            </a:extLst>
          </p:cNvPr>
          <p:cNvSpPr>
            <a:spLocks noGrp="1"/>
          </p:cNvSpPr>
          <p:nvPr>
            <p:ph type="title"/>
          </p:nvPr>
        </p:nvSpPr>
        <p:spPr/>
        <p:txBody>
          <a:bodyPr/>
          <a:lstStyle/>
          <a:p>
            <a:r>
              <a:rPr lang="en-US" dirty="0"/>
              <a:t>Recap</a:t>
            </a:r>
            <a:endParaRPr lang="nl-BE" dirty="0"/>
          </a:p>
        </p:txBody>
      </p:sp>
      <p:sp>
        <p:nvSpPr>
          <p:cNvPr id="3" name="TextBox 2">
            <a:extLst>
              <a:ext uri="{FF2B5EF4-FFF2-40B4-BE49-F238E27FC236}">
                <a16:creationId xmlns:a16="http://schemas.microsoft.com/office/drawing/2014/main" id="{D8F1E425-FD85-B157-7FD0-07A8E734A957}"/>
              </a:ext>
            </a:extLst>
          </p:cNvPr>
          <p:cNvSpPr txBox="1"/>
          <p:nvPr/>
        </p:nvSpPr>
        <p:spPr>
          <a:xfrm>
            <a:off x="1037230" y="1931158"/>
            <a:ext cx="7552517" cy="1815882"/>
          </a:xfrm>
          <a:prstGeom prst="rect">
            <a:avLst/>
          </a:prstGeom>
          <a:noFill/>
        </p:spPr>
        <p:txBody>
          <a:bodyPr wrap="none" rtlCol="0">
            <a:spAutoFit/>
          </a:bodyPr>
          <a:lstStyle/>
          <a:p>
            <a:pPr marL="285750" indent="-285750">
              <a:buFont typeface="Arial" panose="020B0604020202020204" pitchFamily="34" charset="0"/>
              <a:buChar char="•"/>
            </a:pPr>
            <a:r>
              <a:rPr lang="en-US" sz="2800" dirty="0"/>
              <a:t>This course teaches you how 3d rendering works</a:t>
            </a:r>
          </a:p>
          <a:p>
            <a:pPr marL="285750" indent="-285750">
              <a:buFont typeface="Arial" panose="020B0604020202020204" pitchFamily="34" charset="0"/>
              <a:buChar char="•"/>
            </a:pPr>
            <a:r>
              <a:rPr lang="en-US" sz="2800" dirty="0"/>
              <a:t>Specifically, </a:t>
            </a:r>
            <a:r>
              <a:rPr lang="en-US" sz="2800" dirty="0" err="1"/>
              <a:t>realtime</a:t>
            </a:r>
            <a:r>
              <a:rPr lang="en-US" sz="2800" dirty="0"/>
              <a:t> 3d rendering</a:t>
            </a:r>
          </a:p>
          <a:p>
            <a:pPr marL="285750" indent="-285750">
              <a:buFont typeface="Arial" panose="020B0604020202020204" pitchFamily="34" charset="0"/>
              <a:buChar char="•"/>
            </a:pPr>
            <a:r>
              <a:rPr lang="en-US" sz="2800" dirty="0"/>
              <a:t>It’s a lot of simple concepts</a:t>
            </a:r>
          </a:p>
          <a:p>
            <a:pPr marL="285750" indent="-285750">
              <a:buFont typeface="Arial" panose="020B0604020202020204" pitchFamily="34" charset="0"/>
              <a:buChar char="•"/>
            </a:pPr>
            <a:r>
              <a:rPr lang="en-US" sz="2800" dirty="0"/>
              <a:t>These concepts interact, so it can be rough</a:t>
            </a:r>
            <a:endParaRPr lang="en-BE" sz="2800" dirty="0"/>
          </a:p>
        </p:txBody>
      </p:sp>
    </p:spTree>
    <p:extLst>
      <p:ext uri="{BB962C8B-B14F-4D97-AF65-F5344CB8AC3E}">
        <p14:creationId xmlns:p14="http://schemas.microsoft.com/office/powerpoint/2010/main" val="39709813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009A1-50C6-D89A-A7AD-8A280DB723DB}"/>
              </a:ext>
            </a:extLst>
          </p:cNvPr>
          <p:cNvSpPr>
            <a:spLocks noGrp="1"/>
          </p:cNvSpPr>
          <p:nvPr>
            <p:ph type="title"/>
          </p:nvPr>
        </p:nvSpPr>
        <p:spPr/>
        <p:txBody>
          <a:bodyPr/>
          <a:lstStyle/>
          <a:p>
            <a:r>
              <a:rPr lang="en-US" dirty="0"/>
              <a:t>Tomorrow (maybe)</a:t>
            </a:r>
            <a:endParaRPr lang="en-BE" dirty="0"/>
          </a:p>
        </p:txBody>
      </p:sp>
      <p:sp>
        <p:nvSpPr>
          <p:cNvPr id="4" name="TextBox 3">
            <a:extLst>
              <a:ext uri="{FF2B5EF4-FFF2-40B4-BE49-F238E27FC236}">
                <a16:creationId xmlns:a16="http://schemas.microsoft.com/office/drawing/2014/main" id="{C3DCAAF0-1DA7-7693-89B0-848F9AF4AE65}"/>
              </a:ext>
            </a:extLst>
          </p:cNvPr>
          <p:cNvSpPr txBox="1"/>
          <p:nvPr/>
        </p:nvSpPr>
        <p:spPr>
          <a:xfrm>
            <a:off x="758890" y="2401078"/>
            <a:ext cx="530915" cy="461665"/>
          </a:xfrm>
          <a:prstGeom prst="rect">
            <a:avLst/>
          </a:prstGeom>
          <a:noFill/>
        </p:spPr>
        <p:txBody>
          <a:bodyPr wrap="none" rtlCol="0">
            <a:spAutoFit/>
          </a:bodyPr>
          <a:lstStyle/>
          <a:p>
            <a:pPr marL="342900" indent="-342900">
              <a:buFont typeface="Arial" panose="020B0604020202020204" pitchFamily="34" charset="0"/>
              <a:buChar char="•"/>
            </a:pPr>
            <a:endParaRPr lang="en-US" sz="2400" dirty="0"/>
          </a:p>
        </p:txBody>
      </p:sp>
      <p:sp>
        <p:nvSpPr>
          <p:cNvPr id="3" name="TextBox 2">
            <a:extLst>
              <a:ext uri="{FF2B5EF4-FFF2-40B4-BE49-F238E27FC236}">
                <a16:creationId xmlns:a16="http://schemas.microsoft.com/office/drawing/2014/main" id="{CA008D85-5BE9-69F2-65CC-E3F7839DB770}"/>
              </a:ext>
            </a:extLst>
          </p:cNvPr>
          <p:cNvSpPr txBox="1"/>
          <p:nvPr/>
        </p:nvSpPr>
        <p:spPr>
          <a:xfrm>
            <a:off x="1289805" y="2216412"/>
            <a:ext cx="4285660"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Will post some homework</a:t>
            </a:r>
            <a:endParaRPr lang="en-BE" sz="2800" dirty="0"/>
          </a:p>
        </p:txBody>
      </p:sp>
      <p:pic>
        <p:nvPicPr>
          <p:cNvPr id="5" name="Picture 4" descr="Cartoon characters sitting in a chair&#10;&#10;Description automatically generated">
            <a:extLst>
              <a:ext uri="{FF2B5EF4-FFF2-40B4-BE49-F238E27FC236}">
                <a16:creationId xmlns:a16="http://schemas.microsoft.com/office/drawing/2014/main" id="{62F6B600-5CD6-E7CD-113F-3E8E3005CB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209800"/>
            <a:ext cx="6096000" cy="4648200"/>
          </a:xfrm>
          <a:prstGeom prst="rect">
            <a:avLst/>
          </a:prstGeom>
        </p:spPr>
      </p:pic>
    </p:spTree>
    <p:extLst>
      <p:ext uri="{BB962C8B-B14F-4D97-AF65-F5344CB8AC3E}">
        <p14:creationId xmlns:p14="http://schemas.microsoft.com/office/powerpoint/2010/main" val="5785658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93385-4979-409D-4F71-A73B9BCD3F65}"/>
              </a:ext>
            </a:extLst>
          </p:cNvPr>
          <p:cNvSpPr>
            <a:spLocks noGrp="1"/>
          </p:cNvSpPr>
          <p:nvPr>
            <p:ph type="title"/>
          </p:nvPr>
        </p:nvSpPr>
        <p:spPr/>
        <p:txBody>
          <a:bodyPr/>
          <a:lstStyle/>
          <a:p>
            <a:r>
              <a:rPr lang="en-US" dirty="0"/>
              <a:t>Next week</a:t>
            </a:r>
            <a:endParaRPr lang="en-BE" dirty="0"/>
          </a:p>
        </p:txBody>
      </p:sp>
      <p:sp>
        <p:nvSpPr>
          <p:cNvPr id="3" name="TextBox 2">
            <a:extLst>
              <a:ext uri="{FF2B5EF4-FFF2-40B4-BE49-F238E27FC236}">
                <a16:creationId xmlns:a16="http://schemas.microsoft.com/office/drawing/2014/main" id="{7F41DD34-0E97-EF4B-720E-B683660CE711}"/>
              </a:ext>
            </a:extLst>
          </p:cNvPr>
          <p:cNvSpPr txBox="1"/>
          <p:nvPr/>
        </p:nvSpPr>
        <p:spPr>
          <a:xfrm>
            <a:off x="608671" y="1429078"/>
            <a:ext cx="6271100"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Thinking in 3D</a:t>
            </a:r>
          </a:p>
          <a:p>
            <a:pPr marL="285750" indent="-285750">
              <a:buFont typeface="Arial" panose="020B0604020202020204" pitchFamily="34" charset="0"/>
              <a:buChar char="•"/>
            </a:pPr>
            <a:r>
              <a:rPr lang="en-US" sz="2800" dirty="0"/>
              <a:t>How to position, rotate, scale objects</a:t>
            </a:r>
          </a:p>
          <a:p>
            <a:pPr marL="285750" indent="-285750">
              <a:buFont typeface="Arial" panose="020B0604020202020204" pitchFamily="34" charset="0"/>
              <a:buChar char="•"/>
            </a:pPr>
            <a:r>
              <a:rPr lang="en-US" sz="2800" dirty="0"/>
              <a:t>Dot product (like before)</a:t>
            </a:r>
          </a:p>
          <a:p>
            <a:pPr marL="285750" indent="-285750">
              <a:buFont typeface="Arial" panose="020B0604020202020204" pitchFamily="34" charset="0"/>
              <a:buChar char="•"/>
            </a:pPr>
            <a:r>
              <a:rPr lang="en-US" sz="2800" dirty="0"/>
              <a:t>More…..</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Important class, this will be confusing for a while</a:t>
            </a:r>
          </a:p>
        </p:txBody>
      </p:sp>
      <p:pic>
        <p:nvPicPr>
          <p:cNvPr id="1026" name="Picture 2" descr="Viewport Gizmos - Blender 4.3 Manual">
            <a:hlinkClick r:id="rId3"/>
            <a:extLst>
              <a:ext uri="{FF2B5EF4-FFF2-40B4-BE49-F238E27FC236}">
                <a16:creationId xmlns:a16="http://schemas.microsoft.com/office/drawing/2014/main" id="{500C891D-F607-B330-79F1-DF38F427ED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5296" y="878341"/>
            <a:ext cx="4264705" cy="4264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689725"/>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1" id="{6849F4D6-1FB7-4CEB-8CC6-E456C34ADDA4}" vid="{0A04E370-2E7A-4A97-A218-FEC8E52F4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slides_theme</Template>
  <TotalTime>30958</TotalTime>
  <Words>3193</Words>
  <Application>Microsoft Office PowerPoint</Application>
  <PresentationFormat>Widescreen</PresentationFormat>
  <Paragraphs>487</Paragraphs>
  <Slides>95</Slides>
  <Notes>95</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95</vt:i4>
      </vt:variant>
    </vt:vector>
  </HeadingPairs>
  <TitlesOfParts>
    <vt:vector size="101" baseType="lpstr">
      <vt:lpstr>Arial</vt:lpstr>
      <vt:lpstr>Calibri</vt:lpstr>
      <vt:lpstr>Calibri Light</vt:lpstr>
      <vt:lpstr>Tahoma</vt:lpstr>
      <vt:lpstr>Wingdings</vt:lpstr>
      <vt:lpstr>Kantoorthema</vt:lpstr>
      <vt:lpstr>PowerPoint Presentation</vt:lpstr>
      <vt:lpstr>I’m very happy you’re here</vt:lpstr>
      <vt:lpstr>I really like 3d graphics </vt:lpstr>
      <vt:lpstr>It’s a very satisfying topic</vt:lpstr>
      <vt:lpstr>We have very few class hours  </vt:lpstr>
      <vt:lpstr>This class</vt:lpstr>
      <vt:lpstr>Contents of this course</vt:lpstr>
      <vt:lpstr>What are “3D graphics”?</vt:lpstr>
      <vt:lpstr>Creating 3D graphics</vt:lpstr>
      <vt:lpstr>This course should be called 3D rendering</vt:lpstr>
      <vt:lpstr>There are two kinds of rendering</vt:lpstr>
      <vt:lpstr>There are two kinds of rendering</vt:lpstr>
      <vt:lpstr>There are two kinds of rendering</vt:lpstr>
      <vt:lpstr>There are two kinds of rendering</vt:lpstr>
      <vt:lpstr>What is the big difference?</vt:lpstr>
      <vt:lpstr>What is the big difference?</vt:lpstr>
      <vt:lpstr>What is the big difference?</vt:lpstr>
      <vt:lpstr>What is the big difference?</vt:lpstr>
      <vt:lpstr>Trick question! It doesn’t matter</vt:lpstr>
      <vt:lpstr>This course should be called “realtime 3D rendering”</vt:lpstr>
      <vt:lpstr>Course schedule</vt:lpstr>
      <vt:lpstr>This might not make a lot of sense yet</vt:lpstr>
      <vt:lpstr>Reframe: we want to understand why a pixel has it’s color</vt:lpstr>
      <vt:lpstr>What questions do you have?</vt:lpstr>
      <vt:lpstr>This class</vt:lpstr>
      <vt:lpstr>Evaluation of this course</vt:lpstr>
      <vt:lpstr>Project</vt:lpstr>
      <vt:lpstr>Is that clear? Any concerns?</vt:lpstr>
      <vt:lpstr>This class</vt:lpstr>
      <vt:lpstr>Questions</vt:lpstr>
      <vt:lpstr>Contacting me : send me an email!</vt:lpstr>
      <vt:lpstr>Abscences</vt:lpstr>
      <vt:lpstr>ChatGPT et al</vt:lpstr>
      <vt:lpstr>This class</vt:lpstr>
      <vt:lpstr>First install the following</vt:lpstr>
      <vt:lpstr>What is Unity?</vt:lpstr>
      <vt:lpstr>Why Unity? Any ideas?</vt:lpstr>
      <vt:lpstr>Why Unity?</vt:lpstr>
      <vt:lpstr>Why not Unity? Any ideas?</vt:lpstr>
      <vt:lpstr>Why not Unity?</vt:lpstr>
      <vt:lpstr>What do we need to learn</vt:lpstr>
      <vt:lpstr>1 Unity Editor</vt:lpstr>
      <vt:lpstr>2 C#</vt:lpstr>
      <vt:lpstr>3 HLSL</vt:lpstr>
      <vt:lpstr>The next hour-ish</vt:lpstr>
      <vt:lpstr>1 : Create a new project</vt:lpstr>
      <vt:lpstr>2. Choose 3D (URP), download template</vt:lpstr>
      <vt:lpstr>3 Actually create the project</vt:lpstr>
      <vt:lpstr>4 Check that you see this, and try to move around</vt:lpstr>
      <vt:lpstr>5 Add a sphere to the world</vt:lpstr>
      <vt:lpstr>6 Right click in project window,   Create-&gt;Shader Graph-&gt;URP-&gt;Lit Shader Graph</vt:lpstr>
      <vt:lpstr>7 Click the box next to “Base Color”, and pick blue </vt:lpstr>
      <vt:lpstr>8 Go back to scene view. Click arrow next to   graph, and drag that (material) on the scene sphere</vt:lpstr>
      <vt:lpstr>9 Victory?</vt:lpstr>
      <vt:lpstr>What is the difference between these two?</vt:lpstr>
      <vt:lpstr>This is a sphere that is pure blue</vt:lpstr>
      <vt:lpstr>This is a blue sphere, lit by a light</vt:lpstr>
      <vt:lpstr>We are going to learn how to make the lit one</vt:lpstr>
      <vt:lpstr>10 Right click in project window,   Create-&gt;Shader Graph-&gt;URP-&gt;Unlit Shader Graph </vt:lpstr>
      <vt:lpstr>11 Set base color to blue, SAVE, apply the material</vt:lpstr>
      <vt:lpstr>12 Check your results in Scene View</vt:lpstr>
      <vt:lpstr>13 Start adding nodes to your graph  On graph: right click, create node</vt:lpstr>
      <vt:lpstr>14 Continue adding nodes to your graph</vt:lpstr>
      <vt:lpstr>15 Save your graph and check your results </vt:lpstr>
      <vt:lpstr>This looks very interesting!</vt:lpstr>
      <vt:lpstr>This looks very interesting! (not a joke)</vt:lpstr>
      <vt:lpstr>We have just implemented diffuse lighting</vt:lpstr>
      <vt:lpstr>We used 3 concept to implement it </vt:lpstr>
      <vt:lpstr>1 N is the vector perpendicular to the surface</vt:lpstr>
      <vt:lpstr>1 N is the vector perpendicular to the surface</vt:lpstr>
      <vt:lpstr>1 N is the vector perpendicular to the surface</vt:lpstr>
      <vt:lpstr>2 The light direction </vt:lpstr>
      <vt:lpstr>2 The light direction </vt:lpstr>
      <vt:lpstr>3 The dot product</vt:lpstr>
      <vt:lpstr>So now we should understand this image</vt:lpstr>
      <vt:lpstr>You see why this course is complex</vt:lpstr>
      <vt:lpstr>Let’s use a texture for a nicer result</vt:lpstr>
      <vt:lpstr>Add a Multiply between Saturate and the output</vt:lpstr>
      <vt:lpstr>Add a Sample Texture 2D</vt:lpstr>
      <vt:lpstr>Save and check your results</vt:lpstr>
      <vt:lpstr>It looks flat</vt:lpstr>
      <vt:lpstr>Quick tour of the rest of the course</vt:lpstr>
      <vt:lpstr>Camera’s </vt:lpstr>
      <vt:lpstr>Pipeline</vt:lpstr>
      <vt:lpstr>Materials</vt:lpstr>
      <vt:lpstr>Materials</vt:lpstr>
      <vt:lpstr>Procedural generation</vt:lpstr>
      <vt:lpstr>Procedural generation</vt:lpstr>
      <vt:lpstr>Post Processing</vt:lpstr>
      <vt:lpstr>Post Processing</vt:lpstr>
      <vt:lpstr>Aliasing</vt:lpstr>
      <vt:lpstr>(Hardware)</vt:lpstr>
      <vt:lpstr>Recap</vt:lpstr>
      <vt:lpstr>Tomorrow (maybe)</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Daan Nijs</dc:creator>
  <cp:lastModifiedBy>Daan Nijs</cp:lastModifiedBy>
  <cp:revision>30</cp:revision>
  <dcterms:created xsi:type="dcterms:W3CDTF">2024-01-29T23:06:06Z</dcterms:created>
  <dcterms:modified xsi:type="dcterms:W3CDTF">2025-05-30T13:01:23Z</dcterms:modified>
</cp:coreProperties>
</file>