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76"/>
  </p:notesMasterIdLst>
  <p:sldIdLst>
    <p:sldId id="256" r:id="rId2"/>
    <p:sldId id="362" r:id="rId3"/>
    <p:sldId id="338" r:id="rId4"/>
    <p:sldId id="258" r:id="rId5"/>
    <p:sldId id="341" r:id="rId6"/>
    <p:sldId id="342" r:id="rId7"/>
    <p:sldId id="343" r:id="rId8"/>
    <p:sldId id="345" r:id="rId9"/>
    <p:sldId id="422" r:id="rId10"/>
    <p:sldId id="423" r:id="rId11"/>
    <p:sldId id="428" r:id="rId12"/>
    <p:sldId id="348" r:id="rId13"/>
    <p:sldId id="349" r:id="rId14"/>
    <p:sldId id="350" r:id="rId15"/>
    <p:sldId id="351" r:id="rId16"/>
    <p:sldId id="352" r:id="rId17"/>
    <p:sldId id="430" r:id="rId18"/>
    <p:sldId id="355" r:id="rId19"/>
    <p:sldId id="353" r:id="rId20"/>
    <p:sldId id="429" r:id="rId21"/>
    <p:sldId id="371" r:id="rId22"/>
    <p:sldId id="373" r:id="rId23"/>
    <p:sldId id="411" r:id="rId24"/>
    <p:sldId id="374" r:id="rId25"/>
    <p:sldId id="375" r:id="rId26"/>
    <p:sldId id="376" r:id="rId27"/>
    <p:sldId id="412" r:id="rId28"/>
    <p:sldId id="357" r:id="rId29"/>
    <p:sldId id="377" r:id="rId30"/>
    <p:sldId id="358" r:id="rId31"/>
    <p:sldId id="359" r:id="rId32"/>
    <p:sldId id="360" r:id="rId33"/>
    <p:sldId id="425" r:id="rId34"/>
    <p:sldId id="426" r:id="rId35"/>
    <p:sldId id="427" r:id="rId36"/>
    <p:sldId id="370" r:id="rId37"/>
    <p:sldId id="378" r:id="rId38"/>
    <p:sldId id="379" r:id="rId39"/>
    <p:sldId id="383" r:id="rId40"/>
    <p:sldId id="384" r:id="rId41"/>
    <p:sldId id="385" r:id="rId42"/>
    <p:sldId id="386" r:id="rId43"/>
    <p:sldId id="419" r:id="rId44"/>
    <p:sldId id="389" r:id="rId45"/>
    <p:sldId id="387" r:id="rId46"/>
    <p:sldId id="388" r:id="rId47"/>
    <p:sldId id="390" r:id="rId48"/>
    <p:sldId id="391" r:id="rId49"/>
    <p:sldId id="392" r:id="rId50"/>
    <p:sldId id="393" r:id="rId51"/>
    <p:sldId id="394" r:id="rId52"/>
    <p:sldId id="395" r:id="rId53"/>
    <p:sldId id="396" r:id="rId54"/>
    <p:sldId id="397" r:id="rId55"/>
    <p:sldId id="415" r:id="rId56"/>
    <p:sldId id="398" r:id="rId57"/>
    <p:sldId id="399" r:id="rId58"/>
    <p:sldId id="421" r:id="rId59"/>
    <p:sldId id="400" r:id="rId60"/>
    <p:sldId id="402" r:id="rId61"/>
    <p:sldId id="401" r:id="rId62"/>
    <p:sldId id="403" r:id="rId63"/>
    <p:sldId id="405" r:id="rId64"/>
    <p:sldId id="406" r:id="rId65"/>
    <p:sldId id="408" r:id="rId66"/>
    <p:sldId id="407" r:id="rId67"/>
    <p:sldId id="409" r:id="rId68"/>
    <p:sldId id="414" r:id="rId69"/>
    <p:sldId id="416" r:id="rId70"/>
    <p:sldId id="417" r:id="rId71"/>
    <p:sldId id="418" r:id="rId72"/>
    <p:sldId id="260" r:id="rId73"/>
    <p:sldId id="431" r:id="rId74"/>
    <p:sldId id="410" r:id="rId75"/>
  </p:sldIdLst>
  <p:sldSz cx="12192000" cy="6858000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F797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10" autoAdjust="0"/>
    <p:restoredTop sz="94660"/>
  </p:normalViewPr>
  <p:slideViewPr>
    <p:cSldViewPr snapToGrid="0">
      <p:cViewPr varScale="1">
        <p:scale>
          <a:sx n="154" d="100"/>
          <a:sy n="154" d="100"/>
        </p:scale>
        <p:origin x="174" y="3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79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4F484BD-A9A3-4CBB-88D6-39267B7F5B46}" type="datetimeFigureOut">
              <a:rPr lang="en-BE" smtClean="0"/>
              <a:t>19/02/2025</a:t>
            </a:fld>
            <a:endParaRPr lang="en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47F9D2B-EF00-4575-9013-113DEEFD58FD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2083507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41A99A4F-35CE-47F0-8C3E-203AE0949D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66640" y="203420"/>
            <a:ext cx="3297850" cy="12614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Ondertitel 2">
            <a:extLst>
              <a:ext uri="{FF2B5EF4-FFF2-40B4-BE49-F238E27FC236}">
                <a16:creationId xmlns:a16="http://schemas.microsoft.com/office/drawing/2014/main" id="{7A68A714-4E45-4A04-B828-B282FA62E7BB}"/>
              </a:ext>
            </a:extLst>
          </p:cNvPr>
          <p:cNvSpPr txBox="1">
            <a:spLocks/>
          </p:cNvSpPr>
          <p:nvPr/>
        </p:nvSpPr>
        <p:spPr>
          <a:xfrm>
            <a:off x="1450282" y="5343926"/>
            <a:ext cx="4074659" cy="5547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nl-BE" sz="20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l-NL" dirty="0"/>
          </a:p>
        </p:txBody>
      </p:sp>
      <p:sp>
        <p:nvSpPr>
          <p:cNvPr id="28" name="Ondertitel 2">
            <a:extLst>
              <a:ext uri="{FF2B5EF4-FFF2-40B4-BE49-F238E27FC236}">
                <a16:creationId xmlns:a16="http://schemas.microsoft.com/office/drawing/2014/main" id="{8A446F7F-F106-4612-85BC-FC020C0B34DC}"/>
              </a:ext>
            </a:extLst>
          </p:cNvPr>
          <p:cNvSpPr txBox="1">
            <a:spLocks/>
          </p:cNvSpPr>
          <p:nvPr/>
        </p:nvSpPr>
        <p:spPr>
          <a:xfrm>
            <a:off x="1450282" y="5898693"/>
            <a:ext cx="4074659" cy="5547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nl-BE" sz="20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l-NL" dirty="0"/>
          </a:p>
        </p:txBody>
      </p:sp>
      <p:sp>
        <p:nvSpPr>
          <p:cNvPr id="36" name="Ondertitel 2">
            <a:extLst>
              <a:ext uri="{FF2B5EF4-FFF2-40B4-BE49-F238E27FC236}">
                <a16:creationId xmlns:a16="http://schemas.microsoft.com/office/drawing/2014/main" id="{DB1150AE-9B1F-43AF-B4A6-C1581C0B3127}"/>
              </a:ext>
            </a:extLst>
          </p:cNvPr>
          <p:cNvSpPr txBox="1">
            <a:spLocks/>
          </p:cNvSpPr>
          <p:nvPr/>
        </p:nvSpPr>
        <p:spPr>
          <a:xfrm>
            <a:off x="1" y="462498"/>
            <a:ext cx="1853738" cy="309801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nl-BE" sz="20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 sz="1200" dirty="0"/>
              <a:t>Toegepaste Informatica</a:t>
            </a:r>
          </a:p>
        </p:txBody>
      </p:sp>
      <p:sp>
        <p:nvSpPr>
          <p:cNvPr id="38" name="Minteken 37">
            <a:extLst>
              <a:ext uri="{FF2B5EF4-FFF2-40B4-BE49-F238E27FC236}">
                <a16:creationId xmlns:a16="http://schemas.microsoft.com/office/drawing/2014/main" id="{FFEC5E01-43EA-497E-BCC0-939DBCAFA0AC}"/>
              </a:ext>
            </a:extLst>
          </p:cNvPr>
          <p:cNvSpPr/>
          <p:nvPr/>
        </p:nvSpPr>
        <p:spPr>
          <a:xfrm rot="5400000">
            <a:off x="-183168" y="5307680"/>
            <a:ext cx="2851263" cy="415636"/>
          </a:xfrm>
          <a:prstGeom prst="mathMinus">
            <a:avLst/>
          </a:prstGeom>
          <a:solidFill>
            <a:srgbClr val="E30046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nl-BE">
              <a:solidFill>
                <a:srgbClr val="E00049"/>
              </a:solidFill>
            </a:endParaRPr>
          </a:p>
        </p:txBody>
      </p:sp>
      <p:sp>
        <p:nvSpPr>
          <p:cNvPr id="41" name="Ondertitel 2">
            <a:extLst>
              <a:ext uri="{FF2B5EF4-FFF2-40B4-BE49-F238E27FC236}">
                <a16:creationId xmlns:a16="http://schemas.microsoft.com/office/drawing/2014/main" id="{DCD259FC-79B5-41AB-BBC2-4D07C62B0949}"/>
              </a:ext>
            </a:extLst>
          </p:cNvPr>
          <p:cNvSpPr txBox="1">
            <a:spLocks/>
          </p:cNvSpPr>
          <p:nvPr/>
        </p:nvSpPr>
        <p:spPr>
          <a:xfrm>
            <a:off x="-31204" y="1442735"/>
            <a:ext cx="1481486" cy="309801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nl-BE" sz="20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l-NL" sz="1200" kern="1200" cap="none" baseline="0" dirty="0">
              <a:solidFill>
                <a:srgbClr val="002757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42" name="Minteken 41">
            <a:extLst>
              <a:ext uri="{FF2B5EF4-FFF2-40B4-BE49-F238E27FC236}">
                <a16:creationId xmlns:a16="http://schemas.microsoft.com/office/drawing/2014/main" id="{FB0D61FF-F819-41D6-9F0E-2A87A96AF34A}"/>
              </a:ext>
            </a:extLst>
          </p:cNvPr>
          <p:cNvSpPr/>
          <p:nvPr/>
        </p:nvSpPr>
        <p:spPr>
          <a:xfrm>
            <a:off x="-353435" y="166756"/>
            <a:ext cx="2776160" cy="415636"/>
          </a:xfrm>
          <a:prstGeom prst="mathMinus">
            <a:avLst/>
          </a:prstGeom>
          <a:solidFill>
            <a:srgbClr val="E30046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nl-BE">
              <a:solidFill>
                <a:srgbClr val="E00049"/>
              </a:solidFill>
            </a:endParaRPr>
          </a:p>
        </p:txBody>
      </p:sp>
      <p:sp>
        <p:nvSpPr>
          <p:cNvPr id="43" name="Minteken 42">
            <a:extLst>
              <a:ext uri="{FF2B5EF4-FFF2-40B4-BE49-F238E27FC236}">
                <a16:creationId xmlns:a16="http://schemas.microsoft.com/office/drawing/2014/main" id="{1A9D60B7-98CA-44B4-A342-238265272E5D}"/>
              </a:ext>
            </a:extLst>
          </p:cNvPr>
          <p:cNvSpPr/>
          <p:nvPr/>
        </p:nvSpPr>
        <p:spPr>
          <a:xfrm>
            <a:off x="-221962" y="626338"/>
            <a:ext cx="1762587" cy="415636"/>
          </a:xfrm>
          <a:prstGeom prst="mathMinus">
            <a:avLst/>
          </a:prstGeom>
          <a:solidFill>
            <a:srgbClr val="E30046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nl-BE">
              <a:solidFill>
                <a:srgbClr val="E00049"/>
              </a:solidFill>
            </a:endParaRPr>
          </a:p>
        </p:txBody>
      </p:sp>
      <p:sp>
        <p:nvSpPr>
          <p:cNvPr id="44" name="Minteken 43">
            <a:extLst>
              <a:ext uri="{FF2B5EF4-FFF2-40B4-BE49-F238E27FC236}">
                <a16:creationId xmlns:a16="http://schemas.microsoft.com/office/drawing/2014/main" id="{2AD40B60-09F3-42CA-BFC7-F232D5069233}"/>
              </a:ext>
            </a:extLst>
          </p:cNvPr>
          <p:cNvSpPr/>
          <p:nvPr/>
        </p:nvSpPr>
        <p:spPr>
          <a:xfrm>
            <a:off x="-155460" y="1111987"/>
            <a:ext cx="1256606" cy="415636"/>
          </a:xfrm>
          <a:prstGeom prst="mathMinus">
            <a:avLst/>
          </a:prstGeom>
          <a:solidFill>
            <a:srgbClr val="E30046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nl-BE">
              <a:solidFill>
                <a:srgbClr val="E00049"/>
              </a:solidFill>
            </a:endParaRPr>
          </a:p>
        </p:txBody>
      </p:sp>
      <p:sp>
        <p:nvSpPr>
          <p:cNvPr id="14" name="Ondertitel 2">
            <a:extLst>
              <a:ext uri="{FF2B5EF4-FFF2-40B4-BE49-F238E27FC236}">
                <a16:creationId xmlns:a16="http://schemas.microsoft.com/office/drawing/2014/main" id="{DA9D40DB-B7E8-4A33-B5FB-9DD5105C49A1}"/>
              </a:ext>
            </a:extLst>
          </p:cNvPr>
          <p:cNvSpPr txBox="1">
            <a:spLocks/>
          </p:cNvSpPr>
          <p:nvPr/>
        </p:nvSpPr>
        <p:spPr>
          <a:xfrm>
            <a:off x="-31204" y="957086"/>
            <a:ext cx="1853738" cy="309801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nl-BE" sz="20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l-NL" sz="1200" dirty="0"/>
          </a:p>
        </p:txBody>
      </p:sp>
      <p:sp>
        <p:nvSpPr>
          <p:cNvPr id="12" name="Tijdelijke aanduiding voor tekst 11">
            <a:extLst>
              <a:ext uri="{FF2B5EF4-FFF2-40B4-BE49-F238E27FC236}">
                <a16:creationId xmlns:a16="http://schemas.microsoft.com/office/drawing/2014/main" id="{684198A2-C59F-4C38-9F72-765E48FA823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495855" y="4825632"/>
            <a:ext cx="1853739" cy="459582"/>
          </a:xfrm>
        </p:spPr>
        <p:txBody>
          <a:bodyPr>
            <a:normAutofit/>
          </a:bodyPr>
          <a:lstStyle>
            <a:lvl1pPr marL="0" indent="0">
              <a:buNone/>
              <a:defRPr lang="nl-NL" sz="20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r>
              <a:rPr lang="nl-NL" dirty="0"/>
              <a:t>3D Graphics</a:t>
            </a:r>
          </a:p>
        </p:txBody>
      </p:sp>
      <p:sp>
        <p:nvSpPr>
          <p:cNvPr id="29" name="Tijdelijke aanduiding voor tekst 11">
            <a:extLst>
              <a:ext uri="{FF2B5EF4-FFF2-40B4-BE49-F238E27FC236}">
                <a16:creationId xmlns:a16="http://schemas.microsoft.com/office/drawing/2014/main" id="{9B9004F5-4339-48FE-B04B-599527A6359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495855" y="5411372"/>
            <a:ext cx="4594995" cy="459582"/>
          </a:xfrm>
        </p:spPr>
        <p:txBody>
          <a:bodyPr>
            <a:normAutofit/>
          </a:bodyPr>
          <a:lstStyle>
            <a:lvl1pPr marL="0" indent="0">
              <a:buNone/>
              <a:defRPr lang="nl-NL" sz="20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r>
              <a:rPr lang="nl-NL" dirty="0"/>
              <a:t>Week 1a</a:t>
            </a:r>
          </a:p>
        </p:txBody>
      </p:sp>
      <p:sp>
        <p:nvSpPr>
          <p:cNvPr id="30" name="Tijdelijke aanduiding voor tekst 11">
            <a:extLst>
              <a:ext uri="{FF2B5EF4-FFF2-40B4-BE49-F238E27FC236}">
                <a16:creationId xmlns:a16="http://schemas.microsoft.com/office/drawing/2014/main" id="{73EE6705-1665-43A1-AB37-E50C48AA3F8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495855" y="5993878"/>
            <a:ext cx="4594995" cy="459582"/>
          </a:xfrm>
        </p:spPr>
        <p:txBody>
          <a:bodyPr>
            <a:normAutofit/>
          </a:bodyPr>
          <a:lstStyle>
            <a:lvl1pPr marL="0" indent="0">
              <a:buNone/>
              <a:defRPr lang="nl-NL" sz="20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r>
              <a:rPr lang="nl-NL" dirty="0"/>
              <a:t>Daan Nijs</a:t>
            </a:r>
          </a:p>
        </p:txBody>
      </p:sp>
      <p:sp>
        <p:nvSpPr>
          <p:cNvPr id="17" name="Tijdelijke aanduiding voor tekst 16">
            <a:extLst>
              <a:ext uri="{FF2B5EF4-FFF2-40B4-BE49-F238E27FC236}">
                <a16:creationId xmlns:a16="http://schemas.microsoft.com/office/drawing/2014/main" id="{B2803BC5-4FBF-4FFC-8CD7-56A7494327D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937" y="923475"/>
            <a:ext cx="1641443" cy="303286"/>
          </a:xfr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nl-BE" sz="12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pPr lvl="0"/>
            <a:r>
              <a:rPr lang="nl-NL" dirty="0"/>
              <a:t>DE</a:t>
            </a:r>
            <a:endParaRPr lang="nl-BE" dirty="0"/>
          </a:p>
        </p:txBody>
      </p:sp>
      <p:sp>
        <p:nvSpPr>
          <p:cNvPr id="32" name="Tijdelijke aanduiding voor tekst 16">
            <a:extLst>
              <a:ext uri="{FF2B5EF4-FFF2-40B4-BE49-F238E27FC236}">
                <a16:creationId xmlns:a16="http://schemas.microsoft.com/office/drawing/2014/main" id="{2F60E031-BF26-44A1-A0B6-D48454BFD94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936" y="1429630"/>
            <a:ext cx="1641443" cy="303286"/>
          </a:xfr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nl-BE" sz="12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r>
              <a:rPr lang="nl-NL" sz="1200" kern="1200" cap="none" baseline="0" dirty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2023</a:t>
            </a:r>
          </a:p>
        </p:txBody>
      </p:sp>
      <p:pic>
        <p:nvPicPr>
          <p:cNvPr id="3" name="Picture 2" descr="A room with a white cube and red and green walls&#10;&#10;Description automatically generated">
            <a:extLst>
              <a:ext uri="{FF2B5EF4-FFF2-40B4-BE49-F238E27FC236}">
                <a16:creationId xmlns:a16="http://schemas.microsoft.com/office/drawing/2014/main" id="{52382748-B3A1-4041-F0B7-3FD688D9971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7310" y="1463310"/>
            <a:ext cx="5394690" cy="5394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02244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angepaste indel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1641C2-BF9B-4FDD-914E-B64C21E00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10DFE554-7232-4244-8A56-332314AEEE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19/02/2025</a:t>
            </a:fld>
            <a:endParaRPr lang="en-BE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DEC717CF-2817-47D4-8B6A-AC3FF5712D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BE2D9812-56C8-4D19-8865-A6D4C4A6D3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0427959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F78E84-41E7-4C0B-9876-95A81A828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BADAD563-D612-4769-9B0D-FF5F1C3025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22BECD8B-CD05-4F1D-A5CC-3FEA703FE7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19/02/2025</a:t>
            </a:fld>
            <a:endParaRPr lang="en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F562C523-B3D7-4EB4-A7D6-382F9B9CC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389EF5C4-6487-432E-AB47-26229FE01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80527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D0F1C78-2104-4398-AD52-6781C48DD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2E324310-16AB-4268-B0C6-CF8B77613A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0CD69EF-E63A-4D9C-8EFE-E80749E03A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19/02/2025</a:t>
            </a:fld>
            <a:endParaRPr lang="en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71547F23-F0D7-4208-A013-9AE0FF2EAD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94AE972C-86E8-4E5F-8E59-2FB14076C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6263187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7DCFF4-3B50-4930-AEAE-782904E752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19E7AE46-BCF9-47C8-9BCC-B7B1F520A31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B6C2F997-1F41-4A6F-9193-4DE7735ACD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3B370E2F-2B3F-41AC-9A34-276EA7450F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19/02/2025</a:t>
            </a:fld>
            <a:endParaRPr lang="en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CD63B9D7-3594-4F78-B540-B15463859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079CDB93-518D-4FDA-849A-10DC0942DF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440873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594D81-B112-42DA-9826-23E1C6113B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5B25F2C9-29C7-4222-81BA-825176D7A8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07496213-5C84-46EC-B711-CDF9FF6B6B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90DE4F81-0BA7-4244-BB5B-492AB97EF81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E79B47A1-EE33-4FAB-B7C3-E0E137931E7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34D9D81A-0C3E-473B-ACBE-F498DB4849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19/02/2025</a:t>
            </a:fld>
            <a:endParaRPr lang="en-BE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58E84A63-52E6-431C-9002-3F2381DF18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D27C1939-B8AA-4E0F-96C6-B7E933D9F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0084749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1ECCACC-50FC-4D5D-B072-A22D8C73E6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B6B9E831-EE77-4B49-A32D-C50EA56283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19/02/2025</a:t>
            </a:fld>
            <a:endParaRPr lang="en-BE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A471B315-B360-4DC4-BA25-C0DA3FE06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586BE35D-89CF-4C78-936F-3A422D2BC1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5479376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F2371665-6504-46CE-8623-7D4BFBF063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19/02/2025</a:t>
            </a:fld>
            <a:endParaRPr lang="en-BE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784B7614-A5E9-4A26-93ED-1BD7788846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36192D73-DEF2-4B61-8197-3941A2083E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9075510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E3ACD61-1A8D-412E-A5FB-A8531A8CE7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4B81E522-E269-4346-BBFB-AA9518F2B9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B5BB402B-825A-444A-8506-A9ADBFE65F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7827B8B6-F476-41CE-A0FB-94F76E07D1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19/02/2025</a:t>
            </a:fld>
            <a:endParaRPr lang="en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E8C2B97C-695E-461A-825C-FBD17E162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EA72EF0F-A630-466B-B88F-96526CAB1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6097063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D0E7DD-EE9A-4CC9-8C25-676E51EFE1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E48A5BBD-EB4E-45D6-AE42-E48427169E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nl-BE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D66EB8EC-DE0A-4D55-BC4C-614275BE12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80F5DBFE-351E-4EE8-ADAB-1EEF823A63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19/02/2025</a:t>
            </a:fld>
            <a:endParaRPr lang="en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BE0E090A-C01F-416E-BF13-483497611E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5790A0E5-2670-4891-8045-AB40C835E0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4277901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EACC51-F7E5-40B9-80E8-1EF2107F07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4CEA346F-2455-4321-99FC-0F55ECBC5E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8DD5A672-E901-441A-AA8C-342314F34F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19/02/2025</a:t>
            </a:fld>
            <a:endParaRPr lang="en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FE36B37C-979A-4CE2-BFB9-1CEE337898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C66F279E-64B7-4995-8B2D-9E98200DC4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691028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54A3048B-7CB7-4CB7-9036-E1072F65679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977AF696-8160-4BEE-B594-08AA6ED4B9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F70B8EA8-32FF-45D6-BDF4-DEC9D5665F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19/02/2025</a:t>
            </a:fld>
            <a:endParaRPr lang="en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701F5F5D-B431-4297-94E5-5C3E63450D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AD29EC59-10E4-4E90-AEF4-F74EC07C8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822453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16C0F430-02B8-470E-88C4-D3F6A6EEE5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2FBDBA69-9857-4F89-AB15-40D66350F9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7700B282-C115-4189-B97C-2C968D73F09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1044C9-3718-44C4-9063-5DAD08408240}" type="datetimeFigureOut">
              <a:rPr lang="en-BE" smtClean="0"/>
              <a:t>19/02/2025</a:t>
            </a:fld>
            <a:endParaRPr lang="en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3C35CFB0-104D-43DF-ABAD-E8ED1A7E01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25331830-0F71-46FB-910E-F57D488F68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5918836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zjMuIxRvygQ" TargetMode="Externa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AF5DD37-2212-916B-E357-43E8D3EA5D9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20F862-7245-5FF3-F9FF-A37F0519F77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Week 2: 3D reasoning</a:t>
            </a:r>
            <a:endParaRPr lang="en-B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0B0F53-1B0B-247E-5331-DFF63A59F51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1906C7B-D22F-6554-53F2-0FB13D199E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BFE3868-CBE1-5055-4906-5E64ED6ECD9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9055074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0DB585-AF26-A989-C2E4-B97495A784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Last class</a:t>
            </a:r>
            <a:endParaRPr lang="en-B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CBD0A1-4820-ED04-A5B0-2D1A763FE81B}"/>
              </a:ext>
            </a:extLst>
          </p:cNvPr>
          <p:cNvSpPr txBox="1"/>
          <p:nvPr/>
        </p:nvSpPr>
        <p:spPr>
          <a:xfrm>
            <a:off x="976605" y="1690688"/>
            <a:ext cx="4091056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3D coordinate system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Points &amp; Vectors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Translate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Rotate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Scale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We’ll go over them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BE" sz="2800" dirty="0"/>
          </a:p>
        </p:txBody>
      </p:sp>
    </p:spTree>
    <p:extLst>
      <p:ext uri="{BB962C8B-B14F-4D97-AF65-F5344CB8AC3E}">
        <p14:creationId xmlns:p14="http://schemas.microsoft.com/office/powerpoint/2010/main" val="10213688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81B564-CA9E-3D87-8903-3909F7D428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B9F79E-D81D-C0B7-2D18-4AECB86681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362" y="238794"/>
            <a:ext cx="10515600" cy="1325563"/>
          </a:xfrm>
        </p:spPr>
        <p:txBody>
          <a:bodyPr/>
          <a:lstStyle/>
          <a:p>
            <a:r>
              <a:rPr lang="en-US" dirty="0"/>
              <a:t>Course schedule</a:t>
            </a:r>
            <a:endParaRPr lang="en-BE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4AD8DA9-97E3-0B9A-E8CC-21F1C6CD17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223671"/>
            <a:ext cx="4032180" cy="2639927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26D5C226-4920-1470-4E26-725EDC46B0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2197322"/>
              </p:ext>
            </p:extLst>
          </p:nvPr>
        </p:nvGraphicFramePr>
        <p:xfrm>
          <a:off x="5124734" y="1"/>
          <a:ext cx="6602496" cy="69443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6693">
                  <a:extLst>
                    <a:ext uri="{9D8B030D-6E8A-4147-A177-3AD203B41FA5}">
                      <a16:colId xmlns:a16="http://schemas.microsoft.com/office/drawing/2014/main" val="4215952977"/>
                    </a:ext>
                  </a:extLst>
                </a:gridCol>
                <a:gridCol w="2299648">
                  <a:extLst>
                    <a:ext uri="{9D8B030D-6E8A-4147-A177-3AD203B41FA5}">
                      <a16:colId xmlns:a16="http://schemas.microsoft.com/office/drawing/2014/main" val="1545778933"/>
                    </a:ext>
                  </a:extLst>
                </a:gridCol>
                <a:gridCol w="2276155">
                  <a:extLst>
                    <a:ext uri="{9D8B030D-6E8A-4147-A177-3AD203B41FA5}">
                      <a16:colId xmlns:a16="http://schemas.microsoft.com/office/drawing/2014/main" val="1553113300"/>
                    </a:ext>
                  </a:extLst>
                </a:gridCol>
              </a:tblGrid>
              <a:tr h="522129">
                <a:tc>
                  <a:txBody>
                    <a:bodyPr/>
                    <a:lstStyle/>
                    <a:p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Theory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Practice</a:t>
                      </a:r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7273685"/>
                  </a:ext>
                </a:extLst>
              </a:tr>
              <a:tr h="522129">
                <a:tc>
                  <a:txBody>
                    <a:bodyPr/>
                    <a:lstStyle/>
                    <a:p>
                      <a:r>
                        <a:rPr lang="en-US" dirty="0"/>
                        <a:t>Week 1 : 12/02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Introduction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1121218"/>
                  </a:ext>
                </a:extLst>
              </a:tr>
              <a:tr h="522129">
                <a:tc>
                  <a:txBody>
                    <a:bodyPr/>
                    <a:lstStyle/>
                    <a:p>
                      <a:r>
                        <a:rPr lang="en-US" dirty="0"/>
                        <a:t>Week 2 : 19/02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3D reasoning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Camera Placement</a:t>
                      </a:r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9727011"/>
                  </a:ext>
                </a:extLst>
              </a:tr>
              <a:tr h="522129">
                <a:tc>
                  <a:txBody>
                    <a:bodyPr/>
                    <a:lstStyle/>
                    <a:p>
                      <a:r>
                        <a:rPr lang="en-US" dirty="0"/>
                        <a:t>Week 3 : 26/02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Geometry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Hardcoded </a:t>
                      </a:r>
                      <a:r>
                        <a:rPr lang="en-US" dirty="0" err="1"/>
                        <a:t>chuncks</a:t>
                      </a:r>
                      <a:endParaRPr lang="en-US" dirty="0"/>
                    </a:p>
                    <a:p>
                      <a:r>
                        <a:rPr lang="en-US" dirty="0"/>
                        <a:t>Chunk loading</a:t>
                      </a:r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0221313"/>
                  </a:ext>
                </a:extLst>
              </a:tr>
              <a:tr h="625607">
                <a:tc>
                  <a:txBody>
                    <a:bodyPr/>
                    <a:lstStyle/>
                    <a:p>
                      <a:r>
                        <a:rPr lang="en-US" dirty="0"/>
                        <a:t>Week 4 : 04/03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Textures</a:t>
                      </a:r>
                    </a:p>
                    <a:p>
                      <a:r>
                        <a:rPr lang="en-US" dirty="0"/>
                        <a:t>Materials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Materials</a:t>
                      </a:r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1918310"/>
                  </a:ext>
                </a:extLst>
              </a:tr>
              <a:tr h="625607">
                <a:tc>
                  <a:txBody>
                    <a:bodyPr/>
                    <a:lstStyle/>
                    <a:p>
                      <a:r>
                        <a:rPr lang="en-US" dirty="0"/>
                        <a:t>Week 5 : 11/03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</a:t>
                      </a:r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1078510"/>
                  </a:ext>
                </a:extLst>
              </a:tr>
              <a:tr h="522129">
                <a:tc>
                  <a:txBody>
                    <a:bodyPr/>
                    <a:lstStyle/>
                    <a:p>
                      <a:r>
                        <a:rPr lang="en-US" dirty="0"/>
                        <a:t>Week 6 : 18/03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77941231"/>
                  </a:ext>
                </a:extLst>
              </a:tr>
              <a:tr h="625607">
                <a:tc>
                  <a:txBody>
                    <a:bodyPr/>
                    <a:lstStyle/>
                    <a:p>
                      <a:r>
                        <a:rPr lang="en-US" dirty="0"/>
                        <a:t>Week 7 : 25/03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4929814"/>
                  </a:ext>
                </a:extLst>
              </a:tr>
              <a:tr h="625607">
                <a:tc>
                  <a:txBody>
                    <a:bodyPr/>
                    <a:lstStyle/>
                    <a:p>
                      <a:r>
                        <a:rPr lang="en-US" dirty="0"/>
                        <a:t>Week 8 : 15/04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Procedural generation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Procedural generation lab</a:t>
                      </a:r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5942271"/>
                  </a:ext>
                </a:extLst>
              </a:tr>
              <a:tr h="522129">
                <a:tc>
                  <a:txBody>
                    <a:bodyPr/>
                    <a:lstStyle/>
                    <a:p>
                      <a:r>
                        <a:rPr lang="en-US" dirty="0"/>
                        <a:t>Week 9 : 22/04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Project explanation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Project lab</a:t>
                      </a:r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6500834"/>
                  </a:ext>
                </a:extLst>
              </a:tr>
              <a:tr h="625607">
                <a:tc>
                  <a:txBody>
                    <a:bodyPr/>
                    <a:lstStyle/>
                    <a:p>
                      <a:r>
                        <a:rPr lang="en-US" dirty="0"/>
                        <a:t>Week 10 : 29/04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Guest Lecture</a:t>
                      </a:r>
                      <a:br>
                        <a:rPr lang="en-US" dirty="0"/>
                      </a:br>
                      <a:r>
                        <a:rPr lang="en-US" dirty="0"/>
                        <a:t>Project Labs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Guest Lecture</a:t>
                      </a:r>
                      <a:br>
                        <a:rPr lang="en-US" dirty="0"/>
                      </a:br>
                      <a:r>
                        <a:rPr lang="en-US" dirty="0"/>
                        <a:t>Project Labs</a:t>
                      </a:r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6961463"/>
                  </a:ext>
                </a:extLst>
              </a:tr>
              <a:tr h="522129">
                <a:tc>
                  <a:txBody>
                    <a:bodyPr/>
                    <a:lstStyle/>
                    <a:p>
                      <a:r>
                        <a:rPr lang="en-US" dirty="0"/>
                        <a:t>Week 11 : 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Revision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Revision</a:t>
                      </a:r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64460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2CA2FDF-DB18-1375-BEF9-8DA80A37B085}"/>
              </a:ext>
            </a:extLst>
          </p:cNvPr>
          <p:cNvSpPr txBox="1"/>
          <p:nvPr/>
        </p:nvSpPr>
        <p:spPr>
          <a:xfrm>
            <a:off x="379445" y="1741714"/>
            <a:ext cx="418011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Highly likely to change </a:t>
            </a:r>
            <a:r>
              <a:rPr lang="en-US" sz="2800" dirty="0">
                <a:sym typeface="Wingdings" panose="05000000000000000000" pitchFamily="2" charset="2"/>
              </a:rPr>
              <a:t></a:t>
            </a:r>
            <a:endParaRPr lang="en-BE" sz="28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3A3E17F-4F06-7CE1-7EDB-8AB63537B683}"/>
              </a:ext>
            </a:extLst>
          </p:cNvPr>
          <p:cNvSpPr/>
          <p:nvPr/>
        </p:nvSpPr>
        <p:spPr>
          <a:xfrm>
            <a:off x="7147249" y="1038808"/>
            <a:ext cx="2276669" cy="52554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27633009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FE4832-2A04-C12C-19D4-31749239F4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class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47AE3BC-0C59-672A-39CD-A07B2795AD24}"/>
              </a:ext>
            </a:extLst>
          </p:cNvPr>
          <p:cNvSpPr txBox="1"/>
          <p:nvPr/>
        </p:nvSpPr>
        <p:spPr>
          <a:xfrm>
            <a:off x="989902" y="1690689"/>
            <a:ext cx="4925486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 </a:t>
            </a:r>
            <a:r>
              <a:rPr lang="en-US" sz="2800" dirty="0"/>
              <a:t>Unity basics </a:t>
            </a:r>
            <a:r>
              <a:rPr lang="en-US" sz="2800" dirty="0">
                <a:sym typeface="Wingdings" panose="05000000000000000000" pitchFamily="2" charset="2"/>
              </a:rPr>
              <a:t></a:t>
            </a: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3D coordinates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3D transforms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Why they are important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Dot &amp; Cross product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Quaternions</a:t>
            </a:r>
          </a:p>
        </p:txBody>
      </p:sp>
    </p:spTree>
    <p:extLst>
      <p:ext uri="{BB962C8B-B14F-4D97-AF65-F5344CB8AC3E}">
        <p14:creationId xmlns:p14="http://schemas.microsoft.com/office/powerpoint/2010/main" val="39456045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CFC3BD-4595-860F-8D51-F6AFB6A7D9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939" y="365125"/>
            <a:ext cx="10762861" cy="1325563"/>
          </a:xfrm>
        </p:spPr>
        <p:txBody>
          <a:bodyPr/>
          <a:lstStyle/>
          <a:p>
            <a:r>
              <a:rPr lang="en-US" dirty="0"/>
              <a:t>Unity external architecture</a:t>
            </a:r>
            <a:endParaRPr lang="en-BE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1C4EA2B-533E-FA3D-C92E-CB54BD1BD376}"/>
              </a:ext>
            </a:extLst>
          </p:cNvPr>
          <p:cNvSpPr/>
          <p:nvPr/>
        </p:nvSpPr>
        <p:spPr>
          <a:xfrm>
            <a:off x="2183363" y="1449356"/>
            <a:ext cx="7364963" cy="266233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Unity</a:t>
            </a:r>
            <a:endParaRPr lang="en-B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3DC3DA0-DD5C-4C12-CF90-BA8BB55597FD}"/>
              </a:ext>
            </a:extLst>
          </p:cNvPr>
          <p:cNvSpPr/>
          <p:nvPr/>
        </p:nvSpPr>
        <p:spPr>
          <a:xfrm>
            <a:off x="2134378" y="4601545"/>
            <a:ext cx="1188098" cy="67180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DirectX</a:t>
            </a:r>
            <a:endParaRPr lang="en-BE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F2156F6-BAC2-AF3C-13BB-B68B24356BC6}"/>
              </a:ext>
            </a:extLst>
          </p:cNvPr>
          <p:cNvSpPr/>
          <p:nvPr/>
        </p:nvSpPr>
        <p:spPr>
          <a:xfrm>
            <a:off x="3403340" y="4601544"/>
            <a:ext cx="1287626" cy="671805"/>
          </a:xfrm>
          <a:prstGeom prst="rect">
            <a:avLst/>
          </a:prstGeom>
          <a:solidFill>
            <a:srgbClr val="FF797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Vulkan</a:t>
            </a:r>
            <a:endParaRPr lang="en-BE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DE9A631-2E5C-1768-8A3E-0B237A96AE9B}"/>
              </a:ext>
            </a:extLst>
          </p:cNvPr>
          <p:cNvSpPr/>
          <p:nvPr/>
        </p:nvSpPr>
        <p:spPr>
          <a:xfrm>
            <a:off x="4771830" y="4601544"/>
            <a:ext cx="1306286" cy="67180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OpenGL 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</a:t>
            </a:r>
            <a:endParaRPr lang="en-BE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2FEE8C0-D141-D8AC-1A2C-54CC5D3F5863}"/>
              </a:ext>
            </a:extLst>
          </p:cNvPr>
          <p:cNvSpPr/>
          <p:nvPr/>
        </p:nvSpPr>
        <p:spPr>
          <a:xfrm>
            <a:off x="2152262" y="5763208"/>
            <a:ext cx="1188098" cy="67180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Intel</a:t>
            </a:r>
            <a:endParaRPr lang="en-BE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65F9278-C4F7-28B4-4CE2-A0B41960EDCF}"/>
              </a:ext>
            </a:extLst>
          </p:cNvPr>
          <p:cNvSpPr/>
          <p:nvPr/>
        </p:nvSpPr>
        <p:spPr>
          <a:xfrm>
            <a:off x="3421224" y="5763206"/>
            <a:ext cx="1287626" cy="671805"/>
          </a:xfrm>
          <a:prstGeom prst="rect">
            <a:avLst/>
          </a:prstGeom>
          <a:solidFill>
            <a:srgbClr val="FF797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AMD</a:t>
            </a:r>
            <a:endParaRPr lang="en-BE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15D4139-D39C-8531-CAA0-A738958A27D8}"/>
              </a:ext>
            </a:extLst>
          </p:cNvPr>
          <p:cNvSpPr/>
          <p:nvPr/>
        </p:nvSpPr>
        <p:spPr>
          <a:xfrm>
            <a:off x="4789714" y="5763207"/>
            <a:ext cx="1306286" cy="67180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NVIDIA</a:t>
            </a:r>
            <a:endParaRPr lang="en-BE" dirty="0">
              <a:solidFill>
                <a:schemeClr val="tx1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C1C52AD-737E-CC69-854B-4071AEF4D01F}"/>
              </a:ext>
            </a:extLst>
          </p:cNvPr>
          <p:cNvCxnSpPr>
            <a:stCxn id="5" idx="2"/>
            <a:endCxn id="10" idx="0"/>
          </p:cNvCxnSpPr>
          <p:nvPr/>
        </p:nvCxnSpPr>
        <p:spPr>
          <a:xfrm>
            <a:off x="2728427" y="5273350"/>
            <a:ext cx="2714430" cy="4898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8E7F67E-10BC-0586-5056-B9755ABB7BF0}"/>
              </a:ext>
            </a:extLst>
          </p:cNvPr>
          <p:cNvCxnSpPr>
            <a:stCxn id="5" idx="2"/>
            <a:endCxn id="8" idx="0"/>
          </p:cNvCxnSpPr>
          <p:nvPr/>
        </p:nvCxnSpPr>
        <p:spPr>
          <a:xfrm>
            <a:off x="2728427" y="5273350"/>
            <a:ext cx="17884" cy="4898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30870B6-ED42-AE1B-EC44-A3901DDDF02F}"/>
              </a:ext>
            </a:extLst>
          </p:cNvPr>
          <p:cNvCxnSpPr>
            <a:cxnSpLocks/>
          </p:cNvCxnSpPr>
          <p:nvPr/>
        </p:nvCxnSpPr>
        <p:spPr>
          <a:xfrm>
            <a:off x="2735035" y="5261682"/>
            <a:ext cx="1336610" cy="4898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802A978-485C-9334-6789-63393947038F}"/>
              </a:ext>
            </a:extLst>
          </p:cNvPr>
          <p:cNvCxnSpPr>
            <a:stCxn id="6" idx="2"/>
          </p:cNvCxnSpPr>
          <p:nvPr/>
        </p:nvCxnSpPr>
        <p:spPr>
          <a:xfrm flipH="1">
            <a:off x="2746311" y="5273349"/>
            <a:ext cx="1300842" cy="4781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1324E07-033C-1C0B-012E-A0E7889CDBDF}"/>
              </a:ext>
            </a:extLst>
          </p:cNvPr>
          <p:cNvCxnSpPr>
            <a:stCxn id="6" idx="2"/>
            <a:endCxn id="9" idx="0"/>
          </p:cNvCxnSpPr>
          <p:nvPr/>
        </p:nvCxnSpPr>
        <p:spPr>
          <a:xfrm>
            <a:off x="4047153" y="5273349"/>
            <a:ext cx="17884" cy="4898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AD61538-BB91-5261-4941-35C732A2D3FA}"/>
              </a:ext>
            </a:extLst>
          </p:cNvPr>
          <p:cNvCxnSpPr>
            <a:stCxn id="6" idx="2"/>
            <a:endCxn id="10" idx="0"/>
          </p:cNvCxnSpPr>
          <p:nvPr/>
        </p:nvCxnSpPr>
        <p:spPr>
          <a:xfrm>
            <a:off x="4047153" y="5273349"/>
            <a:ext cx="1395704" cy="4898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78476ED-D70D-0FD9-2A03-3C7AC1DD6942}"/>
              </a:ext>
            </a:extLst>
          </p:cNvPr>
          <p:cNvCxnSpPr>
            <a:stCxn id="7" idx="2"/>
            <a:endCxn id="10" idx="0"/>
          </p:cNvCxnSpPr>
          <p:nvPr/>
        </p:nvCxnSpPr>
        <p:spPr>
          <a:xfrm>
            <a:off x="5424973" y="5273349"/>
            <a:ext cx="17884" cy="4898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3111ECB-BDD3-C2EA-CEB0-0EB6F639576C}"/>
              </a:ext>
            </a:extLst>
          </p:cNvPr>
          <p:cNvCxnSpPr>
            <a:stCxn id="7" idx="2"/>
            <a:endCxn id="9" idx="0"/>
          </p:cNvCxnSpPr>
          <p:nvPr/>
        </p:nvCxnSpPr>
        <p:spPr>
          <a:xfrm flipH="1">
            <a:off x="4065037" y="5273349"/>
            <a:ext cx="1359936" cy="4898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A3971B9-0902-7EAB-08B2-7F8B6217CB4E}"/>
              </a:ext>
            </a:extLst>
          </p:cNvPr>
          <p:cNvCxnSpPr>
            <a:stCxn id="7" idx="2"/>
            <a:endCxn id="8" idx="0"/>
          </p:cNvCxnSpPr>
          <p:nvPr/>
        </p:nvCxnSpPr>
        <p:spPr>
          <a:xfrm flipH="1">
            <a:off x="2746311" y="5273349"/>
            <a:ext cx="2678662" cy="4898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07B6C9AC-8AD1-9B7B-B64F-E4A786B9B695}"/>
              </a:ext>
            </a:extLst>
          </p:cNvPr>
          <p:cNvCxnSpPr/>
          <p:nvPr/>
        </p:nvCxnSpPr>
        <p:spPr>
          <a:xfrm>
            <a:off x="2544147" y="4111690"/>
            <a:ext cx="0" cy="4898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5F96531-017F-9F94-C98B-32C40B3CD090}"/>
              </a:ext>
            </a:extLst>
          </p:cNvPr>
          <p:cNvCxnSpPr>
            <a:endCxn id="6" idx="0"/>
          </p:cNvCxnSpPr>
          <p:nvPr/>
        </p:nvCxnSpPr>
        <p:spPr>
          <a:xfrm>
            <a:off x="3987282" y="4111690"/>
            <a:ext cx="59871" cy="4898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F34B8C99-3D74-3636-9A6B-7BAC3AC6B266}"/>
              </a:ext>
            </a:extLst>
          </p:cNvPr>
          <p:cNvCxnSpPr>
            <a:endCxn id="7" idx="0"/>
          </p:cNvCxnSpPr>
          <p:nvPr/>
        </p:nvCxnSpPr>
        <p:spPr>
          <a:xfrm>
            <a:off x="5368212" y="4111690"/>
            <a:ext cx="56761" cy="4898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1402039B-917C-A79B-8282-8DDAFF73CA20}"/>
              </a:ext>
            </a:extLst>
          </p:cNvPr>
          <p:cNvSpPr/>
          <p:nvPr/>
        </p:nvSpPr>
        <p:spPr>
          <a:xfrm>
            <a:off x="6444343" y="4589878"/>
            <a:ext cx="1443135" cy="671804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OS Support</a:t>
            </a:r>
            <a:endParaRPr lang="en-BE" dirty="0">
              <a:solidFill>
                <a:schemeClr val="tx1"/>
              </a:solidFill>
            </a:endParaRP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D21A2F82-9EF6-9C1F-4FEA-2764138DECC0}"/>
              </a:ext>
            </a:extLst>
          </p:cNvPr>
          <p:cNvCxnSpPr>
            <a:endCxn id="36" idx="0"/>
          </p:cNvCxnSpPr>
          <p:nvPr/>
        </p:nvCxnSpPr>
        <p:spPr>
          <a:xfrm>
            <a:off x="7165910" y="4111690"/>
            <a:ext cx="1" cy="4781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AC205C1D-BA9D-62F3-1514-12BFC3C06BB7}"/>
              </a:ext>
            </a:extLst>
          </p:cNvPr>
          <p:cNvSpPr txBox="1"/>
          <p:nvPr/>
        </p:nvSpPr>
        <p:spPr>
          <a:xfrm>
            <a:off x="390569" y="5868275"/>
            <a:ext cx="9494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Driver</a:t>
            </a:r>
            <a:endParaRPr lang="en-BE" sz="24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864610B-EDE3-DCAC-DABE-099692034CB8}"/>
              </a:ext>
            </a:extLst>
          </p:cNvPr>
          <p:cNvSpPr txBox="1"/>
          <p:nvPr/>
        </p:nvSpPr>
        <p:spPr>
          <a:xfrm>
            <a:off x="98886" y="4706613"/>
            <a:ext cx="17541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Graphics API</a:t>
            </a:r>
            <a:endParaRPr lang="en-BE" sz="2400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9DD7DE0F-2AEA-DA9B-B5A7-BC527CB84A29}"/>
              </a:ext>
            </a:extLst>
          </p:cNvPr>
          <p:cNvSpPr/>
          <p:nvPr/>
        </p:nvSpPr>
        <p:spPr>
          <a:xfrm>
            <a:off x="8105191" y="4601545"/>
            <a:ext cx="1443135" cy="671804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Many Others</a:t>
            </a:r>
            <a:endParaRPr lang="en-BE" dirty="0">
              <a:solidFill>
                <a:schemeClr val="tx1"/>
              </a:solidFill>
            </a:endParaRP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6D09DBFB-AAE6-5961-3C80-45B27B4EED3A}"/>
              </a:ext>
            </a:extLst>
          </p:cNvPr>
          <p:cNvCxnSpPr/>
          <p:nvPr/>
        </p:nvCxnSpPr>
        <p:spPr>
          <a:xfrm>
            <a:off x="8826758" y="4098475"/>
            <a:ext cx="1" cy="4781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17596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18CE86-B9BD-3A7E-1F4D-15C91AC3FA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6469" y="91665"/>
            <a:ext cx="10515600" cy="1325563"/>
          </a:xfrm>
        </p:spPr>
        <p:txBody>
          <a:bodyPr/>
          <a:lstStyle/>
          <a:p>
            <a:r>
              <a:rPr lang="en-US" dirty="0"/>
              <a:t>Unity internal architecture : Scene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FB579C5-01C7-3111-42CE-84AFA7955419}"/>
              </a:ext>
            </a:extLst>
          </p:cNvPr>
          <p:cNvSpPr txBox="1"/>
          <p:nvPr/>
        </p:nvSpPr>
        <p:spPr>
          <a:xfrm>
            <a:off x="475158" y="1168174"/>
            <a:ext cx="767357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A scene is the highest level container we will interact with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They are a lot like “levels”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They contain all of our </a:t>
            </a:r>
            <a:r>
              <a:rPr lang="en-US" sz="2400" dirty="0" err="1"/>
              <a:t>GameObjects</a:t>
            </a:r>
            <a:r>
              <a:rPr lang="en-US" sz="2400" dirty="0"/>
              <a:t> (“stuff”)</a:t>
            </a:r>
            <a:endParaRPr lang="en-BE"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971B19F-D523-F850-0375-E4B6279026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8826" y="3029338"/>
            <a:ext cx="5703174" cy="3828661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2BAC3E2-245B-7919-EDC8-CC177F0C2B34}"/>
              </a:ext>
            </a:extLst>
          </p:cNvPr>
          <p:cNvCxnSpPr>
            <a:cxnSpLocks/>
          </p:cNvCxnSpPr>
          <p:nvPr/>
        </p:nvCxnSpPr>
        <p:spPr>
          <a:xfrm flipH="1" flipV="1">
            <a:off x="7700865" y="3110204"/>
            <a:ext cx="895739" cy="423604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EF88F273-D7A2-9512-2D89-FE3F56AC0A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756" y="3357782"/>
            <a:ext cx="5175220" cy="3509874"/>
          </a:xfrm>
          <a:prstGeom prst="rect">
            <a:avLst/>
          </a:prstGeom>
        </p:spPr>
      </p:pic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C133DE4-7593-5463-CBEA-5CB2D5421DF8}"/>
              </a:ext>
            </a:extLst>
          </p:cNvPr>
          <p:cNvCxnSpPr/>
          <p:nvPr/>
        </p:nvCxnSpPr>
        <p:spPr>
          <a:xfrm flipH="1">
            <a:off x="2021633" y="3738465"/>
            <a:ext cx="597159" cy="246328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98B16A7-A77C-F251-CDC6-1C323999D147}"/>
              </a:ext>
            </a:extLst>
          </p:cNvPr>
          <p:cNvCxnSpPr>
            <a:cxnSpLocks/>
          </p:cNvCxnSpPr>
          <p:nvPr/>
        </p:nvCxnSpPr>
        <p:spPr>
          <a:xfrm flipV="1">
            <a:off x="2515071" y="4970106"/>
            <a:ext cx="794186" cy="1233204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91344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1F1FE5-044F-D559-6F22-764DDA22E3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8437" y="175100"/>
            <a:ext cx="10515600" cy="701642"/>
          </a:xfrm>
        </p:spPr>
        <p:txBody>
          <a:bodyPr/>
          <a:lstStyle/>
          <a:p>
            <a:r>
              <a:rPr lang="en-US" dirty="0" err="1"/>
              <a:t>GameObjects</a:t>
            </a:r>
            <a:r>
              <a:rPr lang="en-US" dirty="0"/>
              <a:t> are containers of Components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962A34-5E5B-4BAD-124F-40549F40FC74}"/>
              </a:ext>
            </a:extLst>
          </p:cNvPr>
          <p:cNvSpPr txBox="1"/>
          <p:nvPr/>
        </p:nvSpPr>
        <p:spPr>
          <a:xfrm>
            <a:off x="713792" y="808653"/>
            <a:ext cx="10408490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They can be almost anything : light, camera, cube, enemy, global settings,…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They can have 1 -&gt; unlimited amount of components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They always have a transform component (we will see what a transform is later)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They can only have zero or one of each component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This is </a:t>
            </a:r>
            <a:r>
              <a:rPr lang="en-US" sz="2400" b="1" dirty="0"/>
              <a:t>not</a:t>
            </a:r>
            <a:r>
              <a:rPr lang="en-US" sz="2400" dirty="0"/>
              <a:t> ECS</a:t>
            </a:r>
            <a:endParaRPr lang="en-BE"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D94AEB-0748-29D7-EE4F-2FDE4CF80E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45" y="2882421"/>
            <a:ext cx="3567212" cy="397557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C0A51EA-4260-0835-5204-1DF5019180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1418" y="2882420"/>
            <a:ext cx="2753088" cy="397557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EDF880A-61C3-0C16-B69D-93860A9772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7970" y="2815031"/>
            <a:ext cx="2620351" cy="41103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06063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976A41-13BE-037F-494B-974C1D1681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A67192-033D-E6CD-412C-27929B7DA3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2368" y="365125"/>
            <a:ext cx="10451432" cy="1325563"/>
          </a:xfrm>
        </p:spPr>
        <p:txBody>
          <a:bodyPr/>
          <a:lstStyle/>
          <a:p>
            <a:r>
              <a:rPr lang="en-US" dirty="0"/>
              <a:t>Why do it this way? </a:t>
            </a:r>
            <a:endParaRPr lang="nl-BE" dirty="0"/>
          </a:p>
        </p:txBody>
      </p:sp>
      <p:pic>
        <p:nvPicPr>
          <p:cNvPr id="4" name="Picture 3" descr="A white airplane with black background&#10;&#10;Description automatically generated">
            <a:extLst>
              <a:ext uri="{FF2B5EF4-FFF2-40B4-BE49-F238E27FC236}">
                <a16:creationId xmlns:a16="http://schemas.microsoft.com/office/drawing/2014/main" id="{C174DB7B-897D-DD41-F8AE-0722B4CC26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8727" y="1722969"/>
            <a:ext cx="1066268" cy="170603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D5EDF4A-BEDD-1B63-5B41-CF8F7E383125}"/>
              </a:ext>
            </a:extLst>
          </p:cNvPr>
          <p:cNvSpPr txBox="1"/>
          <p:nvPr/>
        </p:nvSpPr>
        <p:spPr>
          <a:xfrm>
            <a:off x="450235" y="3693694"/>
            <a:ext cx="3230372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Player ship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PositionComponent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CollidableComponent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PlayerInputComponent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HealthComponent</a:t>
            </a:r>
            <a:endParaRPr lang="en-BE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30A78F6-1E60-A954-2840-DD47EC9180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2339" y="1877802"/>
            <a:ext cx="1368435" cy="139636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E6F8DF1-BBCB-6D5A-6C38-8750B5873CEC}"/>
              </a:ext>
            </a:extLst>
          </p:cNvPr>
          <p:cNvSpPr txBox="1"/>
          <p:nvPr/>
        </p:nvSpPr>
        <p:spPr>
          <a:xfrm>
            <a:off x="4700301" y="3832193"/>
            <a:ext cx="3092513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Bullet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PositionComponent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CollidableComponent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PhysicsComponent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ProjectileComponent</a:t>
            </a:r>
            <a:endParaRPr lang="en-US" dirty="0"/>
          </a:p>
        </p:txBody>
      </p:sp>
      <p:pic>
        <p:nvPicPr>
          <p:cNvPr id="11" name="Picture 10" descr="A purple and black mask&#10;&#10;Description automatically generated">
            <a:extLst>
              <a:ext uri="{FF2B5EF4-FFF2-40B4-BE49-F238E27FC236}">
                <a16:creationId xmlns:a16="http://schemas.microsoft.com/office/drawing/2014/main" id="{CBBC571C-2AA9-B993-C55B-914CF1A25C8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17672" y="1326825"/>
            <a:ext cx="1190791" cy="226726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AE35A31-54AC-43F3-2486-EFF55D393B30}"/>
              </a:ext>
            </a:extLst>
          </p:cNvPr>
          <p:cNvSpPr txBox="1"/>
          <p:nvPr/>
        </p:nvSpPr>
        <p:spPr>
          <a:xfrm>
            <a:off x="8536984" y="3832193"/>
            <a:ext cx="3092513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Enemy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PositionComponent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CollidableComponent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AIComponent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HealthComponent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3975738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7769AF-F3AC-4F63-4CD2-F339BF779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2FF3E5FA-D0B2-D412-9F92-0B61EBA4B1BA}"/>
              </a:ext>
            </a:extLst>
          </p:cNvPr>
          <p:cNvSpPr/>
          <p:nvPr/>
        </p:nvSpPr>
        <p:spPr>
          <a:xfrm>
            <a:off x="906966" y="3560956"/>
            <a:ext cx="2297529" cy="58477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>
              <a:noFill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3A0FAAE-5CCA-9547-02C9-3833D6E2E6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Unity internal architecture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CBA5D1C-CBC1-F653-DAED-C131792BA95E}"/>
              </a:ext>
            </a:extLst>
          </p:cNvPr>
          <p:cNvSpPr txBox="1"/>
          <p:nvPr/>
        </p:nvSpPr>
        <p:spPr>
          <a:xfrm>
            <a:off x="1018478" y="3560956"/>
            <a:ext cx="20665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Load Scene</a:t>
            </a:r>
            <a:endParaRPr lang="en-BE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4F9AC7D-839A-4699-9E03-966A7A647B32}"/>
              </a:ext>
            </a:extLst>
          </p:cNvPr>
          <p:cNvSpPr txBox="1"/>
          <p:nvPr/>
        </p:nvSpPr>
        <p:spPr>
          <a:xfrm>
            <a:off x="4166840" y="3560956"/>
            <a:ext cx="36319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Update Components</a:t>
            </a:r>
            <a:endParaRPr lang="en-BE" sz="3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7F3A97B-5880-4743-8DFC-4922848C564D}"/>
              </a:ext>
            </a:extLst>
          </p:cNvPr>
          <p:cNvSpPr txBox="1"/>
          <p:nvPr/>
        </p:nvSpPr>
        <p:spPr>
          <a:xfrm>
            <a:off x="9151472" y="3560953"/>
            <a:ext cx="13828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Render</a:t>
            </a:r>
            <a:endParaRPr lang="en-BE" sz="32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E30A9D3-45EA-D3AD-EA81-BDBC0DEA6CB6}"/>
              </a:ext>
            </a:extLst>
          </p:cNvPr>
          <p:cNvSpPr/>
          <p:nvPr/>
        </p:nvSpPr>
        <p:spPr>
          <a:xfrm>
            <a:off x="4166840" y="3560955"/>
            <a:ext cx="3631956" cy="58477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>
              <a:noFill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6D1921F-ACDF-0987-DA96-0D3E5D85D146}"/>
              </a:ext>
            </a:extLst>
          </p:cNvPr>
          <p:cNvSpPr/>
          <p:nvPr/>
        </p:nvSpPr>
        <p:spPr>
          <a:xfrm>
            <a:off x="8761141" y="3560954"/>
            <a:ext cx="2297529" cy="58477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>
              <a:noFill/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45B73A3-EA1A-6440-575D-99B9465244C2}"/>
              </a:ext>
            </a:extLst>
          </p:cNvPr>
          <p:cNvCxnSpPr>
            <a:stCxn id="9" idx="3"/>
            <a:endCxn id="7" idx="1"/>
          </p:cNvCxnSpPr>
          <p:nvPr/>
        </p:nvCxnSpPr>
        <p:spPr>
          <a:xfrm>
            <a:off x="3204495" y="3853344"/>
            <a:ext cx="962345" cy="0"/>
          </a:xfrm>
          <a:prstGeom prst="straightConnector1">
            <a:avLst/>
          </a:prstGeom>
          <a:ln w="762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02E02DAE-4001-6ECC-09C9-D2FA72974B63}"/>
              </a:ext>
            </a:extLst>
          </p:cNvPr>
          <p:cNvCxnSpPr/>
          <p:nvPr/>
        </p:nvCxnSpPr>
        <p:spPr>
          <a:xfrm>
            <a:off x="7798796" y="3853344"/>
            <a:ext cx="962345" cy="0"/>
          </a:xfrm>
          <a:prstGeom prst="straightConnector1">
            <a:avLst/>
          </a:prstGeom>
          <a:ln w="762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50B7FB59-D8FD-85AE-09E5-462C64C7E93C}"/>
              </a:ext>
            </a:extLst>
          </p:cNvPr>
          <p:cNvSpPr/>
          <p:nvPr/>
        </p:nvSpPr>
        <p:spPr>
          <a:xfrm>
            <a:off x="4073912" y="3428999"/>
            <a:ext cx="7279888" cy="87948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>
              <a:noFill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4F4CD96-910E-39E9-2D30-7D1B06DA5B0C}"/>
              </a:ext>
            </a:extLst>
          </p:cNvPr>
          <p:cNvSpPr txBox="1"/>
          <p:nvPr/>
        </p:nvSpPr>
        <p:spPr>
          <a:xfrm>
            <a:off x="9426542" y="4308488"/>
            <a:ext cx="178991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One Frame</a:t>
            </a:r>
            <a:endParaRPr lang="en-BE" sz="2800" dirty="0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9721643-6B42-0F4F-C049-A8D231E095A7}"/>
              </a:ext>
            </a:extLst>
          </p:cNvPr>
          <p:cNvCxnSpPr>
            <a:cxnSpLocks/>
            <a:stCxn id="17" idx="3"/>
          </p:cNvCxnSpPr>
          <p:nvPr/>
        </p:nvCxnSpPr>
        <p:spPr>
          <a:xfrm flipV="1">
            <a:off x="11353800" y="3868743"/>
            <a:ext cx="390331" cy="1"/>
          </a:xfrm>
          <a:prstGeom prst="line">
            <a:avLst/>
          </a:prstGeom>
          <a:ln w="762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A63BAD2-77EF-526B-D27E-5ED9BB1B8625}"/>
              </a:ext>
            </a:extLst>
          </p:cNvPr>
          <p:cNvCxnSpPr>
            <a:cxnSpLocks/>
          </p:cNvCxnSpPr>
          <p:nvPr/>
        </p:nvCxnSpPr>
        <p:spPr>
          <a:xfrm>
            <a:off x="11742274" y="2720898"/>
            <a:ext cx="0" cy="1132442"/>
          </a:xfrm>
          <a:prstGeom prst="line">
            <a:avLst/>
          </a:prstGeom>
          <a:ln w="762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D884351-01DE-B477-C612-3D8438BFBB52}"/>
              </a:ext>
            </a:extLst>
          </p:cNvPr>
          <p:cNvCxnSpPr>
            <a:cxnSpLocks/>
          </p:cNvCxnSpPr>
          <p:nvPr/>
        </p:nvCxnSpPr>
        <p:spPr>
          <a:xfrm>
            <a:off x="4304371" y="2772236"/>
            <a:ext cx="7402559" cy="0"/>
          </a:xfrm>
          <a:prstGeom prst="line">
            <a:avLst/>
          </a:prstGeom>
          <a:ln w="762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ECE6F756-51AC-2765-9A72-FB333342FEE8}"/>
              </a:ext>
            </a:extLst>
          </p:cNvPr>
          <p:cNvCxnSpPr/>
          <p:nvPr/>
        </p:nvCxnSpPr>
        <p:spPr>
          <a:xfrm>
            <a:off x="4319239" y="2720898"/>
            <a:ext cx="0" cy="708101"/>
          </a:xfrm>
          <a:prstGeom prst="straightConnector1">
            <a:avLst/>
          </a:prstGeom>
          <a:ln w="762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C76C6375-2438-4A1F-437F-9FDA10C4306A}"/>
              </a:ext>
            </a:extLst>
          </p:cNvPr>
          <p:cNvSpPr txBox="1"/>
          <p:nvPr/>
        </p:nvSpPr>
        <p:spPr>
          <a:xfrm>
            <a:off x="7084881" y="2115033"/>
            <a:ext cx="2089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Game Loop</a:t>
            </a:r>
            <a:endParaRPr lang="en-BE" sz="3200" dirty="0"/>
          </a:p>
        </p:txBody>
      </p:sp>
    </p:spTree>
    <p:extLst>
      <p:ext uri="{BB962C8B-B14F-4D97-AF65-F5344CB8AC3E}">
        <p14:creationId xmlns:p14="http://schemas.microsoft.com/office/powerpoint/2010/main" val="41603182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CECE26-EFC0-7D72-CECB-A8A49B67DE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Script Components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C45EE5-0287-BB09-22E8-131E5AAB521F}"/>
              </a:ext>
            </a:extLst>
          </p:cNvPr>
          <p:cNvSpPr txBox="1"/>
          <p:nvPr/>
        </p:nvSpPr>
        <p:spPr>
          <a:xfrm>
            <a:off x="1616312" y="1790662"/>
            <a:ext cx="895937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Have a method called Start, which is called once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Have a method called Update, which is called every frame </a:t>
            </a:r>
            <a:endParaRPr lang="en-BE" sz="28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C5175B7-AF6E-C1C1-94DA-E8C094D1E6AC}"/>
              </a:ext>
            </a:extLst>
          </p:cNvPr>
          <p:cNvSpPr/>
          <p:nvPr/>
        </p:nvSpPr>
        <p:spPr>
          <a:xfrm>
            <a:off x="512677" y="4274731"/>
            <a:ext cx="2297529" cy="58477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>
              <a:noFill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8F46D2-5F77-FAC9-4AC3-448DD80E420A}"/>
              </a:ext>
            </a:extLst>
          </p:cNvPr>
          <p:cNvSpPr txBox="1"/>
          <p:nvPr/>
        </p:nvSpPr>
        <p:spPr>
          <a:xfrm>
            <a:off x="628147" y="4274735"/>
            <a:ext cx="20665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Load Scene</a:t>
            </a:r>
            <a:endParaRPr lang="en-BE" sz="32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676D24F-A3E4-0B5B-2158-DE6F1011486A}"/>
              </a:ext>
            </a:extLst>
          </p:cNvPr>
          <p:cNvSpPr txBox="1"/>
          <p:nvPr/>
        </p:nvSpPr>
        <p:spPr>
          <a:xfrm>
            <a:off x="3776509" y="4274735"/>
            <a:ext cx="36319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Update Components</a:t>
            </a:r>
            <a:endParaRPr lang="en-BE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C70B0A-6F61-9826-3F6F-35F9D6AAF714}"/>
              </a:ext>
            </a:extLst>
          </p:cNvPr>
          <p:cNvSpPr txBox="1"/>
          <p:nvPr/>
        </p:nvSpPr>
        <p:spPr>
          <a:xfrm>
            <a:off x="8761141" y="4274732"/>
            <a:ext cx="13828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Render</a:t>
            </a:r>
            <a:endParaRPr lang="en-BE" sz="32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9B9C84D-0E42-3422-1008-961762E5BEAB}"/>
              </a:ext>
            </a:extLst>
          </p:cNvPr>
          <p:cNvSpPr/>
          <p:nvPr/>
        </p:nvSpPr>
        <p:spPr>
          <a:xfrm>
            <a:off x="3776509" y="4274734"/>
            <a:ext cx="3631956" cy="58477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>
              <a:noFill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6E60442-48DA-572E-6AFF-8AE6E6EEC323}"/>
              </a:ext>
            </a:extLst>
          </p:cNvPr>
          <p:cNvSpPr/>
          <p:nvPr/>
        </p:nvSpPr>
        <p:spPr>
          <a:xfrm>
            <a:off x="8370810" y="4274733"/>
            <a:ext cx="2297529" cy="58477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>
              <a:noFill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40ADC56-5FEB-6BD0-C82D-3E691A8023E8}"/>
              </a:ext>
            </a:extLst>
          </p:cNvPr>
          <p:cNvCxnSpPr>
            <a:stCxn id="4" idx="3"/>
            <a:endCxn id="6" idx="1"/>
          </p:cNvCxnSpPr>
          <p:nvPr/>
        </p:nvCxnSpPr>
        <p:spPr>
          <a:xfrm>
            <a:off x="2810206" y="4567119"/>
            <a:ext cx="966303" cy="4"/>
          </a:xfrm>
          <a:prstGeom prst="straightConnector1">
            <a:avLst/>
          </a:prstGeom>
          <a:ln w="762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464B470-26A0-D322-8118-1A5A65BDFD58}"/>
              </a:ext>
            </a:extLst>
          </p:cNvPr>
          <p:cNvCxnSpPr/>
          <p:nvPr/>
        </p:nvCxnSpPr>
        <p:spPr>
          <a:xfrm>
            <a:off x="7408465" y="4567123"/>
            <a:ext cx="962345" cy="0"/>
          </a:xfrm>
          <a:prstGeom prst="straightConnector1">
            <a:avLst/>
          </a:prstGeom>
          <a:ln w="762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BD397675-E95C-6F76-8074-C2BF928CC6D3}"/>
              </a:ext>
            </a:extLst>
          </p:cNvPr>
          <p:cNvSpPr/>
          <p:nvPr/>
        </p:nvSpPr>
        <p:spPr>
          <a:xfrm>
            <a:off x="3683581" y="4142778"/>
            <a:ext cx="7279888" cy="87948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>
              <a:noFill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56243F-AC23-F9A8-717F-99993B2AA966}"/>
              </a:ext>
            </a:extLst>
          </p:cNvPr>
          <p:cNvSpPr txBox="1"/>
          <p:nvPr/>
        </p:nvSpPr>
        <p:spPr>
          <a:xfrm>
            <a:off x="9998971" y="5113383"/>
            <a:ext cx="178991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One Frame</a:t>
            </a:r>
            <a:endParaRPr lang="en-BE" sz="2800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5CDE9FB-1A81-9334-11DF-1C97BF4DAD60}"/>
              </a:ext>
            </a:extLst>
          </p:cNvPr>
          <p:cNvCxnSpPr>
            <a:cxnSpLocks/>
            <a:stCxn id="12" idx="3"/>
          </p:cNvCxnSpPr>
          <p:nvPr/>
        </p:nvCxnSpPr>
        <p:spPr>
          <a:xfrm flipV="1">
            <a:off x="10963469" y="4582522"/>
            <a:ext cx="390331" cy="1"/>
          </a:xfrm>
          <a:prstGeom prst="line">
            <a:avLst/>
          </a:prstGeom>
          <a:ln w="762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81CB875C-D535-A582-9CAB-4EEC0CF5F607}"/>
              </a:ext>
            </a:extLst>
          </p:cNvPr>
          <p:cNvCxnSpPr>
            <a:cxnSpLocks/>
          </p:cNvCxnSpPr>
          <p:nvPr/>
        </p:nvCxnSpPr>
        <p:spPr>
          <a:xfrm>
            <a:off x="11351943" y="3434677"/>
            <a:ext cx="0" cy="1132442"/>
          </a:xfrm>
          <a:prstGeom prst="line">
            <a:avLst/>
          </a:prstGeom>
          <a:ln w="762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168C053-5678-8FDC-FD53-0A3D7036030A}"/>
              </a:ext>
            </a:extLst>
          </p:cNvPr>
          <p:cNvCxnSpPr>
            <a:cxnSpLocks/>
          </p:cNvCxnSpPr>
          <p:nvPr/>
        </p:nvCxnSpPr>
        <p:spPr>
          <a:xfrm>
            <a:off x="3914040" y="3486015"/>
            <a:ext cx="7402559" cy="0"/>
          </a:xfrm>
          <a:prstGeom prst="line">
            <a:avLst/>
          </a:prstGeom>
          <a:ln w="762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E6E9411-BC02-FD42-4DFF-82B0C602785F}"/>
              </a:ext>
            </a:extLst>
          </p:cNvPr>
          <p:cNvCxnSpPr/>
          <p:nvPr/>
        </p:nvCxnSpPr>
        <p:spPr>
          <a:xfrm>
            <a:off x="3928908" y="3434677"/>
            <a:ext cx="0" cy="708101"/>
          </a:xfrm>
          <a:prstGeom prst="straightConnector1">
            <a:avLst/>
          </a:prstGeom>
          <a:ln w="762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A26905A-A205-BBC4-4D67-8257D755FD54}"/>
              </a:ext>
            </a:extLst>
          </p:cNvPr>
          <p:cNvSpPr txBox="1"/>
          <p:nvPr/>
        </p:nvSpPr>
        <p:spPr>
          <a:xfrm>
            <a:off x="6694550" y="2828812"/>
            <a:ext cx="2089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Game Loop</a:t>
            </a:r>
            <a:endParaRPr lang="en-BE" sz="3200" dirty="0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BB05C5FD-56F2-42A0-6EB9-C2CC3D4E991D}"/>
              </a:ext>
            </a:extLst>
          </p:cNvPr>
          <p:cNvCxnSpPr>
            <a:cxnSpLocks/>
          </p:cNvCxnSpPr>
          <p:nvPr/>
        </p:nvCxnSpPr>
        <p:spPr>
          <a:xfrm>
            <a:off x="3193064" y="4567118"/>
            <a:ext cx="0" cy="811487"/>
          </a:xfrm>
          <a:prstGeom prst="straightConnector1">
            <a:avLst/>
          </a:prstGeom>
          <a:ln w="762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3894B329-89EE-12E8-651B-24C2D8ED7321}"/>
              </a:ext>
            </a:extLst>
          </p:cNvPr>
          <p:cNvSpPr txBox="1"/>
          <p:nvPr/>
        </p:nvSpPr>
        <p:spPr>
          <a:xfrm>
            <a:off x="2570432" y="5374993"/>
            <a:ext cx="9843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Start</a:t>
            </a:r>
            <a:endParaRPr lang="en-BE" sz="32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EE00AA7-9E48-02B3-0D17-FB6E102DB534}"/>
              </a:ext>
            </a:extLst>
          </p:cNvPr>
          <p:cNvSpPr txBox="1"/>
          <p:nvPr/>
        </p:nvSpPr>
        <p:spPr>
          <a:xfrm>
            <a:off x="4794986" y="5636602"/>
            <a:ext cx="141077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Update</a:t>
            </a:r>
            <a:endParaRPr lang="en-BE" sz="3200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9D2A8266-7400-CB3A-9E81-5CD76E7F4987}"/>
              </a:ext>
            </a:extLst>
          </p:cNvPr>
          <p:cNvCxnSpPr>
            <a:cxnSpLocks/>
          </p:cNvCxnSpPr>
          <p:nvPr/>
        </p:nvCxnSpPr>
        <p:spPr>
          <a:xfrm>
            <a:off x="5562849" y="4859506"/>
            <a:ext cx="0" cy="811487"/>
          </a:xfrm>
          <a:prstGeom prst="straightConnector1">
            <a:avLst/>
          </a:prstGeom>
          <a:ln w="762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284162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2C0957-0469-EC5B-3826-C9569720B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CF804-FBB3-E19E-3EFE-35FE994B7E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class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1B9B2A7-E963-D073-450A-FF728959BEF2}"/>
              </a:ext>
            </a:extLst>
          </p:cNvPr>
          <p:cNvSpPr txBox="1"/>
          <p:nvPr/>
        </p:nvSpPr>
        <p:spPr>
          <a:xfrm>
            <a:off x="989902" y="1690689"/>
            <a:ext cx="4925486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Unity basics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 </a:t>
            </a:r>
            <a:r>
              <a:rPr lang="en-US" sz="2800" dirty="0"/>
              <a:t>3D coordinates </a:t>
            </a:r>
            <a:r>
              <a:rPr lang="en-US" sz="2800" dirty="0">
                <a:sym typeface="Wingdings" panose="05000000000000000000" pitchFamily="2" charset="2"/>
              </a:rPr>
              <a:t></a:t>
            </a: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3D transforms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Why they are important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Dot &amp; Cross product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Quaternions</a:t>
            </a:r>
          </a:p>
        </p:txBody>
      </p:sp>
    </p:spTree>
    <p:extLst>
      <p:ext uri="{BB962C8B-B14F-4D97-AF65-F5344CB8AC3E}">
        <p14:creationId xmlns:p14="http://schemas.microsoft.com/office/powerpoint/2010/main" val="19473257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94B747-33A1-C906-E5EA-C9831BBAF7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Coordinate system</a:t>
            </a:r>
            <a:endParaRPr lang="en-BE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2FC71B0-5D4B-A82E-ED6A-6E29F5F2726C}"/>
              </a:ext>
            </a:extLst>
          </p:cNvPr>
          <p:cNvCxnSpPr>
            <a:cxnSpLocks/>
          </p:cNvCxnSpPr>
          <p:nvPr/>
        </p:nvCxnSpPr>
        <p:spPr>
          <a:xfrm>
            <a:off x="838200" y="5517502"/>
            <a:ext cx="2981131" cy="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71EEFD8-6C6F-8F3B-DCB4-E06F4FB7680E}"/>
              </a:ext>
            </a:extLst>
          </p:cNvPr>
          <p:cNvCxnSpPr/>
          <p:nvPr/>
        </p:nvCxnSpPr>
        <p:spPr>
          <a:xfrm flipV="1">
            <a:off x="838200" y="2676293"/>
            <a:ext cx="0" cy="2841209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EA2C3DC-6C15-5D82-4C4A-C2FCC9E69976}"/>
              </a:ext>
            </a:extLst>
          </p:cNvPr>
          <p:cNvCxnSpPr>
            <a:cxnSpLocks/>
          </p:cNvCxnSpPr>
          <p:nvPr/>
        </p:nvCxnSpPr>
        <p:spPr>
          <a:xfrm flipV="1">
            <a:off x="838199" y="3568390"/>
            <a:ext cx="1490566" cy="1949113"/>
          </a:xfrm>
          <a:prstGeom prst="straightConnector1">
            <a:avLst/>
          </a:prstGeom>
          <a:ln w="76200">
            <a:solidFill>
              <a:srgbClr val="0000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8681FB3-E011-FD2A-C699-DFFCAC8CA1FD}"/>
              </a:ext>
            </a:extLst>
          </p:cNvPr>
          <p:cNvSpPr txBox="1"/>
          <p:nvPr/>
        </p:nvSpPr>
        <p:spPr>
          <a:xfrm>
            <a:off x="3842227" y="5255892"/>
            <a:ext cx="37061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X</a:t>
            </a:r>
            <a:endParaRPr lang="en-BE" sz="28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49641ED-CE00-414A-9DB1-32319C828539}"/>
              </a:ext>
            </a:extLst>
          </p:cNvPr>
          <p:cNvSpPr txBox="1"/>
          <p:nvPr/>
        </p:nvSpPr>
        <p:spPr>
          <a:xfrm>
            <a:off x="622623" y="2089302"/>
            <a:ext cx="21557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Y</a:t>
            </a:r>
            <a:endParaRPr lang="en-BE" sz="2800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25A10E0-D05D-4A30-A5D6-7BBA0B5E810E}"/>
              </a:ext>
            </a:extLst>
          </p:cNvPr>
          <p:cNvSpPr txBox="1"/>
          <p:nvPr/>
        </p:nvSpPr>
        <p:spPr>
          <a:xfrm>
            <a:off x="2255037" y="3116580"/>
            <a:ext cx="3529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Z</a:t>
            </a:r>
            <a:endParaRPr lang="en-BE" sz="28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4FC11E5-068E-5FDD-9D33-F1B769A10F29}"/>
              </a:ext>
            </a:extLst>
          </p:cNvPr>
          <p:cNvSpPr txBox="1"/>
          <p:nvPr/>
        </p:nvSpPr>
        <p:spPr>
          <a:xfrm>
            <a:off x="4773048" y="2612522"/>
            <a:ext cx="7196714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RGB -&gt; XYZ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X is right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Y is up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Z is “into”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Try putting your thumb as the x axis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Put your index on the Y axis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Hold your middle finger perpendicular to both</a:t>
            </a:r>
          </a:p>
        </p:txBody>
      </p:sp>
    </p:spTree>
    <p:extLst>
      <p:ext uri="{BB962C8B-B14F-4D97-AF65-F5344CB8AC3E}">
        <p14:creationId xmlns:p14="http://schemas.microsoft.com/office/powerpoint/2010/main" val="616838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DF43E8-F3E7-430E-EC6F-AA5A8B50AB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Did you succeed?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38D23E-EEAF-AFF0-033A-7FC084287313}"/>
              </a:ext>
            </a:extLst>
          </p:cNvPr>
          <p:cNvSpPr txBox="1"/>
          <p:nvPr/>
        </p:nvSpPr>
        <p:spPr>
          <a:xfrm>
            <a:off x="416312" y="1690688"/>
            <a:ext cx="10557121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If you did, you’re left-handed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3D coordinate system are either left-handed or right-handed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Unity is </a:t>
            </a:r>
            <a:r>
              <a:rPr lang="en-US" sz="3200" b="1" dirty="0"/>
              <a:t>left</a:t>
            </a:r>
            <a:r>
              <a:rPr lang="en-US" sz="3200" dirty="0"/>
              <a:t> handed</a:t>
            </a:r>
          </a:p>
        </p:txBody>
      </p:sp>
      <p:pic>
        <p:nvPicPr>
          <p:cNvPr id="5" name="Picture 4" descr="A pair of hands pointing at different angles&#10;&#10;Description automatically generated">
            <a:extLst>
              <a:ext uri="{FF2B5EF4-FFF2-40B4-BE49-F238E27FC236}">
                <a16:creationId xmlns:a16="http://schemas.microsoft.com/office/drawing/2014/main" id="{51C9D194-4AE6-9AD7-40CA-9153F25338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17835" y="2973354"/>
            <a:ext cx="5102914" cy="3851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91814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2C102-4145-A62B-43E9-E3E38257B1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 is up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D022A2-2166-AA99-2959-CD693C238D66}"/>
              </a:ext>
            </a:extLst>
          </p:cNvPr>
          <p:cNvSpPr txBox="1"/>
          <p:nvPr/>
        </p:nvSpPr>
        <p:spPr>
          <a:xfrm>
            <a:off x="215590" y="1546303"/>
            <a:ext cx="11316303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You can implement applications where another axis is up (</a:t>
            </a:r>
            <a:r>
              <a:rPr lang="en-US" sz="2800" dirty="0" err="1"/>
              <a:t>eg</a:t>
            </a:r>
            <a:r>
              <a:rPr lang="en-US" sz="2800" dirty="0"/>
              <a:t> space games)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But most people follow this convention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Models are oriented by this way by default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Gravity is oriented this way by default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Best to follow 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Trigger warning for the next slide</a:t>
            </a:r>
            <a:endParaRPr lang="en-BE" sz="2800" dirty="0"/>
          </a:p>
        </p:txBody>
      </p:sp>
    </p:spTree>
    <p:extLst>
      <p:ext uri="{BB962C8B-B14F-4D97-AF65-F5344CB8AC3E}">
        <p14:creationId xmlns:p14="http://schemas.microsoft.com/office/powerpoint/2010/main" val="29662032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4C5A6-975A-F964-61B6-549CC051F4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It’s a mess out there</a:t>
            </a:r>
            <a:endParaRPr lang="en-BE" dirty="0"/>
          </a:p>
        </p:txBody>
      </p:sp>
      <p:pic>
        <p:nvPicPr>
          <p:cNvPr id="4" name="Picture 3" descr="A group of logos with text&#10;&#10;Description automatically generated">
            <a:extLst>
              <a:ext uri="{FF2B5EF4-FFF2-40B4-BE49-F238E27FC236}">
                <a16:creationId xmlns:a16="http://schemas.microsoft.com/office/drawing/2014/main" id="{83214A4C-9597-8A81-5346-11D67F6F07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0966" y="906966"/>
            <a:ext cx="5951034" cy="595103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CB030EA-2E53-9CE7-B5C0-DA6E412D249A}"/>
              </a:ext>
            </a:extLst>
          </p:cNvPr>
          <p:cNvSpPr txBox="1"/>
          <p:nvPr/>
        </p:nvSpPr>
        <p:spPr>
          <a:xfrm>
            <a:off x="603380" y="1635967"/>
            <a:ext cx="554664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Almost every import requires conversion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It might be done automatically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It might have to be done explicitly</a:t>
            </a:r>
          </a:p>
        </p:txBody>
      </p:sp>
    </p:spTree>
    <p:extLst>
      <p:ext uri="{BB962C8B-B14F-4D97-AF65-F5344CB8AC3E}">
        <p14:creationId xmlns:p14="http://schemas.microsoft.com/office/powerpoint/2010/main" val="40144978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1EBF34-B399-EAA1-A6E5-9A8450261B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Vectors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89647B1-0C0B-A777-5FFA-ED2E48B773AF}"/>
              </a:ext>
            </a:extLst>
          </p:cNvPr>
          <p:cNvSpPr txBox="1"/>
          <p:nvPr/>
        </p:nvSpPr>
        <p:spPr>
          <a:xfrm>
            <a:off x="335903" y="1393321"/>
            <a:ext cx="622101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Is an annoying concept to explain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You know it as an array that can grow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In graphics, it’s collection of 3 or 4 float’s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More specifically, it’s an offset from the origin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10E4630A-9205-DD19-2F98-A28196492C56}"/>
              </a:ext>
            </a:extLst>
          </p:cNvPr>
          <p:cNvCxnSpPr>
            <a:cxnSpLocks/>
          </p:cNvCxnSpPr>
          <p:nvPr/>
        </p:nvCxnSpPr>
        <p:spPr>
          <a:xfrm>
            <a:off x="7482507" y="4294509"/>
            <a:ext cx="2981131" cy="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52F658F-00C6-A415-20C6-77F4A508B9ED}"/>
              </a:ext>
            </a:extLst>
          </p:cNvPr>
          <p:cNvCxnSpPr/>
          <p:nvPr/>
        </p:nvCxnSpPr>
        <p:spPr>
          <a:xfrm flipV="1">
            <a:off x="7482507" y="1453300"/>
            <a:ext cx="0" cy="2841209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83AE3B57-53CB-BF3D-0E86-E6DDF339B807}"/>
              </a:ext>
            </a:extLst>
          </p:cNvPr>
          <p:cNvCxnSpPr>
            <a:cxnSpLocks/>
          </p:cNvCxnSpPr>
          <p:nvPr/>
        </p:nvCxnSpPr>
        <p:spPr>
          <a:xfrm flipV="1">
            <a:off x="7482506" y="2345397"/>
            <a:ext cx="1490566" cy="1949113"/>
          </a:xfrm>
          <a:prstGeom prst="straightConnector1">
            <a:avLst/>
          </a:prstGeom>
          <a:ln w="76200">
            <a:solidFill>
              <a:srgbClr val="0000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0321ACE5-DBE3-FA78-5122-1FC63140BA87}"/>
              </a:ext>
            </a:extLst>
          </p:cNvPr>
          <p:cNvSpPr txBox="1"/>
          <p:nvPr/>
        </p:nvSpPr>
        <p:spPr>
          <a:xfrm>
            <a:off x="10486534" y="4032899"/>
            <a:ext cx="37061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X</a:t>
            </a:r>
            <a:endParaRPr lang="en-BE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107B33-C0D0-5F9D-0D89-65F4F16F7F73}"/>
              </a:ext>
            </a:extLst>
          </p:cNvPr>
          <p:cNvSpPr txBox="1"/>
          <p:nvPr/>
        </p:nvSpPr>
        <p:spPr>
          <a:xfrm>
            <a:off x="7266930" y="866309"/>
            <a:ext cx="21557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Y</a:t>
            </a:r>
            <a:endParaRPr lang="en-BE" sz="28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841FC9-4DC7-F551-9744-A4FA00CD45C1}"/>
              </a:ext>
            </a:extLst>
          </p:cNvPr>
          <p:cNvSpPr txBox="1"/>
          <p:nvPr/>
        </p:nvSpPr>
        <p:spPr>
          <a:xfrm>
            <a:off x="8899344" y="1893587"/>
            <a:ext cx="3529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Z</a:t>
            </a:r>
            <a:endParaRPr lang="en-BE" sz="2800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7E20993-0D40-7066-60B2-D90CE692F917}"/>
              </a:ext>
            </a:extLst>
          </p:cNvPr>
          <p:cNvCxnSpPr/>
          <p:nvPr/>
        </p:nvCxnSpPr>
        <p:spPr>
          <a:xfrm flipV="1">
            <a:off x="7573575" y="2969866"/>
            <a:ext cx="2438400" cy="1324643"/>
          </a:xfrm>
          <a:prstGeom prst="straightConnector1">
            <a:avLst/>
          </a:prstGeom>
          <a:ln w="762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A1F4EFD7-018D-EDE8-5073-F48ABED12B04}"/>
              </a:ext>
            </a:extLst>
          </p:cNvPr>
          <p:cNvSpPr txBox="1"/>
          <p:nvPr/>
        </p:nvSpPr>
        <p:spPr>
          <a:xfrm>
            <a:off x="10011975" y="2555450"/>
            <a:ext cx="14221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(3.0, 1.0, 0.0)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9408206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222E71-EE58-7896-3608-08CA2DFC91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0D450F-86B0-BE9C-B0E3-1E153B5AB3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Unity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B982587-ED4B-F970-BE4C-19E90C83C38E}"/>
              </a:ext>
            </a:extLst>
          </p:cNvPr>
          <p:cNvSpPr txBox="1"/>
          <p:nvPr/>
        </p:nvSpPr>
        <p:spPr>
          <a:xfrm>
            <a:off x="186611" y="1598644"/>
            <a:ext cx="7051930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</a:rPr>
              <a:t>// initialize with all components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800" i="1" dirty="0">
                <a:solidFill>
                  <a:srgbClr val="0000FF"/>
                </a:solidFill>
                <a:latin typeface="Cascadia Mono" panose="020B0609020000020004" pitchFamily="49" charset="0"/>
              </a:rPr>
              <a:t>Vector3</a:t>
            </a:r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800" i="0" dirty="0">
                <a:solidFill>
                  <a:srgbClr val="000080"/>
                </a:solidFill>
                <a:latin typeface="Cascadia Mono" panose="020B0609020000020004" pitchFamily="49" charset="0"/>
              </a:rPr>
              <a:t>v1</a:t>
            </a:r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1800" i="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800" i="1" dirty="0">
                <a:solidFill>
                  <a:srgbClr val="0000FF"/>
                </a:solidFill>
                <a:latin typeface="Cascadia Mono" panose="020B0609020000020004" pitchFamily="49" charset="0"/>
              </a:rPr>
              <a:t>Vector3</a:t>
            </a:r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(2, 1, 0);</a:t>
            </a:r>
          </a:p>
          <a:p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800" i="0" dirty="0">
                <a:solidFill>
                  <a:srgbClr val="008000"/>
                </a:solidFill>
                <a:latin typeface="Cascadia Mono" panose="020B0609020000020004" pitchFamily="49" charset="0"/>
              </a:rPr>
              <a:t>// shorthand for (0, 0, 0)</a:t>
            </a:r>
          </a:p>
          <a:p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800" i="1" dirty="0">
                <a:solidFill>
                  <a:srgbClr val="0000FF"/>
                </a:solidFill>
                <a:latin typeface="Cascadia Mono" panose="020B0609020000020004" pitchFamily="49" charset="0"/>
              </a:rPr>
              <a:t>Vector3</a:t>
            </a:r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800" i="0" dirty="0">
                <a:solidFill>
                  <a:srgbClr val="000080"/>
                </a:solidFill>
                <a:latin typeface="Cascadia Mono" panose="020B0609020000020004" pitchFamily="49" charset="0"/>
              </a:rPr>
              <a:t>v2</a:t>
            </a:r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1800" i="1" dirty="0">
                <a:solidFill>
                  <a:srgbClr val="0000FF"/>
                </a:solidFill>
                <a:latin typeface="Cascadia Mono" panose="020B0609020000020004" pitchFamily="49" charset="0"/>
              </a:rPr>
              <a:t>Vector3</a:t>
            </a:r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.</a:t>
            </a:r>
            <a:r>
              <a:rPr lang="en-US" sz="1800" i="1" dirty="0">
                <a:solidFill>
                  <a:srgbClr val="000080"/>
                </a:solidFill>
                <a:latin typeface="Cascadia Mono" panose="020B0609020000020004" pitchFamily="49" charset="0"/>
              </a:rPr>
              <a:t>zero</a:t>
            </a:r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800" i="0" dirty="0">
                <a:solidFill>
                  <a:srgbClr val="008000"/>
                </a:solidFill>
                <a:latin typeface="Cascadia Mono" panose="020B0609020000020004" pitchFamily="49" charset="0"/>
              </a:rPr>
              <a:t>// shorthand for (1, 0, 0). All 6 directions exist</a:t>
            </a:r>
          </a:p>
          <a:p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800" i="1" dirty="0">
                <a:solidFill>
                  <a:srgbClr val="0000FF"/>
                </a:solidFill>
                <a:latin typeface="Cascadia Mono" panose="020B0609020000020004" pitchFamily="49" charset="0"/>
              </a:rPr>
              <a:t>Vector3</a:t>
            </a:r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800" i="0" dirty="0">
                <a:solidFill>
                  <a:srgbClr val="000080"/>
                </a:solidFill>
                <a:latin typeface="Cascadia Mono" panose="020B0609020000020004" pitchFamily="49" charset="0"/>
              </a:rPr>
              <a:t>v3</a:t>
            </a:r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1800" i="1" dirty="0">
                <a:solidFill>
                  <a:srgbClr val="0000FF"/>
                </a:solidFill>
                <a:latin typeface="Cascadia Mono" panose="020B0609020000020004" pitchFamily="49" charset="0"/>
              </a:rPr>
              <a:t>Vector3</a:t>
            </a:r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.</a:t>
            </a:r>
            <a:r>
              <a:rPr lang="en-US" sz="1800" i="1" dirty="0">
                <a:solidFill>
                  <a:srgbClr val="000080"/>
                </a:solidFill>
                <a:latin typeface="Cascadia Mono" panose="020B0609020000020004" pitchFamily="49" charset="0"/>
              </a:rPr>
              <a:t>right</a:t>
            </a:r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6617908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AC8710-F645-C12C-C2D9-A7F8B8E2CC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2234" y="365125"/>
            <a:ext cx="11041566" cy="1325563"/>
          </a:xfrm>
        </p:spPr>
        <p:txBody>
          <a:bodyPr/>
          <a:lstStyle/>
          <a:p>
            <a:r>
              <a:rPr lang="en-US" dirty="0"/>
              <a:t>Each element of a vector is called a component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8E5E8BD-62F3-CB83-B74D-82DED82DA0C7}"/>
              </a:ext>
            </a:extLst>
          </p:cNvPr>
          <p:cNvSpPr txBox="1"/>
          <p:nvPr/>
        </p:nvSpPr>
        <p:spPr>
          <a:xfrm>
            <a:off x="676507" y="2088995"/>
            <a:ext cx="5259838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Take a vector of (2, 1, 3), called 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The x component is </a:t>
            </a:r>
            <a:r>
              <a:rPr lang="en-US" sz="2800" dirty="0" err="1"/>
              <a:t>A.x</a:t>
            </a:r>
            <a:r>
              <a:rPr lang="en-US" sz="2800" dirty="0"/>
              <a:t> is 2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The third component (A[2]) is 3</a:t>
            </a:r>
            <a:endParaRPr lang="en-BE" sz="2800" dirty="0"/>
          </a:p>
        </p:txBody>
      </p:sp>
    </p:spTree>
    <p:extLst>
      <p:ext uri="{BB962C8B-B14F-4D97-AF65-F5344CB8AC3E}">
        <p14:creationId xmlns:p14="http://schemas.microsoft.com/office/powerpoint/2010/main" val="27647926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284D69-ACEE-7961-8F9A-B5298312E1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Positions</a:t>
            </a:r>
            <a:endParaRPr lang="en-BE"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02F5350E-D415-8EED-702F-17E871950543}"/>
              </a:ext>
            </a:extLst>
          </p:cNvPr>
          <p:cNvCxnSpPr>
            <a:cxnSpLocks/>
          </p:cNvCxnSpPr>
          <p:nvPr/>
        </p:nvCxnSpPr>
        <p:spPr>
          <a:xfrm>
            <a:off x="7075436" y="5963550"/>
            <a:ext cx="2981131" cy="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47CC68F8-5842-EA45-9F7A-8A2530BDCE57}"/>
              </a:ext>
            </a:extLst>
          </p:cNvPr>
          <p:cNvCxnSpPr/>
          <p:nvPr/>
        </p:nvCxnSpPr>
        <p:spPr>
          <a:xfrm flipV="1">
            <a:off x="7075436" y="3122341"/>
            <a:ext cx="0" cy="2841209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E241CF63-D605-BF74-9BE2-3CA76544195D}"/>
              </a:ext>
            </a:extLst>
          </p:cNvPr>
          <p:cNvSpPr txBox="1"/>
          <p:nvPr/>
        </p:nvSpPr>
        <p:spPr>
          <a:xfrm>
            <a:off x="10079463" y="5701940"/>
            <a:ext cx="37061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X</a:t>
            </a:r>
            <a:endParaRPr lang="en-BE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5210759-5BAB-E72C-30D8-40E1BD4EBF0F}"/>
              </a:ext>
            </a:extLst>
          </p:cNvPr>
          <p:cNvSpPr txBox="1"/>
          <p:nvPr/>
        </p:nvSpPr>
        <p:spPr>
          <a:xfrm>
            <a:off x="6859859" y="2535350"/>
            <a:ext cx="21557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Y</a:t>
            </a:r>
            <a:endParaRPr lang="en-BE" sz="28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D1E1A2-33C1-2DD5-F0C3-62F3115FBAE0}"/>
              </a:ext>
            </a:extLst>
          </p:cNvPr>
          <p:cNvSpPr txBox="1"/>
          <p:nvPr/>
        </p:nvSpPr>
        <p:spPr>
          <a:xfrm>
            <a:off x="408879" y="1929461"/>
            <a:ext cx="6241645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The type in code is often called a vector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In Unity, a Vector3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A point is technically different </a:t>
            </a:r>
            <a:br>
              <a:rPr lang="en-US" sz="2800" dirty="0"/>
            </a:br>
            <a:r>
              <a:rPr lang="en-US" sz="2800" dirty="0"/>
              <a:t>than a vector, but it’s not important</a:t>
            </a:r>
            <a:endParaRPr lang="en-BE" sz="2800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10FB282-6A20-8A0D-6977-A6CDBED7ED93}"/>
              </a:ext>
            </a:extLst>
          </p:cNvPr>
          <p:cNvSpPr/>
          <p:nvPr/>
        </p:nvSpPr>
        <p:spPr>
          <a:xfrm>
            <a:off x="8088351" y="4155688"/>
            <a:ext cx="163550" cy="163551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04B440C-6F19-65B5-51AD-7C4E51A32860}"/>
              </a:ext>
            </a:extLst>
          </p:cNvPr>
          <p:cNvSpPr txBox="1"/>
          <p:nvPr/>
        </p:nvSpPr>
        <p:spPr>
          <a:xfrm>
            <a:off x="8586439" y="4007005"/>
            <a:ext cx="8980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(1, 2, 0)</a:t>
            </a:r>
          </a:p>
        </p:txBody>
      </p:sp>
    </p:spTree>
    <p:extLst>
      <p:ext uri="{BB962C8B-B14F-4D97-AF65-F5344CB8AC3E}">
        <p14:creationId xmlns:p14="http://schemas.microsoft.com/office/powerpoint/2010/main" val="28011304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008033-206B-F34C-4F7F-7FC6635E27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E482DA-4368-C521-6331-1D551775BE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Origin</a:t>
            </a:r>
            <a:endParaRPr lang="en-BE" dirty="0"/>
          </a:p>
        </p:txBody>
      </p:sp>
      <p:pic>
        <p:nvPicPr>
          <p:cNvPr id="3" name="Picture 2" descr="A graph of colored arrows&#10;&#10;Description automatically generated with medium confidence">
            <a:extLst>
              <a:ext uri="{FF2B5EF4-FFF2-40B4-BE49-F238E27FC236}">
                <a16:creationId xmlns:a16="http://schemas.microsoft.com/office/drawing/2014/main" id="{5EFF9B62-E35C-7AC4-24F8-8A7896BE41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8665" y="1027906"/>
            <a:ext cx="5006458" cy="506796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DFE5506-7099-FE4F-49E4-6FBC8180B5EC}"/>
              </a:ext>
            </a:extLst>
          </p:cNvPr>
          <p:cNvSpPr txBox="1"/>
          <p:nvPr/>
        </p:nvSpPr>
        <p:spPr>
          <a:xfrm>
            <a:off x="783771" y="1690688"/>
            <a:ext cx="488364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A position in our coordinate system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Position is (0, 0, 0)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Place where all the axis are 0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631ABB9-DFB2-AFAD-3C58-CCCFA3559D22}"/>
              </a:ext>
            </a:extLst>
          </p:cNvPr>
          <p:cNvSpPr/>
          <p:nvPr/>
        </p:nvSpPr>
        <p:spPr>
          <a:xfrm>
            <a:off x="6663694" y="5791200"/>
            <a:ext cx="230155" cy="230155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61375F6-0B16-22A8-9F8F-202142A857F4}"/>
              </a:ext>
            </a:extLst>
          </p:cNvPr>
          <p:cNvSpPr txBox="1"/>
          <p:nvPr/>
        </p:nvSpPr>
        <p:spPr>
          <a:xfrm>
            <a:off x="5304721" y="6021355"/>
            <a:ext cx="129394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(0, 0, 0)</a:t>
            </a:r>
          </a:p>
        </p:txBody>
      </p:sp>
    </p:spTree>
    <p:extLst>
      <p:ext uri="{BB962C8B-B14F-4D97-AF65-F5344CB8AC3E}">
        <p14:creationId xmlns:p14="http://schemas.microsoft.com/office/powerpoint/2010/main" val="36653607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01A0CA-7F91-96F9-27A8-8469E5635F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 can do calculations with vectors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D95714-221E-D275-F37E-5FA2F4075C5E}"/>
              </a:ext>
            </a:extLst>
          </p:cNvPr>
          <p:cNvSpPr txBox="1"/>
          <p:nvPr/>
        </p:nvSpPr>
        <p:spPr>
          <a:xfrm>
            <a:off x="348342" y="1779036"/>
            <a:ext cx="907415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I’m going to remove the Z axis for the next couple of slides, for clarity</a:t>
            </a:r>
          </a:p>
        </p:txBody>
      </p:sp>
    </p:spTree>
    <p:extLst>
      <p:ext uri="{BB962C8B-B14F-4D97-AF65-F5344CB8AC3E}">
        <p14:creationId xmlns:p14="http://schemas.microsoft.com/office/powerpoint/2010/main" val="320181395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92493F-1FEE-5D23-9BBB-99917B6339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</a:t>
            </a:r>
            <a:endParaRPr lang="en-BE" dirty="0"/>
          </a:p>
        </p:txBody>
      </p:sp>
      <p:pic>
        <p:nvPicPr>
          <p:cNvPr id="4" name="Picture 3" descr="A green and red arrows on a black background&#10;&#10;Description automatically generated">
            <a:extLst>
              <a:ext uri="{FF2B5EF4-FFF2-40B4-BE49-F238E27FC236}">
                <a16:creationId xmlns:a16="http://schemas.microsoft.com/office/drawing/2014/main" id="{A5C2D8FA-F000-0154-1078-5BB47B45FC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8070" y="1690688"/>
            <a:ext cx="3877216" cy="392484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58FE684-FDF0-D988-3928-6B906E5849D3}"/>
              </a:ext>
            </a:extLst>
          </p:cNvPr>
          <p:cNvSpPr txBox="1"/>
          <p:nvPr/>
        </p:nvSpPr>
        <p:spPr>
          <a:xfrm>
            <a:off x="548006" y="2098840"/>
            <a:ext cx="5547994" cy="440120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/>
              <a:t>We can add two vectors together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/>
              <a:t>We add all components separately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/>
              <a:t>This is called “component-wise”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800" dirty="0"/>
          </a:p>
          <a:p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A   = (1, 2, 0)</a:t>
            </a:r>
          </a:p>
          <a:p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B = (2, 1, 0)</a:t>
            </a:r>
          </a:p>
          <a:p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A+B = (3, 3, 0)</a:t>
            </a:r>
          </a:p>
          <a:p>
            <a:endParaRPr lang="en-US" sz="2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BE" sz="2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49982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4DEAC1-67E4-5DFE-57E8-E7CC76F9F6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E343B2-D53A-6CA6-CEB0-5784245DAD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</a:t>
            </a:r>
            <a:endParaRPr lang="en-BE" dirty="0"/>
          </a:p>
        </p:txBody>
      </p:sp>
      <p:pic>
        <p:nvPicPr>
          <p:cNvPr id="4" name="Picture 3" descr="A green and red arrows on a black background&#10;&#10;Description automatically generated">
            <a:extLst>
              <a:ext uri="{FF2B5EF4-FFF2-40B4-BE49-F238E27FC236}">
                <a16:creationId xmlns:a16="http://schemas.microsoft.com/office/drawing/2014/main" id="{4748795A-6DB1-4ACB-E64E-CE5F87BB1E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42715" y="1027906"/>
            <a:ext cx="3877216" cy="392484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9850BB2-E93D-C262-E509-052CDA1C2497}"/>
              </a:ext>
            </a:extLst>
          </p:cNvPr>
          <p:cNvSpPr txBox="1"/>
          <p:nvPr/>
        </p:nvSpPr>
        <p:spPr>
          <a:xfrm>
            <a:off x="548006" y="2098840"/>
            <a:ext cx="7792518" cy="50783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/>
              <a:t>We can add two vectors together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/>
              <a:t>We add all components separately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/>
              <a:t>This is called “component-wise”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800" dirty="0"/>
          </a:p>
          <a:p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A   = (1, 2, 0)</a:t>
            </a:r>
          </a:p>
          <a:p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B = (2, 1, 0)</a:t>
            </a:r>
          </a:p>
          <a:p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A+B = (3, 3, 0)</a:t>
            </a:r>
          </a:p>
          <a:p>
            <a:endParaRPr lang="en-US" sz="2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400" i="1" dirty="0">
                <a:solidFill>
                  <a:srgbClr val="0000FF"/>
                </a:solidFill>
                <a:latin typeface="Cascadia Mono" panose="020B0609020000020004" pitchFamily="49" charset="0"/>
              </a:rPr>
              <a:t>Vector3</a:t>
            </a:r>
            <a:r>
              <a:rPr lang="en-US" sz="24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i="0" dirty="0">
                <a:solidFill>
                  <a:srgbClr val="000080"/>
                </a:solidFill>
                <a:latin typeface="Cascadia Mono" panose="020B0609020000020004" pitchFamily="49" charset="0"/>
              </a:rPr>
              <a:t>a</a:t>
            </a:r>
            <a:r>
              <a:rPr lang="en-US" sz="24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2400" i="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i="1" dirty="0">
                <a:solidFill>
                  <a:srgbClr val="0000FF"/>
                </a:solidFill>
                <a:latin typeface="Cascadia Mono" panose="020B0609020000020004" pitchFamily="49" charset="0"/>
              </a:rPr>
              <a:t>Vector3</a:t>
            </a:r>
            <a:r>
              <a:rPr lang="en-US" sz="2400" i="0" dirty="0">
                <a:solidFill>
                  <a:srgbClr val="000000"/>
                </a:solidFill>
                <a:latin typeface="Cascadia Mono" panose="020B0609020000020004" pitchFamily="49" charset="0"/>
              </a:rPr>
              <a:t>(1.0f, 2.0f, 0.0f);</a:t>
            </a:r>
          </a:p>
          <a:p>
            <a:r>
              <a:rPr lang="en-US" sz="2400" i="1" dirty="0">
                <a:solidFill>
                  <a:srgbClr val="0000FF"/>
                </a:solidFill>
                <a:latin typeface="Cascadia Mono" panose="020B0609020000020004" pitchFamily="49" charset="0"/>
              </a:rPr>
              <a:t>Vector3</a:t>
            </a:r>
            <a:r>
              <a:rPr lang="en-US" sz="24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i="0" dirty="0">
                <a:solidFill>
                  <a:srgbClr val="000080"/>
                </a:solidFill>
                <a:latin typeface="Cascadia Mono" panose="020B0609020000020004" pitchFamily="49" charset="0"/>
              </a:rPr>
              <a:t>b</a:t>
            </a:r>
            <a:r>
              <a:rPr lang="en-US" sz="24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2400" i="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i="1" dirty="0">
                <a:solidFill>
                  <a:srgbClr val="0000FF"/>
                </a:solidFill>
                <a:latin typeface="Cascadia Mono" panose="020B0609020000020004" pitchFamily="49" charset="0"/>
              </a:rPr>
              <a:t>Vector3</a:t>
            </a:r>
            <a:r>
              <a:rPr lang="en-US" sz="2400" i="0" dirty="0">
                <a:solidFill>
                  <a:srgbClr val="000000"/>
                </a:solidFill>
                <a:latin typeface="Cascadia Mono" panose="020B0609020000020004" pitchFamily="49" charset="0"/>
              </a:rPr>
              <a:t>(2.0f, 1.0f, 0.0f);</a:t>
            </a:r>
          </a:p>
          <a:p>
            <a:r>
              <a:rPr lang="en-US" sz="2400" i="1" dirty="0">
                <a:solidFill>
                  <a:srgbClr val="0000FF"/>
                </a:solidFill>
                <a:latin typeface="Cascadia Mono" panose="020B0609020000020004" pitchFamily="49" charset="0"/>
              </a:rPr>
              <a:t>Vector3</a:t>
            </a:r>
            <a:r>
              <a:rPr lang="en-US" sz="24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i="0" dirty="0">
                <a:solidFill>
                  <a:srgbClr val="000080"/>
                </a:solidFill>
                <a:latin typeface="Cascadia Mono" panose="020B0609020000020004" pitchFamily="49" charset="0"/>
              </a:rPr>
              <a:t>c</a:t>
            </a:r>
            <a:r>
              <a:rPr lang="en-US" sz="24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2400" i="0" dirty="0">
                <a:solidFill>
                  <a:srgbClr val="000080"/>
                </a:solidFill>
                <a:latin typeface="Cascadia Mono" panose="020B0609020000020004" pitchFamily="49" charset="0"/>
              </a:rPr>
              <a:t>a</a:t>
            </a:r>
            <a:r>
              <a:rPr lang="en-US" sz="24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+ </a:t>
            </a:r>
            <a:r>
              <a:rPr lang="en-US" sz="2400" i="0" dirty="0">
                <a:solidFill>
                  <a:srgbClr val="000080"/>
                </a:solidFill>
                <a:latin typeface="Cascadia Mono" panose="020B0609020000020004" pitchFamily="49" charset="0"/>
              </a:rPr>
              <a:t>b</a:t>
            </a:r>
            <a:r>
              <a:rPr lang="en-US" sz="2400" i="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  <a:endParaRPr lang="en-US" sz="3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BE" sz="2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614934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55E120-9BA8-2BAA-079F-30D92D8C4E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 is communicative 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07B6437-5A3E-A597-8A8B-ECF21513D964}"/>
              </a:ext>
            </a:extLst>
          </p:cNvPr>
          <p:cNvSpPr txBox="1"/>
          <p:nvPr/>
        </p:nvSpPr>
        <p:spPr>
          <a:xfrm>
            <a:off x="548006" y="2098840"/>
            <a:ext cx="3698192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>
                <a:cs typeface="Courier New" panose="02070309020205020404" pitchFamily="49" charset="0"/>
              </a:rPr>
              <a:t>Order doesn’t matter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A + B = B + A</a:t>
            </a:r>
            <a:endParaRPr lang="en-BE" sz="2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5" name="Picture 4" descr="A green and red arrows on a black background&#10;&#10;Description automatically generated">
            <a:extLst>
              <a:ext uri="{FF2B5EF4-FFF2-40B4-BE49-F238E27FC236}">
                <a16:creationId xmlns:a16="http://schemas.microsoft.com/office/drawing/2014/main" id="{43EF0F7D-8BD5-CEAF-13C2-6278F19CE6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3760" y="1573763"/>
            <a:ext cx="5123212" cy="518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6463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0DE42-E148-7174-651C-06402237BD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490ADE-8589-C768-781B-398436FA0F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Subtraction</a:t>
            </a:r>
            <a:endParaRPr lang="en-B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1B335A-0B1E-4F02-A30E-EB407C40DB9F}"/>
              </a:ext>
            </a:extLst>
          </p:cNvPr>
          <p:cNvSpPr txBox="1"/>
          <p:nvPr/>
        </p:nvSpPr>
        <p:spPr>
          <a:xfrm>
            <a:off x="548006" y="2098840"/>
            <a:ext cx="6557180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/>
              <a:t>We can subtract one vector from another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/>
              <a:t>We subtract all components separately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/>
              <a:t>Order does matter</a:t>
            </a:r>
          </a:p>
          <a:p>
            <a:endParaRPr lang="en-US" sz="2800" dirty="0"/>
          </a:p>
          <a:p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A   = ( 1, 2, 0)</a:t>
            </a:r>
          </a:p>
          <a:p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B = ( 2, 1, 0)</a:t>
            </a:r>
          </a:p>
          <a:p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A-B = (-1, 1, 0)</a:t>
            </a:r>
            <a:endParaRPr lang="en-BE" sz="2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6" name="Picture 5" descr="A green and red arrow&#10;&#10;Description automatically generated">
            <a:extLst>
              <a:ext uri="{FF2B5EF4-FFF2-40B4-BE49-F238E27FC236}">
                <a16:creationId xmlns:a16="http://schemas.microsoft.com/office/drawing/2014/main" id="{63D123CF-D0D2-073F-FF37-40E46D5711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26171" y="1423033"/>
            <a:ext cx="5020376" cy="3924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20302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C15E56-D143-3D3C-1126-1CEEA9385F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Multiplication / division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5CF6BC4-225F-F512-BD4F-9706C49F1906}"/>
              </a:ext>
            </a:extLst>
          </p:cNvPr>
          <p:cNvSpPr txBox="1"/>
          <p:nvPr/>
        </p:nvSpPr>
        <p:spPr>
          <a:xfrm>
            <a:off x="957943" y="2034073"/>
            <a:ext cx="8183651" cy="25237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We can’t meaningfully multiply/divide 2 vectors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But we can multiply/divide by a single float (“scalar”)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A   = (2, 1  , 0) </a:t>
            </a:r>
          </a:p>
          <a:p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A*2 = (4, 2  , 0)</a:t>
            </a:r>
          </a:p>
          <a:p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A/2 = (1, 0.5, 0)</a:t>
            </a:r>
            <a:endParaRPr lang="en-BE" sz="2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616555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E68224-1FB2-B28A-C2E8-A21702E1F6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Multiplication / division changes length</a:t>
            </a:r>
            <a:endParaRPr lang="en-BE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E6D38AD9-979A-FFEB-C2F0-B6DB89DFE8B1}"/>
              </a:ext>
            </a:extLst>
          </p:cNvPr>
          <p:cNvCxnSpPr/>
          <p:nvPr/>
        </p:nvCxnSpPr>
        <p:spPr>
          <a:xfrm>
            <a:off x="1511559" y="2948473"/>
            <a:ext cx="274942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F849E8E8-54C4-800F-38CA-99DA1E50E6D9}"/>
              </a:ext>
            </a:extLst>
          </p:cNvPr>
          <p:cNvCxnSpPr>
            <a:cxnSpLocks/>
          </p:cNvCxnSpPr>
          <p:nvPr/>
        </p:nvCxnSpPr>
        <p:spPr>
          <a:xfrm>
            <a:off x="1511559" y="3505200"/>
            <a:ext cx="5778759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D6DDD4C-3943-0A7F-8204-1EDB6813F195}"/>
              </a:ext>
            </a:extLst>
          </p:cNvPr>
          <p:cNvCxnSpPr>
            <a:cxnSpLocks/>
          </p:cNvCxnSpPr>
          <p:nvPr/>
        </p:nvCxnSpPr>
        <p:spPr>
          <a:xfrm>
            <a:off x="1511559" y="4065036"/>
            <a:ext cx="1362269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8C04DE3-156E-593C-F42C-91BF9400CA08}"/>
              </a:ext>
            </a:extLst>
          </p:cNvPr>
          <p:cNvSpPr txBox="1"/>
          <p:nvPr/>
        </p:nvSpPr>
        <p:spPr>
          <a:xfrm>
            <a:off x="671804" y="2768082"/>
            <a:ext cx="662361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</a:t>
            </a:r>
            <a:br>
              <a:rPr lang="en-US" b="1" dirty="0"/>
            </a:br>
            <a:endParaRPr lang="en-US" b="1" dirty="0"/>
          </a:p>
          <a:p>
            <a:r>
              <a:rPr lang="en-US" b="1" dirty="0"/>
              <a:t>A * 2</a:t>
            </a:r>
            <a:br>
              <a:rPr lang="en-US" b="1" dirty="0"/>
            </a:br>
            <a:br>
              <a:rPr lang="en-US" b="1" dirty="0"/>
            </a:br>
            <a:r>
              <a:rPr lang="en-US" b="1" dirty="0"/>
              <a:t>A / 2</a:t>
            </a:r>
            <a:endParaRPr lang="en-BE" b="1" dirty="0"/>
          </a:p>
        </p:txBody>
      </p:sp>
    </p:spTree>
    <p:extLst>
      <p:ext uri="{BB962C8B-B14F-4D97-AF65-F5344CB8AC3E}">
        <p14:creationId xmlns:p14="http://schemas.microsoft.com/office/powerpoint/2010/main" val="124709363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80DCF-5E0D-EEB8-BB2B-8E9A91FA91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 can subtract / divide vectors</a:t>
            </a:r>
            <a:endParaRPr lang="en-B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0C897E4-CDDF-ADE8-61AE-DE5505ACFD5A}"/>
              </a:ext>
            </a:extLst>
          </p:cNvPr>
          <p:cNvSpPr txBox="1"/>
          <p:nvPr/>
        </p:nvSpPr>
        <p:spPr>
          <a:xfrm>
            <a:off x="564995" y="1568606"/>
            <a:ext cx="841153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By a single number: it changes the length of the vector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CB258C3-491E-7810-8A1C-7059E6F45AED}"/>
              </a:ext>
            </a:extLst>
          </p:cNvPr>
          <p:cNvCxnSpPr>
            <a:cxnSpLocks/>
          </p:cNvCxnSpPr>
          <p:nvPr/>
        </p:nvCxnSpPr>
        <p:spPr>
          <a:xfrm>
            <a:off x="421875" y="6298087"/>
            <a:ext cx="2981131" cy="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03461C4-54E8-17ED-B6C4-520889D83619}"/>
              </a:ext>
            </a:extLst>
          </p:cNvPr>
          <p:cNvCxnSpPr/>
          <p:nvPr/>
        </p:nvCxnSpPr>
        <p:spPr>
          <a:xfrm flipV="1">
            <a:off x="421875" y="3456878"/>
            <a:ext cx="0" cy="2841209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46906632-EC58-913D-3116-D960734DF147}"/>
              </a:ext>
            </a:extLst>
          </p:cNvPr>
          <p:cNvSpPr txBox="1"/>
          <p:nvPr/>
        </p:nvSpPr>
        <p:spPr>
          <a:xfrm>
            <a:off x="3425902" y="6036477"/>
            <a:ext cx="37061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X</a:t>
            </a:r>
            <a:endParaRPr lang="en-BE" sz="28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0248C5C-B292-3A1C-DF73-1482E03B4D9E}"/>
              </a:ext>
            </a:extLst>
          </p:cNvPr>
          <p:cNvSpPr txBox="1"/>
          <p:nvPr/>
        </p:nvSpPr>
        <p:spPr>
          <a:xfrm>
            <a:off x="2544250" y="5135148"/>
            <a:ext cx="12442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= (2, 1, 0)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081668D-2E85-A756-7122-183B5C1852C0}"/>
              </a:ext>
            </a:extLst>
          </p:cNvPr>
          <p:cNvCxnSpPr>
            <a:cxnSpLocks/>
          </p:cNvCxnSpPr>
          <p:nvPr/>
        </p:nvCxnSpPr>
        <p:spPr>
          <a:xfrm flipV="1">
            <a:off x="421875" y="5649952"/>
            <a:ext cx="2365930" cy="648135"/>
          </a:xfrm>
          <a:prstGeom prst="straightConnector1">
            <a:avLst/>
          </a:prstGeom>
          <a:ln w="762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A179FE3D-F3F0-2436-23AB-A07FDBB16637}"/>
              </a:ext>
            </a:extLst>
          </p:cNvPr>
          <p:cNvSpPr txBox="1"/>
          <p:nvPr/>
        </p:nvSpPr>
        <p:spPr>
          <a:xfrm>
            <a:off x="206299" y="2933657"/>
            <a:ext cx="21557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Y</a:t>
            </a:r>
            <a:endParaRPr lang="en-BE" sz="2800" b="1" dirty="0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035FCC3-6369-2FFF-DEA3-4F116692CB4E}"/>
              </a:ext>
            </a:extLst>
          </p:cNvPr>
          <p:cNvCxnSpPr>
            <a:cxnSpLocks/>
          </p:cNvCxnSpPr>
          <p:nvPr/>
        </p:nvCxnSpPr>
        <p:spPr>
          <a:xfrm>
            <a:off x="4836170" y="6337765"/>
            <a:ext cx="2981131" cy="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2C72051-AAC4-CC24-8A1E-C3050517A695}"/>
              </a:ext>
            </a:extLst>
          </p:cNvPr>
          <p:cNvCxnSpPr/>
          <p:nvPr/>
        </p:nvCxnSpPr>
        <p:spPr>
          <a:xfrm flipV="1">
            <a:off x="4836170" y="3496556"/>
            <a:ext cx="0" cy="2841209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C6A6257C-7501-FDA3-E660-A47FD45423AF}"/>
              </a:ext>
            </a:extLst>
          </p:cNvPr>
          <p:cNvSpPr txBox="1"/>
          <p:nvPr/>
        </p:nvSpPr>
        <p:spPr>
          <a:xfrm>
            <a:off x="7840197" y="6076155"/>
            <a:ext cx="37061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X</a:t>
            </a:r>
            <a:endParaRPr lang="en-BE" sz="28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0C7454B-0842-5359-1E66-0008EE40E245}"/>
              </a:ext>
            </a:extLst>
          </p:cNvPr>
          <p:cNvSpPr txBox="1"/>
          <p:nvPr/>
        </p:nvSpPr>
        <p:spPr>
          <a:xfrm>
            <a:off x="6110236" y="5649952"/>
            <a:ext cx="1729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 / 2 = (1, 0.5, 0)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D9E4A82-118A-F0D8-68CE-8CBA95A487F1}"/>
              </a:ext>
            </a:extLst>
          </p:cNvPr>
          <p:cNvCxnSpPr>
            <a:cxnSpLocks/>
          </p:cNvCxnSpPr>
          <p:nvPr/>
        </p:nvCxnSpPr>
        <p:spPr>
          <a:xfrm flipV="1">
            <a:off x="4836170" y="5949824"/>
            <a:ext cx="1252396" cy="387941"/>
          </a:xfrm>
          <a:prstGeom prst="straightConnector1">
            <a:avLst/>
          </a:prstGeom>
          <a:ln w="762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701CB6A-AD41-0ED8-FFCD-9045D401C7B1}"/>
              </a:ext>
            </a:extLst>
          </p:cNvPr>
          <p:cNvCxnSpPr>
            <a:cxnSpLocks/>
          </p:cNvCxnSpPr>
          <p:nvPr/>
        </p:nvCxnSpPr>
        <p:spPr>
          <a:xfrm>
            <a:off x="8515082" y="6337765"/>
            <a:ext cx="2981131" cy="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B0ECC5BB-BE6F-8280-0E2D-3275CAE0F60B}"/>
              </a:ext>
            </a:extLst>
          </p:cNvPr>
          <p:cNvCxnSpPr/>
          <p:nvPr/>
        </p:nvCxnSpPr>
        <p:spPr>
          <a:xfrm flipV="1">
            <a:off x="8515082" y="3496556"/>
            <a:ext cx="0" cy="2841209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E68F8CA7-0890-453E-F03A-1B617CBF2235}"/>
              </a:ext>
            </a:extLst>
          </p:cNvPr>
          <p:cNvSpPr txBox="1"/>
          <p:nvPr/>
        </p:nvSpPr>
        <p:spPr>
          <a:xfrm>
            <a:off x="11519109" y="6076155"/>
            <a:ext cx="37061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X</a:t>
            </a:r>
            <a:endParaRPr lang="en-BE" sz="28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7E022D8-E04A-6775-F7D4-E8018B501C17}"/>
              </a:ext>
            </a:extLst>
          </p:cNvPr>
          <p:cNvSpPr txBox="1"/>
          <p:nvPr/>
        </p:nvSpPr>
        <p:spPr>
          <a:xfrm>
            <a:off x="10631232" y="4849311"/>
            <a:ext cx="1729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 * 2 = (4, 2, 0)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76260C61-1DC9-19CF-B0DD-F4E89F9A40B3}"/>
              </a:ext>
            </a:extLst>
          </p:cNvPr>
          <p:cNvCxnSpPr>
            <a:cxnSpLocks/>
          </p:cNvCxnSpPr>
          <p:nvPr/>
        </p:nvCxnSpPr>
        <p:spPr>
          <a:xfrm flipV="1">
            <a:off x="8515082" y="5504480"/>
            <a:ext cx="3193698" cy="833285"/>
          </a:xfrm>
          <a:prstGeom prst="straightConnector1">
            <a:avLst/>
          </a:prstGeom>
          <a:ln w="762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1330046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DE8DCE-0EA2-B59E-9A01-89C93BB3FB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Normalization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3ED899-D1E3-8BA4-F22F-24324C8B270E}"/>
              </a:ext>
            </a:extLst>
          </p:cNvPr>
          <p:cNvSpPr txBox="1"/>
          <p:nvPr/>
        </p:nvSpPr>
        <p:spPr>
          <a:xfrm>
            <a:off x="248816" y="1760376"/>
            <a:ext cx="11162608" cy="23391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/>
              <a:t>Make a vector length one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/>
              <a:t>N and L are examples of normalized vectors.</a:t>
            </a:r>
            <a:br>
              <a:rPr lang="en-US" sz="3200" dirty="0"/>
            </a:br>
            <a:r>
              <a:rPr lang="en-US" sz="3200" dirty="0"/>
              <a:t>We call these unit vectors. They are always used for directions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/>
              <a:t>X, Y, and Z axis are unit vectors of (1, 0, 0), (0, 1, 0), and (0, 0, 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460920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0ACC9D-9302-97DA-B9DC-685BF6229B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Special and import case : normalization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B930EC2-DA07-E799-5630-12B1AE26362D}"/>
              </a:ext>
            </a:extLst>
          </p:cNvPr>
          <p:cNvSpPr txBox="1"/>
          <p:nvPr/>
        </p:nvSpPr>
        <p:spPr>
          <a:xfrm>
            <a:off x="742767" y="1723561"/>
            <a:ext cx="1093831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When we normalize a vector, it’s </a:t>
            </a:r>
            <a:r>
              <a:rPr lang="en-US" sz="2400" b="1" dirty="0"/>
              <a:t>length becomes 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A vector with length one is known as a </a:t>
            </a:r>
            <a:r>
              <a:rPr lang="en-US" sz="2400" b="1" dirty="0"/>
              <a:t>unit vector</a:t>
            </a: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It’s used for </a:t>
            </a:r>
            <a:r>
              <a:rPr lang="en-US" sz="2400" b="1" dirty="0"/>
              <a:t>directions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I live 3 km north-west &lt;-&gt; I live to the north west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/>
              <a:t>L</a:t>
            </a:r>
            <a:r>
              <a:rPr lang="en-US" sz="2400" dirty="0"/>
              <a:t> and </a:t>
            </a:r>
            <a:r>
              <a:rPr lang="en-US" sz="2400" b="1" dirty="0"/>
              <a:t>N</a:t>
            </a:r>
            <a:r>
              <a:rPr lang="en-US" sz="2400" dirty="0"/>
              <a:t> in the previous class were unit vectors, otherwise the algorithm would work</a:t>
            </a:r>
            <a:endParaRPr 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411538869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20F198-B6C2-E5E9-EC13-F28F37F85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5063" y="365125"/>
            <a:ext cx="11078737" cy="1325563"/>
          </a:xfrm>
        </p:spPr>
        <p:txBody>
          <a:bodyPr/>
          <a:lstStyle/>
          <a:p>
            <a:r>
              <a:rPr lang="en-US" dirty="0" err="1"/>
              <a:t>TransformComponent</a:t>
            </a:r>
            <a:r>
              <a:rPr lang="en-US" dirty="0"/>
              <a:t> has a vector for position</a:t>
            </a:r>
            <a:endParaRPr lang="en-BE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0C1A391-9B67-DDE5-E004-44B560900D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7654" y="2118733"/>
            <a:ext cx="7856618" cy="2015216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675B1F3-8E9E-8AAD-7C14-95A239E75DC9}"/>
              </a:ext>
            </a:extLst>
          </p:cNvPr>
          <p:cNvCxnSpPr/>
          <p:nvPr/>
        </p:nvCxnSpPr>
        <p:spPr>
          <a:xfrm>
            <a:off x="892098" y="2245112"/>
            <a:ext cx="2765502" cy="468351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70B7687C-F668-16F1-0FCD-CB8C27DBC9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8832" y="5055219"/>
            <a:ext cx="12249664" cy="687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934831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3A527-3A2D-F41A-1E90-949A45CC7C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Rotations are stored as Vectors too</a:t>
            </a:r>
            <a:endParaRPr lang="en-BE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7790D7D-EC73-42F5-0A29-F379F86363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0943" y="1579176"/>
            <a:ext cx="5443692" cy="516731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FA90673-D6CC-D528-A566-FF294824D50C}"/>
              </a:ext>
            </a:extLst>
          </p:cNvPr>
          <p:cNvSpPr txBox="1"/>
          <p:nvPr/>
        </p:nvSpPr>
        <p:spPr>
          <a:xfrm>
            <a:off x="884952" y="1799974"/>
            <a:ext cx="377654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XYZ = pitch yaw roll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You’ll use this for your 1</a:t>
            </a:r>
            <a:r>
              <a:rPr lang="en-US" sz="2400" baseline="30000" dirty="0"/>
              <a:t>st</a:t>
            </a:r>
            <a:r>
              <a:rPr lang="en-US" sz="2400" dirty="0"/>
              <a:t> person camera</a:t>
            </a:r>
            <a:endParaRPr lang="en-BE" sz="2400" dirty="0"/>
          </a:p>
        </p:txBody>
      </p:sp>
    </p:spTree>
    <p:extLst>
      <p:ext uri="{BB962C8B-B14F-4D97-AF65-F5344CB8AC3E}">
        <p14:creationId xmlns:p14="http://schemas.microsoft.com/office/powerpoint/2010/main" val="20374578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454267-9958-A16E-3B7E-B40150E311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9AB0E5-C678-AF11-117E-3811D2ECD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Framerate independence</a:t>
            </a:r>
            <a:endParaRPr lang="en-BE" dirty="0"/>
          </a:p>
        </p:txBody>
      </p:sp>
      <p:sp>
        <p:nvSpPr>
          <p:cNvPr id="3" name="Parallelogram 2">
            <a:extLst>
              <a:ext uri="{FF2B5EF4-FFF2-40B4-BE49-F238E27FC236}">
                <a16:creationId xmlns:a16="http://schemas.microsoft.com/office/drawing/2014/main" id="{1B667A07-F2BE-941B-E54D-38437DC10860}"/>
              </a:ext>
            </a:extLst>
          </p:cNvPr>
          <p:cNvSpPr/>
          <p:nvPr/>
        </p:nvSpPr>
        <p:spPr>
          <a:xfrm>
            <a:off x="1025912" y="2036956"/>
            <a:ext cx="1836234" cy="1568605"/>
          </a:xfrm>
          <a:prstGeom prst="parallelogram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4" name="Parallelogram 3">
            <a:extLst>
              <a:ext uri="{FF2B5EF4-FFF2-40B4-BE49-F238E27FC236}">
                <a16:creationId xmlns:a16="http://schemas.microsoft.com/office/drawing/2014/main" id="{BB89DAD2-41C5-CAC3-2F96-F99EB20171B8}"/>
              </a:ext>
            </a:extLst>
          </p:cNvPr>
          <p:cNvSpPr/>
          <p:nvPr/>
        </p:nvSpPr>
        <p:spPr>
          <a:xfrm>
            <a:off x="1274956" y="2189356"/>
            <a:ext cx="1836234" cy="1568605"/>
          </a:xfrm>
          <a:prstGeom prst="parallelogram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7123E6FF-4058-69A4-78B6-3F5D59E95F49}"/>
              </a:ext>
            </a:extLst>
          </p:cNvPr>
          <p:cNvSpPr/>
          <p:nvPr/>
        </p:nvSpPr>
        <p:spPr>
          <a:xfrm>
            <a:off x="1178312" y="2189356"/>
            <a:ext cx="1836234" cy="1568605"/>
          </a:xfrm>
          <a:prstGeom prst="parallelogram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6" name="Parallelogram 5">
            <a:extLst>
              <a:ext uri="{FF2B5EF4-FFF2-40B4-BE49-F238E27FC236}">
                <a16:creationId xmlns:a16="http://schemas.microsoft.com/office/drawing/2014/main" id="{6EC3DDB6-4740-666E-41CF-2C51A2C02FD9}"/>
              </a:ext>
            </a:extLst>
          </p:cNvPr>
          <p:cNvSpPr/>
          <p:nvPr/>
        </p:nvSpPr>
        <p:spPr>
          <a:xfrm>
            <a:off x="1427356" y="2341756"/>
            <a:ext cx="1836234" cy="1568605"/>
          </a:xfrm>
          <a:prstGeom prst="parallelogram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94F000AE-FD69-5F5F-809E-67F3765E5EEE}"/>
              </a:ext>
            </a:extLst>
          </p:cNvPr>
          <p:cNvSpPr/>
          <p:nvPr/>
        </p:nvSpPr>
        <p:spPr>
          <a:xfrm>
            <a:off x="1330712" y="2341756"/>
            <a:ext cx="1836234" cy="1568605"/>
          </a:xfrm>
          <a:prstGeom prst="parallelogram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4C3566DE-3EDA-A142-1F52-CBE13F685B55}"/>
              </a:ext>
            </a:extLst>
          </p:cNvPr>
          <p:cNvSpPr/>
          <p:nvPr/>
        </p:nvSpPr>
        <p:spPr>
          <a:xfrm>
            <a:off x="1579756" y="2494156"/>
            <a:ext cx="1836234" cy="1568605"/>
          </a:xfrm>
          <a:prstGeom prst="parallelogram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D663020C-7933-62C8-27FE-0944C7090C07}"/>
              </a:ext>
            </a:extLst>
          </p:cNvPr>
          <p:cNvSpPr/>
          <p:nvPr/>
        </p:nvSpPr>
        <p:spPr>
          <a:xfrm>
            <a:off x="1483112" y="2494156"/>
            <a:ext cx="1836234" cy="1568605"/>
          </a:xfrm>
          <a:prstGeom prst="parallelogram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0" name="Parallelogram 9">
            <a:extLst>
              <a:ext uri="{FF2B5EF4-FFF2-40B4-BE49-F238E27FC236}">
                <a16:creationId xmlns:a16="http://schemas.microsoft.com/office/drawing/2014/main" id="{DF318C27-94EC-8597-1FC7-6906D75B21DF}"/>
              </a:ext>
            </a:extLst>
          </p:cNvPr>
          <p:cNvSpPr/>
          <p:nvPr/>
        </p:nvSpPr>
        <p:spPr>
          <a:xfrm>
            <a:off x="1732156" y="2646556"/>
            <a:ext cx="1836234" cy="1568605"/>
          </a:xfrm>
          <a:prstGeom prst="parallelogram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1" name="Parallelogram 10">
            <a:extLst>
              <a:ext uri="{FF2B5EF4-FFF2-40B4-BE49-F238E27FC236}">
                <a16:creationId xmlns:a16="http://schemas.microsoft.com/office/drawing/2014/main" id="{BCF0B81B-5241-0871-D486-95A9AD27BB5E}"/>
              </a:ext>
            </a:extLst>
          </p:cNvPr>
          <p:cNvSpPr/>
          <p:nvPr/>
        </p:nvSpPr>
        <p:spPr>
          <a:xfrm>
            <a:off x="1635512" y="2646556"/>
            <a:ext cx="1836234" cy="1568605"/>
          </a:xfrm>
          <a:prstGeom prst="parallelogram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5075CC4A-CB42-7708-ECF4-FDB48DBC9EDB}"/>
              </a:ext>
            </a:extLst>
          </p:cNvPr>
          <p:cNvSpPr/>
          <p:nvPr/>
        </p:nvSpPr>
        <p:spPr>
          <a:xfrm>
            <a:off x="1884556" y="2798956"/>
            <a:ext cx="1836234" cy="1568605"/>
          </a:xfrm>
          <a:prstGeom prst="parallelogram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6CD211BC-87C3-8259-C929-3680AEDF66D5}"/>
              </a:ext>
            </a:extLst>
          </p:cNvPr>
          <p:cNvSpPr/>
          <p:nvPr/>
        </p:nvSpPr>
        <p:spPr>
          <a:xfrm>
            <a:off x="1787912" y="2798956"/>
            <a:ext cx="1836234" cy="1568605"/>
          </a:xfrm>
          <a:prstGeom prst="parallelogram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FD40E349-EA68-D002-F7AA-010F8788E657}"/>
              </a:ext>
            </a:extLst>
          </p:cNvPr>
          <p:cNvSpPr/>
          <p:nvPr/>
        </p:nvSpPr>
        <p:spPr>
          <a:xfrm>
            <a:off x="2036956" y="2951356"/>
            <a:ext cx="1836234" cy="1568605"/>
          </a:xfrm>
          <a:prstGeom prst="parallelogram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49A10EC8-263C-FBE8-13DE-3B9A2A39192E}"/>
              </a:ext>
            </a:extLst>
          </p:cNvPr>
          <p:cNvSpPr/>
          <p:nvPr/>
        </p:nvSpPr>
        <p:spPr>
          <a:xfrm>
            <a:off x="1940312" y="2951356"/>
            <a:ext cx="1836234" cy="1568605"/>
          </a:xfrm>
          <a:prstGeom prst="parallelogram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6" name="Parallelogram 15">
            <a:extLst>
              <a:ext uri="{FF2B5EF4-FFF2-40B4-BE49-F238E27FC236}">
                <a16:creationId xmlns:a16="http://schemas.microsoft.com/office/drawing/2014/main" id="{87046826-D651-658C-C89D-265AC57587C4}"/>
              </a:ext>
            </a:extLst>
          </p:cNvPr>
          <p:cNvSpPr/>
          <p:nvPr/>
        </p:nvSpPr>
        <p:spPr>
          <a:xfrm>
            <a:off x="2189356" y="3103756"/>
            <a:ext cx="1836234" cy="1568605"/>
          </a:xfrm>
          <a:prstGeom prst="parallelogram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7" name="Parallelogram 16">
            <a:extLst>
              <a:ext uri="{FF2B5EF4-FFF2-40B4-BE49-F238E27FC236}">
                <a16:creationId xmlns:a16="http://schemas.microsoft.com/office/drawing/2014/main" id="{B15443CD-44BE-4D04-597E-76084985232D}"/>
              </a:ext>
            </a:extLst>
          </p:cNvPr>
          <p:cNvSpPr/>
          <p:nvPr/>
        </p:nvSpPr>
        <p:spPr>
          <a:xfrm>
            <a:off x="2092712" y="3103756"/>
            <a:ext cx="1836234" cy="1568605"/>
          </a:xfrm>
          <a:prstGeom prst="parallelogram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8" name="Parallelogram 17">
            <a:extLst>
              <a:ext uri="{FF2B5EF4-FFF2-40B4-BE49-F238E27FC236}">
                <a16:creationId xmlns:a16="http://schemas.microsoft.com/office/drawing/2014/main" id="{4E9A0947-DC35-E46B-B880-0C6E84F1C345}"/>
              </a:ext>
            </a:extLst>
          </p:cNvPr>
          <p:cNvSpPr/>
          <p:nvPr/>
        </p:nvSpPr>
        <p:spPr>
          <a:xfrm>
            <a:off x="2341756" y="3256156"/>
            <a:ext cx="1836234" cy="1568605"/>
          </a:xfrm>
          <a:prstGeom prst="parallelogram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9" name="Parallelogram 18">
            <a:extLst>
              <a:ext uri="{FF2B5EF4-FFF2-40B4-BE49-F238E27FC236}">
                <a16:creationId xmlns:a16="http://schemas.microsoft.com/office/drawing/2014/main" id="{D1450DE0-FE21-3619-9D69-90CCEEC34024}"/>
              </a:ext>
            </a:extLst>
          </p:cNvPr>
          <p:cNvSpPr/>
          <p:nvPr/>
        </p:nvSpPr>
        <p:spPr>
          <a:xfrm>
            <a:off x="2245112" y="3256156"/>
            <a:ext cx="1836234" cy="1568605"/>
          </a:xfrm>
          <a:prstGeom prst="parallelogram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20" name="Parallelogram 19">
            <a:extLst>
              <a:ext uri="{FF2B5EF4-FFF2-40B4-BE49-F238E27FC236}">
                <a16:creationId xmlns:a16="http://schemas.microsoft.com/office/drawing/2014/main" id="{581A28E1-C456-CFC6-61F1-D8FCD1F59CCD}"/>
              </a:ext>
            </a:extLst>
          </p:cNvPr>
          <p:cNvSpPr/>
          <p:nvPr/>
        </p:nvSpPr>
        <p:spPr>
          <a:xfrm>
            <a:off x="2494156" y="3408556"/>
            <a:ext cx="1836234" cy="1568605"/>
          </a:xfrm>
          <a:prstGeom prst="parallelogram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21" name="Parallelogram 20">
            <a:extLst>
              <a:ext uri="{FF2B5EF4-FFF2-40B4-BE49-F238E27FC236}">
                <a16:creationId xmlns:a16="http://schemas.microsoft.com/office/drawing/2014/main" id="{3605EEA6-BD1A-B4DB-70D7-8CF10A1415A6}"/>
              </a:ext>
            </a:extLst>
          </p:cNvPr>
          <p:cNvSpPr/>
          <p:nvPr/>
        </p:nvSpPr>
        <p:spPr>
          <a:xfrm>
            <a:off x="5954751" y="2036955"/>
            <a:ext cx="1836234" cy="1568605"/>
          </a:xfrm>
          <a:prstGeom prst="parallelogram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22" name="Parallelogram 21">
            <a:extLst>
              <a:ext uri="{FF2B5EF4-FFF2-40B4-BE49-F238E27FC236}">
                <a16:creationId xmlns:a16="http://schemas.microsoft.com/office/drawing/2014/main" id="{95E2C176-A33C-DF25-8D1B-D9A74AE3B553}"/>
              </a:ext>
            </a:extLst>
          </p:cNvPr>
          <p:cNvSpPr/>
          <p:nvPr/>
        </p:nvSpPr>
        <p:spPr>
          <a:xfrm>
            <a:off x="6408233" y="2598233"/>
            <a:ext cx="1836234" cy="1568605"/>
          </a:xfrm>
          <a:prstGeom prst="parallelogram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23" name="Parallelogram 22">
            <a:extLst>
              <a:ext uri="{FF2B5EF4-FFF2-40B4-BE49-F238E27FC236}">
                <a16:creationId xmlns:a16="http://schemas.microsoft.com/office/drawing/2014/main" id="{DD33495C-91FE-4CA7-FBA5-C9C97C4E27BB}"/>
              </a:ext>
            </a:extLst>
          </p:cNvPr>
          <p:cNvSpPr/>
          <p:nvPr/>
        </p:nvSpPr>
        <p:spPr>
          <a:xfrm>
            <a:off x="7118195" y="3442010"/>
            <a:ext cx="1836234" cy="1568605"/>
          </a:xfrm>
          <a:prstGeom prst="parallelogram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AC5E464-B653-1CFF-1819-086462ECEC88}"/>
              </a:ext>
            </a:extLst>
          </p:cNvPr>
          <p:cNvSpPr txBox="1"/>
          <p:nvPr/>
        </p:nvSpPr>
        <p:spPr>
          <a:xfrm>
            <a:off x="1940312" y="6014224"/>
            <a:ext cx="106939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60 fps</a:t>
            </a:r>
            <a:endParaRPr lang="en-BE" sz="28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C8377F1-FE32-A88B-048D-B1722984EEB7}"/>
              </a:ext>
            </a:extLst>
          </p:cNvPr>
          <p:cNvSpPr txBox="1"/>
          <p:nvPr/>
        </p:nvSpPr>
        <p:spPr>
          <a:xfrm>
            <a:off x="7058722" y="5860938"/>
            <a:ext cx="56982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10 fps</a:t>
            </a:r>
            <a:endParaRPr lang="en-BE" sz="2800" dirty="0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52570264-754D-9300-460D-24B7A3F719C1}"/>
              </a:ext>
            </a:extLst>
          </p:cNvPr>
          <p:cNvCxnSpPr/>
          <p:nvPr/>
        </p:nvCxnSpPr>
        <p:spPr>
          <a:xfrm>
            <a:off x="4921405" y="3583258"/>
            <a:ext cx="929268" cy="1393903"/>
          </a:xfrm>
          <a:prstGeom prst="straightConnector1">
            <a:avLst/>
          </a:prstGeom>
          <a:ln w="76200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86AC0CE2-0691-75C2-197F-F7D21694B884}"/>
              </a:ext>
            </a:extLst>
          </p:cNvPr>
          <p:cNvSpPr txBox="1"/>
          <p:nvPr/>
        </p:nvSpPr>
        <p:spPr>
          <a:xfrm>
            <a:off x="4666786" y="4062761"/>
            <a:ext cx="82890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1s</a:t>
            </a:r>
            <a:endParaRPr lang="en-BE" sz="2800" dirty="0"/>
          </a:p>
        </p:txBody>
      </p:sp>
    </p:spTree>
    <p:extLst>
      <p:ext uri="{BB962C8B-B14F-4D97-AF65-F5344CB8AC3E}">
        <p14:creationId xmlns:p14="http://schemas.microsoft.com/office/powerpoint/2010/main" val="111249129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603A0-624C-E529-F2C7-1E2C18A134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Say we translate 1 cm each frame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25A5A5-7A6B-F3FB-6A6A-D8339AEC9344}"/>
              </a:ext>
            </a:extLst>
          </p:cNvPr>
          <p:cNvSpPr txBox="1"/>
          <p:nvPr/>
        </p:nvSpPr>
        <p:spPr>
          <a:xfrm>
            <a:off x="1219200" y="1970048"/>
            <a:ext cx="557485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60 fps = 60 centimeters per second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10 fps = 10 centimeters per second</a:t>
            </a:r>
            <a:endParaRPr lang="en-BE" sz="2800" dirty="0"/>
          </a:p>
        </p:txBody>
      </p:sp>
    </p:spTree>
    <p:extLst>
      <p:ext uri="{BB962C8B-B14F-4D97-AF65-F5344CB8AC3E}">
        <p14:creationId xmlns:p14="http://schemas.microsoft.com/office/powerpoint/2010/main" val="245369096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2F758F-8F70-9352-EF1F-231C87E28C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Solution: multiply by frame duration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D7ADBE-1A96-3D15-5E08-6C8CB1C29F6E}"/>
              </a:ext>
            </a:extLst>
          </p:cNvPr>
          <p:cNvSpPr txBox="1"/>
          <p:nvPr/>
        </p:nvSpPr>
        <p:spPr>
          <a:xfrm>
            <a:off x="1219200" y="1970048"/>
            <a:ext cx="9282606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We want 1 meter per second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60 fps : frame is 16.67 milliseconds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1 meter * 0.016 second = 1.6 cm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Framerates vary during runtime, always use </a:t>
            </a:r>
            <a:r>
              <a:rPr lang="en-US" sz="2800" b="1" dirty="0" err="1"/>
              <a:t>Time.DeltaTime</a:t>
            </a:r>
            <a:r>
              <a:rPr lang="en-US" sz="2800" b="1" dirty="0"/>
              <a:t> </a:t>
            </a:r>
            <a:endParaRPr lang="en-BE" sz="2800" b="1" dirty="0"/>
          </a:p>
        </p:txBody>
      </p:sp>
    </p:spTree>
    <p:extLst>
      <p:ext uri="{BB962C8B-B14F-4D97-AF65-F5344CB8AC3E}">
        <p14:creationId xmlns:p14="http://schemas.microsoft.com/office/powerpoint/2010/main" val="396980803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382F27-92BA-16A2-903A-6124466C6C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Unity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84A32D6-00AF-574C-297A-19E41096EE45}"/>
              </a:ext>
            </a:extLst>
          </p:cNvPr>
          <p:cNvSpPr txBox="1"/>
          <p:nvPr/>
        </p:nvSpPr>
        <p:spPr>
          <a:xfrm>
            <a:off x="186611" y="1598644"/>
            <a:ext cx="7051930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</a:rPr>
              <a:t>// initialize with all components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800" i="1" dirty="0">
                <a:solidFill>
                  <a:srgbClr val="0000FF"/>
                </a:solidFill>
                <a:latin typeface="Cascadia Mono" panose="020B0609020000020004" pitchFamily="49" charset="0"/>
              </a:rPr>
              <a:t>Vector3</a:t>
            </a:r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800" i="0" dirty="0">
                <a:solidFill>
                  <a:srgbClr val="000080"/>
                </a:solidFill>
                <a:latin typeface="Cascadia Mono" panose="020B0609020000020004" pitchFamily="49" charset="0"/>
              </a:rPr>
              <a:t>v1</a:t>
            </a:r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1800" i="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800" i="1" dirty="0">
                <a:solidFill>
                  <a:srgbClr val="0000FF"/>
                </a:solidFill>
                <a:latin typeface="Cascadia Mono" panose="020B0609020000020004" pitchFamily="49" charset="0"/>
              </a:rPr>
              <a:t>Vector3</a:t>
            </a:r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(2, 1, 0);</a:t>
            </a:r>
          </a:p>
          <a:p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800" i="0" dirty="0">
                <a:solidFill>
                  <a:srgbClr val="008000"/>
                </a:solidFill>
                <a:latin typeface="Cascadia Mono" panose="020B0609020000020004" pitchFamily="49" charset="0"/>
              </a:rPr>
              <a:t>// shorthand for (0, 0, 0)</a:t>
            </a:r>
          </a:p>
          <a:p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800" i="1" dirty="0">
                <a:solidFill>
                  <a:srgbClr val="0000FF"/>
                </a:solidFill>
                <a:latin typeface="Cascadia Mono" panose="020B0609020000020004" pitchFamily="49" charset="0"/>
              </a:rPr>
              <a:t>Vector3</a:t>
            </a:r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800" i="0" dirty="0">
                <a:solidFill>
                  <a:srgbClr val="000080"/>
                </a:solidFill>
                <a:latin typeface="Cascadia Mono" panose="020B0609020000020004" pitchFamily="49" charset="0"/>
              </a:rPr>
              <a:t>v2</a:t>
            </a:r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1800" i="1" dirty="0">
                <a:solidFill>
                  <a:srgbClr val="0000FF"/>
                </a:solidFill>
                <a:latin typeface="Cascadia Mono" panose="020B0609020000020004" pitchFamily="49" charset="0"/>
              </a:rPr>
              <a:t>Vector3</a:t>
            </a:r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.</a:t>
            </a:r>
            <a:r>
              <a:rPr lang="en-US" sz="1800" i="1" dirty="0">
                <a:solidFill>
                  <a:srgbClr val="000080"/>
                </a:solidFill>
                <a:latin typeface="Cascadia Mono" panose="020B0609020000020004" pitchFamily="49" charset="0"/>
              </a:rPr>
              <a:t>zero</a:t>
            </a:r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800" i="0" dirty="0">
                <a:solidFill>
                  <a:srgbClr val="008000"/>
                </a:solidFill>
                <a:latin typeface="Cascadia Mono" panose="020B0609020000020004" pitchFamily="49" charset="0"/>
              </a:rPr>
              <a:t>// shorthand for (1, 0, 0). All 6 directions exist</a:t>
            </a:r>
          </a:p>
          <a:p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800" i="1" dirty="0">
                <a:solidFill>
                  <a:srgbClr val="0000FF"/>
                </a:solidFill>
                <a:latin typeface="Cascadia Mono" panose="020B0609020000020004" pitchFamily="49" charset="0"/>
              </a:rPr>
              <a:t>Vector3</a:t>
            </a:r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800" i="0" dirty="0">
                <a:solidFill>
                  <a:srgbClr val="000080"/>
                </a:solidFill>
                <a:latin typeface="Cascadia Mono" panose="020B0609020000020004" pitchFamily="49" charset="0"/>
              </a:rPr>
              <a:t>v3</a:t>
            </a:r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1800" i="1" dirty="0">
                <a:solidFill>
                  <a:srgbClr val="0000FF"/>
                </a:solidFill>
                <a:latin typeface="Cascadia Mono" panose="020B0609020000020004" pitchFamily="49" charset="0"/>
              </a:rPr>
              <a:t>Vector3</a:t>
            </a:r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.</a:t>
            </a:r>
            <a:r>
              <a:rPr lang="en-US" sz="1800" i="1" dirty="0">
                <a:solidFill>
                  <a:srgbClr val="000080"/>
                </a:solidFill>
                <a:latin typeface="Cascadia Mono" panose="020B0609020000020004" pitchFamily="49" charset="0"/>
              </a:rPr>
              <a:t>right</a:t>
            </a:r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252782113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1FC727-E6AC-748E-8A73-0E6A03039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028A4-12E2-50E0-6EBF-4FA3C912C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class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9EDC2D-DB29-41CC-AF6E-BCF12FFE86A9}"/>
              </a:ext>
            </a:extLst>
          </p:cNvPr>
          <p:cNvSpPr txBox="1"/>
          <p:nvPr/>
        </p:nvSpPr>
        <p:spPr>
          <a:xfrm>
            <a:off x="989902" y="1690689"/>
            <a:ext cx="4925486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3D coordinates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 </a:t>
            </a:r>
            <a:r>
              <a:rPr lang="en-US" sz="2800" dirty="0"/>
              <a:t>3D transforms </a:t>
            </a:r>
            <a:r>
              <a:rPr lang="en-US" sz="2800" dirty="0">
                <a:sym typeface="Wingdings" panose="05000000000000000000" pitchFamily="2" charset="2"/>
              </a:rPr>
              <a:t></a:t>
            </a: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Why they are important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Dot &amp; Cross product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Quaternions</a:t>
            </a:r>
          </a:p>
        </p:txBody>
      </p:sp>
    </p:spTree>
    <p:extLst>
      <p:ext uri="{BB962C8B-B14F-4D97-AF65-F5344CB8AC3E}">
        <p14:creationId xmlns:p14="http://schemas.microsoft.com/office/powerpoint/2010/main" val="359879174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3C818D-5674-ADBE-247C-2286A1DF8C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So, why did we learn all of this?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B84739F-E7A2-E400-F2CA-78FA84A93989}"/>
              </a:ext>
            </a:extLst>
          </p:cNvPr>
          <p:cNvSpPr txBox="1"/>
          <p:nvPr/>
        </p:nvSpPr>
        <p:spPr>
          <a:xfrm>
            <a:off x="447870" y="2052734"/>
            <a:ext cx="8145628" cy="338554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Now we can learn about Unity transforms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Every Unity </a:t>
            </a:r>
            <a:r>
              <a:rPr lang="en-US" sz="2800" dirty="0" err="1"/>
              <a:t>GameObject</a:t>
            </a:r>
            <a:r>
              <a:rPr lang="en-US" sz="2800" dirty="0"/>
              <a:t> has a </a:t>
            </a:r>
            <a:r>
              <a:rPr lang="en-US" sz="2800" dirty="0" err="1"/>
              <a:t>TransformComponent</a:t>
            </a: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It contains: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A position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A rotation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A scale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3A9A797-5490-DC4A-9391-E7D92C3D75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8518" y="3474182"/>
            <a:ext cx="8585475" cy="1964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464681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58E182-2273-C66E-6597-C57F125017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400" dirty="0" err="1"/>
              <a:t>Transform.position</a:t>
            </a:r>
            <a:endParaRPr lang="en-BE" dirty="0"/>
          </a:p>
        </p:txBody>
      </p:sp>
      <p:pic>
        <p:nvPicPr>
          <p:cNvPr id="4" name="Picture 3" descr="A graph with green and red arrows&#10;&#10;Description automatically generated">
            <a:extLst>
              <a:ext uri="{FF2B5EF4-FFF2-40B4-BE49-F238E27FC236}">
                <a16:creationId xmlns:a16="http://schemas.microsoft.com/office/drawing/2014/main" id="{D2448CF6-E767-CFD6-2DF6-6155B82855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8897" y="1567543"/>
            <a:ext cx="4613184" cy="466985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CA22964-42C8-7474-A878-867CEF784173}"/>
              </a:ext>
            </a:extLst>
          </p:cNvPr>
          <p:cNvSpPr txBox="1"/>
          <p:nvPr/>
        </p:nvSpPr>
        <p:spPr>
          <a:xfrm>
            <a:off x="279919" y="1982518"/>
            <a:ext cx="6664004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Remember: position is a point in space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is a property on Transform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Has a getter and a setter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We can assign or read position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r>
              <a:rPr lang="en-US" sz="2000" i="1" dirty="0">
                <a:solidFill>
                  <a:srgbClr val="0000FF"/>
                </a:solidFill>
                <a:latin typeface="Cascadia Mono" panose="020B0609020000020004" pitchFamily="49" charset="0"/>
              </a:rPr>
              <a:t>Transform</a:t>
            </a:r>
            <a:r>
              <a:rPr lang="en-US" sz="20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000" i="0" dirty="0" err="1">
                <a:solidFill>
                  <a:srgbClr val="000080"/>
                </a:solidFill>
                <a:latin typeface="Cascadia Mono" panose="020B0609020000020004" pitchFamily="49" charset="0"/>
              </a:rPr>
              <a:t>transform</a:t>
            </a:r>
            <a:r>
              <a:rPr lang="en-US" sz="20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2000" i="0" dirty="0" err="1">
                <a:solidFill>
                  <a:srgbClr val="000080"/>
                </a:solidFill>
                <a:latin typeface="Cascadia Mono" panose="020B0609020000020004" pitchFamily="49" charset="0"/>
              </a:rPr>
              <a:t>gameObject</a:t>
            </a:r>
            <a:r>
              <a:rPr lang="en-US" sz="2000" i="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</a:t>
            </a:r>
            <a:r>
              <a:rPr lang="en-US" sz="2000" i="1" dirty="0" err="1">
                <a:solidFill>
                  <a:srgbClr val="000080"/>
                </a:solidFill>
                <a:latin typeface="Cascadia Mono" panose="020B0609020000020004" pitchFamily="49" charset="0"/>
              </a:rPr>
              <a:t>transform</a:t>
            </a:r>
            <a:r>
              <a:rPr lang="en-US" sz="2000" i="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r>
              <a:rPr lang="en-US" sz="2000" i="0" dirty="0" err="1">
                <a:solidFill>
                  <a:srgbClr val="000080"/>
                </a:solidFill>
                <a:latin typeface="Cascadia Mono" panose="020B0609020000020004" pitchFamily="49" charset="0"/>
              </a:rPr>
              <a:t>transform</a:t>
            </a:r>
            <a:r>
              <a:rPr lang="en-US" sz="2000" i="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</a:t>
            </a:r>
            <a:r>
              <a:rPr lang="en-US" sz="2000" i="1" dirty="0" err="1">
                <a:solidFill>
                  <a:srgbClr val="000080"/>
                </a:solidFill>
                <a:latin typeface="Cascadia Mono" panose="020B0609020000020004" pitchFamily="49" charset="0"/>
              </a:rPr>
              <a:t>position</a:t>
            </a:r>
            <a:r>
              <a:rPr lang="en-US" sz="20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2000" i="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0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000" i="1" dirty="0">
                <a:solidFill>
                  <a:srgbClr val="0000FF"/>
                </a:solidFill>
                <a:latin typeface="Cascadia Mono" panose="020B0609020000020004" pitchFamily="49" charset="0"/>
              </a:rPr>
              <a:t>Vector3</a:t>
            </a:r>
            <a:r>
              <a:rPr lang="en-US" sz="2000" i="0" dirty="0">
                <a:solidFill>
                  <a:srgbClr val="000000"/>
                </a:solidFill>
                <a:latin typeface="Cascadia Mono" panose="020B0609020000020004" pitchFamily="49" charset="0"/>
              </a:rPr>
              <a:t>(1, 2, 0);</a:t>
            </a:r>
            <a:endParaRPr lang="en-BE" sz="3200" dirty="0"/>
          </a:p>
        </p:txBody>
      </p:sp>
    </p:spTree>
    <p:extLst>
      <p:ext uri="{BB962C8B-B14F-4D97-AF65-F5344CB8AC3E}">
        <p14:creationId xmlns:p14="http://schemas.microsoft.com/office/powerpoint/2010/main" val="312925629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06E906-AA42-FE64-D3E1-0FB98A5F45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Transform.translate</a:t>
            </a:r>
            <a:r>
              <a:rPr lang="en-US" dirty="0"/>
              <a:t>()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646987-DCF0-D5D3-0322-A58ABEF20E1A}"/>
              </a:ext>
            </a:extLst>
          </p:cNvPr>
          <p:cNvSpPr txBox="1"/>
          <p:nvPr/>
        </p:nvSpPr>
        <p:spPr>
          <a:xfrm>
            <a:off x="576942" y="1443135"/>
            <a:ext cx="6513322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Translation is moving an object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Without changing it’s rotation or scale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It’s a relative movement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br>
              <a:rPr lang="en-US" sz="2800" dirty="0"/>
            </a:br>
            <a:r>
              <a:rPr lang="en-US" sz="2000" dirty="0" err="1">
                <a:solidFill>
                  <a:srgbClr val="000080"/>
                </a:solidFill>
                <a:latin typeface="Cascadia Mono" panose="020B0609020000020004" pitchFamily="49" charset="0"/>
              </a:rPr>
              <a:t>transform</a:t>
            </a:r>
            <a:r>
              <a:rPr lang="en-US" sz="20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</a:t>
            </a:r>
            <a:r>
              <a:rPr lang="en-US" sz="2000" i="1" dirty="0" err="1">
                <a:solidFill>
                  <a:srgbClr val="880000"/>
                </a:solidFill>
                <a:latin typeface="Cascadia Mono" panose="020B0609020000020004" pitchFamily="49" charset="0"/>
              </a:rPr>
              <a:t>Translate</a:t>
            </a:r>
            <a:r>
              <a:rPr lang="en-US" sz="2000" i="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000" i="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0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000" i="1" dirty="0">
                <a:solidFill>
                  <a:srgbClr val="0000FF"/>
                </a:solidFill>
                <a:latin typeface="Cascadia Mono" panose="020B0609020000020004" pitchFamily="49" charset="0"/>
              </a:rPr>
              <a:t>Vector3</a:t>
            </a:r>
            <a:r>
              <a:rPr lang="en-US" sz="2000" i="0" dirty="0">
                <a:solidFill>
                  <a:srgbClr val="000000"/>
                </a:solidFill>
                <a:latin typeface="Cascadia Mono" panose="020B0609020000020004" pitchFamily="49" charset="0"/>
              </a:rPr>
              <a:t>(3, 0, 0));</a:t>
            </a:r>
            <a:endParaRPr lang="en-BE" sz="2800" dirty="0"/>
          </a:p>
        </p:txBody>
      </p:sp>
      <p:pic>
        <p:nvPicPr>
          <p:cNvPr id="5" name="Picture 4" descr="A graph with green and red arrows&#10;&#10;Description automatically generated">
            <a:extLst>
              <a:ext uri="{FF2B5EF4-FFF2-40B4-BE49-F238E27FC236}">
                <a16:creationId xmlns:a16="http://schemas.microsoft.com/office/drawing/2014/main" id="{A34AB441-2B49-7D00-8142-AEF571616A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58605" y="2108718"/>
            <a:ext cx="4508721" cy="4564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566267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9CE1B8-0713-C203-4C42-A4E70271E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Transform.rotation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9B51AFF-CEDC-CB31-F05A-3431BDAF2147}"/>
              </a:ext>
            </a:extLst>
          </p:cNvPr>
          <p:cNvSpPr txBox="1"/>
          <p:nvPr/>
        </p:nvSpPr>
        <p:spPr>
          <a:xfrm>
            <a:off x="415213" y="1690688"/>
            <a:ext cx="72767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We will look at them in the Quaternion section</a:t>
            </a:r>
            <a:endParaRPr lang="en-BE" sz="2800" dirty="0"/>
          </a:p>
        </p:txBody>
      </p:sp>
    </p:spTree>
    <p:extLst>
      <p:ext uri="{BB962C8B-B14F-4D97-AF65-F5344CB8AC3E}">
        <p14:creationId xmlns:p14="http://schemas.microsoft.com/office/powerpoint/2010/main" val="298433367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C8671F-8477-2012-E895-BABD71880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Transform.scale</a:t>
            </a:r>
            <a:endParaRPr lang="en-BE" dirty="0"/>
          </a:p>
        </p:txBody>
      </p:sp>
      <p:pic>
        <p:nvPicPr>
          <p:cNvPr id="6" name="Picture 5" descr="A group of white rabbits&#10;&#10;Description automatically generated">
            <a:extLst>
              <a:ext uri="{FF2B5EF4-FFF2-40B4-BE49-F238E27FC236}">
                <a16:creationId xmlns:a16="http://schemas.microsoft.com/office/drawing/2014/main" id="{237119A0-0AA6-1D74-AB5F-9D15F8F94A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41098" y="1779036"/>
            <a:ext cx="4850902" cy="507896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9D8EF08-13C5-7B25-5C96-E4A0AC904EE3}"/>
              </a:ext>
            </a:extLst>
          </p:cNvPr>
          <p:cNvSpPr txBox="1"/>
          <p:nvPr/>
        </p:nvSpPr>
        <p:spPr>
          <a:xfrm>
            <a:off x="255037" y="1866122"/>
            <a:ext cx="6881307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Stretching coordinates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Among one or multiple axis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Almost always want a “uniform” scale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“uniform scale” = components are the same</a:t>
            </a:r>
            <a:br>
              <a:rPr lang="en-US" sz="2800" dirty="0"/>
            </a:br>
            <a:r>
              <a:rPr lang="en-US" sz="2800" dirty="0" err="1"/>
              <a:t>eg</a:t>
            </a:r>
            <a:r>
              <a:rPr lang="en-US" sz="2800" dirty="0"/>
              <a:t> (2, 2, 2)</a:t>
            </a:r>
          </a:p>
        </p:txBody>
      </p:sp>
    </p:spTree>
    <p:extLst>
      <p:ext uri="{BB962C8B-B14F-4D97-AF65-F5344CB8AC3E}">
        <p14:creationId xmlns:p14="http://schemas.microsoft.com/office/powerpoint/2010/main" val="161553742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8F5856-C370-4CD2-BB81-657F199CD1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are your questions?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4743578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2A2898-50BE-DE26-CCE8-415070269B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Transforms are represented by a Matrix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5E50AC-6C07-A90B-C2D9-C5D280B890A5}"/>
              </a:ext>
            </a:extLst>
          </p:cNvPr>
          <p:cNvSpPr txBox="1"/>
          <p:nvPr/>
        </p:nvSpPr>
        <p:spPr>
          <a:xfrm>
            <a:off x="441649" y="1959429"/>
            <a:ext cx="7645555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4x4 grid of floats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Contains a translation, rotation, and scale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Can contain other things (</a:t>
            </a:r>
            <a:r>
              <a:rPr lang="en-US" sz="2800" dirty="0" err="1"/>
              <a:t>eg</a:t>
            </a:r>
            <a:r>
              <a:rPr lang="en-US" sz="2800" dirty="0"/>
              <a:t> camera projection) </a:t>
            </a:r>
            <a:endParaRPr lang="en-BE" sz="2800" dirty="0"/>
          </a:p>
        </p:txBody>
      </p:sp>
    </p:spTree>
    <p:extLst>
      <p:ext uri="{BB962C8B-B14F-4D97-AF65-F5344CB8AC3E}">
        <p14:creationId xmlns:p14="http://schemas.microsoft.com/office/powerpoint/2010/main" val="50531671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17147D-21AE-6D87-9EAB-5C04D75138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learn about space(s)</a:t>
            </a:r>
            <a:endParaRPr lang="en-BE" dirty="0"/>
          </a:p>
        </p:txBody>
      </p:sp>
      <p:pic>
        <p:nvPicPr>
          <p:cNvPr id="6" name="Picture 5" descr="A cat sitting on a slice of pizza&#10;&#10;Description automatically generated">
            <a:extLst>
              <a:ext uri="{FF2B5EF4-FFF2-40B4-BE49-F238E27FC236}">
                <a16:creationId xmlns:a16="http://schemas.microsoft.com/office/drawing/2014/main" id="{2C41E598-722D-64FD-68A4-5A5E8B7046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3551" y="1490096"/>
            <a:ext cx="5373061" cy="5367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182770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FA0A69-20FA-23CE-CDE1-D06A06641E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  <a:endParaRPr lang="en-BE" dirty="0"/>
          </a:p>
        </p:txBody>
      </p:sp>
      <p:pic>
        <p:nvPicPr>
          <p:cNvPr id="6" name="Picture 5" descr="A screenshot of a video camera and a rabbit&#10;&#10;Description automatically generated">
            <a:extLst>
              <a:ext uri="{FF2B5EF4-FFF2-40B4-BE49-F238E27FC236}">
                <a16:creationId xmlns:a16="http://schemas.microsoft.com/office/drawing/2014/main" id="{A54C4ADF-2B7B-2886-9892-8BA3BBCCB3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970429"/>
            <a:ext cx="3877216" cy="3924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001417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C4170A-DAB3-8A8A-E95F-6E251C9F0D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DE213A-3B47-C9B5-C1E8-ED744B47C1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Camera is looking down +X</a:t>
            </a:r>
            <a:endParaRPr lang="en-BE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AAB30A4-237A-49CF-63B8-6BB1654E24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8656" y="1432134"/>
            <a:ext cx="5909276" cy="4463143"/>
          </a:xfrm>
          <a:prstGeom prst="rect">
            <a:avLst/>
          </a:prstGeom>
        </p:spPr>
      </p:pic>
      <p:pic>
        <p:nvPicPr>
          <p:cNvPr id="6" name="Picture 5" descr="A screenshot of a video camera and a rabbit&#10;&#10;Description automatically generated">
            <a:extLst>
              <a:ext uri="{FF2B5EF4-FFF2-40B4-BE49-F238E27FC236}">
                <a16:creationId xmlns:a16="http://schemas.microsoft.com/office/drawing/2014/main" id="{E91FFE7B-426B-FE6C-BB58-38D644BE16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970429"/>
            <a:ext cx="3877216" cy="3924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221663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E21762-12D4-B971-9D3E-41A5E077F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8C08EF-8174-A3ED-5775-D9B5A6304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 move the camera up (+Y) by one unit</a:t>
            </a:r>
            <a:endParaRPr lang="en-BE" dirty="0"/>
          </a:p>
        </p:txBody>
      </p:sp>
      <p:pic>
        <p:nvPicPr>
          <p:cNvPr id="5" name="Picture 4" descr="A screenshot of a video game&#10;&#10;Description automatically generated">
            <a:extLst>
              <a:ext uri="{FF2B5EF4-FFF2-40B4-BE49-F238E27FC236}">
                <a16:creationId xmlns:a16="http://schemas.microsoft.com/office/drawing/2014/main" id="{9DE33E65-1E4F-D1F4-24AF-7053B698E3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1677" y="1970429"/>
            <a:ext cx="3877216" cy="392484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FAFE51E-70C1-9B37-CC27-E69F813073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6825" y="1828800"/>
            <a:ext cx="5962812" cy="4444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303217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AD88CE-C081-894C-765D-6C5853032C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2967"/>
            <a:ext cx="10515600" cy="1325563"/>
          </a:xfrm>
        </p:spPr>
        <p:txBody>
          <a:bodyPr/>
          <a:lstStyle/>
          <a:p>
            <a:r>
              <a:rPr lang="en-US" dirty="0"/>
              <a:t>The bunny moved down</a:t>
            </a:r>
            <a:endParaRPr lang="en-BE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8B4C4C2-8F43-61C5-CC4C-F3F99475AC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92" y="2271890"/>
            <a:ext cx="5909276" cy="446314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A9D886C-ADDE-1E40-131B-59F76810D2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290552"/>
            <a:ext cx="5962812" cy="444448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85CE09A-267B-D973-B4FC-83516638C993}"/>
              </a:ext>
            </a:extLst>
          </p:cNvPr>
          <p:cNvSpPr txBox="1"/>
          <p:nvPr/>
        </p:nvSpPr>
        <p:spPr>
          <a:xfrm>
            <a:off x="838200" y="1448530"/>
            <a:ext cx="58535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This doesn’t surprise us, but maybe it should!</a:t>
            </a:r>
            <a:endParaRPr lang="en-BE" sz="2400" dirty="0"/>
          </a:p>
        </p:txBody>
      </p:sp>
    </p:spTree>
    <p:extLst>
      <p:ext uri="{BB962C8B-B14F-4D97-AF65-F5344CB8AC3E}">
        <p14:creationId xmlns:p14="http://schemas.microsoft.com/office/powerpoint/2010/main" val="137698376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7160D-5E81-F880-7750-E672A68AC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3224" y="201000"/>
            <a:ext cx="11395787" cy="1325563"/>
          </a:xfrm>
        </p:spPr>
        <p:txBody>
          <a:bodyPr/>
          <a:lstStyle/>
          <a:p>
            <a:r>
              <a:rPr lang="en-US" dirty="0"/>
              <a:t>Rendering is done from a camera’s point of view</a:t>
            </a:r>
            <a:endParaRPr lang="en-BE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F347CA3-B785-36DA-88B7-CCEF2FB67D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972" y="3509943"/>
            <a:ext cx="3642652" cy="186705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9469D95-DA64-47C6-1D85-CCE8B69560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7026" y="2264981"/>
            <a:ext cx="3642651" cy="317464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5A9B109-25C8-9B6F-FC03-DC08EF1E3517}"/>
              </a:ext>
            </a:extLst>
          </p:cNvPr>
          <p:cNvSpPr txBox="1"/>
          <p:nvPr/>
        </p:nvSpPr>
        <p:spPr>
          <a:xfrm>
            <a:off x="478972" y="1418375"/>
            <a:ext cx="1052185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Moving the camera up is the same as moving the bunny down</a:t>
            </a:r>
            <a:endParaRPr lang="en-BE" sz="32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F213D60-A6EA-5F85-C141-93A5F60F1E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9359" y="3578831"/>
            <a:ext cx="3642651" cy="3174644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8D24665-DE75-4DD7-90E4-C41AC94E00D2}"/>
              </a:ext>
            </a:extLst>
          </p:cNvPr>
          <p:cNvCxnSpPr/>
          <p:nvPr/>
        </p:nvCxnSpPr>
        <p:spPr>
          <a:xfrm flipV="1">
            <a:off x="3956180" y="2693437"/>
            <a:ext cx="0" cy="3918857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9F0ED64-BF9D-DE78-4D35-9F64E6C77F9B}"/>
              </a:ext>
            </a:extLst>
          </p:cNvPr>
          <p:cNvCxnSpPr/>
          <p:nvPr/>
        </p:nvCxnSpPr>
        <p:spPr>
          <a:xfrm flipV="1">
            <a:off x="7735078" y="2572140"/>
            <a:ext cx="0" cy="3918857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437224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5E4AD2-5572-9873-A7BA-DAE3885686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camera has it’s own coordinate space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D360457-706A-16C7-B67C-4F1C68E93EB4}"/>
              </a:ext>
            </a:extLst>
          </p:cNvPr>
          <p:cNvSpPr txBox="1"/>
          <p:nvPr/>
        </p:nvSpPr>
        <p:spPr>
          <a:xfrm>
            <a:off x="976604" y="1506022"/>
            <a:ext cx="5496698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Space = frame of reference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We call it view space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When only the camera moves,</a:t>
            </a:r>
            <a:br>
              <a:rPr lang="en-US" sz="2800" dirty="0"/>
            </a:br>
            <a:r>
              <a:rPr lang="en-US" sz="2800" dirty="0"/>
              <a:t>everything seems to move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It’s because the coordinate system</a:t>
            </a:r>
            <a:br>
              <a:rPr lang="en-US" sz="2800" dirty="0"/>
            </a:br>
            <a:r>
              <a:rPr lang="en-US" sz="2800" dirty="0"/>
              <a:t>moves</a:t>
            </a:r>
          </a:p>
        </p:txBody>
      </p:sp>
      <p:pic>
        <p:nvPicPr>
          <p:cNvPr id="5" name="Picture 4" descr="A cartoon of a rabbit and a camera&#10;&#10;Description automatically generated">
            <a:extLst>
              <a:ext uri="{FF2B5EF4-FFF2-40B4-BE49-F238E27FC236}">
                <a16:creationId xmlns:a16="http://schemas.microsoft.com/office/drawing/2014/main" id="{0B3DA23F-CC0D-25D7-313C-85039E9354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4204" y="515828"/>
            <a:ext cx="7630956" cy="7679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917108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6CE44E-FE33-0D3E-7510-99B8A88ED3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bunny has it’s own coordinate space</a:t>
            </a:r>
            <a:endParaRPr lang="en-BE" dirty="0"/>
          </a:p>
        </p:txBody>
      </p:sp>
      <p:pic>
        <p:nvPicPr>
          <p:cNvPr id="4" name="Picture 3" descr="A screen shot of a video game&#10;&#10;Description automatically generated">
            <a:extLst>
              <a:ext uri="{FF2B5EF4-FFF2-40B4-BE49-F238E27FC236}">
                <a16:creationId xmlns:a16="http://schemas.microsoft.com/office/drawing/2014/main" id="{DB5160B1-C447-9658-43FC-116F9534B4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2759" y="1144555"/>
            <a:ext cx="6814596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4B4A0A6-0A67-E9D6-82AE-E21CE7111AC6}"/>
              </a:ext>
            </a:extLst>
          </p:cNvPr>
          <p:cNvSpPr txBox="1"/>
          <p:nvPr/>
        </p:nvSpPr>
        <p:spPr>
          <a:xfrm>
            <a:off x="391887" y="2220686"/>
            <a:ext cx="6841873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It’s called object or model space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All the triangles are defined in this space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They are static (never change)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We transform them to view space to render</a:t>
            </a:r>
            <a:endParaRPr lang="en-BE" sz="2800" dirty="0"/>
          </a:p>
        </p:txBody>
      </p:sp>
    </p:spTree>
    <p:extLst>
      <p:ext uri="{BB962C8B-B14F-4D97-AF65-F5344CB8AC3E}">
        <p14:creationId xmlns:p14="http://schemas.microsoft.com/office/powerpoint/2010/main" val="124344286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7D1A0-A5E3-1138-AAC0-67E29CA55E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These all exist at the same time</a:t>
            </a:r>
            <a:endParaRPr lang="en-BE" dirty="0"/>
          </a:p>
        </p:txBody>
      </p:sp>
      <p:pic>
        <p:nvPicPr>
          <p:cNvPr id="3" name="Picture 2" descr="A screenshot of a video camera and a rabbit&#10;&#10;Description automatically generated">
            <a:extLst>
              <a:ext uri="{FF2B5EF4-FFF2-40B4-BE49-F238E27FC236}">
                <a16:creationId xmlns:a16="http://schemas.microsoft.com/office/drawing/2014/main" id="{1983B0F0-111C-ED7C-96B2-45F1FB109B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4455" y="3429000"/>
            <a:ext cx="2990924" cy="3027668"/>
          </a:xfrm>
          <a:prstGeom prst="rect">
            <a:avLst/>
          </a:prstGeom>
        </p:spPr>
      </p:pic>
      <p:pic>
        <p:nvPicPr>
          <p:cNvPr id="4" name="Picture 3" descr="A cartoon of a rabbit and a camera&#10;&#10;Description automatically generated">
            <a:extLst>
              <a:ext uri="{FF2B5EF4-FFF2-40B4-BE49-F238E27FC236}">
                <a16:creationId xmlns:a16="http://schemas.microsoft.com/office/drawing/2014/main" id="{4E9B9811-816C-429C-5F31-7898A587373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5003" y="2537927"/>
            <a:ext cx="5751457" cy="5788090"/>
          </a:xfrm>
          <a:prstGeom prst="rect">
            <a:avLst/>
          </a:prstGeom>
        </p:spPr>
      </p:pic>
      <p:pic>
        <p:nvPicPr>
          <p:cNvPr id="5" name="Picture 4" descr="A screen shot of a video game&#10;&#10;Description automatically generated">
            <a:extLst>
              <a:ext uri="{FF2B5EF4-FFF2-40B4-BE49-F238E27FC236}">
                <a16:creationId xmlns:a16="http://schemas.microsoft.com/office/drawing/2014/main" id="{F6AD42B0-EBF4-7427-EF6E-A8C403AAC87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7787" y="3202609"/>
            <a:ext cx="4769567" cy="479994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FAC777F-F21C-22AD-8978-DBD7142FBCF2}"/>
              </a:ext>
            </a:extLst>
          </p:cNvPr>
          <p:cNvSpPr txBox="1"/>
          <p:nvPr/>
        </p:nvSpPr>
        <p:spPr>
          <a:xfrm>
            <a:off x="1468016" y="2537927"/>
            <a:ext cx="198740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World space</a:t>
            </a:r>
            <a:endParaRPr lang="en-BE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472CCB0-129C-ED06-5543-54FD42168457}"/>
              </a:ext>
            </a:extLst>
          </p:cNvPr>
          <p:cNvSpPr txBox="1"/>
          <p:nvPr/>
        </p:nvSpPr>
        <p:spPr>
          <a:xfrm>
            <a:off x="5304780" y="2537927"/>
            <a:ext cx="181639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View space</a:t>
            </a:r>
            <a:endParaRPr lang="en-BE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A24E43-0E54-804A-204B-FF0DB26D00A2}"/>
              </a:ext>
            </a:extLst>
          </p:cNvPr>
          <p:cNvSpPr txBox="1"/>
          <p:nvPr/>
        </p:nvSpPr>
        <p:spPr>
          <a:xfrm>
            <a:off x="9501674" y="2537927"/>
            <a:ext cx="206178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Object space</a:t>
            </a:r>
            <a:endParaRPr lang="en-BE" sz="2800" dirty="0"/>
          </a:p>
        </p:txBody>
      </p:sp>
    </p:spTree>
    <p:extLst>
      <p:ext uri="{BB962C8B-B14F-4D97-AF65-F5344CB8AC3E}">
        <p14:creationId xmlns:p14="http://schemas.microsoft.com/office/powerpoint/2010/main" val="199026440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7438E-3219-B1F4-C3DA-C85236CEB2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6612" y="365125"/>
            <a:ext cx="12092474" cy="1325563"/>
          </a:xfrm>
        </p:spPr>
        <p:txBody>
          <a:bodyPr>
            <a:normAutofit/>
          </a:bodyPr>
          <a:lstStyle/>
          <a:p>
            <a:r>
              <a:rPr lang="en-US" sz="4000" dirty="0"/>
              <a:t>We can transform point between spaces with  transforms</a:t>
            </a:r>
            <a:endParaRPr lang="en-BE" sz="4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A97DD0F-8850-FC7C-6147-C0D4C0DECD15}"/>
              </a:ext>
            </a:extLst>
          </p:cNvPr>
          <p:cNvSpPr txBox="1"/>
          <p:nvPr/>
        </p:nvSpPr>
        <p:spPr>
          <a:xfrm>
            <a:off x="415212" y="1690688"/>
            <a:ext cx="11136086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800" i="1" dirty="0">
                <a:solidFill>
                  <a:srgbClr val="0000FF"/>
                </a:solidFill>
                <a:latin typeface="Cascadia Mono" panose="020B0609020000020004" pitchFamily="49" charset="0"/>
              </a:rPr>
              <a:t>Vector3</a:t>
            </a:r>
            <a:r>
              <a:rPr lang="en-US" sz="2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800" i="0" dirty="0">
                <a:solidFill>
                  <a:srgbClr val="000080"/>
                </a:solidFill>
                <a:latin typeface="Cascadia Mono" panose="020B0609020000020004" pitchFamily="49" charset="0"/>
              </a:rPr>
              <a:t>position</a:t>
            </a:r>
            <a:r>
              <a:rPr lang="en-US" sz="2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2800" i="0" dirty="0" err="1">
                <a:solidFill>
                  <a:srgbClr val="000080"/>
                </a:solidFill>
                <a:latin typeface="Cascadia Mono" panose="020B0609020000020004" pitchFamily="49" charset="0"/>
              </a:rPr>
              <a:t>bunnyGameObject</a:t>
            </a:r>
            <a:r>
              <a:rPr lang="en-US" sz="2800" i="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</a:t>
            </a:r>
            <a:r>
              <a:rPr lang="en-US" sz="2800" i="1" dirty="0" err="1">
                <a:solidFill>
                  <a:srgbClr val="000080"/>
                </a:solidFill>
                <a:latin typeface="Cascadia Mono" panose="020B0609020000020004" pitchFamily="49" charset="0"/>
              </a:rPr>
              <a:t>transform</a:t>
            </a:r>
            <a:r>
              <a:rPr lang="en-US" sz="2800" i="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</a:t>
            </a:r>
            <a:r>
              <a:rPr lang="en-US" sz="2800" i="1" dirty="0" err="1">
                <a:solidFill>
                  <a:srgbClr val="000080"/>
                </a:solidFill>
                <a:latin typeface="Cascadia Mono" panose="020B0609020000020004" pitchFamily="49" charset="0"/>
              </a:rPr>
              <a:t>position</a:t>
            </a:r>
            <a:r>
              <a:rPr lang="en-US" sz="2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; </a:t>
            </a:r>
            <a:r>
              <a:rPr lang="en-US" sz="2800" i="0" dirty="0">
                <a:solidFill>
                  <a:srgbClr val="008000"/>
                </a:solidFill>
                <a:latin typeface="Cascadia Mono" panose="020B0609020000020004" pitchFamily="49" charset="0"/>
              </a:rPr>
              <a:t>// in </a:t>
            </a:r>
            <a:r>
              <a:rPr lang="en-US" sz="2800" i="0" dirty="0" err="1">
                <a:solidFill>
                  <a:srgbClr val="008000"/>
                </a:solidFill>
                <a:latin typeface="Cascadia Mono" panose="020B0609020000020004" pitchFamily="49" charset="0"/>
              </a:rPr>
              <a:t>WorldSpace</a:t>
            </a:r>
            <a:endParaRPr lang="en-US" sz="2800" i="0" dirty="0">
              <a:solidFill>
                <a:srgbClr val="008000"/>
              </a:solidFill>
              <a:latin typeface="Cascadia Mono" panose="020B0609020000020004" pitchFamily="49" charset="0"/>
            </a:endParaRPr>
          </a:p>
          <a:p>
            <a:r>
              <a:rPr lang="en-US" sz="2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800" i="0" dirty="0" err="1">
                <a:solidFill>
                  <a:srgbClr val="000080"/>
                </a:solidFill>
                <a:latin typeface="Cascadia Mono" panose="020B0609020000020004" pitchFamily="49" charset="0"/>
              </a:rPr>
              <a:t>cameraGameObject</a:t>
            </a:r>
            <a:r>
              <a:rPr lang="en-US" sz="2800" i="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</a:t>
            </a:r>
            <a:r>
              <a:rPr lang="en-US" sz="2800" i="1" dirty="0" err="1">
                <a:solidFill>
                  <a:srgbClr val="000080"/>
                </a:solidFill>
                <a:latin typeface="Cascadia Mono" panose="020B0609020000020004" pitchFamily="49" charset="0"/>
              </a:rPr>
              <a:t>transform</a:t>
            </a:r>
            <a:r>
              <a:rPr lang="en-US" sz="2800" i="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</a:t>
            </a:r>
            <a:r>
              <a:rPr lang="en-US" sz="2800" i="1" dirty="0" err="1">
                <a:solidFill>
                  <a:srgbClr val="880000"/>
                </a:solidFill>
                <a:latin typeface="Cascadia Mono" panose="020B0609020000020004" pitchFamily="49" charset="0"/>
              </a:rPr>
              <a:t>InverseTransformPoint</a:t>
            </a:r>
            <a:r>
              <a:rPr lang="en-US" sz="2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800" i="0" dirty="0">
                <a:solidFill>
                  <a:srgbClr val="000080"/>
                </a:solidFill>
                <a:latin typeface="Cascadia Mono" panose="020B0609020000020004" pitchFamily="49" charset="0"/>
              </a:rPr>
              <a:t>position</a:t>
            </a:r>
            <a:r>
              <a:rPr lang="en-US" sz="2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); </a:t>
            </a:r>
            <a:r>
              <a:rPr lang="en-US" sz="2800" i="0" dirty="0">
                <a:solidFill>
                  <a:srgbClr val="008000"/>
                </a:solidFill>
                <a:latin typeface="Cascadia Mono" panose="020B0609020000020004" pitchFamily="49" charset="0"/>
              </a:rPr>
              <a:t>// in </a:t>
            </a:r>
            <a:r>
              <a:rPr lang="en-US" sz="2800" i="0" dirty="0" err="1">
                <a:solidFill>
                  <a:srgbClr val="008000"/>
                </a:solidFill>
                <a:latin typeface="Cascadia Mono" panose="020B0609020000020004" pitchFamily="49" charset="0"/>
              </a:rPr>
              <a:t>CameraSpace</a:t>
            </a:r>
            <a:endParaRPr lang="en-BE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C6233E-47FF-660A-7A40-2985F1EF177F}"/>
              </a:ext>
            </a:extLst>
          </p:cNvPr>
          <p:cNvSpPr txBox="1"/>
          <p:nvPr/>
        </p:nvSpPr>
        <p:spPr>
          <a:xfrm>
            <a:off x="415212" y="4246106"/>
            <a:ext cx="11082586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position is in </a:t>
            </a:r>
            <a:r>
              <a:rPr lang="en-US" sz="2800" dirty="0" err="1"/>
              <a:t>WorldSpace</a:t>
            </a:r>
            <a:endParaRPr lang="en-US" sz="2800" dirty="0"/>
          </a:p>
          <a:p>
            <a:r>
              <a:rPr lang="en-US" sz="2800" dirty="0" err="1"/>
              <a:t>Transform.TransformPoint</a:t>
            </a:r>
            <a:r>
              <a:rPr lang="en-US" sz="2800" dirty="0"/>
              <a:t> transforms from </a:t>
            </a:r>
            <a:r>
              <a:rPr lang="en-US" sz="2800" dirty="0" err="1"/>
              <a:t>LocalSpace</a:t>
            </a:r>
            <a:r>
              <a:rPr lang="en-US" sz="2800" dirty="0"/>
              <a:t> to </a:t>
            </a:r>
            <a:r>
              <a:rPr lang="en-US" sz="2800" dirty="0" err="1"/>
              <a:t>WorldSpace</a:t>
            </a:r>
            <a:endParaRPr lang="en-US" sz="2800" dirty="0"/>
          </a:p>
          <a:p>
            <a:r>
              <a:rPr lang="en-US" sz="2800" dirty="0" err="1"/>
              <a:t>Transform.InverseTranformPoint</a:t>
            </a:r>
            <a:r>
              <a:rPr lang="en-US" sz="2800" dirty="0"/>
              <a:t> transform from </a:t>
            </a:r>
            <a:r>
              <a:rPr lang="en-US" sz="2800" dirty="0" err="1"/>
              <a:t>WorldSpace</a:t>
            </a:r>
            <a:r>
              <a:rPr lang="en-US" sz="2800" dirty="0"/>
              <a:t> to </a:t>
            </a:r>
            <a:r>
              <a:rPr lang="en-US" sz="2800" dirty="0" err="1"/>
              <a:t>LocalSpace</a:t>
            </a:r>
            <a:endParaRPr lang="en-US" sz="2800" dirty="0"/>
          </a:p>
          <a:p>
            <a:r>
              <a:rPr lang="en-US" sz="2800" dirty="0"/>
              <a:t>Every Matrix transforms form one space to another</a:t>
            </a:r>
          </a:p>
          <a:p>
            <a:r>
              <a:rPr lang="en-US" sz="2800" dirty="0"/>
              <a:t>Inverting the Matrix does it the other way around</a:t>
            </a:r>
            <a:endParaRPr lang="en-BE" sz="2800" dirty="0"/>
          </a:p>
        </p:txBody>
      </p:sp>
    </p:spTree>
    <p:extLst>
      <p:ext uri="{BB962C8B-B14F-4D97-AF65-F5344CB8AC3E}">
        <p14:creationId xmlns:p14="http://schemas.microsoft.com/office/powerpoint/2010/main" val="377368936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71C477-CD1C-9B84-ED5A-C475A18DF7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767" y="365125"/>
            <a:ext cx="10937033" cy="1325563"/>
          </a:xfrm>
        </p:spPr>
        <p:txBody>
          <a:bodyPr/>
          <a:lstStyle/>
          <a:p>
            <a:r>
              <a:rPr lang="en-US" dirty="0"/>
              <a:t>Warning! Use different methods for directions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7D87BF-D75D-5904-C2E6-B4AEBDDC8433}"/>
              </a:ext>
            </a:extLst>
          </p:cNvPr>
          <p:cNvSpPr txBox="1"/>
          <p:nvPr/>
        </p:nvSpPr>
        <p:spPr>
          <a:xfrm>
            <a:off x="528733" y="2074897"/>
            <a:ext cx="8839201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Direction = N or 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Use </a:t>
            </a:r>
            <a:r>
              <a:rPr lang="en-US" sz="3200" dirty="0" err="1"/>
              <a:t>TransformDirection</a:t>
            </a:r>
            <a:endParaRPr lang="en-US" sz="3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Not </a:t>
            </a:r>
            <a:r>
              <a:rPr lang="en-US" sz="3200" dirty="0" err="1"/>
              <a:t>TransformPoint</a:t>
            </a:r>
            <a:r>
              <a:rPr lang="en-US" sz="3200" dirty="0"/>
              <a:t>, your result will be incorrect</a:t>
            </a:r>
            <a:endParaRPr lang="en-BE" sz="3200" dirty="0"/>
          </a:p>
        </p:txBody>
      </p:sp>
      <p:pic>
        <p:nvPicPr>
          <p:cNvPr id="6" name="Picture 5" descr="A graph with arrows pointing to the same direction&#10;&#10;Description automatically generated">
            <a:extLst>
              <a:ext uri="{FF2B5EF4-FFF2-40B4-BE49-F238E27FC236}">
                <a16:creationId xmlns:a16="http://schemas.microsoft.com/office/drawing/2014/main" id="{B15D22F2-0512-95E9-A81E-6526A739B8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1659" y="3939954"/>
            <a:ext cx="7247248" cy="25529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472631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66005E-C4A6-8178-C971-3008970B1F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It’s a big hierarchy</a:t>
            </a:r>
            <a:endParaRPr lang="en-BE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ADC4E68-1F98-4E77-300D-174A7200DA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8596" y="1989671"/>
            <a:ext cx="5353042" cy="482443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5B09C9B-D142-F45D-C74C-494543CAD8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077" y="4963886"/>
            <a:ext cx="5220787" cy="185022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CB92895-AB13-AC14-BD94-14BBB737DD26}"/>
              </a:ext>
            </a:extLst>
          </p:cNvPr>
          <p:cNvSpPr txBox="1"/>
          <p:nvPr/>
        </p:nvSpPr>
        <p:spPr>
          <a:xfrm>
            <a:off x="179459" y="1468016"/>
            <a:ext cx="5353042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SmallBunny’s</a:t>
            </a:r>
            <a:r>
              <a:rPr lang="en-US" dirty="0"/>
              <a:t> transform is relative to </a:t>
            </a:r>
            <a:r>
              <a:rPr lang="en-US" dirty="0" err="1"/>
              <a:t>BigBunny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If I translate </a:t>
            </a:r>
            <a:r>
              <a:rPr lang="en-US" dirty="0" err="1"/>
              <a:t>BigBunny</a:t>
            </a:r>
            <a:r>
              <a:rPr lang="en-US" dirty="0"/>
              <a:t>, </a:t>
            </a:r>
            <a:r>
              <a:rPr lang="en-US" dirty="0" err="1"/>
              <a:t>SmallBunny</a:t>
            </a:r>
            <a:r>
              <a:rPr lang="en-US" dirty="0"/>
              <a:t> follows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It’s transform is in “</a:t>
            </a:r>
            <a:r>
              <a:rPr lang="en-US" dirty="0" err="1"/>
              <a:t>BigBunny</a:t>
            </a:r>
            <a:r>
              <a:rPr lang="en-US" dirty="0"/>
              <a:t> space”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All previous examples had no explicit parents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 had the root as parent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And that is world space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Same here for </a:t>
            </a:r>
            <a:r>
              <a:rPr lang="en-US" dirty="0" err="1"/>
              <a:t>BigBunny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40705394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C6E2EB-6D7E-22E5-55FF-C8AAE244C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Cool things we can do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9C6D9C-A599-30DE-ED7D-C8B6870065F0}"/>
              </a:ext>
            </a:extLst>
          </p:cNvPr>
          <p:cNvSpPr txBox="1"/>
          <p:nvPr/>
        </p:nvSpPr>
        <p:spPr>
          <a:xfrm>
            <a:off x="5638800" y="2973355"/>
            <a:ext cx="914400" cy="914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5DB93D-2D21-BB4C-3859-E98223296C01}"/>
              </a:ext>
            </a:extLst>
          </p:cNvPr>
          <p:cNvSpPr txBox="1"/>
          <p:nvPr/>
        </p:nvSpPr>
        <p:spPr>
          <a:xfrm>
            <a:off x="783772" y="1847461"/>
            <a:ext cx="9610323" cy="21852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Matrices multiply, and it </a:t>
            </a:r>
            <a:r>
              <a:rPr lang="en-US" sz="2800" dirty="0" err="1"/>
              <a:t>add’s</a:t>
            </a:r>
            <a:r>
              <a:rPr lang="en-US" sz="2800" dirty="0"/>
              <a:t> (concatenate) the transforms</a:t>
            </a:r>
            <a:br>
              <a:rPr lang="en-US" dirty="0"/>
            </a:br>
            <a:endParaRPr lang="en-US" dirty="0"/>
          </a:p>
          <a:p>
            <a:r>
              <a:rPr lang="en-US" sz="1800" i="1" dirty="0">
                <a:solidFill>
                  <a:srgbClr val="0000FF"/>
                </a:solidFill>
                <a:latin typeface="Cascadia Mono" panose="020B0609020000020004" pitchFamily="49" charset="0"/>
              </a:rPr>
              <a:t>Matrix4x4</a:t>
            </a:r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800" i="0" dirty="0" err="1">
                <a:solidFill>
                  <a:srgbClr val="000080"/>
                </a:solidFill>
                <a:latin typeface="Cascadia Mono" panose="020B0609020000020004" pitchFamily="49" charset="0"/>
              </a:rPr>
              <a:t>worldToView</a:t>
            </a:r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1800" i="0" dirty="0" err="1">
                <a:solidFill>
                  <a:srgbClr val="000080"/>
                </a:solidFill>
                <a:latin typeface="Cascadia Mono" panose="020B0609020000020004" pitchFamily="49" charset="0"/>
              </a:rPr>
              <a:t>cameraGameObject</a:t>
            </a:r>
            <a:r>
              <a:rPr lang="en-US" sz="1800" i="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</a:t>
            </a:r>
            <a:r>
              <a:rPr lang="en-US" sz="1800" i="1" dirty="0" err="1">
                <a:solidFill>
                  <a:srgbClr val="000080"/>
                </a:solidFill>
                <a:latin typeface="Cascadia Mono" panose="020B0609020000020004" pitchFamily="49" charset="0"/>
              </a:rPr>
              <a:t>transform</a:t>
            </a:r>
            <a:r>
              <a:rPr lang="en-US" sz="1800" i="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</a:t>
            </a:r>
            <a:r>
              <a:rPr lang="en-US" sz="1800" i="1" dirty="0" err="1">
                <a:solidFill>
                  <a:srgbClr val="000080"/>
                </a:solidFill>
                <a:latin typeface="Cascadia Mono" panose="020B0609020000020004" pitchFamily="49" charset="0"/>
              </a:rPr>
              <a:t>worldToLocalMatrix</a:t>
            </a:r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r>
              <a:rPr lang="en-US" sz="1800" i="1" dirty="0">
                <a:solidFill>
                  <a:srgbClr val="0000FF"/>
                </a:solidFill>
                <a:latin typeface="Cascadia Mono" panose="020B0609020000020004" pitchFamily="49" charset="0"/>
              </a:rPr>
              <a:t>Matrix4x4</a:t>
            </a:r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800" i="0" dirty="0" err="1">
                <a:solidFill>
                  <a:srgbClr val="000080"/>
                </a:solidFill>
                <a:latin typeface="Cascadia Mono" panose="020B0609020000020004" pitchFamily="49" charset="0"/>
              </a:rPr>
              <a:t>bunnyToWorld</a:t>
            </a:r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1800" i="0" dirty="0" err="1">
                <a:solidFill>
                  <a:srgbClr val="000080"/>
                </a:solidFill>
                <a:latin typeface="Cascadia Mono" panose="020B0609020000020004" pitchFamily="49" charset="0"/>
              </a:rPr>
              <a:t>bunnyGameObject</a:t>
            </a:r>
            <a:r>
              <a:rPr lang="en-US" sz="1800" i="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</a:t>
            </a:r>
            <a:r>
              <a:rPr lang="en-US" sz="1800" i="1" dirty="0" err="1">
                <a:solidFill>
                  <a:srgbClr val="000080"/>
                </a:solidFill>
                <a:latin typeface="Cascadia Mono" panose="020B0609020000020004" pitchFamily="49" charset="0"/>
              </a:rPr>
              <a:t>transform</a:t>
            </a:r>
            <a:r>
              <a:rPr lang="en-US" sz="1800" i="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</a:t>
            </a:r>
            <a:r>
              <a:rPr lang="en-US" sz="1800" i="1" dirty="0" err="1">
                <a:solidFill>
                  <a:srgbClr val="000080"/>
                </a:solidFill>
                <a:latin typeface="Cascadia Mono" panose="020B0609020000020004" pitchFamily="49" charset="0"/>
              </a:rPr>
              <a:t>localToWorldMatrix</a:t>
            </a:r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r>
              <a:rPr lang="en-US" sz="1800" i="1" dirty="0">
                <a:solidFill>
                  <a:srgbClr val="0000FF"/>
                </a:solidFill>
                <a:latin typeface="Cascadia Mono" panose="020B0609020000020004" pitchFamily="49" charset="0"/>
              </a:rPr>
              <a:t>Matrix4x4</a:t>
            </a:r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800" i="0" dirty="0" err="1">
                <a:solidFill>
                  <a:srgbClr val="000080"/>
                </a:solidFill>
                <a:latin typeface="Cascadia Mono" panose="020B0609020000020004" pitchFamily="49" charset="0"/>
              </a:rPr>
              <a:t>bunnyToView</a:t>
            </a:r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1800" i="0" dirty="0" err="1">
                <a:solidFill>
                  <a:srgbClr val="000080"/>
                </a:solidFill>
                <a:latin typeface="Cascadia Mono" panose="020B0609020000020004" pitchFamily="49" charset="0"/>
              </a:rPr>
              <a:t>bunnyToWorld</a:t>
            </a:r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* </a:t>
            </a:r>
            <a:r>
              <a:rPr lang="en-US" sz="1800" i="0" dirty="0" err="1">
                <a:solidFill>
                  <a:srgbClr val="000080"/>
                </a:solidFill>
                <a:latin typeface="Cascadia Mono" panose="020B0609020000020004" pitchFamily="49" charset="0"/>
              </a:rPr>
              <a:t>worldToView</a:t>
            </a:r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  <a:b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</a:br>
            <a:b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</a:br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If you name it like this, bugs are very obvious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164358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D6B254-C2EF-D70D-6E19-1FAC8E397A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Does that make sense?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4249077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C9E04B-7666-D3E3-2AA5-1FE6A9616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719CCB-83B2-6F1D-B13F-D19A170488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class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98B7FF-D216-6BD7-C540-B0421D5128A2}"/>
              </a:ext>
            </a:extLst>
          </p:cNvPr>
          <p:cNvSpPr txBox="1"/>
          <p:nvPr/>
        </p:nvSpPr>
        <p:spPr>
          <a:xfrm>
            <a:off x="989902" y="1690689"/>
            <a:ext cx="4925486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3D coordinates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3D transforms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 </a:t>
            </a:r>
            <a:r>
              <a:rPr lang="en-US" sz="2800" dirty="0"/>
              <a:t>Why they are important </a:t>
            </a:r>
            <a:r>
              <a:rPr lang="en-US" sz="2800" dirty="0">
                <a:sym typeface="Wingdings" panose="05000000000000000000" pitchFamily="2" charset="2"/>
              </a:rPr>
              <a:t></a:t>
            </a: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Dot &amp; Cross product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Quaternions</a:t>
            </a:r>
          </a:p>
        </p:txBody>
      </p:sp>
    </p:spTree>
    <p:extLst>
      <p:ext uri="{BB962C8B-B14F-4D97-AF65-F5344CB8AC3E}">
        <p14:creationId xmlns:p14="http://schemas.microsoft.com/office/powerpoint/2010/main" val="253087496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F80B94-1365-67BC-592A-550E5BB2E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1FF110-0970-2E2B-EB49-A15638993D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5125"/>
            <a:ext cx="12123575" cy="1325563"/>
          </a:xfrm>
        </p:spPr>
        <p:txBody>
          <a:bodyPr/>
          <a:lstStyle/>
          <a:p>
            <a:r>
              <a:rPr lang="en-US" dirty="0"/>
              <a:t>This is how we position  object in front of the camera </a:t>
            </a:r>
            <a:endParaRPr lang="en-BE" dirty="0"/>
          </a:p>
        </p:txBody>
      </p:sp>
      <p:pic>
        <p:nvPicPr>
          <p:cNvPr id="5" name="Picture 4" descr="A diagram of a diagram&#10;&#10;Description automatically generated">
            <a:extLst>
              <a:ext uri="{FF2B5EF4-FFF2-40B4-BE49-F238E27FC236}">
                <a16:creationId xmlns:a16="http://schemas.microsoft.com/office/drawing/2014/main" id="{3BCDCAD7-5D4E-4EE8-D06B-0BCEFDC629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7458" y="2374364"/>
            <a:ext cx="10653056" cy="3358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537659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587E84-42E7-FED9-6881-72C5C8D04F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5125"/>
            <a:ext cx="12123575" cy="1325563"/>
          </a:xfrm>
        </p:spPr>
        <p:txBody>
          <a:bodyPr/>
          <a:lstStyle/>
          <a:p>
            <a:r>
              <a:rPr lang="en-US" dirty="0"/>
              <a:t>This is how we position  object in front of the camera </a:t>
            </a:r>
            <a:endParaRPr lang="en-BE" dirty="0"/>
          </a:p>
        </p:txBody>
      </p:sp>
      <p:pic>
        <p:nvPicPr>
          <p:cNvPr id="4" name="Picture 3" descr="A close-up of a kite&#10;&#10;Description automatically generated">
            <a:extLst>
              <a:ext uri="{FF2B5EF4-FFF2-40B4-BE49-F238E27FC236}">
                <a16:creationId xmlns:a16="http://schemas.microsoft.com/office/drawing/2014/main" id="{1F441653-1489-1A22-C3A6-695EABBB8E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8273" y="3582955"/>
            <a:ext cx="10255302" cy="320859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D99C993-4D60-D997-4BDF-350AE6E2D1ED}"/>
              </a:ext>
            </a:extLst>
          </p:cNvPr>
          <p:cNvSpPr txBox="1"/>
          <p:nvPr/>
        </p:nvSpPr>
        <p:spPr>
          <a:xfrm>
            <a:off x="3993502" y="462798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B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5C20D7-C87F-771E-F04A-31F4574FAAA8}"/>
              </a:ext>
            </a:extLst>
          </p:cNvPr>
          <p:cNvSpPr txBox="1"/>
          <p:nvPr/>
        </p:nvSpPr>
        <p:spPr>
          <a:xfrm>
            <a:off x="460310" y="1690688"/>
            <a:ext cx="911704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Transform the model into the world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Transform the model in the world to the camera viewpoint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Transform (project) the model onto the “film” of the camera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This is called the </a:t>
            </a:r>
            <a:r>
              <a:rPr lang="en-US" dirty="0" err="1"/>
              <a:t>ModelViewProjections</a:t>
            </a:r>
            <a:r>
              <a:rPr lang="en-US" dirty="0"/>
              <a:t> transform, and we’ll see it in one of the later classes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0601445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EC265C-A52D-C28D-431D-9A24262BA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74D4B-3652-A207-1566-07DE9DC90C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class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709B08-0BB5-E312-B5D3-99D71BAFD9BC}"/>
              </a:ext>
            </a:extLst>
          </p:cNvPr>
          <p:cNvSpPr txBox="1"/>
          <p:nvPr/>
        </p:nvSpPr>
        <p:spPr>
          <a:xfrm>
            <a:off x="958800" y="1690688"/>
            <a:ext cx="4925486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3D coordinates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3D transforms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Why they are important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</a:t>
            </a:r>
            <a:r>
              <a:rPr lang="en-US" sz="2800" dirty="0"/>
              <a:t>Dot &amp; Cross product </a:t>
            </a:r>
            <a:r>
              <a:rPr lang="en-US" sz="2800" dirty="0">
                <a:sym typeface="Wingdings" panose="05000000000000000000" pitchFamily="2" charset="2"/>
              </a:rPr>
              <a:t></a:t>
            </a: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Quaternions</a:t>
            </a:r>
          </a:p>
        </p:txBody>
      </p:sp>
    </p:spTree>
    <p:extLst>
      <p:ext uri="{BB962C8B-B14F-4D97-AF65-F5344CB8AC3E}">
        <p14:creationId xmlns:p14="http://schemas.microsoft.com/office/powerpoint/2010/main" val="16982836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188C00-ACD9-BB3F-694D-F92861569E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FD8952-0F3F-E1D8-BEE6-051C5AFE87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55" y="371345"/>
            <a:ext cx="12123575" cy="1325563"/>
          </a:xfrm>
        </p:spPr>
        <p:txBody>
          <a:bodyPr/>
          <a:lstStyle/>
          <a:p>
            <a:r>
              <a:rPr lang="en-US" dirty="0"/>
              <a:t>Dot product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851DE02-48C2-DFFE-01EE-427819FA2A14}"/>
              </a:ext>
            </a:extLst>
          </p:cNvPr>
          <p:cNvSpPr txBox="1"/>
          <p:nvPr/>
        </p:nvSpPr>
        <p:spPr>
          <a:xfrm>
            <a:off x="326571" y="4460032"/>
            <a:ext cx="11538857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Definition 1 : Dot(A,B) = </a:t>
            </a:r>
            <a:r>
              <a:rPr lang="en-US" sz="2800" dirty="0" err="1"/>
              <a:t>A.length</a:t>
            </a:r>
            <a:r>
              <a:rPr lang="en-US" sz="2800" dirty="0"/>
              <a:t>() * </a:t>
            </a:r>
            <a:r>
              <a:rPr lang="en-US" sz="2800" dirty="0" err="1"/>
              <a:t>B.length</a:t>
            </a:r>
            <a:r>
              <a:rPr lang="en-US" sz="2800" dirty="0"/>
              <a:t>() * cos(angle) </a:t>
            </a:r>
          </a:p>
          <a:p>
            <a:r>
              <a:rPr lang="en-US" sz="2800" dirty="0"/>
              <a:t>Definition 2 : </a:t>
            </a:r>
            <a:r>
              <a:rPr lang="en-US" sz="2800" dirty="0" err="1"/>
              <a:t>A.x</a:t>
            </a:r>
            <a:r>
              <a:rPr lang="en-US" sz="2800" dirty="0"/>
              <a:t> * </a:t>
            </a:r>
            <a:r>
              <a:rPr lang="en-US" sz="2800" dirty="0" err="1"/>
              <a:t>B.x</a:t>
            </a:r>
            <a:r>
              <a:rPr lang="en-US" sz="2800" dirty="0"/>
              <a:t> + </a:t>
            </a:r>
            <a:r>
              <a:rPr lang="en-US" sz="2800" dirty="0" err="1"/>
              <a:t>A.y</a:t>
            </a:r>
            <a:r>
              <a:rPr lang="en-US" sz="2800" dirty="0"/>
              <a:t> * </a:t>
            </a:r>
            <a:r>
              <a:rPr lang="en-US" sz="2800" dirty="0" err="1"/>
              <a:t>B.y</a:t>
            </a:r>
            <a:r>
              <a:rPr lang="en-US" sz="2800" dirty="0"/>
              <a:t> + </a:t>
            </a:r>
            <a:r>
              <a:rPr lang="en-US" sz="2800" dirty="0" err="1"/>
              <a:t>A.z</a:t>
            </a:r>
            <a:r>
              <a:rPr lang="en-US" sz="2800" dirty="0"/>
              <a:t> * </a:t>
            </a:r>
            <a:r>
              <a:rPr lang="en-US" sz="2800" dirty="0" err="1"/>
              <a:t>B.z</a:t>
            </a:r>
            <a:endParaRPr lang="en-BE" sz="2800" dirty="0"/>
          </a:p>
          <a:p>
            <a:endParaRPr lang="en-US" sz="2800" dirty="0"/>
          </a:p>
          <a:p>
            <a:r>
              <a:rPr lang="en-US" sz="2800" dirty="0"/>
              <a:t>Unit vectors: Dot(A,B) =  cos(angle)</a:t>
            </a:r>
          </a:p>
          <a:p>
            <a:r>
              <a:rPr lang="en-US" sz="2800" b="1" dirty="0"/>
              <a:t>Measure of closeness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8E651D1-14F8-6D1F-BE9E-FD1DF6EA5087}"/>
              </a:ext>
            </a:extLst>
          </p:cNvPr>
          <p:cNvCxnSpPr/>
          <p:nvPr/>
        </p:nvCxnSpPr>
        <p:spPr>
          <a:xfrm flipV="1">
            <a:off x="4609323" y="1866122"/>
            <a:ext cx="1337388" cy="1517779"/>
          </a:xfrm>
          <a:prstGeom prst="line">
            <a:avLst/>
          </a:prstGeom>
          <a:ln w="76200">
            <a:solidFill>
              <a:schemeClr val="accent2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90F47BF3-2AAB-85FD-7D70-7F7FEB2D34A3}"/>
              </a:ext>
            </a:extLst>
          </p:cNvPr>
          <p:cNvSpPr txBox="1"/>
          <p:nvPr/>
        </p:nvSpPr>
        <p:spPr>
          <a:xfrm>
            <a:off x="4307872" y="2142400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  <a:endParaRPr lang="en-BE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B3F152F-7996-05C9-2024-0EC8C1E9A6C3}"/>
              </a:ext>
            </a:extLst>
          </p:cNvPr>
          <p:cNvCxnSpPr>
            <a:cxnSpLocks/>
          </p:cNvCxnSpPr>
          <p:nvPr/>
        </p:nvCxnSpPr>
        <p:spPr>
          <a:xfrm>
            <a:off x="4609323" y="3383901"/>
            <a:ext cx="2146040" cy="0"/>
          </a:xfrm>
          <a:prstGeom prst="line">
            <a:avLst/>
          </a:prstGeom>
          <a:ln w="76200">
            <a:solidFill>
              <a:srgbClr val="0070C0"/>
            </a:solidFill>
            <a:headEnd type="none" w="med" len="med"/>
            <a:tailEnd type="triangle" w="med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5FBCD85-8BEE-487E-B131-B4D3C12BB3CF}"/>
              </a:ext>
            </a:extLst>
          </p:cNvPr>
          <p:cNvSpPr txBox="1"/>
          <p:nvPr/>
        </p:nvSpPr>
        <p:spPr>
          <a:xfrm>
            <a:off x="6192417" y="3552635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  <a:endParaRPr lang="en-BE" dirty="0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B48D35A8-B889-862C-95F0-B0DBB9FB3FF4}"/>
              </a:ext>
            </a:extLst>
          </p:cNvPr>
          <p:cNvSpPr/>
          <p:nvPr/>
        </p:nvSpPr>
        <p:spPr>
          <a:xfrm>
            <a:off x="4578208" y="2773038"/>
            <a:ext cx="1181886" cy="1158261"/>
          </a:xfrm>
          <a:prstGeom prst="arc">
            <a:avLst/>
          </a:prstGeom>
          <a:noFill/>
          <a:ln w="381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BE"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F3A3D0D-F0ED-86B7-D27B-E8660C773DE0}"/>
              </a:ext>
            </a:extLst>
          </p:cNvPr>
          <p:cNvSpPr txBox="1"/>
          <p:nvPr/>
        </p:nvSpPr>
        <p:spPr>
          <a:xfrm>
            <a:off x="5552137" y="2625011"/>
            <a:ext cx="6944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angle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280415830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6C9699-AB74-7C51-97FC-5CBABCA04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E74A7-184C-E194-7AC6-D35DD54C77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55" y="371345"/>
            <a:ext cx="12123575" cy="1325563"/>
          </a:xfrm>
        </p:spPr>
        <p:txBody>
          <a:bodyPr/>
          <a:lstStyle/>
          <a:p>
            <a:r>
              <a:rPr lang="en-US" dirty="0"/>
              <a:t>Unit vectors </a:t>
            </a:r>
            <a:r>
              <a:rPr lang="en-US" dirty="0">
                <a:sym typeface="Wingdings" panose="05000000000000000000" pitchFamily="2" charset="2"/>
              </a:rPr>
              <a:t> just the cosine</a:t>
            </a:r>
            <a:endParaRPr lang="en-BE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4327155C-3D14-F4D4-0A75-23CB3C9C638B}"/>
              </a:ext>
            </a:extLst>
          </p:cNvPr>
          <p:cNvCxnSpPr/>
          <p:nvPr/>
        </p:nvCxnSpPr>
        <p:spPr>
          <a:xfrm>
            <a:off x="547769" y="3471081"/>
            <a:ext cx="2228461" cy="0"/>
          </a:xfrm>
          <a:prstGeom prst="straightConnector1">
            <a:avLst/>
          </a:prstGeom>
          <a:ln w="762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68567D28-2147-0FC7-F55B-128ACACF6847}"/>
              </a:ext>
            </a:extLst>
          </p:cNvPr>
          <p:cNvCxnSpPr/>
          <p:nvPr/>
        </p:nvCxnSpPr>
        <p:spPr>
          <a:xfrm>
            <a:off x="600642" y="3573718"/>
            <a:ext cx="2228461" cy="0"/>
          </a:xfrm>
          <a:prstGeom prst="straightConnector1">
            <a:avLst/>
          </a:prstGeom>
          <a:ln w="762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CB43F11-1101-EE48-2BEA-F480A09B0430}"/>
              </a:ext>
            </a:extLst>
          </p:cNvPr>
          <p:cNvCxnSpPr>
            <a:cxnSpLocks/>
          </p:cNvCxnSpPr>
          <p:nvPr/>
        </p:nvCxnSpPr>
        <p:spPr>
          <a:xfrm>
            <a:off x="7878520" y="3573718"/>
            <a:ext cx="2228461" cy="0"/>
          </a:xfrm>
          <a:prstGeom prst="straightConnector1">
            <a:avLst/>
          </a:prstGeom>
          <a:ln w="762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C9B567F-86F4-992C-3CC5-8D5D12C07907}"/>
              </a:ext>
            </a:extLst>
          </p:cNvPr>
          <p:cNvCxnSpPr>
            <a:cxnSpLocks/>
          </p:cNvCxnSpPr>
          <p:nvPr/>
        </p:nvCxnSpPr>
        <p:spPr>
          <a:xfrm flipH="1">
            <a:off x="5979740" y="3573718"/>
            <a:ext cx="1765041" cy="0"/>
          </a:xfrm>
          <a:prstGeom prst="straightConnector1">
            <a:avLst/>
          </a:prstGeom>
          <a:ln w="762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0F98F25-601D-88BB-8B5F-3507697252E4}"/>
              </a:ext>
            </a:extLst>
          </p:cNvPr>
          <p:cNvCxnSpPr>
            <a:cxnSpLocks/>
          </p:cNvCxnSpPr>
          <p:nvPr/>
        </p:nvCxnSpPr>
        <p:spPr>
          <a:xfrm flipV="1">
            <a:off x="650405" y="4556542"/>
            <a:ext cx="0" cy="1782147"/>
          </a:xfrm>
          <a:prstGeom prst="straightConnector1">
            <a:avLst/>
          </a:prstGeom>
          <a:ln w="762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8A58CA8-2566-5906-39B0-8C61797C8345}"/>
              </a:ext>
            </a:extLst>
          </p:cNvPr>
          <p:cNvCxnSpPr>
            <a:cxnSpLocks/>
          </p:cNvCxnSpPr>
          <p:nvPr/>
        </p:nvCxnSpPr>
        <p:spPr>
          <a:xfrm>
            <a:off x="650405" y="6338689"/>
            <a:ext cx="2228461" cy="0"/>
          </a:xfrm>
          <a:prstGeom prst="straightConnector1">
            <a:avLst/>
          </a:prstGeom>
          <a:ln w="762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29D7EBC-3FE9-129A-CB03-28F334E4EA4A}"/>
              </a:ext>
            </a:extLst>
          </p:cNvPr>
          <p:cNvCxnSpPr>
            <a:cxnSpLocks/>
          </p:cNvCxnSpPr>
          <p:nvPr/>
        </p:nvCxnSpPr>
        <p:spPr>
          <a:xfrm flipV="1">
            <a:off x="6939238" y="4677840"/>
            <a:ext cx="1391817" cy="1455575"/>
          </a:xfrm>
          <a:prstGeom prst="straightConnector1">
            <a:avLst/>
          </a:prstGeom>
          <a:ln w="762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2EC95C9-0E62-206E-C347-CB7ACBEA03B2}"/>
              </a:ext>
            </a:extLst>
          </p:cNvPr>
          <p:cNvCxnSpPr>
            <a:cxnSpLocks/>
          </p:cNvCxnSpPr>
          <p:nvPr/>
        </p:nvCxnSpPr>
        <p:spPr>
          <a:xfrm>
            <a:off x="6992111" y="6236052"/>
            <a:ext cx="2228461" cy="0"/>
          </a:xfrm>
          <a:prstGeom prst="straightConnector1">
            <a:avLst/>
          </a:prstGeom>
          <a:ln w="762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8">
            <a:extLst>
              <a:ext uri="{FF2B5EF4-FFF2-40B4-BE49-F238E27FC236}">
                <a16:creationId xmlns:a16="http://schemas.microsoft.com/office/drawing/2014/main" id="{69B7927F-5E9B-2A54-98F8-E146BD9D0367}"/>
              </a:ext>
            </a:extLst>
          </p:cNvPr>
          <p:cNvSpPr txBox="1"/>
          <p:nvPr/>
        </p:nvSpPr>
        <p:spPr>
          <a:xfrm>
            <a:off x="3454254" y="3360875"/>
            <a:ext cx="1039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nl-B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Dot = 1.0</a:t>
            </a:r>
            <a:endParaRPr lang="en-BE" dirty="0"/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61523E-BE64-444B-A809-FAF6877D2BC0}"/>
              </a:ext>
            </a:extLst>
          </p:cNvPr>
          <p:cNvSpPr txBox="1"/>
          <p:nvPr/>
        </p:nvSpPr>
        <p:spPr>
          <a:xfrm>
            <a:off x="3454253" y="6051386"/>
            <a:ext cx="1039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nl-B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Dot = 0.0</a:t>
            </a:r>
            <a:endParaRPr lang="en-BE" dirty="0"/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D0EFC46B-80F6-78EE-A112-A5ADC63B43C5}"/>
              </a:ext>
            </a:extLst>
          </p:cNvPr>
          <p:cNvSpPr txBox="1"/>
          <p:nvPr/>
        </p:nvSpPr>
        <p:spPr>
          <a:xfrm>
            <a:off x="10240720" y="3389052"/>
            <a:ext cx="11095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nl-B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Dot = -1.0</a:t>
            </a:r>
            <a:endParaRPr lang="en-BE" dirty="0"/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354155E9-9295-6D20-F997-D35D66E624AC}"/>
              </a:ext>
            </a:extLst>
          </p:cNvPr>
          <p:cNvSpPr txBox="1"/>
          <p:nvPr/>
        </p:nvSpPr>
        <p:spPr>
          <a:xfrm>
            <a:off x="10142015" y="6051386"/>
            <a:ext cx="1039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nl-B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Dot = 0.7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76323383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01FC36-C8C3-9BA3-8577-7AD9E10336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Dot product uses: shading </a:t>
            </a:r>
            <a:endParaRPr lang="en-BE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05D0EA0-AC63-C47E-A497-8343B53235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8420" y="2541257"/>
            <a:ext cx="4745587" cy="4062222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4AA3C29-6ADF-A3E8-0D62-20E7E69376F2}"/>
              </a:ext>
            </a:extLst>
          </p:cNvPr>
          <p:cNvCxnSpPr>
            <a:cxnSpLocks/>
          </p:cNvCxnSpPr>
          <p:nvPr/>
        </p:nvCxnSpPr>
        <p:spPr>
          <a:xfrm flipH="1" flipV="1">
            <a:off x="3608420" y="1924174"/>
            <a:ext cx="1517197" cy="1441928"/>
          </a:xfrm>
          <a:prstGeom prst="straightConnector1">
            <a:avLst/>
          </a:prstGeom>
          <a:ln w="76200">
            <a:solidFill>
              <a:srgbClr val="FFFF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831897D7-84CF-CF1F-9379-D0E73504E25D}"/>
              </a:ext>
            </a:extLst>
          </p:cNvPr>
          <p:cNvCxnSpPr>
            <a:cxnSpLocks/>
          </p:cNvCxnSpPr>
          <p:nvPr/>
        </p:nvCxnSpPr>
        <p:spPr>
          <a:xfrm flipV="1">
            <a:off x="7145463" y="2307771"/>
            <a:ext cx="1618861" cy="1334278"/>
          </a:xfrm>
          <a:prstGeom prst="straightConnector1">
            <a:avLst/>
          </a:prstGeom>
          <a:ln w="7620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BA2B819-BC51-AABE-0CEF-8BA978231A3D}"/>
              </a:ext>
            </a:extLst>
          </p:cNvPr>
          <p:cNvCxnSpPr>
            <a:cxnSpLocks/>
          </p:cNvCxnSpPr>
          <p:nvPr/>
        </p:nvCxnSpPr>
        <p:spPr>
          <a:xfrm flipH="1" flipV="1">
            <a:off x="3788229" y="1735494"/>
            <a:ext cx="1511559" cy="1449817"/>
          </a:xfrm>
          <a:prstGeom prst="straightConnector1">
            <a:avLst/>
          </a:prstGeom>
          <a:ln w="7620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17D8359-D049-8A54-286E-3365E1A87CDD}"/>
              </a:ext>
            </a:extLst>
          </p:cNvPr>
          <p:cNvCxnSpPr>
            <a:cxnSpLocks/>
          </p:cNvCxnSpPr>
          <p:nvPr/>
        </p:nvCxnSpPr>
        <p:spPr>
          <a:xfrm flipH="1" flipV="1">
            <a:off x="5610498" y="2202628"/>
            <a:ext cx="1517197" cy="1441928"/>
          </a:xfrm>
          <a:prstGeom prst="straightConnector1">
            <a:avLst/>
          </a:prstGeom>
          <a:ln w="76200">
            <a:solidFill>
              <a:srgbClr val="FFFF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228446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E48649-ADF2-F7E3-220A-EA084FB419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Cross product</a:t>
            </a:r>
            <a:endParaRPr lang="en-BE" dirty="0"/>
          </a:p>
        </p:txBody>
      </p:sp>
      <p:pic>
        <p:nvPicPr>
          <p:cNvPr id="4" name="Picture 3" descr="A hand with a hand raised and a hand with a hand raised&#10;&#10;Description automatically generated">
            <a:extLst>
              <a:ext uri="{FF2B5EF4-FFF2-40B4-BE49-F238E27FC236}">
                <a16:creationId xmlns:a16="http://schemas.microsoft.com/office/drawing/2014/main" id="{A10C9703-CC92-BE02-19C8-AADF003161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8551" y="2541979"/>
            <a:ext cx="7608243" cy="431602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E79C42A-7751-ADD7-C73D-8636A4575A88}"/>
              </a:ext>
            </a:extLst>
          </p:cNvPr>
          <p:cNvSpPr txBox="1"/>
          <p:nvPr/>
        </p:nvSpPr>
        <p:spPr>
          <a:xfrm>
            <a:off x="298579" y="1365826"/>
            <a:ext cx="8459945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Creates a third vector perpendicular to two given vectors</a:t>
            </a:r>
          </a:p>
          <a:p>
            <a:r>
              <a:rPr lang="en-US" sz="2800" dirty="0"/>
              <a:t>Order matters! </a:t>
            </a:r>
            <a:r>
              <a:rPr lang="en-US" sz="2800" dirty="0" err="1"/>
              <a:t>AxB</a:t>
            </a:r>
            <a:r>
              <a:rPr lang="en-US" sz="2800" dirty="0"/>
              <a:t> = -</a:t>
            </a:r>
            <a:r>
              <a:rPr lang="en-US" sz="2800" dirty="0" err="1"/>
              <a:t>BxA</a:t>
            </a:r>
            <a:r>
              <a:rPr lang="en-US" sz="2800" dirty="0"/>
              <a:t> (result is flipped)</a:t>
            </a:r>
          </a:p>
          <a:p>
            <a:r>
              <a:rPr lang="en-US" sz="2800" dirty="0"/>
              <a:t>Length depends on angle, length of A and B</a:t>
            </a:r>
          </a:p>
          <a:p>
            <a:r>
              <a:rPr lang="en-US" sz="2800" dirty="0"/>
              <a:t>Perpendicular A and B, A and B are unit vectors : length 1</a:t>
            </a:r>
            <a:endParaRPr lang="en-BE" sz="2800" dirty="0"/>
          </a:p>
        </p:txBody>
      </p:sp>
    </p:spTree>
    <p:extLst>
      <p:ext uri="{BB962C8B-B14F-4D97-AF65-F5344CB8AC3E}">
        <p14:creationId xmlns:p14="http://schemas.microsoft.com/office/powerpoint/2010/main" val="136295286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5BC7E9-B18A-62B8-D16E-7C2D2F080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Cross product uses : calculate normal </a:t>
            </a:r>
            <a:endParaRPr lang="en-BE" dirty="0"/>
          </a:p>
        </p:txBody>
      </p:sp>
      <p:pic>
        <p:nvPicPr>
          <p:cNvPr id="4" name="Picture 3" descr="A diagram of a triangle with a line and a line&#10;&#10;Description automatically generated">
            <a:extLst>
              <a:ext uri="{FF2B5EF4-FFF2-40B4-BE49-F238E27FC236}">
                <a16:creationId xmlns:a16="http://schemas.microsoft.com/office/drawing/2014/main" id="{6CAFDAB8-B98A-C915-799E-5F9CFAAC52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4427" y="1635968"/>
            <a:ext cx="7862482" cy="51712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412626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B0096-195F-1EC6-EF87-273E1BBB7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2A7B8C-1436-2934-9344-1B13C62D98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class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63D4162-3E7E-B15B-6F6D-B6F1B9C6FDFA}"/>
              </a:ext>
            </a:extLst>
          </p:cNvPr>
          <p:cNvSpPr txBox="1"/>
          <p:nvPr/>
        </p:nvSpPr>
        <p:spPr>
          <a:xfrm>
            <a:off x="958800" y="1690688"/>
            <a:ext cx="4925486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3D coordinates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3D transforms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Why they are important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Dot &amp; Cross product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 </a:t>
            </a:r>
            <a:r>
              <a:rPr lang="en-US" sz="2800" dirty="0"/>
              <a:t>Quaternions</a:t>
            </a:r>
            <a:r>
              <a:rPr lang="en-US" sz="2800" dirty="0">
                <a:sym typeface="Wingdings" panose="05000000000000000000" pitchFamily="2" charset="2"/>
              </a:rPr>
              <a:t></a:t>
            </a: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51902132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EB8820-797B-BF21-94EC-5C4F8BFF3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Quaternion: better rotations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17730E-45BE-98F9-2C60-6D71FD2507E9}"/>
              </a:ext>
            </a:extLst>
          </p:cNvPr>
          <p:cNvSpPr txBox="1"/>
          <p:nvPr/>
        </p:nvSpPr>
        <p:spPr>
          <a:xfrm>
            <a:off x="286139" y="1617306"/>
            <a:ext cx="724499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Used by unity to represent rotations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Based on complex numbers (we treat it as a black box)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Implemented as a Vector4</a:t>
            </a:r>
            <a:endParaRPr lang="en-BE" sz="2400" dirty="0"/>
          </a:p>
        </p:txBody>
      </p:sp>
    </p:spTree>
    <p:extLst>
      <p:ext uri="{BB962C8B-B14F-4D97-AF65-F5344CB8AC3E}">
        <p14:creationId xmlns:p14="http://schemas.microsoft.com/office/powerpoint/2010/main" val="307150371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6FFE33-FDFE-C515-7D4F-76CBD351A6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279F98-F270-FDAD-C48D-03FB69F7C1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Quaternion: advantages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8D9F10-4F1E-42DB-A4B6-7C5B0CFDA61A}"/>
              </a:ext>
            </a:extLst>
          </p:cNvPr>
          <p:cNvSpPr txBox="1"/>
          <p:nvPr/>
        </p:nvSpPr>
        <p:spPr>
          <a:xfrm>
            <a:off x="578497" y="1690688"/>
            <a:ext cx="11203708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Brings us too far</a:t>
            </a:r>
          </a:p>
          <a:p>
            <a:r>
              <a:rPr lang="en-US" sz="2800" dirty="0"/>
              <a:t>Feel free to check </a:t>
            </a:r>
            <a:r>
              <a:rPr lang="en-US" sz="2800" dirty="0">
                <a:hlinkClick r:id="rId2"/>
              </a:rPr>
              <a:t>https://www.youtube.com/watch?v=zjMuIxRvygQ</a:t>
            </a:r>
            <a:endParaRPr lang="en-US" sz="2800" dirty="0"/>
          </a:p>
          <a:p>
            <a:r>
              <a:rPr lang="en-US" sz="2800" dirty="0"/>
              <a:t>TLDW Quaternions do not have some problems separate XYZ rotations have</a:t>
            </a:r>
            <a:endParaRPr lang="en-BE" sz="2800" dirty="0"/>
          </a:p>
        </p:txBody>
      </p:sp>
    </p:spTree>
    <p:extLst>
      <p:ext uri="{BB962C8B-B14F-4D97-AF65-F5344CB8AC3E}">
        <p14:creationId xmlns:p14="http://schemas.microsoft.com/office/powerpoint/2010/main" val="287274598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702F32-3AFD-7465-C083-1E7654DD6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Quaternion : uses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CDD809-D167-9824-580E-D20064D1423B}"/>
              </a:ext>
            </a:extLst>
          </p:cNvPr>
          <p:cNvSpPr txBox="1"/>
          <p:nvPr/>
        </p:nvSpPr>
        <p:spPr>
          <a:xfrm>
            <a:off x="984957" y="1553839"/>
            <a:ext cx="10399001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</a:rPr>
              <a:t>// rotation to bunny</a:t>
            </a:r>
          </a:p>
          <a:p>
            <a:r>
              <a:rPr lang="en-US" sz="1800" i="1" dirty="0">
                <a:solidFill>
                  <a:srgbClr val="0000FF"/>
                </a:solidFill>
                <a:latin typeface="Cascadia Mono" panose="020B0609020000020004" pitchFamily="49" charset="0"/>
              </a:rPr>
              <a:t>Quaternion</a:t>
            </a:r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800" i="0" dirty="0">
                <a:solidFill>
                  <a:srgbClr val="000080"/>
                </a:solidFill>
                <a:latin typeface="Cascadia Mono" panose="020B0609020000020004" pitchFamily="49" charset="0"/>
              </a:rPr>
              <a:t>rotation</a:t>
            </a:r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1800" i="1" dirty="0" err="1">
                <a:solidFill>
                  <a:srgbClr val="0000FF"/>
                </a:solidFill>
                <a:latin typeface="Cascadia Mono" panose="020B0609020000020004" pitchFamily="49" charset="0"/>
              </a:rPr>
              <a:t>Quaternion</a:t>
            </a:r>
            <a:r>
              <a:rPr lang="en-US" sz="1800" i="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</a:t>
            </a:r>
            <a:r>
              <a:rPr lang="en-US" sz="1800" i="1" dirty="0" err="1">
                <a:solidFill>
                  <a:srgbClr val="880000"/>
                </a:solidFill>
                <a:latin typeface="Cascadia Mono" panose="020B0609020000020004" pitchFamily="49" charset="0"/>
              </a:rPr>
              <a:t>LookRotation</a:t>
            </a:r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</a:p>
          <a:p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   	</a:t>
            </a:r>
            <a:r>
              <a:rPr lang="en-US" sz="1800" i="0" dirty="0" err="1">
                <a:solidFill>
                  <a:srgbClr val="000080"/>
                </a:solidFill>
                <a:latin typeface="Cascadia Mono" panose="020B0609020000020004" pitchFamily="49" charset="0"/>
              </a:rPr>
              <a:t>bunnyGameObject</a:t>
            </a:r>
            <a:r>
              <a:rPr lang="en-US" sz="1800" i="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</a:t>
            </a:r>
            <a:r>
              <a:rPr lang="en-US" sz="1800" i="1" dirty="0" err="1">
                <a:solidFill>
                  <a:srgbClr val="000080"/>
                </a:solidFill>
                <a:latin typeface="Cascadia Mono" panose="020B0609020000020004" pitchFamily="49" charset="0"/>
              </a:rPr>
              <a:t>transform</a:t>
            </a:r>
            <a:r>
              <a:rPr lang="en-US" sz="1800" i="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</a:t>
            </a:r>
            <a:r>
              <a:rPr lang="en-US" sz="1800" i="1" dirty="0" err="1">
                <a:solidFill>
                  <a:srgbClr val="000080"/>
                </a:solidFill>
                <a:latin typeface="Cascadia Mono" panose="020B0609020000020004" pitchFamily="49" charset="0"/>
              </a:rPr>
              <a:t>position</a:t>
            </a:r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- </a:t>
            </a:r>
            <a:r>
              <a:rPr lang="en-US" sz="1800" i="0" dirty="0" err="1">
                <a:solidFill>
                  <a:srgbClr val="000080"/>
                </a:solidFill>
                <a:latin typeface="Cascadia Mono" panose="020B0609020000020004" pitchFamily="49" charset="0"/>
              </a:rPr>
              <a:t>transform</a:t>
            </a:r>
            <a:r>
              <a:rPr lang="en-US" sz="1800" i="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</a:t>
            </a:r>
            <a:r>
              <a:rPr lang="en-US" sz="1800" i="1" dirty="0" err="1">
                <a:solidFill>
                  <a:srgbClr val="000080"/>
                </a:solidFill>
                <a:latin typeface="Cascadia Mono" panose="020B0609020000020004" pitchFamily="49" charset="0"/>
              </a:rPr>
              <a:t>position</a:t>
            </a:r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en-US" sz="1800" i="1" dirty="0">
                <a:solidFill>
                  <a:srgbClr val="0000FF"/>
                </a:solidFill>
                <a:latin typeface="Cascadia Mono" panose="020B0609020000020004" pitchFamily="49" charset="0"/>
              </a:rPr>
              <a:t>Vector3</a:t>
            </a:r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.</a:t>
            </a:r>
            <a:r>
              <a:rPr lang="en-US" sz="1800" i="1" dirty="0">
                <a:solidFill>
                  <a:srgbClr val="880000"/>
                </a:solidFill>
                <a:latin typeface="Cascadia Mono" panose="020B0609020000020004" pitchFamily="49" charset="0"/>
              </a:rPr>
              <a:t>up</a:t>
            </a:r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endParaRPr lang="en-US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91E5CC-0866-257A-BE3F-819562A7C4FD}"/>
              </a:ext>
            </a:extLst>
          </p:cNvPr>
          <p:cNvSpPr txBox="1"/>
          <p:nvPr/>
        </p:nvSpPr>
        <p:spPr>
          <a:xfrm>
            <a:off x="391886" y="3706982"/>
            <a:ext cx="966803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1"/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</a:rPr>
              <a:t>// rotate around up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pPr lvl="1"/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i="1" dirty="0">
                <a:solidFill>
                  <a:srgbClr val="0000FF"/>
                </a:solidFill>
                <a:latin typeface="Cascadia Mono" panose="020B0609020000020004" pitchFamily="49" charset="0"/>
              </a:rPr>
              <a:t>Quaternion</a:t>
            </a:r>
            <a:r>
              <a:rPr lang="en-US" i="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i="0" dirty="0">
                <a:solidFill>
                  <a:srgbClr val="000080"/>
                </a:solidFill>
                <a:latin typeface="Cascadia Mono" panose="020B0609020000020004" pitchFamily="49" charset="0"/>
              </a:rPr>
              <a:t>rotation</a:t>
            </a:r>
            <a:r>
              <a:rPr lang="en-US" i="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i="1" dirty="0" err="1">
                <a:solidFill>
                  <a:srgbClr val="0000FF"/>
                </a:solidFill>
                <a:latin typeface="Cascadia Mono" panose="020B0609020000020004" pitchFamily="49" charset="0"/>
              </a:rPr>
              <a:t>Quaternion</a:t>
            </a:r>
            <a:r>
              <a:rPr lang="en-US" i="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</a:t>
            </a:r>
            <a:r>
              <a:rPr lang="en-US" i="1" dirty="0" err="1">
                <a:solidFill>
                  <a:srgbClr val="880000"/>
                </a:solidFill>
                <a:latin typeface="Cascadia Mono" panose="020B0609020000020004" pitchFamily="49" charset="0"/>
              </a:rPr>
              <a:t>AngleAxis</a:t>
            </a:r>
            <a:r>
              <a:rPr lang="en-US" i="0" dirty="0">
                <a:solidFill>
                  <a:srgbClr val="000000"/>
                </a:solidFill>
                <a:latin typeface="Cascadia Mono" panose="020B0609020000020004" pitchFamily="49" charset="0"/>
              </a:rPr>
              <a:t>(30, </a:t>
            </a:r>
            <a:r>
              <a:rPr lang="en-US" i="1" dirty="0">
                <a:solidFill>
                  <a:srgbClr val="0000FF"/>
                </a:solidFill>
                <a:latin typeface="Cascadia Mono" panose="020B0609020000020004" pitchFamily="49" charset="0"/>
              </a:rPr>
              <a:t>Vector3</a:t>
            </a:r>
            <a:r>
              <a:rPr lang="en-US" i="0" dirty="0">
                <a:solidFill>
                  <a:srgbClr val="000000"/>
                </a:solidFill>
                <a:latin typeface="Cascadia Mono" panose="020B0609020000020004" pitchFamily="49" charset="0"/>
              </a:rPr>
              <a:t>.</a:t>
            </a:r>
            <a:r>
              <a:rPr lang="en-US" i="1" dirty="0">
                <a:solidFill>
                  <a:srgbClr val="880000"/>
                </a:solidFill>
                <a:latin typeface="Cascadia Mono" panose="020B0609020000020004" pitchFamily="49" charset="0"/>
              </a:rPr>
              <a:t>up</a:t>
            </a:r>
            <a:r>
              <a:rPr lang="en-US" i="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endParaRPr lang="en-BE" dirty="0"/>
          </a:p>
          <a:p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98585382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D009A1-50C6-D89A-A7AD-8A280DB723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872CEE4-CFA6-3993-A498-428414F86FD8}"/>
              </a:ext>
            </a:extLst>
          </p:cNvPr>
          <p:cNvSpPr txBox="1"/>
          <p:nvPr/>
        </p:nvSpPr>
        <p:spPr>
          <a:xfrm>
            <a:off x="281908" y="1922106"/>
            <a:ext cx="11628183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Transformations move positions and directions between spaces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Unity transform is relative to the parent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We can use Matrix4x4 to transform between any 2 spaces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A dot product gives us a measure of similarity between 2 vectors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A cross product construct a vector perpendicular to 2 other vectors</a:t>
            </a:r>
            <a:endParaRPr lang="en-BE" sz="3200" dirty="0"/>
          </a:p>
        </p:txBody>
      </p:sp>
    </p:spTree>
    <p:extLst>
      <p:ext uri="{BB962C8B-B14F-4D97-AF65-F5344CB8AC3E}">
        <p14:creationId xmlns:p14="http://schemas.microsoft.com/office/powerpoint/2010/main" val="57856582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BCFE4D-097A-AA8E-A705-26D3A281E1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After class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3502D7-2DE9-CE2C-1FE0-023C72DAEF92}"/>
              </a:ext>
            </a:extLst>
          </p:cNvPr>
          <p:cNvSpPr txBox="1"/>
          <p:nvPr/>
        </p:nvSpPr>
        <p:spPr>
          <a:xfrm>
            <a:off x="1088571" y="2413518"/>
            <a:ext cx="10714536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Will post external content going over these topics</a:t>
            </a:r>
            <a:br>
              <a:rPr lang="en-US" sz="2400" dirty="0"/>
            </a:b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Will post project specifics. </a:t>
            </a:r>
            <a:br>
              <a:rPr lang="en-US" sz="2400" dirty="0"/>
            </a:br>
            <a:r>
              <a:rPr lang="en-US" sz="2400" dirty="0"/>
              <a:t>You’ll make a unity project with a flat plane</a:t>
            </a:r>
            <a:br>
              <a:rPr lang="en-US" sz="2400" dirty="0"/>
            </a:br>
            <a:r>
              <a:rPr lang="en-US" sz="2400" dirty="0"/>
              <a:t>Add controls to control a cube in 1</a:t>
            </a:r>
            <a:r>
              <a:rPr lang="en-US" sz="2400" baseline="30000" dirty="0"/>
              <a:t>st</a:t>
            </a:r>
            <a:r>
              <a:rPr lang="en-US" sz="2400" dirty="0"/>
              <a:t> and 2</a:t>
            </a:r>
            <a:r>
              <a:rPr lang="en-US" sz="2400" baseline="30000" dirty="0"/>
              <a:t>nd</a:t>
            </a:r>
            <a:r>
              <a:rPr lang="en-US" sz="2400" dirty="0"/>
              <a:t> person</a:t>
            </a:r>
            <a:br>
              <a:rPr lang="en-US" sz="2400" dirty="0"/>
            </a:br>
            <a:r>
              <a:rPr lang="en-US" sz="2400" dirty="0"/>
              <a:t>Bonus: build a character out of cubes and make it  move like a Minecraft character</a:t>
            </a:r>
            <a:endParaRPr lang="en-BE" sz="2400" dirty="0"/>
          </a:p>
        </p:txBody>
      </p:sp>
    </p:spTree>
    <p:extLst>
      <p:ext uri="{BB962C8B-B14F-4D97-AF65-F5344CB8AC3E}">
        <p14:creationId xmlns:p14="http://schemas.microsoft.com/office/powerpoint/2010/main" val="50029116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08C6C-E8D4-50C6-A81F-020D33D88A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Class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8087C50-5436-CFD7-05CD-B098D5AEE61A}"/>
              </a:ext>
            </a:extLst>
          </p:cNvPr>
          <p:cNvSpPr txBox="1"/>
          <p:nvPr/>
        </p:nvSpPr>
        <p:spPr>
          <a:xfrm>
            <a:off x="771331" y="1946988"/>
            <a:ext cx="622080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Going to look at geometry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You’re getting your hands dirty making chunks</a:t>
            </a:r>
            <a:endParaRPr lang="en-BE" sz="2400" dirty="0"/>
          </a:p>
        </p:txBody>
      </p:sp>
    </p:spTree>
    <p:extLst>
      <p:ext uri="{BB962C8B-B14F-4D97-AF65-F5344CB8AC3E}">
        <p14:creationId xmlns:p14="http://schemas.microsoft.com/office/powerpoint/2010/main" val="383420721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e1" id="{6849F4D6-1FB7-4CEB-8CC6-E456C34ADDA4}" vid="{0A04E370-2E7A-4A97-A218-FEC8E52F4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slides_theme</Template>
  <TotalTime>20193</TotalTime>
  <Words>2313</Words>
  <Application>Microsoft Office PowerPoint</Application>
  <PresentationFormat>Widescreen</PresentationFormat>
  <Paragraphs>418</Paragraphs>
  <Slides>74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74</vt:i4>
      </vt:variant>
    </vt:vector>
  </HeadingPairs>
  <TitlesOfParts>
    <vt:vector size="82" baseType="lpstr">
      <vt:lpstr>Arial</vt:lpstr>
      <vt:lpstr>Calibri</vt:lpstr>
      <vt:lpstr>Calibri Light</vt:lpstr>
      <vt:lpstr>Cascadia Mono</vt:lpstr>
      <vt:lpstr>Courier New</vt:lpstr>
      <vt:lpstr>Tahoma</vt:lpstr>
      <vt:lpstr>Wingdings</vt:lpstr>
      <vt:lpstr>Kantoorthema</vt:lpstr>
      <vt:lpstr>PowerPoint Presentation</vt:lpstr>
      <vt:lpstr>Last class</vt:lpstr>
      <vt:lpstr>Course schedule</vt:lpstr>
      <vt:lpstr>This class</vt:lpstr>
      <vt:lpstr>Unity external architecture</vt:lpstr>
      <vt:lpstr>Unity internal architecture : Scene</vt:lpstr>
      <vt:lpstr>GameObjects are containers of Components</vt:lpstr>
      <vt:lpstr>Why do it this way? </vt:lpstr>
      <vt:lpstr>Unity internal architecture</vt:lpstr>
      <vt:lpstr>Script Components</vt:lpstr>
      <vt:lpstr>This class</vt:lpstr>
      <vt:lpstr>Coordinate system</vt:lpstr>
      <vt:lpstr>Did you succeed?</vt:lpstr>
      <vt:lpstr>Y is up</vt:lpstr>
      <vt:lpstr>It’s a mess out there</vt:lpstr>
      <vt:lpstr>Vectors</vt:lpstr>
      <vt:lpstr>Unity</vt:lpstr>
      <vt:lpstr>Each element of a vector is called a component</vt:lpstr>
      <vt:lpstr>Positions</vt:lpstr>
      <vt:lpstr>Origin</vt:lpstr>
      <vt:lpstr>We can do calculations with vectors</vt:lpstr>
      <vt:lpstr>Addition</vt:lpstr>
      <vt:lpstr>Addition</vt:lpstr>
      <vt:lpstr>Addition is communicative </vt:lpstr>
      <vt:lpstr>Subtraction</vt:lpstr>
      <vt:lpstr>Multiplication / division</vt:lpstr>
      <vt:lpstr>Multiplication / division changes length</vt:lpstr>
      <vt:lpstr>We can subtract / divide vectors</vt:lpstr>
      <vt:lpstr>Normalization</vt:lpstr>
      <vt:lpstr>Special and import case : normalization</vt:lpstr>
      <vt:lpstr>TransformComponent has a vector for position</vt:lpstr>
      <vt:lpstr>Rotations are stored as Vectors too</vt:lpstr>
      <vt:lpstr>Framerate independence</vt:lpstr>
      <vt:lpstr>Say we translate 1 cm each frame</vt:lpstr>
      <vt:lpstr>Solution: multiply by frame duration</vt:lpstr>
      <vt:lpstr>Unity</vt:lpstr>
      <vt:lpstr>This class</vt:lpstr>
      <vt:lpstr>So, why did we learn all of this?</vt:lpstr>
      <vt:lpstr>Transform.position</vt:lpstr>
      <vt:lpstr>Transform.translate()</vt:lpstr>
      <vt:lpstr>Transform.rotation</vt:lpstr>
      <vt:lpstr>Transform.scale</vt:lpstr>
      <vt:lpstr>What are your questions?</vt:lpstr>
      <vt:lpstr>Transforms are represented by a Matrix</vt:lpstr>
      <vt:lpstr>Let’s learn about space(s)</vt:lpstr>
      <vt:lpstr>Example</vt:lpstr>
      <vt:lpstr>Camera is looking down +X</vt:lpstr>
      <vt:lpstr>We move the camera up (+Y) by one unit</vt:lpstr>
      <vt:lpstr>The bunny moved down</vt:lpstr>
      <vt:lpstr>Rendering is done from a camera’s point of view</vt:lpstr>
      <vt:lpstr>The camera has it’s own coordinate space</vt:lpstr>
      <vt:lpstr>The bunny has it’s own coordinate space</vt:lpstr>
      <vt:lpstr>These all exist at the same time</vt:lpstr>
      <vt:lpstr>We can transform point between spaces with  transforms</vt:lpstr>
      <vt:lpstr>Warning! Use different methods for directions</vt:lpstr>
      <vt:lpstr>It’s a big hierarchy</vt:lpstr>
      <vt:lpstr>Cool things we can do</vt:lpstr>
      <vt:lpstr>Does that make sense?</vt:lpstr>
      <vt:lpstr>This class</vt:lpstr>
      <vt:lpstr>This is how we position  object in front of the camera </vt:lpstr>
      <vt:lpstr>This is how we position  object in front of the camera </vt:lpstr>
      <vt:lpstr>This class</vt:lpstr>
      <vt:lpstr>Dot product</vt:lpstr>
      <vt:lpstr>Unit vectors  just the cosine</vt:lpstr>
      <vt:lpstr>Dot product uses: shading </vt:lpstr>
      <vt:lpstr>Cross product</vt:lpstr>
      <vt:lpstr>Cross product uses : calculate normal </vt:lpstr>
      <vt:lpstr>This class</vt:lpstr>
      <vt:lpstr>Quaternion: better rotations</vt:lpstr>
      <vt:lpstr>Quaternion: advantages</vt:lpstr>
      <vt:lpstr>Quaternion : uses</vt:lpstr>
      <vt:lpstr>Recap</vt:lpstr>
      <vt:lpstr>After class</vt:lpstr>
      <vt:lpstr>Next Class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Daan Nijs</dc:creator>
  <cp:lastModifiedBy>Nijs, Daan (246888)</cp:lastModifiedBy>
  <cp:revision>51</cp:revision>
  <dcterms:created xsi:type="dcterms:W3CDTF">2024-01-29T23:06:06Z</dcterms:created>
  <dcterms:modified xsi:type="dcterms:W3CDTF">2025-02-19T13:10:34Z</dcterms:modified>
</cp:coreProperties>
</file>