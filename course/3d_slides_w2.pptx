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6"/>
  </p:notesMasterIdLst>
  <p:sldIdLst>
    <p:sldId id="256" r:id="rId2"/>
    <p:sldId id="362" r:id="rId3"/>
    <p:sldId id="338" r:id="rId4"/>
    <p:sldId id="258" r:id="rId5"/>
    <p:sldId id="341" r:id="rId6"/>
    <p:sldId id="342" r:id="rId7"/>
    <p:sldId id="343" r:id="rId8"/>
    <p:sldId id="345" r:id="rId9"/>
    <p:sldId id="422" r:id="rId10"/>
    <p:sldId id="423" r:id="rId11"/>
    <p:sldId id="428" r:id="rId12"/>
    <p:sldId id="348" r:id="rId13"/>
    <p:sldId id="349" r:id="rId14"/>
    <p:sldId id="350" r:id="rId15"/>
    <p:sldId id="351" r:id="rId16"/>
    <p:sldId id="352" r:id="rId17"/>
    <p:sldId id="430" r:id="rId18"/>
    <p:sldId id="355" r:id="rId19"/>
    <p:sldId id="353" r:id="rId20"/>
    <p:sldId id="429" r:id="rId21"/>
    <p:sldId id="371" r:id="rId22"/>
    <p:sldId id="373" r:id="rId23"/>
    <p:sldId id="411" r:id="rId24"/>
    <p:sldId id="374" r:id="rId25"/>
    <p:sldId id="375" r:id="rId26"/>
    <p:sldId id="376" r:id="rId27"/>
    <p:sldId id="412" r:id="rId28"/>
    <p:sldId id="357" r:id="rId29"/>
    <p:sldId id="377" r:id="rId30"/>
    <p:sldId id="358" r:id="rId31"/>
    <p:sldId id="359" r:id="rId32"/>
    <p:sldId id="360" r:id="rId33"/>
    <p:sldId id="425" r:id="rId34"/>
    <p:sldId id="426" r:id="rId35"/>
    <p:sldId id="427" r:id="rId36"/>
    <p:sldId id="370" r:id="rId37"/>
    <p:sldId id="378" r:id="rId38"/>
    <p:sldId id="379" r:id="rId39"/>
    <p:sldId id="383" r:id="rId40"/>
    <p:sldId id="384" r:id="rId41"/>
    <p:sldId id="385" r:id="rId42"/>
    <p:sldId id="386" r:id="rId43"/>
    <p:sldId id="419" r:id="rId44"/>
    <p:sldId id="389" r:id="rId45"/>
    <p:sldId id="387" r:id="rId46"/>
    <p:sldId id="388" r:id="rId47"/>
    <p:sldId id="390" r:id="rId48"/>
    <p:sldId id="391" r:id="rId49"/>
    <p:sldId id="392" r:id="rId50"/>
    <p:sldId id="393" r:id="rId51"/>
    <p:sldId id="394" r:id="rId52"/>
    <p:sldId id="395" r:id="rId53"/>
    <p:sldId id="396" r:id="rId54"/>
    <p:sldId id="397" r:id="rId55"/>
    <p:sldId id="415" r:id="rId56"/>
    <p:sldId id="398" r:id="rId57"/>
    <p:sldId id="399" r:id="rId58"/>
    <p:sldId id="421" r:id="rId59"/>
    <p:sldId id="400" r:id="rId60"/>
    <p:sldId id="402" r:id="rId61"/>
    <p:sldId id="401" r:id="rId62"/>
    <p:sldId id="403" r:id="rId63"/>
    <p:sldId id="405" r:id="rId64"/>
    <p:sldId id="406" r:id="rId65"/>
    <p:sldId id="408" r:id="rId66"/>
    <p:sldId id="407" r:id="rId67"/>
    <p:sldId id="409" r:id="rId68"/>
    <p:sldId id="414" r:id="rId69"/>
    <p:sldId id="416" r:id="rId70"/>
    <p:sldId id="417" r:id="rId71"/>
    <p:sldId id="418" r:id="rId72"/>
    <p:sldId id="260" r:id="rId73"/>
    <p:sldId id="431" r:id="rId74"/>
    <p:sldId id="410" r:id="rId75"/>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79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18010" autoAdjust="0"/>
    <p:restoredTop sz="94660"/>
  </p:normalViewPr>
  <p:slideViewPr>
    <p:cSldViewPr snapToGrid="0">
      <p:cViewPr varScale="1">
        <p:scale>
          <a:sx n="154" d="100"/>
          <a:sy n="154" d="100"/>
        </p:scale>
        <p:origin x="174" y="390"/>
      </p:cViewPr>
      <p:guideLst/>
    </p:cSldViewPr>
  </p:slideViewPr>
  <p:notesTextViewPr>
    <p:cViewPr>
      <p:scale>
        <a:sx n="1" d="1"/>
        <a:sy n="1" d="1"/>
      </p:scale>
      <p:origin x="0" y="0"/>
    </p:cViewPr>
  </p:notesTextViewPr>
  <p:notesViewPr>
    <p:cSldViewPr snapToGrid="0">
      <p:cViewPr varScale="1">
        <p:scale>
          <a:sx n="125" d="100"/>
          <a:sy n="125" d="100"/>
        </p:scale>
        <p:origin x="4716"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84BD-A9A3-4CBB-88D6-39267B7F5B46}" type="datetimeFigureOut">
              <a:rPr lang="en-BE" smtClean="0"/>
              <a:t>30/05/2025</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7F9D2B-EF00-4575-9013-113DEEFD58FD}" type="slidenum">
              <a:rPr lang="en-BE" smtClean="0"/>
              <a:t>‹#›</a:t>
            </a:fld>
            <a:endParaRPr lang="en-BE"/>
          </a:p>
        </p:txBody>
      </p:sp>
    </p:spTree>
    <p:extLst>
      <p:ext uri="{BB962C8B-B14F-4D97-AF65-F5344CB8AC3E}">
        <p14:creationId xmlns:p14="http://schemas.microsoft.com/office/powerpoint/2010/main" val="3208350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a:t>
            </a:fld>
            <a:endParaRPr lang="en-BE"/>
          </a:p>
        </p:txBody>
      </p:sp>
    </p:spTree>
    <p:extLst>
      <p:ext uri="{BB962C8B-B14F-4D97-AF65-F5344CB8AC3E}">
        <p14:creationId xmlns:p14="http://schemas.microsoft.com/office/powerpoint/2010/main" val="1069113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a:t>
            </a:fld>
            <a:endParaRPr lang="en-BE"/>
          </a:p>
        </p:txBody>
      </p:sp>
    </p:spTree>
    <p:extLst>
      <p:ext uri="{BB962C8B-B14F-4D97-AF65-F5344CB8AC3E}">
        <p14:creationId xmlns:p14="http://schemas.microsoft.com/office/powerpoint/2010/main" val="3021621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a:t>
            </a:fld>
            <a:endParaRPr lang="en-BE"/>
          </a:p>
        </p:txBody>
      </p:sp>
    </p:spTree>
    <p:extLst>
      <p:ext uri="{BB962C8B-B14F-4D97-AF65-F5344CB8AC3E}">
        <p14:creationId xmlns:p14="http://schemas.microsoft.com/office/powerpoint/2010/main" val="2026906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a:t>
            </a:fld>
            <a:endParaRPr lang="en-BE"/>
          </a:p>
        </p:txBody>
      </p:sp>
    </p:spTree>
    <p:extLst>
      <p:ext uri="{BB962C8B-B14F-4D97-AF65-F5344CB8AC3E}">
        <p14:creationId xmlns:p14="http://schemas.microsoft.com/office/powerpoint/2010/main" val="667314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Unity can be seen as  big monolithic library, wrapping many other libraries one. </a:t>
            </a:r>
          </a:p>
          <a:p>
            <a:endParaRPr lang="en-US" dirty="0"/>
          </a:p>
          <a:p>
            <a:r>
              <a:rPr lang="en-US" dirty="0"/>
              <a:t>The big one would be the graphic </a:t>
            </a:r>
            <a:r>
              <a:rPr lang="en-US" dirty="0" err="1"/>
              <a:t>api’s</a:t>
            </a:r>
            <a:r>
              <a:rPr lang="en-US" dirty="0"/>
              <a:t> DirectX (from Microsoft), Vulkan (</a:t>
            </a:r>
            <a:r>
              <a:rPr lang="en-US" dirty="0" err="1"/>
              <a:t>crossplatform</a:t>
            </a:r>
            <a:r>
              <a:rPr lang="en-US" dirty="0"/>
              <a:t>), OpenGL (deprecated cross platform). These API’s provide access to the graphics card (or GPU), and allow us to actually draw stuff.</a:t>
            </a:r>
          </a:p>
          <a:p>
            <a:endParaRPr lang="en-US" dirty="0"/>
          </a:p>
          <a:p>
            <a:r>
              <a:rPr lang="en-US" dirty="0"/>
              <a:t>Other libraries we can access through Unity are the OS libraries (</a:t>
            </a:r>
            <a:r>
              <a:rPr lang="en-US" dirty="0" err="1"/>
              <a:t>eg</a:t>
            </a:r>
            <a:r>
              <a:rPr lang="en-US" dirty="0"/>
              <a:t> creating files), physics and sound libraries…</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5</a:t>
            </a:fld>
            <a:endParaRPr lang="en-BE"/>
          </a:p>
        </p:txBody>
      </p:sp>
    </p:spTree>
    <p:extLst>
      <p:ext uri="{BB962C8B-B14F-4D97-AF65-F5344CB8AC3E}">
        <p14:creationId xmlns:p14="http://schemas.microsoft.com/office/powerpoint/2010/main" val="1282844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6</a:t>
            </a:fld>
            <a:endParaRPr lang="en-BE"/>
          </a:p>
        </p:txBody>
      </p:sp>
    </p:spTree>
    <p:extLst>
      <p:ext uri="{BB962C8B-B14F-4D97-AF65-F5344CB8AC3E}">
        <p14:creationId xmlns:p14="http://schemas.microsoft.com/office/powerpoint/2010/main" val="4164748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7</a:t>
            </a:fld>
            <a:endParaRPr lang="en-BE"/>
          </a:p>
        </p:txBody>
      </p:sp>
    </p:spTree>
    <p:extLst>
      <p:ext uri="{BB962C8B-B14F-4D97-AF65-F5344CB8AC3E}">
        <p14:creationId xmlns:p14="http://schemas.microsoft.com/office/powerpoint/2010/main" val="4722548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can ‘cobble together’ entities in your </a:t>
            </a:r>
            <a:r>
              <a:rPr lang="en-US" dirty="0" err="1"/>
              <a:t>gameworld</a:t>
            </a:r>
            <a:endParaRPr lang="en-US" dirty="0"/>
          </a:p>
          <a:p>
            <a:endParaRPr lang="en-US" dirty="0"/>
          </a:p>
          <a:p>
            <a:r>
              <a:rPr lang="en-US" dirty="0"/>
              <a:t>These entities often don’t fit well in strict hierarchies you would get in an inheritance pyramid. History has shows that having components is a good way to balance flexibility with reuse</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8</a:t>
            </a:fld>
            <a:endParaRPr lang="en-BE"/>
          </a:p>
        </p:txBody>
      </p:sp>
    </p:spTree>
    <p:extLst>
      <p:ext uri="{BB962C8B-B14F-4D97-AF65-F5344CB8AC3E}">
        <p14:creationId xmlns:p14="http://schemas.microsoft.com/office/powerpoint/2010/main" val="3738526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saw in </a:t>
            </a:r>
            <a:r>
              <a:rPr lang="en-US" dirty="0" err="1"/>
              <a:t>pygame</a:t>
            </a:r>
            <a:r>
              <a:rPr lang="en-US" dirty="0"/>
              <a:t>, games always have the same basic execution:</a:t>
            </a:r>
          </a:p>
          <a:p>
            <a:endParaRPr lang="en-US" dirty="0"/>
          </a:p>
          <a:p>
            <a:r>
              <a:rPr lang="en-US" dirty="0"/>
              <a:t>Initialize everything one</a:t>
            </a:r>
            <a:br>
              <a:rPr lang="en-US" dirty="0"/>
            </a:br>
            <a:r>
              <a:rPr lang="en-US" dirty="0"/>
              <a:t>while forever:</a:t>
            </a:r>
            <a:br>
              <a:rPr lang="en-US" dirty="0"/>
            </a:br>
            <a:r>
              <a:rPr lang="en-US" dirty="0"/>
              <a:t>	update everything (</a:t>
            </a:r>
            <a:r>
              <a:rPr lang="en-US" dirty="0" err="1"/>
              <a:t>eg</a:t>
            </a:r>
            <a:r>
              <a:rPr lang="en-US" dirty="0"/>
              <a:t> input, positions)</a:t>
            </a:r>
          </a:p>
          <a:p>
            <a:r>
              <a:rPr lang="en-US" dirty="0"/>
              <a:t>	render</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9</a:t>
            </a:fld>
            <a:endParaRPr lang="en-BE"/>
          </a:p>
        </p:txBody>
      </p:sp>
    </p:spTree>
    <p:extLst>
      <p:ext uri="{BB962C8B-B14F-4D97-AF65-F5344CB8AC3E}">
        <p14:creationId xmlns:p14="http://schemas.microsoft.com/office/powerpoint/2010/main" val="2009299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slides just clarifies unity </a:t>
            </a:r>
            <a:r>
              <a:rPr lang="en-US" dirty="0" err="1"/>
              <a:t>terminogy</a:t>
            </a:r>
            <a:endParaRPr lang="en-US" dirty="0"/>
          </a:p>
          <a:p>
            <a:r>
              <a:rPr lang="en-US" dirty="0"/>
              <a:t>A ScriptComponent is a component that exists out of code, and is where you’ll spend most of your time</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10</a:t>
            </a:fld>
            <a:endParaRPr lang="en-BE"/>
          </a:p>
        </p:txBody>
      </p:sp>
    </p:spTree>
    <p:extLst>
      <p:ext uri="{BB962C8B-B14F-4D97-AF65-F5344CB8AC3E}">
        <p14:creationId xmlns:p14="http://schemas.microsoft.com/office/powerpoint/2010/main" val="2872917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11</a:t>
            </a:fld>
            <a:endParaRPr lang="en-BE"/>
          </a:p>
        </p:txBody>
      </p:sp>
    </p:spTree>
    <p:extLst>
      <p:ext uri="{BB962C8B-B14F-4D97-AF65-F5344CB8AC3E}">
        <p14:creationId xmlns:p14="http://schemas.microsoft.com/office/powerpoint/2010/main" val="22132254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the instructions, it’s not a joke</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12</a:t>
            </a:fld>
            <a:endParaRPr lang="en-BE"/>
          </a:p>
        </p:txBody>
      </p:sp>
    </p:spTree>
    <p:extLst>
      <p:ext uri="{BB962C8B-B14F-4D97-AF65-F5344CB8AC3E}">
        <p14:creationId xmlns:p14="http://schemas.microsoft.com/office/powerpoint/2010/main" val="1816645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no joke, I still spend a lot of time looking at my hand. This is going to come back in a big way when we see the cross product</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13</a:t>
            </a:fld>
            <a:endParaRPr lang="en-BE"/>
          </a:p>
        </p:txBody>
      </p:sp>
    </p:spTree>
    <p:extLst>
      <p:ext uri="{BB962C8B-B14F-4D97-AF65-F5344CB8AC3E}">
        <p14:creationId xmlns:p14="http://schemas.microsoft.com/office/powerpoint/2010/main" val="40130565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14</a:t>
            </a:fld>
            <a:endParaRPr lang="en-BE"/>
          </a:p>
        </p:txBody>
      </p:sp>
    </p:spTree>
    <p:extLst>
      <p:ext uri="{BB962C8B-B14F-4D97-AF65-F5344CB8AC3E}">
        <p14:creationId xmlns:p14="http://schemas.microsoft.com/office/powerpoint/2010/main" val="3390787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end, you can’t get around understanding the coordinate system. Stuff will always go wrong, and other stuff we will see still need you to understand this.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15</a:t>
            </a:fld>
            <a:endParaRPr lang="en-BE"/>
          </a:p>
        </p:txBody>
      </p:sp>
    </p:spTree>
    <p:extLst>
      <p:ext uri="{BB962C8B-B14F-4D97-AF65-F5344CB8AC3E}">
        <p14:creationId xmlns:p14="http://schemas.microsoft.com/office/powerpoint/2010/main" val="17505215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means is, a vector(</a:t>
            </a:r>
            <a:r>
              <a:rPr lang="en-US" dirty="0" err="1"/>
              <a:t>x,y,z</a:t>
            </a:r>
            <a:r>
              <a:rPr lang="en-US" dirty="0"/>
              <a:t>) is an arrow starting at (0,0,0) and going to (</a:t>
            </a:r>
            <a:r>
              <a:rPr lang="en-US" dirty="0" err="1"/>
              <a:t>x,y,z</a:t>
            </a:r>
            <a:r>
              <a:rPr lang="en-US" dirty="0"/>
              <a:t>)</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16</a:t>
            </a:fld>
            <a:endParaRPr lang="en-BE"/>
          </a:p>
        </p:txBody>
      </p:sp>
    </p:spTree>
    <p:extLst>
      <p:ext uri="{BB962C8B-B14F-4D97-AF65-F5344CB8AC3E}">
        <p14:creationId xmlns:p14="http://schemas.microsoft.com/office/powerpoint/2010/main" val="3734428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17</a:t>
            </a:fld>
            <a:endParaRPr lang="en-BE"/>
          </a:p>
        </p:txBody>
      </p:sp>
    </p:spTree>
    <p:extLst>
      <p:ext uri="{BB962C8B-B14F-4D97-AF65-F5344CB8AC3E}">
        <p14:creationId xmlns:p14="http://schemas.microsoft.com/office/powerpoint/2010/main" val="2443874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important because the names x, y, and z won’t always makes sense</a:t>
            </a:r>
          </a:p>
          <a:p>
            <a:endParaRPr lang="en-US" dirty="0"/>
          </a:p>
          <a:p>
            <a:r>
              <a:rPr lang="en-US" dirty="0"/>
              <a:t>For example, we will often use a Vec3 to store colors in </a:t>
            </a:r>
            <a:r>
              <a:rPr lang="en-US" dirty="0" err="1"/>
              <a:t>rgb</a:t>
            </a:r>
            <a:r>
              <a:rPr lang="en-US" dirty="0"/>
              <a:t>. X then refers to the amount of red in the color, and we access it using ‘.x’</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18</a:t>
            </a:fld>
            <a:endParaRPr lang="en-BE"/>
          </a:p>
        </p:txBody>
      </p:sp>
    </p:spTree>
    <p:extLst>
      <p:ext uri="{BB962C8B-B14F-4D97-AF65-F5344CB8AC3E}">
        <p14:creationId xmlns:p14="http://schemas.microsoft.com/office/powerpoint/2010/main" val="3138728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put it here, because I will inevitably use this terminology, often wrongly. I’ll try and give you the right idea, but I will never subtract any grades if you use the wrong term.</a:t>
            </a:r>
          </a:p>
          <a:p>
            <a:endParaRPr lang="en-US" dirty="0"/>
          </a:p>
          <a:p>
            <a:r>
              <a:rPr lang="en-US" dirty="0"/>
              <a:t>Wrong but quick : points are just vectors</a:t>
            </a:r>
          </a:p>
          <a:p>
            <a:endParaRPr lang="en-US" dirty="0"/>
          </a:p>
          <a:p>
            <a:r>
              <a:rPr lang="en-US" dirty="0"/>
              <a:t>Correct but long:</a:t>
            </a:r>
          </a:p>
          <a:p>
            <a:endParaRPr lang="en-US" dirty="0"/>
          </a:p>
          <a:p>
            <a:r>
              <a:rPr lang="en-US" dirty="0"/>
              <a:t>A vector is an “offset”. An offset is a *change*. Examples would be: one meter left of, 5 minutes driving north, halfway towards brussels</a:t>
            </a:r>
          </a:p>
          <a:p>
            <a:endParaRPr lang="en-US" dirty="0"/>
          </a:p>
          <a:p>
            <a:r>
              <a:rPr lang="en-US" dirty="0"/>
              <a:t>A point is a “position”. For example, the GPS coordinates of a city Leuven (</a:t>
            </a:r>
            <a:r>
              <a:rPr lang="en-BE" dirty="0"/>
              <a:t>50.8775, 4.70444</a:t>
            </a:r>
            <a:r>
              <a:rPr lang="en-US" dirty="0"/>
              <a:t>)</a:t>
            </a:r>
          </a:p>
          <a:p>
            <a:endParaRPr lang="en-US" dirty="0"/>
          </a:p>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19</a:t>
            </a:fld>
            <a:endParaRPr lang="en-BE"/>
          </a:p>
        </p:txBody>
      </p:sp>
    </p:spTree>
    <p:extLst>
      <p:ext uri="{BB962C8B-B14F-4D97-AF65-F5344CB8AC3E}">
        <p14:creationId xmlns:p14="http://schemas.microsoft.com/office/powerpoint/2010/main" val="41394422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20</a:t>
            </a:fld>
            <a:endParaRPr lang="en-BE"/>
          </a:p>
        </p:txBody>
      </p:sp>
    </p:spTree>
    <p:extLst>
      <p:ext uri="{BB962C8B-B14F-4D97-AF65-F5344CB8AC3E}">
        <p14:creationId xmlns:p14="http://schemas.microsoft.com/office/powerpoint/2010/main" val="10345046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math works out the same anyway.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21</a:t>
            </a:fld>
            <a:endParaRPr lang="en-BE"/>
          </a:p>
        </p:txBody>
      </p:sp>
    </p:spTree>
    <p:extLst>
      <p:ext uri="{BB962C8B-B14F-4D97-AF65-F5344CB8AC3E}">
        <p14:creationId xmlns:p14="http://schemas.microsoft.com/office/powerpoint/2010/main" val="21447387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Visually, we can start the second vector from the end point of the first, and where the second vector ends, is our sum.</a:t>
            </a:r>
          </a:p>
          <a:p>
            <a:endParaRPr lang="en-US" dirty="0"/>
          </a:p>
          <a:p>
            <a:r>
              <a:rPr lang="en-US" dirty="0"/>
              <a:t>In words : 5km north (5,0)  + 2km east (0,2) = (5,2) 5km north and 2km east</a:t>
            </a:r>
          </a:p>
          <a:p>
            <a:endParaRPr lang="en-US" dirty="0"/>
          </a:p>
          <a:p>
            <a:endParaRPr lang="en-US" dirty="0"/>
          </a:p>
        </p:txBody>
      </p:sp>
      <p:sp>
        <p:nvSpPr>
          <p:cNvPr id="4" name="Slide Number Placeholder 3"/>
          <p:cNvSpPr>
            <a:spLocks noGrp="1"/>
          </p:cNvSpPr>
          <p:nvPr>
            <p:ph type="sldNum" sz="quarter" idx="5"/>
          </p:nvPr>
        </p:nvSpPr>
        <p:spPr/>
        <p:txBody>
          <a:bodyPr/>
          <a:lstStyle/>
          <a:p>
            <a:fld id="{947F9D2B-EF00-4575-9013-113DEEFD58FD}" type="slidenum">
              <a:rPr lang="en-BE" smtClean="0"/>
              <a:t>22</a:t>
            </a:fld>
            <a:endParaRPr lang="en-BE"/>
          </a:p>
        </p:txBody>
      </p:sp>
    </p:spTree>
    <p:extLst>
      <p:ext uri="{BB962C8B-B14F-4D97-AF65-F5344CB8AC3E}">
        <p14:creationId xmlns:p14="http://schemas.microsoft.com/office/powerpoint/2010/main" val="31382598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23</a:t>
            </a:fld>
            <a:endParaRPr lang="en-BE"/>
          </a:p>
        </p:txBody>
      </p:sp>
    </p:spTree>
    <p:extLst>
      <p:ext uri="{BB962C8B-B14F-4D97-AF65-F5344CB8AC3E}">
        <p14:creationId xmlns:p14="http://schemas.microsoft.com/office/powerpoint/2010/main" val="31048801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24</a:t>
            </a:fld>
            <a:endParaRPr lang="en-BE"/>
          </a:p>
        </p:txBody>
      </p:sp>
    </p:spTree>
    <p:extLst>
      <p:ext uri="{BB962C8B-B14F-4D97-AF65-F5344CB8AC3E}">
        <p14:creationId xmlns:p14="http://schemas.microsoft.com/office/powerpoint/2010/main" val="1493713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lot is happening in this image</a:t>
            </a:r>
          </a:p>
          <a:p>
            <a:endParaRPr lang="en-US" dirty="0"/>
          </a:p>
          <a:p>
            <a:r>
              <a:rPr lang="en-US" dirty="0"/>
              <a:t>We can negate (make negative) any vector my moving the arrow to the other end. We’ve done this with B, making -B. </a:t>
            </a:r>
          </a:p>
          <a:p>
            <a:endParaRPr lang="en-US" dirty="0"/>
          </a:p>
          <a:p>
            <a:r>
              <a:rPr lang="en-US" dirty="0"/>
              <a:t>Now we can do A+ (-B), which we know how to do</a:t>
            </a:r>
          </a:p>
          <a:p>
            <a:endParaRPr lang="en-US" dirty="0"/>
          </a:p>
          <a:p>
            <a:r>
              <a:rPr lang="en-US" dirty="0"/>
              <a:t>This is just visually, the numbers do exactly what you expect.</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25</a:t>
            </a:fld>
            <a:endParaRPr lang="en-BE"/>
          </a:p>
        </p:txBody>
      </p:sp>
    </p:spTree>
    <p:extLst>
      <p:ext uri="{BB962C8B-B14F-4D97-AF65-F5344CB8AC3E}">
        <p14:creationId xmlns:p14="http://schemas.microsoft.com/office/powerpoint/2010/main" val="34601058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meaningfully, I mean for a good reason.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26</a:t>
            </a:fld>
            <a:endParaRPr lang="en-BE"/>
          </a:p>
        </p:txBody>
      </p:sp>
    </p:spTree>
    <p:extLst>
      <p:ext uri="{BB962C8B-B14F-4D97-AF65-F5344CB8AC3E}">
        <p14:creationId xmlns:p14="http://schemas.microsoft.com/office/powerpoint/2010/main" val="76772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27</a:t>
            </a:fld>
            <a:endParaRPr lang="en-BE"/>
          </a:p>
        </p:txBody>
      </p:sp>
    </p:spTree>
    <p:extLst>
      <p:ext uri="{BB962C8B-B14F-4D97-AF65-F5344CB8AC3E}">
        <p14:creationId xmlns:p14="http://schemas.microsoft.com/office/powerpoint/2010/main" val="31362347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28</a:t>
            </a:fld>
            <a:endParaRPr lang="en-BE"/>
          </a:p>
        </p:txBody>
      </p:sp>
    </p:spTree>
    <p:extLst>
      <p:ext uri="{BB962C8B-B14F-4D97-AF65-F5344CB8AC3E}">
        <p14:creationId xmlns:p14="http://schemas.microsoft.com/office/powerpoint/2010/main" val="19459112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29</a:t>
            </a:fld>
            <a:endParaRPr lang="en-BE"/>
          </a:p>
        </p:txBody>
      </p:sp>
    </p:spTree>
    <p:extLst>
      <p:ext uri="{BB962C8B-B14F-4D97-AF65-F5344CB8AC3E}">
        <p14:creationId xmlns:p14="http://schemas.microsoft.com/office/powerpoint/2010/main" val="39506154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really important, and will come back all the time</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30</a:t>
            </a:fld>
            <a:endParaRPr lang="en-BE"/>
          </a:p>
        </p:txBody>
      </p:sp>
    </p:spTree>
    <p:extLst>
      <p:ext uri="{BB962C8B-B14F-4D97-AF65-F5344CB8AC3E}">
        <p14:creationId xmlns:p14="http://schemas.microsoft.com/office/powerpoint/2010/main" val="32627780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TransformComponent</a:t>
            </a:r>
            <a:r>
              <a:rPr lang="en-US" dirty="0"/>
              <a:t> is unique, as every </a:t>
            </a:r>
            <a:r>
              <a:rPr lang="en-US" dirty="0" err="1"/>
              <a:t>GameObjec</a:t>
            </a:r>
            <a:r>
              <a:rPr lang="en-US" dirty="0"/>
              <a:t> has exactly one</a:t>
            </a:r>
          </a:p>
        </p:txBody>
      </p:sp>
      <p:sp>
        <p:nvSpPr>
          <p:cNvPr id="4" name="Slide Number Placeholder 3"/>
          <p:cNvSpPr>
            <a:spLocks noGrp="1"/>
          </p:cNvSpPr>
          <p:nvPr>
            <p:ph type="sldNum" sz="quarter" idx="5"/>
          </p:nvPr>
        </p:nvSpPr>
        <p:spPr/>
        <p:txBody>
          <a:bodyPr/>
          <a:lstStyle/>
          <a:p>
            <a:fld id="{947F9D2B-EF00-4575-9013-113DEEFD58FD}" type="slidenum">
              <a:rPr lang="en-BE" smtClean="0"/>
              <a:t>31</a:t>
            </a:fld>
            <a:endParaRPr lang="en-BE"/>
          </a:p>
        </p:txBody>
      </p:sp>
    </p:spTree>
    <p:extLst>
      <p:ext uri="{BB962C8B-B14F-4D97-AF65-F5344CB8AC3E}">
        <p14:creationId xmlns:p14="http://schemas.microsoft.com/office/powerpoint/2010/main" val="23255617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 imagine you head rotating op and down as if nodding “yes”. What line are you rotating around? The one between your ears, X</a:t>
            </a:r>
          </a:p>
          <a:p>
            <a:r>
              <a:rPr lang="en-US" dirty="0"/>
              <a:t>Yaw = imagine your head rotating side to side, as if saying “no” What line are you rotating around? The one from the top of your head to the ground between your feet, Y</a:t>
            </a:r>
          </a:p>
          <a:p>
            <a:r>
              <a:rPr lang="en-US" dirty="0"/>
              <a:t>Roll = turn your head around your nose, moving the horizon. What line are you rotating around? The same one as if you were pointing straight forward, Z</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32</a:t>
            </a:fld>
            <a:endParaRPr lang="en-BE"/>
          </a:p>
        </p:txBody>
      </p:sp>
    </p:spTree>
    <p:extLst>
      <p:ext uri="{BB962C8B-B14F-4D97-AF65-F5344CB8AC3E}">
        <p14:creationId xmlns:p14="http://schemas.microsoft.com/office/powerpoint/2010/main" val="29568925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33</a:t>
            </a:fld>
            <a:endParaRPr lang="en-BE"/>
          </a:p>
        </p:txBody>
      </p:sp>
    </p:spTree>
    <p:extLst>
      <p:ext uri="{BB962C8B-B14F-4D97-AF65-F5344CB8AC3E}">
        <p14:creationId xmlns:p14="http://schemas.microsoft.com/office/powerpoint/2010/main" val="15527811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34</a:t>
            </a:fld>
            <a:endParaRPr lang="en-BE"/>
          </a:p>
        </p:txBody>
      </p:sp>
    </p:spTree>
    <p:extLst>
      <p:ext uri="{BB962C8B-B14F-4D97-AF65-F5344CB8AC3E}">
        <p14:creationId xmlns:p14="http://schemas.microsoft.com/office/powerpoint/2010/main" val="9484054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35</a:t>
            </a:fld>
            <a:endParaRPr lang="en-BE"/>
          </a:p>
        </p:txBody>
      </p:sp>
    </p:spTree>
    <p:extLst>
      <p:ext uri="{BB962C8B-B14F-4D97-AF65-F5344CB8AC3E}">
        <p14:creationId xmlns:p14="http://schemas.microsoft.com/office/powerpoint/2010/main" val="23320658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36</a:t>
            </a:fld>
            <a:endParaRPr lang="en-BE"/>
          </a:p>
        </p:txBody>
      </p:sp>
    </p:spTree>
    <p:extLst>
      <p:ext uri="{BB962C8B-B14F-4D97-AF65-F5344CB8AC3E}">
        <p14:creationId xmlns:p14="http://schemas.microsoft.com/office/powerpoint/2010/main" val="17263374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37</a:t>
            </a:fld>
            <a:endParaRPr lang="en-BE"/>
          </a:p>
        </p:txBody>
      </p:sp>
    </p:spTree>
    <p:extLst>
      <p:ext uri="{BB962C8B-B14F-4D97-AF65-F5344CB8AC3E}">
        <p14:creationId xmlns:p14="http://schemas.microsoft.com/office/powerpoint/2010/main" val="12477227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38</a:t>
            </a:fld>
            <a:endParaRPr lang="en-BE"/>
          </a:p>
        </p:txBody>
      </p:sp>
    </p:spTree>
    <p:extLst>
      <p:ext uri="{BB962C8B-B14F-4D97-AF65-F5344CB8AC3E}">
        <p14:creationId xmlns:p14="http://schemas.microsoft.com/office/powerpoint/2010/main" val="5901651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39</a:t>
            </a:fld>
            <a:endParaRPr lang="en-BE"/>
          </a:p>
        </p:txBody>
      </p:sp>
    </p:spTree>
    <p:extLst>
      <p:ext uri="{BB962C8B-B14F-4D97-AF65-F5344CB8AC3E}">
        <p14:creationId xmlns:p14="http://schemas.microsoft.com/office/powerpoint/2010/main" val="41226390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40</a:t>
            </a:fld>
            <a:endParaRPr lang="en-BE"/>
          </a:p>
        </p:txBody>
      </p:sp>
    </p:spTree>
    <p:extLst>
      <p:ext uri="{BB962C8B-B14F-4D97-AF65-F5344CB8AC3E}">
        <p14:creationId xmlns:p14="http://schemas.microsoft.com/office/powerpoint/2010/main" val="23844524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41</a:t>
            </a:fld>
            <a:endParaRPr lang="en-BE"/>
          </a:p>
        </p:txBody>
      </p:sp>
    </p:spTree>
    <p:extLst>
      <p:ext uri="{BB962C8B-B14F-4D97-AF65-F5344CB8AC3E}">
        <p14:creationId xmlns:p14="http://schemas.microsoft.com/office/powerpoint/2010/main" val="9325717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42</a:t>
            </a:fld>
            <a:endParaRPr lang="en-BE"/>
          </a:p>
        </p:txBody>
      </p:sp>
    </p:spTree>
    <p:extLst>
      <p:ext uri="{BB962C8B-B14F-4D97-AF65-F5344CB8AC3E}">
        <p14:creationId xmlns:p14="http://schemas.microsoft.com/office/powerpoint/2010/main" val="26189018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43</a:t>
            </a:fld>
            <a:endParaRPr lang="en-BE"/>
          </a:p>
        </p:txBody>
      </p:sp>
    </p:spTree>
    <p:extLst>
      <p:ext uri="{BB962C8B-B14F-4D97-AF65-F5344CB8AC3E}">
        <p14:creationId xmlns:p14="http://schemas.microsoft.com/office/powerpoint/2010/main" val="8007318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44</a:t>
            </a:fld>
            <a:endParaRPr lang="en-BE"/>
          </a:p>
        </p:txBody>
      </p:sp>
    </p:spTree>
    <p:extLst>
      <p:ext uri="{BB962C8B-B14F-4D97-AF65-F5344CB8AC3E}">
        <p14:creationId xmlns:p14="http://schemas.microsoft.com/office/powerpoint/2010/main" val="303324228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45</a:t>
            </a:fld>
            <a:endParaRPr lang="en-BE"/>
          </a:p>
        </p:txBody>
      </p:sp>
    </p:spTree>
    <p:extLst>
      <p:ext uri="{BB962C8B-B14F-4D97-AF65-F5344CB8AC3E}">
        <p14:creationId xmlns:p14="http://schemas.microsoft.com/office/powerpoint/2010/main" val="41252388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46</a:t>
            </a:fld>
            <a:endParaRPr lang="en-BE"/>
          </a:p>
        </p:txBody>
      </p:sp>
    </p:spTree>
    <p:extLst>
      <p:ext uri="{BB962C8B-B14F-4D97-AF65-F5344CB8AC3E}">
        <p14:creationId xmlns:p14="http://schemas.microsoft.com/office/powerpoint/2010/main" val="6234131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47</a:t>
            </a:fld>
            <a:endParaRPr lang="en-BE"/>
          </a:p>
        </p:txBody>
      </p:sp>
    </p:spTree>
    <p:extLst>
      <p:ext uri="{BB962C8B-B14F-4D97-AF65-F5344CB8AC3E}">
        <p14:creationId xmlns:p14="http://schemas.microsoft.com/office/powerpoint/2010/main" val="3553286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48</a:t>
            </a:fld>
            <a:endParaRPr lang="en-BE"/>
          </a:p>
        </p:txBody>
      </p:sp>
    </p:spTree>
    <p:extLst>
      <p:ext uri="{BB962C8B-B14F-4D97-AF65-F5344CB8AC3E}">
        <p14:creationId xmlns:p14="http://schemas.microsoft.com/office/powerpoint/2010/main" val="26500611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49</a:t>
            </a:fld>
            <a:endParaRPr lang="en-BE"/>
          </a:p>
        </p:txBody>
      </p:sp>
    </p:spTree>
    <p:extLst>
      <p:ext uri="{BB962C8B-B14F-4D97-AF65-F5344CB8AC3E}">
        <p14:creationId xmlns:p14="http://schemas.microsoft.com/office/powerpoint/2010/main" val="28843855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50</a:t>
            </a:fld>
            <a:endParaRPr lang="en-BE"/>
          </a:p>
        </p:txBody>
      </p:sp>
    </p:spTree>
    <p:extLst>
      <p:ext uri="{BB962C8B-B14F-4D97-AF65-F5344CB8AC3E}">
        <p14:creationId xmlns:p14="http://schemas.microsoft.com/office/powerpoint/2010/main" val="4988283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51</a:t>
            </a:fld>
            <a:endParaRPr lang="en-BE"/>
          </a:p>
        </p:txBody>
      </p:sp>
    </p:spTree>
    <p:extLst>
      <p:ext uri="{BB962C8B-B14F-4D97-AF65-F5344CB8AC3E}">
        <p14:creationId xmlns:p14="http://schemas.microsoft.com/office/powerpoint/2010/main" val="403431558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52</a:t>
            </a:fld>
            <a:endParaRPr lang="en-BE"/>
          </a:p>
        </p:txBody>
      </p:sp>
    </p:spTree>
    <p:extLst>
      <p:ext uri="{BB962C8B-B14F-4D97-AF65-F5344CB8AC3E}">
        <p14:creationId xmlns:p14="http://schemas.microsoft.com/office/powerpoint/2010/main" val="313453567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53</a:t>
            </a:fld>
            <a:endParaRPr lang="en-BE"/>
          </a:p>
        </p:txBody>
      </p:sp>
    </p:spTree>
    <p:extLst>
      <p:ext uri="{BB962C8B-B14F-4D97-AF65-F5344CB8AC3E}">
        <p14:creationId xmlns:p14="http://schemas.microsoft.com/office/powerpoint/2010/main" val="346580459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54</a:t>
            </a:fld>
            <a:endParaRPr lang="en-BE"/>
          </a:p>
        </p:txBody>
      </p:sp>
    </p:spTree>
    <p:extLst>
      <p:ext uri="{BB962C8B-B14F-4D97-AF65-F5344CB8AC3E}">
        <p14:creationId xmlns:p14="http://schemas.microsoft.com/office/powerpoint/2010/main" val="41209721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55</a:t>
            </a:fld>
            <a:endParaRPr lang="en-BE"/>
          </a:p>
        </p:txBody>
      </p:sp>
    </p:spTree>
    <p:extLst>
      <p:ext uri="{BB962C8B-B14F-4D97-AF65-F5344CB8AC3E}">
        <p14:creationId xmlns:p14="http://schemas.microsoft.com/office/powerpoint/2010/main" val="14226838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56</a:t>
            </a:fld>
            <a:endParaRPr lang="en-BE"/>
          </a:p>
        </p:txBody>
      </p:sp>
    </p:spTree>
    <p:extLst>
      <p:ext uri="{BB962C8B-B14F-4D97-AF65-F5344CB8AC3E}">
        <p14:creationId xmlns:p14="http://schemas.microsoft.com/office/powerpoint/2010/main" val="39781793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57</a:t>
            </a:fld>
            <a:endParaRPr lang="en-BE"/>
          </a:p>
        </p:txBody>
      </p:sp>
    </p:spTree>
    <p:extLst>
      <p:ext uri="{BB962C8B-B14F-4D97-AF65-F5344CB8AC3E}">
        <p14:creationId xmlns:p14="http://schemas.microsoft.com/office/powerpoint/2010/main" val="18808573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58</a:t>
            </a:fld>
            <a:endParaRPr lang="en-BE"/>
          </a:p>
        </p:txBody>
      </p:sp>
    </p:spTree>
    <p:extLst>
      <p:ext uri="{BB962C8B-B14F-4D97-AF65-F5344CB8AC3E}">
        <p14:creationId xmlns:p14="http://schemas.microsoft.com/office/powerpoint/2010/main" val="8958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59</a:t>
            </a:fld>
            <a:endParaRPr lang="en-BE"/>
          </a:p>
        </p:txBody>
      </p:sp>
    </p:spTree>
    <p:extLst>
      <p:ext uri="{BB962C8B-B14F-4D97-AF65-F5344CB8AC3E}">
        <p14:creationId xmlns:p14="http://schemas.microsoft.com/office/powerpoint/2010/main" val="39808420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60</a:t>
            </a:fld>
            <a:endParaRPr lang="en-BE"/>
          </a:p>
        </p:txBody>
      </p:sp>
    </p:spTree>
    <p:extLst>
      <p:ext uri="{BB962C8B-B14F-4D97-AF65-F5344CB8AC3E}">
        <p14:creationId xmlns:p14="http://schemas.microsoft.com/office/powerpoint/2010/main" val="34427708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61</a:t>
            </a:fld>
            <a:endParaRPr lang="en-BE"/>
          </a:p>
        </p:txBody>
      </p:sp>
    </p:spTree>
    <p:extLst>
      <p:ext uri="{BB962C8B-B14F-4D97-AF65-F5344CB8AC3E}">
        <p14:creationId xmlns:p14="http://schemas.microsoft.com/office/powerpoint/2010/main" val="67073962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62</a:t>
            </a:fld>
            <a:endParaRPr lang="en-BE"/>
          </a:p>
        </p:txBody>
      </p:sp>
    </p:spTree>
    <p:extLst>
      <p:ext uri="{BB962C8B-B14F-4D97-AF65-F5344CB8AC3E}">
        <p14:creationId xmlns:p14="http://schemas.microsoft.com/office/powerpoint/2010/main" val="204417994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to know the definition the definitions, only that it computes a degree of closeness.</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63</a:t>
            </a:fld>
            <a:endParaRPr lang="en-BE"/>
          </a:p>
        </p:txBody>
      </p:sp>
    </p:spTree>
    <p:extLst>
      <p:ext uri="{BB962C8B-B14F-4D97-AF65-F5344CB8AC3E}">
        <p14:creationId xmlns:p14="http://schemas.microsoft.com/office/powerpoint/2010/main" val="13216474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vector == length one</a:t>
            </a:r>
          </a:p>
          <a:p>
            <a:r>
              <a:rPr lang="en-US" dirty="0"/>
              <a:t>If we have 2 unit vectors (I also call them directions), the result of the dot product will always be between -1 and 1 where 1 is that both vectors are identical.</a:t>
            </a:r>
          </a:p>
        </p:txBody>
      </p:sp>
      <p:sp>
        <p:nvSpPr>
          <p:cNvPr id="4" name="Slide Number Placeholder 3"/>
          <p:cNvSpPr>
            <a:spLocks noGrp="1"/>
          </p:cNvSpPr>
          <p:nvPr>
            <p:ph type="sldNum" sz="quarter" idx="5"/>
          </p:nvPr>
        </p:nvSpPr>
        <p:spPr/>
        <p:txBody>
          <a:bodyPr/>
          <a:lstStyle/>
          <a:p>
            <a:fld id="{947F9D2B-EF00-4575-9013-113DEEFD58FD}" type="slidenum">
              <a:rPr lang="en-BE" smtClean="0"/>
              <a:t>64</a:t>
            </a:fld>
            <a:endParaRPr lang="en-BE"/>
          </a:p>
        </p:txBody>
      </p:sp>
    </p:spTree>
    <p:extLst>
      <p:ext uri="{BB962C8B-B14F-4D97-AF65-F5344CB8AC3E}">
        <p14:creationId xmlns:p14="http://schemas.microsoft.com/office/powerpoint/2010/main" val="266491115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first class? We can use the dot product between the normal and the direction of the light to create a very simple appearance of a lit (light falls on it) surface</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65</a:t>
            </a:fld>
            <a:endParaRPr lang="en-BE"/>
          </a:p>
        </p:txBody>
      </p:sp>
    </p:spTree>
    <p:extLst>
      <p:ext uri="{BB962C8B-B14F-4D97-AF65-F5344CB8AC3E}">
        <p14:creationId xmlns:p14="http://schemas.microsoft.com/office/powerpoint/2010/main" val="389458376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actually never find myself caring about the length of the </a:t>
            </a:r>
            <a:r>
              <a:rPr lang="en-US" dirty="0" err="1"/>
              <a:t>crossproduct</a:t>
            </a:r>
            <a:r>
              <a:rPr lang="en-US" dirty="0"/>
              <a:t>, so I’m in the habit of normalizing it. You should too.</a:t>
            </a:r>
          </a:p>
        </p:txBody>
      </p:sp>
      <p:sp>
        <p:nvSpPr>
          <p:cNvPr id="4" name="Slide Number Placeholder 3"/>
          <p:cNvSpPr>
            <a:spLocks noGrp="1"/>
          </p:cNvSpPr>
          <p:nvPr>
            <p:ph type="sldNum" sz="quarter" idx="5"/>
          </p:nvPr>
        </p:nvSpPr>
        <p:spPr/>
        <p:txBody>
          <a:bodyPr/>
          <a:lstStyle/>
          <a:p>
            <a:fld id="{947F9D2B-EF00-4575-9013-113DEEFD58FD}" type="slidenum">
              <a:rPr lang="en-BE" smtClean="0"/>
              <a:t>66</a:t>
            </a:fld>
            <a:endParaRPr lang="en-BE"/>
          </a:p>
        </p:txBody>
      </p:sp>
    </p:spTree>
    <p:extLst>
      <p:ext uri="{BB962C8B-B14F-4D97-AF65-F5344CB8AC3E}">
        <p14:creationId xmlns:p14="http://schemas.microsoft.com/office/powerpoint/2010/main" val="356299103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idea is to construct two vectors: one vector from C to B (B-C), and one vector from C to A (A-C)</a:t>
            </a:r>
          </a:p>
          <a:p>
            <a:r>
              <a:rPr lang="en-US" dirty="0"/>
              <a:t>These gives you the inputs of the cross product: </a:t>
            </a:r>
          </a:p>
          <a:p>
            <a:endParaRPr lang="en-US" dirty="0"/>
          </a:p>
          <a:p>
            <a:r>
              <a:rPr lang="en-US" dirty="0"/>
              <a:t>Especially in this </a:t>
            </a:r>
            <a:r>
              <a:rPr lang="en-US" dirty="0" err="1"/>
              <a:t>usecase</a:t>
            </a:r>
            <a:r>
              <a:rPr lang="en-US" dirty="0"/>
              <a:t> you have to normalize the result of your </a:t>
            </a:r>
            <a:r>
              <a:rPr lang="en-US" dirty="0" err="1"/>
              <a:t>crossproduct</a:t>
            </a:r>
            <a:r>
              <a:rPr lang="en-US" dirty="0"/>
              <a:t>, as normal are always length 1</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67</a:t>
            </a:fld>
            <a:endParaRPr lang="en-BE"/>
          </a:p>
        </p:txBody>
      </p:sp>
    </p:spTree>
    <p:extLst>
      <p:ext uri="{BB962C8B-B14F-4D97-AF65-F5344CB8AC3E}">
        <p14:creationId xmlns:p14="http://schemas.microsoft.com/office/powerpoint/2010/main" val="206301517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68</a:t>
            </a:fld>
            <a:endParaRPr lang="en-BE"/>
          </a:p>
        </p:txBody>
      </p:sp>
    </p:spTree>
    <p:extLst>
      <p:ext uri="{BB962C8B-B14F-4D97-AF65-F5344CB8AC3E}">
        <p14:creationId xmlns:p14="http://schemas.microsoft.com/office/powerpoint/2010/main" val="252497158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69</a:t>
            </a:fld>
            <a:endParaRPr lang="en-BE"/>
          </a:p>
        </p:txBody>
      </p:sp>
    </p:spTree>
    <p:extLst>
      <p:ext uri="{BB962C8B-B14F-4D97-AF65-F5344CB8AC3E}">
        <p14:creationId xmlns:p14="http://schemas.microsoft.com/office/powerpoint/2010/main" val="23582253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70</a:t>
            </a:fld>
            <a:endParaRPr lang="en-BE"/>
          </a:p>
        </p:txBody>
      </p:sp>
    </p:spTree>
    <p:extLst>
      <p:ext uri="{BB962C8B-B14F-4D97-AF65-F5344CB8AC3E}">
        <p14:creationId xmlns:p14="http://schemas.microsoft.com/office/powerpoint/2010/main" val="18512111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71</a:t>
            </a:fld>
            <a:endParaRPr lang="en-BE"/>
          </a:p>
        </p:txBody>
      </p:sp>
    </p:spTree>
    <p:extLst>
      <p:ext uri="{BB962C8B-B14F-4D97-AF65-F5344CB8AC3E}">
        <p14:creationId xmlns:p14="http://schemas.microsoft.com/office/powerpoint/2010/main" val="43623132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72</a:t>
            </a:fld>
            <a:endParaRPr lang="en-BE"/>
          </a:p>
        </p:txBody>
      </p:sp>
    </p:spTree>
    <p:extLst>
      <p:ext uri="{BB962C8B-B14F-4D97-AF65-F5344CB8AC3E}">
        <p14:creationId xmlns:p14="http://schemas.microsoft.com/office/powerpoint/2010/main" val="338283526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73</a:t>
            </a:fld>
            <a:endParaRPr lang="en-BE"/>
          </a:p>
        </p:txBody>
      </p:sp>
    </p:spTree>
    <p:extLst>
      <p:ext uri="{BB962C8B-B14F-4D97-AF65-F5344CB8AC3E}">
        <p14:creationId xmlns:p14="http://schemas.microsoft.com/office/powerpoint/2010/main" val="14695648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74</a:t>
            </a:fld>
            <a:endParaRPr lang="en-BE"/>
          </a:p>
        </p:txBody>
      </p:sp>
    </p:spTree>
    <p:extLst>
      <p:ext uri="{BB962C8B-B14F-4D97-AF65-F5344CB8AC3E}">
        <p14:creationId xmlns:p14="http://schemas.microsoft.com/office/powerpoint/2010/main" val="5618832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41A99A4F-35CE-47F0-8C3E-203AE0949DAD}"/>
              </a:ext>
            </a:extLst>
          </p:cNvPr>
          <p:cNvPicPr>
            <a:picLocks noChangeAspect="1" noChangeArrowheads="1"/>
          </p:cNvPicPr>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8666640" y="203420"/>
            <a:ext cx="3297850" cy="1261472"/>
          </a:xfrm>
          <a:prstGeom prst="rect">
            <a:avLst/>
          </a:prstGeom>
          <a:noFill/>
          <a:extLst>
            <a:ext uri="{909E8E84-426E-40DD-AFC4-6F175D3DCCD1}">
              <a14:hiddenFill xmlns:a14="http://schemas.microsoft.com/office/drawing/2010/main">
                <a:solidFill>
                  <a:srgbClr val="FFFFFF"/>
                </a:solidFill>
              </a14:hiddenFill>
            </a:ext>
          </a:extLst>
        </p:spPr>
      </p:pic>
      <p:sp>
        <p:nvSpPr>
          <p:cNvPr id="26" name="Ondertitel 2">
            <a:extLst>
              <a:ext uri="{FF2B5EF4-FFF2-40B4-BE49-F238E27FC236}">
                <a16:creationId xmlns:a16="http://schemas.microsoft.com/office/drawing/2014/main" id="{7A68A714-4E45-4A04-B828-B282FA62E7BB}"/>
              </a:ext>
            </a:extLst>
          </p:cNvPr>
          <p:cNvSpPr txBox="1">
            <a:spLocks/>
          </p:cNvSpPr>
          <p:nvPr/>
        </p:nvSpPr>
        <p:spPr>
          <a:xfrm>
            <a:off x="1450282" y="5343926"/>
            <a:ext cx="4074659" cy="554767"/>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dirty="0"/>
          </a:p>
        </p:txBody>
      </p:sp>
      <p:sp>
        <p:nvSpPr>
          <p:cNvPr id="28" name="Ondertitel 2">
            <a:extLst>
              <a:ext uri="{FF2B5EF4-FFF2-40B4-BE49-F238E27FC236}">
                <a16:creationId xmlns:a16="http://schemas.microsoft.com/office/drawing/2014/main" id="{8A446F7F-F106-4612-85BC-FC020C0B34DC}"/>
              </a:ext>
            </a:extLst>
          </p:cNvPr>
          <p:cNvSpPr txBox="1">
            <a:spLocks/>
          </p:cNvSpPr>
          <p:nvPr/>
        </p:nvSpPr>
        <p:spPr>
          <a:xfrm>
            <a:off x="1450282" y="5898693"/>
            <a:ext cx="4074659" cy="554767"/>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dirty="0"/>
          </a:p>
        </p:txBody>
      </p:sp>
      <p:sp>
        <p:nvSpPr>
          <p:cNvPr id="36" name="Ondertitel 2">
            <a:extLst>
              <a:ext uri="{FF2B5EF4-FFF2-40B4-BE49-F238E27FC236}">
                <a16:creationId xmlns:a16="http://schemas.microsoft.com/office/drawing/2014/main" id="{DB1150AE-9B1F-43AF-B4A6-C1581C0B3127}"/>
              </a:ext>
            </a:extLst>
          </p:cNvPr>
          <p:cNvSpPr txBox="1">
            <a:spLocks/>
          </p:cNvSpPr>
          <p:nvPr/>
        </p:nvSpPr>
        <p:spPr>
          <a:xfrm>
            <a:off x="1" y="462498"/>
            <a:ext cx="1853738"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nl-NL" sz="1200" dirty="0"/>
              <a:t>Toegepaste Informatica</a:t>
            </a:r>
          </a:p>
        </p:txBody>
      </p:sp>
      <p:sp>
        <p:nvSpPr>
          <p:cNvPr id="38" name="Minteken 37">
            <a:extLst>
              <a:ext uri="{FF2B5EF4-FFF2-40B4-BE49-F238E27FC236}">
                <a16:creationId xmlns:a16="http://schemas.microsoft.com/office/drawing/2014/main" id="{FFEC5E01-43EA-497E-BCC0-939DBCAFA0AC}"/>
              </a:ext>
            </a:extLst>
          </p:cNvPr>
          <p:cNvSpPr/>
          <p:nvPr/>
        </p:nvSpPr>
        <p:spPr>
          <a:xfrm rot="5400000">
            <a:off x="-183168" y="5307680"/>
            <a:ext cx="2851263"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1" name="Ondertitel 2">
            <a:extLst>
              <a:ext uri="{FF2B5EF4-FFF2-40B4-BE49-F238E27FC236}">
                <a16:creationId xmlns:a16="http://schemas.microsoft.com/office/drawing/2014/main" id="{DCD259FC-79B5-41AB-BBC2-4D07C62B0949}"/>
              </a:ext>
            </a:extLst>
          </p:cNvPr>
          <p:cNvSpPr txBox="1">
            <a:spLocks/>
          </p:cNvSpPr>
          <p:nvPr/>
        </p:nvSpPr>
        <p:spPr>
          <a:xfrm>
            <a:off x="-31204" y="1442735"/>
            <a:ext cx="1481486"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sz="1200" kern="1200" cap="none" baseline="0" dirty="0">
              <a:solidFill>
                <a:srgbClr val="002757"/>
              </a:solidFill>
              <a:latin typeface="Tahoma" panose="020B0604030504040204" pitchFamily="34" charset="0"/>
              <a:ea typeface="Tahoma" panose="020B0604030504040204" pitchFamily="34" charset="0"/>
              <a:cs typeface="Tahoma" panose="020B0604030504040204" pitchFamily="34" charset="0"/>
            </a:endParaRPr>
          </a:p>
        </p:txBody>
      </p:sp>
      <p:sp>
        <p:nvSpPr>
          <p:cNvPr id="42" name="Minteken 41">
            <a:extLst>
              <a:ext uri="{FF2B5EF4-FFF2-40B4-BE49-F238E27FC236}">
                <a16:creationId xmlns:a16="http://schemas.microsoft.com/office/drawing/2014/main" id="{FB0D61FF-F819-41D6-9F0E-2A87A96AF34A}"/>
              </a:ext>
            </a:extLst>
          </p:cNvPr>
          <p:cNvSpPr/>
          <p:nvPr/>
        </p:nvSpPr>
        <p:spPr>
          <a:xfrm>
            <a:off x="-353435" y="166756"/>
            <a:ext cx="2776160"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3" name="Minteken 42">
            <a:extLst>
              <a:ext uri="{FF2B5EF4-FFF2-40B4-BE49-F238E27FC236}">
                <a16:creationId xmlns:a16="http://schemas.microsoft.com/office/drawing/2014/main" id="{1A9D60B7-98CA-44B4-A342-238265272E5D}"/>
              </a:ext>
            </a:extLst>
          </p:cNvPr>
          <p:cNvSpPr/>
          <p:nvPr/>
        </p:nvSpPr>
        <p:spPr>
          <a:xfrm>
            <a:off x="-221962" y="626338"/>
            <a:ext cx="1762587"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4" name="Minteken 43">
            <a:extLst>
              <a:ext uri="{FF2B5EF4-FFF2-40B4-BE49-F238E27FC236}">
                <a16:creationId xmlns:a16="http://schemas.microsoft.com/office/drawing/2014/main" id="{2AD40B60-09F3-42CA-BFC7-F232D5069233}"/>
              </a:ext>
            </a:extLst>
          </p:cNvPr>
          <p:cNvSpPr/>
          <p:nvPr/>
        </p:nvSpPr>
        <p:spPr>
          <a:xfrm>
            <a:off x="-155460" y="1111987"/>
            <a:ext cx="1256606"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14" name="Ondertitel 2">
            <a:extLst>
              <a:ext uri="{FF2B5EF4-FFF2-40B4-BE49-F238E27FC236}">
                <a16:creationId xmlns:a16="http://schemas.microsoft.com/office/drawing/2014/main" id="{DA9D40DB-B7E8-4A33-B5FB-9DD5105C49A1}"/>
              </a:ext>
            </a:extLst>
          </p:cNvPr>
          <p:cNvSpPr txBox="1">
            <a:spLocks/>
          </p:cNvSpPr>
          <p:nvPr/>
        </p:nvSpPr>
        <p:spPr>
          <a:xfrm>
            <a:off x="-31204" y="957086"/>
            <a:ext cx="1853738"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sz="1200" dirty="0"/>
          </a:p>
        </p:txBody>
      </p:sp>
      <p:sp>
        <p:nvSpPr>
          <p:cNvPr id="12" name="Tijdelijke aanduiding voor tekst 11">
            <a:extLst>
              <a:ext uri="{FF2B5EF4-FFF2-40B4-BE49-F238E27FC236}">
                <a16:creationId xmlns:a16="http://schemas.microsoft.com/office/drawing/2014/main" id="{684198A2-C59F-4C38-9F72-765E48FA8235}"/>
              </a:ext>
            </a:extLst>
          </p:cNvPr>
          <p:cNvSpPr>
            <a:spLocks noGrp="1"/>
          </p:cNvSpPr>
          <p:nvPr>
            <p:ph type="body" sz="quarter" idx="10" hasCustomPrompt="1"/>
          </p:nvPr>
        </p:nvSpPr>
        <p:spPr>
          <a:xfrm>
            <a:off x="1495855" y="4825632"/>
            <a:ext cx="1853739"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3D Graphics</a:t>
            </a:r>
          </a:p>
        </p:txBody>
      </p:sp>
      <p:sp>
        <p:nvSpPr>
          <p:cNvPr id="29" name="Tijdelijke aanduiding voor tekst 11">
            <a:extLst>
              <a:ext uri="{FF2B5EF4-FFF2-40B4-BE49-F238E27FC236}">
                <a16:creationId xmlns:a16="http://schemas.microsoft.com/office/drawing/2014/main" id="{9B9004F5-4339-48FE-B04B-599527A63599}"/>
              </a:ext>
            </a:extLst>
          </p:cNvPr>
          <p:cNvSpPr>
            <a:spLocks noGrp="1"/>
          </p:cNvSpPr>
          <p:nvPr>
            <p:ph type="body" sz="quarter" idx="11" hasCustomPrompt="1"/>
          </p:nvPr>
        </p:nvSpPr>
        <p:spPr>
          <a:xfrm>
            <a:off x="1495855" y="5411372"/>
            <a:ext cx="4594995"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Week 1a</a:t>
            </a:r>
          </a:p>
        </p:txBody>
      </p:sp>
      <p:sp>
        <p:nvSpPr>
          <p:cNvPr id="30" name="Tijdelijke aanduiding voor tekst 11">
            <a:extLst>
              <a:ext uri="{FF2B5EF4-FFF2-40B4-BE49-F238E27FC236}">
                <a16:creationId xmlns:a16="http://schemas.microsoft.com/office/drawing/2014/main" id="{73EE6705-1665-43A1-AB37-E50C48AA3F86}"/>
              </a:ext>
            </a:extLst>
          </p:cNvPr>
          <p:cNvSpPr>
            <a:spLocks noGrp="1"/>
          </p:cNvSpPr>
          <p:nvPr>
            <p:ph type="body" sz="quarter" idx="12" hasCustomPrompt="1"/>
          </p:nvPr>
        </p:nvSpPr>
        <p:spPr>
          <a:xfrm>
            <a:off x="1495855" y="5993878"/>
            <a:ext cx="4594995"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Daan Nijs</a:t>
            </a:r>
          </a:p>
        </p:txBody>
      </p:sp>
      <p:sp>
        <p:nvSpPr>
          <p:cNvPr id="17" name="Tijdelijke aanduiding voor tekst 16">
            <a:extLst>
              <a:ext uri="{FF2B5EF4-FFF2-40B4-BE49-F238E27FC236}">
                <a16:creationId xmlns:a16="http://schemas.microsoft.com/office/drawing/2014/main" id="{B2803BC5-4FBF-4FFC-8CD7-56A7494327D9}"/>
              </a:ext>
            </a:extLst>
          </p:cNvPr>
          <p:cNvSpPr>
            <a:spLocks noGrp="1"/>
          </p:cNvSpPr>
          <p:nvPr>
            <p:ph type="body" sz="quarter" idx="13" hasCustomPrompt="1"/>
          </p:nvPr>
        </p:nvSpPr>
        <p:spPr>
          <a:xfrm>
            <a:off x="12937" y="923475"/>
            <a:ext cx="1641443" cy="303286"/>
          </a:xfr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lang="nl-BE" sz="12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pPr lvl="0"/>
            <a:r>
              <a:rPr lang="nl-NL" dirty="0"/>
              <a:t>DE</a:t>
            </a:r>
            <a:endParaRPr lang="nl-BE" dirty="0"/>
          </a:p>
        </p:txBody>
      </p:sp>
      <p:sp>
        <p:nvSpPr>
          <p:cNvPr id="32" name="Tijdelijke aanduiding voor tekst 16">
            <a:extLst>
              <a:ext uri="{FF2B5EF4-FFF2-40B4-BE49-F238E27FC236}">
                <a16:creationId xmlns:a16="http://schemas.microsoft.com/office/drawing/2014/main" id="{2F60E031-BF26-44A1-A0B6-D48454BFD945}"/>
              </a:ext>
            </a:extLst>
          </p:cNvPr>
          <p:cNvSpPr>
            <a:spLocks noGrp="1"/>
          </p:cNvSpPr>
          <p:nvPr>
            <p:ph type="body" sz="quarter" idx="14" hasCustomPrompt="1"/>
          </p:nvPr>
        </p:nvSpPr>
        <p:spPr>
          <a:xfrm>
            <a:off x="12936" y="1429630"/>
            <a:ext cx="1641443" cy="303286"/>
          </a:xfr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lang="nl-BE" sz="12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sz="1200" kern="1200" cap="none" baseline="0" dirty="0">
                <a:solidFill>
                  <a:srgbClr val="002757"/>
                </a:solidFill>
                <a:latin typeface="Tahoma" panose="020B0604030504040204" pitchFamily="34" charset="0"/>
                <a:ea typeface="Tahoma" panose="020B0604030504040204" pitchFamily="34" charset="0"/>
                <a:cs typeface="Tahoma" panose="020B0604030504040204" pitchFamily="34" charset="0"/>
              </a:rPr>
              <a:t>2023</a:t>
            </a:r>
          </a:p>
        </p:txBody>
      </p:sp>
      <p:pic>
        <p:nvPicPr>
          <p:cNvPr id="3" name="Picture 2" descr="A room with a white cube and red and green walls&#10;&#10;Description automatically generated">
            <a:extLst>
              <a:ext uri="{FF2B5EF4-FFF2-40B4-BE49-F238E27FC236}">
                <a16:creationId xmlns:a16="http://schemas.microsoft.com/office/drawing/2014/main" id="{52382748-B3A1-4041-F0B7-3FD688D9971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97310" y="1463310"/>
            <a:ext cx="5394690" cy="5394690"/>
          </a:xfrm>
          <a:prstGeom prst="rect">
            <a:avLst/>
          </a:prstGeom>
        </p:spPr>
      </p:pic>
    </p:spTree>
    <p:extLst>
      <p:ext uri="{BB962C8B-B14F-4D97-AF65-F5344CB8AC3E}">
        <p14:creationId xmlns:p14="http://schemas.microsoft.com/office/powerpoint/2010/main" val="384022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1641C2-BF9B-4FDD-914E-B64C21E0036D}"/>
              </a:ext>
            </a:extLst>
          </p:cNvPr>
          <p:cNvSpPr>
            <a:spLocks noGrp="1"/>
          </p:cNvSpPr>
          <p:nvPr>
            <p:ph type="title"/>
          </p:nvPr>
        </p:nvSpPr>
        <p:spPr/>
        <p:txBody>
          <a:bodyPr/>
          <a:lstStyle/>
          <a:p>
            <a:r>
              <a:rPr lang="en-US"/>
              <a:t>Click to edit Master title style</a:t>
            </a:r>
            <a:endParaRPr lang="nl-BE"/>
          </a:p>
        </p:txBody>
      </p:sp>
      <p:sp>
        <p:nvSpPr>
          <p:cNvPr id="3" name="Tijdelijke aanduiding voor datum 2">
            <a:extLst>
              <a:ext uri="{FF2B5EF4-FFF2-40B4-BE49-F238E27FC236}">
                <a16:creationId xmlns:a16="http://schemas.microsoft.com/office/drawing/2014/main" id="{10DFE554-7232-4244-8A56-332314AEEEC3}"/>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4" name="Tijdelijke aanduiding voor voettekst 3">
            <a:extLst>
              <a:ext uri="{FF2B5EF4-FFF2-40B4-BE49-F238E27FC236}">
                <a16:creationId xmlns:a16="http://schemas.microsoft.com/office/drawing/2014/main" id="{DEC717CF-2817-47D4-8B6A-AC3FF5712DF8}"/>
              </a:ext>
            </a:extLst>
          </p:cNvPr>
          <p:cNvSpPr>
            <a:spLocks noGrp="1"/>
          </p:cNvSpPr>
          <p:nvPr>
            <p:ph type="ftr" sz="quarter" idx="11"/>
          </p:nvPr>
        </p:nvSpPr>
        <p:spPr/>
        <p:txBody>
          <a:bodyPr/>
          <a:lstStyle/>
          <a:p>
            <a:endParaRPr lang="en-BE"/>
          </a:p>
        </p:txBody>
      </p:sp>
      <p:sp>
        <p:nvSpPr>
          <p:cNvPr id="5" name="Tijdelijke aanduiding voor dianummer 4">
            <a:extLst>
              <a:ext uri="{FF2B5EF4-FFF2-40B4-BE49-F238E27FC236}">
                <a16:creationId xmlns:a16="http://schemas.microsoft.com/office/drawing/2014/main" id="{BE2D9812-56C8-4D19-8865-A6D4C4A6D336}"/>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3042795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F78E84-41E7-4C0B-9876-95A81A828B2F}"/>
              </a:ext>
            </a:extLst>
          </p:cNvPr>
          <p:cNvSpPr>
            <a:spLocks noGrp="1"/>
          </p:cNvSpPr>
          <p:nvPr>
            <p:ph type="title"/>
          </p:nvPr>
        </p:nvSpPr>
        <p:spPr/>
        <p:txBody>
          <a:body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BADAD563-D612-4769-9B0D-FF5F1C3025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22BECD8B-CD05-4F1D-A5CC-3FEA703FE793}"/>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F562C523-B3D7-4EB4-A7D6-382F9B9CC4AA}"/>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389EF5C4-6487-432E-AB47-26229FE019EF}"/>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18052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0F1C78-2104-4398-AD52-6781C48DD4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ijdelijke aanduiding voor tekst 2">
            <a:extLst>
              <a:ext uri="{FF2B5EF4-FFF2-40B4-BE49-F238E27FC236}">
                <a16:creationId xmlns:a16="http://schemas.microsoft.com/office/drawing/2014/main" id="{2E324310-16AB-4268-B0C6-CF8B77613A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Tijdelijke aanduiding voor datum 3">
            <a:extLst>
              <a:ext uri="{FF2B5EF4-FFF2-40B4-BE49-F238E27FC236}">
                <a16:creationId xmlns:a16="http://schemas.microsoft.com/office/drawing/2014/main" id="{60CD69EF-E63A-4D9C-8EFE-E80749E03A31}"/>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71547F23-F0D7-4208-A013-9AE0FF2EADD9}"/>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94AE972C-86E8-4E5F-8E59-2FB14076CEF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626318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7DCFF4-3B50-4930-AEAE-782904E7527C}"/>
              </a:ext>
            </a:extLst>
          </p:cNvPr>
          <p:cNvSpPr>
            <a:spLocks noGrp="1"/>
          </p:cNvSpPr>
          <p:nvPr>
            <p:ph type="title"/>
          </p:nvPr>
        </p:nvSpPr>
        <p:spPr/>
        <p:txBody>
          <a:body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19E7AE46-BCF9-47C8-9BCC-B7B1F520A3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inhoud 3">
            <a:extLst>
              <a:ext uri="{FF2B5EF4-FFF2-40B4-BE49-F238E27FC236}">
                <a16:creationId xmlns:a16="http://schemas.microsoft.com/office/drawing/2014/main" id="{B6C2F997-1F41-4A6F-9193-4DE7735ACD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ijdelijke aanduiding voor datum 4">
            <a:extLst>
              <a:ext uri="{FF2B5EF4-FFF2-40B4-BE49-F238E27FC236}">
                <a16:creationId xmlns:a16="http://schemas.microsoft.com/office/drawing/2014/main" id="{3B370E2F-2B3F-41AC-9A34-276EA7450FA3}"/>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6" name="Tijdelijke aanduiding voor voettekst 5">
            <a:extLst>
              <a:ext uri="{FF2B5EF4-FFF2-40B4-BE49-F238E27FC236}">
                <a16:creationId xmlns:a16="http://schemas.microsoft.com/office/drawing/2014/main" id="{CD63B9D7-3594-4F78-B540-B15463859D80}"/>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079CDB93-518D-4FDA-849A-10DC0942DF1D}"/>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440873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594D81-B112-42DA-9826-23E1C6113B41}"/>
              </a:ext>
            </a:extLst>
          </p:cNvPr>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ijdelijke aanduiding voor tekst 2">
            <a:extLst>
              <a:ext uri="{FF2B5EF4-FFF2-40B4-BE49-F238E27FC236}">
                <a16:creationId xmlns:a16="http://schemas.microsoft.com/office/drawing/2014/main" id="{5B25F2C9-29C7-4222-81BA-825176D7A8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Tijdelijke aanduiding voor inhoud 3">
            <a:extLst>
              <a:ext uri="{FF2B5EF4-FFF2-40B4-BE49-F238E27FC236}">
                <a16:creationId xmlns:a16="http://schemas.microsoft.com/office/drawing/2014/main" id="{07496213-5C84-46EC-B711-CDF9FF6B6B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ijdelijke aanduiding voor tekst 4">
            <a:extLst>
              <a:ext uri="{FF2B5EF4-FFF2-40B4-BE49-F238E27FC236}">
                <a16:creationId xmlns:a16="http://schemas.microsoft.com/office/drawing/2014/main" id="{90DE4F81-0BA7-4244-BB5B-492AB97EF8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E79B47A1-EE33-4FAB-B7C3-E0E137931E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Tijdelijke aanduiding voor datum 6">
            <a:extLst>
              <a:ext uri="{FF2B5EF4-FFF2-40B4-BE49-F238E27FC236}">
                <a16:creationId xmlns:a16="http://schemas.microsoft.com/office/drawing/2014/main" id="{34D9D81A-0C3E-473B-ACBE-F498DB484952}"/>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8" name="Tijdelijke aanduiding voor voettekst 7">
            <a:extLst>
              <a:ext uri="{FF2B5EF4-FFF2-40B4-BE49-F238E27FC236}">
                <a16:creationId xmlns:a16="http://schemas.microsoft.com/office/drawing/2014/main" id="{58E84A63-52E6-431C-9002-3F2381DF1841}"/>
              </a:ext>
            </a:extLst>
          </p:cNvPr>
          <p:cNvSpPr>
            <a:spLocks noGrp="1"/>
          </p:cNvSpPr>
          <p:nvPr>
            <p:ph type="ftr" sz="quarter" idx="11"/>
          </p:nvPr>
        </p:nvSpPr>
        <p:spPr/>
        <p:txBody>
          <a:bodyPr/>
          <a:lstStyle/>
          <a:p>
            <a:endParaRPr lang="en-BE"/>
          </a:p>
        </p:txBody>
      </p:sp>
      <p:sp>
        <p:nvSpPr>
          <p:cNvPr id="9" name="Tijdelijke aanduiding voor dianummer 8">
            <a:extLst>
              <a:ext uri="{FF2B5EF4-FFF2-40B4-BE49-F238E27FC236}">
                <a16:creationId xmlns:a16="http://schemas.microsoft.com/office/drawing/2014/main" id="{D27C1939-B8AA-4E0F-96C6-B7E933D9F811}"/>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008474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ECCACC-50FC-4D5D-B072-A22D8C73E6FD}"/>
              </a:ext>
            </a:extLst>
          </p:cNvPr>
          <p:cNvSpPr>
            <a:spLocks noGrp="1"/>
          </p:cNvSpPr>
          <p:nvPr>
            <p:ph type="title"/>
          </p:nvPr>
        </p:nvSpPr>
        <p:spPr/>
        <p:txBody>
          <a:bodyPr/>
          <a:lstStyle/>
          <a:p>
            <a:r>
              <a:rPr lang="en-US"/>
              <a:t>Click to edit Master title style</a:t>
            </a:r>
            <a:endParaRPr lang="nl-BE"/>
          </a:p>
        </p:txBody>
      </p:sp>
      <p:sp>
        <p:nvSpPr>
          <p:cNvPr id="3" name="Tijdelijke aanduiding voor datum 2">
            <a:extLst>
              <a:ext uri="{FF2B5EF4-FFF2-40B4-BE49-F238E27FC236}">
                <a16:creationId xmlns:a16="http://schemas.microsoft.com/office/drawing/2014/main" id="{B6B9E831-EE77-4B49-A32D-C50EA5628310}"/>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4" name="Tijdelijke aanduiding voor voettekst 3">
            <a:extLst>
              <a:ext uri="{FF2B5EF4-FFF2-40B4-BE49-F238E27FC236}">
                <a16:creationId xmlns:a16="http://schemas.microsoft.com/office/drawing/2014/main" id="{A471B315-B360-4DC4-BA25-C0DA3FE06DF9}"/>
              </a:ext>
            </a:extLst>
          </p:cNvPr>
          <p:cNvSpPr>
            <a:spLocks noGrp="1"/>
          </p:cNvSpPr>
          <p:nvPr>
            <p:ph type="ftr" sz="quarter" idx="11"/>
          </p:nvPr>
        </p:nvSpPr>
        <p:spPr/>
        <p:txBody>
          <a:bodyPr/>
          <a:lstStyle/>
          <a:p>
            <a:endParaRPr lang="en-BE"/>
          </a:p>
        </p:txBody>
      </p:sp>
      <p:sp>
        <p:nvSpPr>
          <p:cNvPr id="5" name="Tijdelijke aanduiding voor dianummer 4">
            <a:extLst>
              <a:ext uri="{FF2B5EF4-FFF2-40B4-BE49-F238E27FC236}">
                <a16:creationId xmlns:a16="http://schemas.microsoft.com/office/drawing/2014/main" id="{586BE35D-89CF-4C78-936F-3A422D2BC19C}"/>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547937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F2371665-6504-46CE-8623-7D4BFBF0630A}"/>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3" name="Tijdelijke aanduiding voor voettekst 2">
            <a:extLst>
              <a:ext uri="{FF2B5EF4-FFF2-40B4-BE49-F238E27FC236}">
                <a16:creationId xmlns:a16="http://schemas.microsoft.com/office/drawing/2014/main" id="{784B7614-A5E9-4A26-93ED-1BD778884699}"/>
              </a:ext>
            </a:extLst>
          </p:cNvPr>
          <p:cNvSpPr>
            <a:spLocks noGrp="1"/>
          </p:cNvSpPr>
          <p:nvPr>
            <p:ph type="ftr" sz="quarter" idx="11"/>
          </p:nvPr>
        </p:nvSpPr>
        <p:spPr/>
        <p:txBody>
          <a:bodyPr/>
          <a:lstStyle/>
          <a:p>
            <a:endParaRPr lang="en-BE"/>
          </a:p>
        </p:txBody>
      </p:sp>
      <p:sp>
        <p:nvSpPr>
          <p:cNvPr id="4" name="Tijdelijke aanduiding voor dianummer 3">
            <a:extLst>
              <a:ext uri="{FF2B5EF4-FFF2-40B4-BE49-F238E27FC236}">
                <a16:creationId xmlns:a16="http://schemas.microsoft.com/office/drawing/2014/main" id="{36192D73-DEF2-4B61-8197-3941A2083E7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1907551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3ACD61-1A8D-412E-A5FB-A8531A8CE7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4B81E522-E269-4346-BBFB-AA9518F2B9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tekst 3">
            <a:extLst>
              <a:ext uri="{FF2B5EF4-FFF2-40B4-BE49-F238E27FC236}">
                <a16:creationId xmlns:a16="http://schemas.microsoft.com/office/drawing/2014/main" id="{B5BB402B-825A-444A-8506-A9ADBFE65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jdelijke aanduiding voor datum 4">
            <a:extLst>
              <a:ext uri="{FF2B5EF4-FFF2-40B4-BE49-F238E27FC236}">
                <a16:creationId xmlns:a16="http://schemas.microsoft.com/office/drawing/2014/main" id="{7827B8B6-F476-41CE-A0FB-94F76E07D16B}"/>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6" name="Tijdelijke aanduiding voor voettekst 5">
            <a:extLst>
              <a:ext uri="{FF2B5EF4-FFF2-40B4-BE49-F238E27FC236}">
                <a16:creationId xmlns:a16="http://schemas.microsoft.com/office/drawing/2014/main" id="{E8C2B97C-695E-461A-825C-FBD17E162F60}"/>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EA72EF0F-A630-466B-B88F-96526CAB13C5}"/>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609706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D0E7DD-EE9A-4CC9-8C25-676E51EFE1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Tijdelijke aanduiding voor afbeelding 2">
            <a:extLst>
              <a:ext uri="{FF2B5EF4-FFF2-40B4-BE49-F238E27FC236}">
                <a16:creationId xmlns:a16="http://schemas.microsoft.com/office/drawing/2014/main" id="{E48A5BBD-EB4E-45D6-AE42-E48427169E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BE"/>
          </a:p>
        </p:txBody>
      </p:sp>
      <p:sp>
        <p:nvSpPr>
          <p:cNvPr id="4" name="Tijdelijke aanduiding voor tekst 3">
            <a:extLst>
              <a:ext uri="{FF2B5EF4-FFF2-40B4-BE49-F238E27FC236}">
                <a16:creationId xmlns:a16="http://schemas.microsoft.com/office/drawing/2014/main" id="{D66EB8EC-DE0A-4D55-BC4C-614275BE12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jdelijke aanduiding voor datum 4">
            <a:extLst>
              <a:ext uri="{FF2B5EF4-FFF2-40B4-BE49-F238E27FC236}">
                <a16:creationId xmlns:a16="http://schemas.microsoft.com/office/drawing/2014/main" id="{80F5DBFE-351E-4EE8-ADAB-1EEF823A637C}"/>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6" name="Tijdelijke aanduiding voor voettekst 5">
            <a:extLst>
              <a:ext uri="{FF2B5EF4-FFF2-40B4-BE49-F238E27FC236}">
                <a16:creationId xmlns:a16="http://schemas.microsoft.com/office/drawing/2014/main" id="{BE0E090A-C01F-416E-BF13-483497611EBB}"/>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5790A0E5-2670-4891-8045-AB40C835E0A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342779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EACC51-F7E5-40B9-80E8-1EF2107F0791}"/>
              </a:ext>
            </a:extLst>
          </p:cNvPr>
          <p:cNvSpPr>
            <a:spLocks noGrp="1"/>
          </p:cNvSpPr>
          <p:nvPr>
            <p:ph type="title"/>
          </p:nvPr>
        </p:nvSpPr>
        <p:spPr/>
        <p:txBody>
          <a:bodyPr/>
          <a:lstStyle/>
          <a:p>
            <a:r>
              <a:rPr lang="en-US"/>
              <a:t>Click to edit Master title style</a:t>
            </a:r>
            <a:endParaRPr lang="nl-BE"/>
          </a:p>
        </p:txBody>
      </p:sp>
      <p:sp>
        <p:nvSpPr>
          <p:cNvPr id="3" name="Tijdelijke aanduiding voor verticale tekst 2">
            <a:extLst>
              <a:ext uri="{FF2B5EF4-FFF2-40B4-BE49-F238E27FC236}">
                <a16:creationId xmlns:a16="http://schemas.microsoft.com/office/drawing/2014/main" id="{4CEA346F-2455-4321-99FC-0F55ECBC5E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8DD5A672-E901-441A-AA8C-342314F34F21}"/>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FE36B37C-979A-4CE2-BFB9-1CEE33789817}"/>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C66F279E-64B7-4995-8B2D-9E98200DC474}"/>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469102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54A3048B-7CB7-4CB7-9036-E1072F6567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Tijdelijke aanduiding voor verticale tekst 2">
            <a:extLst>
              <a:ext uri="{FF2B5EF4-FFF2-40B4-BE49-F238E27FC236}">
                <a16:creationId xmlns:a16="http://schemas.microsoft.com/office/drawing/2014/main" id="{977AF696-8160-4BEE-B594-08AA6ED4B9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F70B8EA8-32FF-45D6-BDF4-DEC9D5665FEE}"/>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701F5F5D-B431-4297-94E5-5C3E63450DEC}"/>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AD29EC59-10E4-4E90-AEF4-F74EC07C825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82245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16C0F430-02B8-470E-88C4-D3F6A6EEE5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2FBDBA69-9857-4F89-AB15-40D66350F9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7700B282-C115-4189-B97C-2C968D73F0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3C35CFB0-104D-43DF-ABAD-E8ED1A7E01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Tijdelijke aanduiding voor dianummer 5">
            <a:extLst>
              <a:ext uri="{FF2B5EF4-FFF2-40B4-BE49-F238E27FC236}">
                <a16:creationId xmlns:a16="http://schemas.microsoft.com/office/drawing/2014/main" id="{25331830-0F71-46FB-910E-F57D488F68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D63EFA-E134-4F46-A1DA-4D0D4B8DD6EC}" type="slidenum">
              <a:rPr lang="en-BE" smtClean="0"/>
              <a:t>‹#›</a:t>
            </a:fld>
            <a:endParaRPr lang="en-BE"/>
          </a:p>
        </p:txBody>
      </p:sp>
    </p:spTree>
    <p:extLst>
      <p:ext uri="{BB962C8B-B14F-4D97-AF65-F5344CB8AC3E}">
        <p14:creationId xmlns:p14="http://schemas.microsoft.com/office/powerpoint/2010/main" val="591883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www.youtube.com/watch?v=zjMuIxRvygQ" TargetMode="External"/><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F5DD37-2212-916B-E357-43E8D3EA5D93}"/>
              </a:ext>
            </a:extLst>
          </p:cNvPr>
          <p:cNvSpPr>
            <a:spLocks noGrp="1"/>
          </p:cNvSpPr>
          <p:nvPr>
            <p:ph type="body" sz="quarter" idx="10"/>
          </p:nvPr>
        </p:nvSpPr>
        <p:spPr/>
        <p:txBody>
          <a:bodyPr/>
          <a:lstStyle/>
          <a:p>
            <a:endParaRPr lang="en-BE"/>
          </a:p>
        </p:txBody>
      </p:sp>
      <p:sp>
        <p:nvSpPr>
          <p:cNvPr id="3" name="Text Placeholder 2">
            <a:extLst>
              <a:ext uri="{FF2B5EF4-FFF2-40B4-BE49-F238E27FC236}">
                <a16:creationId xmlns:a16="http://schemas.microsoft.com/office/drawing/2014/main" id="{3D20F862-7245-5FF3-F9FF-A37F0519F773}"/>
              </a:ext>
            </a:extLst>
          </p:cNvPr>
          <p:cNvSpPr>
            <a:spLocks noGrp="1"/>
          </p:cNvSpPr>
          <p:nvPr>
            <p:ph type="body" sz="quarter" idx="11"/>
          </p:nvPr>
        </p:nvSpPr>
        <p:spPr/>
        <p:txBody>
          <a:bodyPr/>
          <a:lstStyle/>
          <a:p>
            <a:r>
              <a:rPr lang="en-US" dirty="0"/>
              <a:t>Week 2: 3D reasoning</a:t>
            </a:r>
            <a:endParaRPr lang="en-BE" dirty="0"/>
          </a:p>
        </p:txBody>
      </p:sp>
      <p:sp>
        <p:nvSpPr>
          <p:cNvPr id="4" name="Text Placeholder 3">
            <a:extLst>
              <a:ext uri="{FF2B5EF4-FFF2-40B4-BE49-F238E27FC236}">
                <a16:creationId xmlns:a16="http://schemas.microsoft.com/office/drawing/2014/main" id="{6C0B0F53-1B0B-247E-5331-DFF63A59F513}"/>
              </a:ext>
            </a:extLst>
          </p:cNvPr>
          <p:cNvSpPr>
            <a:spLocks noGrp="1"/>
          </p:cNvSpPr>
          <p:nvPr>
            <p:ph type="body" sz="quarter" idx="12"/>
          </p:nvPr>
        </p:nvSpPr>
        <p:spPr/>
        <p:txBody>
          <a:bodyPr/>
          <a:lstStyle/>
          <a:p>
            <a:endParaRPr lang="en-BE"/>
          </a:p>
        </p:txBody>
      </p:sp>
      <p:sp>
        <p:nvSpPr>
          <p:cNvPr id="5" name="Text Placeholder 4">
            <a:extLst>
              <a:ext uri="{FF2B5EF4-FFF2-40B4-BE49-F238E27FC236}">
                <a16:creationId xmlns:a16="http://schemas.microsoft.com/office/drawing/2014/main" id="{81906C7B-D22F-6554-53F2-0FB13D199EF6}"/>
              </a:ext>
            </a:extLst>
          </p:cNvPr>
          <p:cNvSpPr>
            <a:spLocks noGrp="1"/>
          </p:cNvSpPr>
          <p:nvPr>
            <p:ph type="body" sz="quarter" idx="13"/>
          </p:nvPr>
        </p:nvSpPr>
        <p:spPr/>
        <p:txBody>
          <a:bodyPr/>
          <a:lstStyle/>
          <a:p>
            <a:endParaRPr lang="en-BE"/>
          </a:p>
        </p:txBody>
      </p:sp>
      <p:sp>
        <p:nvSpPr>
          <p:cNvPr id="6" name="Text Placeholder 5">
            <a:extLst>
              <a:ext uri="{FF2B5EF4-FFF2-40B4-BE49-F238E27FC236}">
                <a16:creationId xmlns:a16="http://schemas.microsoft.com/office/drawing/2014/main" id="{ABFE3868-CBE1-5055-4906-5E64ED6ECD99}"/>
              </a:ext>
            </a:extLst>
          </p:cNvPr>
          <p:cNvSpPr>
            <a:spLocks noGrp="1"/>
          </p:cNvSpPr>
          <p:nvPr>
            <p:ph type="body" sz="quarter" idx="14"/>
          </p:nvPr>
        </p:nvSpPr>
        <p:spPr/>
        <p:txBody>
          <a:bodyPr/>
          <a:lstStyle/>
          <a:p>
            <a:endParaRPr lang="en-BE"/>
          </a:p>
        </p:txBody>
      </p:sp>
    </p:spTree>
    <p:extLst>
      <p:ext uri="{BB962C8B-B14F-4D97-AF65-F5344CB8AC3E}">
        <p14:creationId xmlns:p14="http://schemas.microsoft.com/office/powerpoint/2010/main" val="1905507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DB585-AF26-A989-C2E4-B97495A784E4}"/>
              </a:ext>
            </a:extLst>
          </p:cNvPr>
          <p:cNvSpPr>
            <a:spLocks noGrp="1"/>
          </p:cNvSpPr>
          <p:nvPr>
            <p:ph type="title"/>
          </p:nvPr>
        </p:nvSpPr>
        <p:spPr/>
        <p:txBody>
          <a:bodyPr/>
          <a:lstStyle/>
          <a:p>
            <a:r>
              <a:rPr lang="en-US" dirty="0"/>
              <a:t>Last class</a:t>
            </a:r>
            <a:endParaRPr lang="en-BE" dirty="0"/>
          </a:p>
        </p:txBody>
      </p:sp>
      <p:sp>
        <p:nvSpPr>
          <p:cNvPr id="9" name="TextBox 8">
            <a:extLst>
              <a:ext uri="{FF2B5EF4-FFF2-40B4-BE49-F238E27FC236}">
                <a16:creationId xmlns:a16="http://schemas.microsoft.com/office/drawing/2014/main" id="{F0CBD0A1-4820-ED04-A5B0-2D1A763FE81B}"/>
              </a:ext>
            </a:extLst>
          </p:cNvPr>
          <p:cNvSpPr txBox="1"/>
          <p:nvPr/>
        </p:nvSpPr>
        <p:spPr>
          <a:xfrm>
            <a:off x="976605" y="1690688"/>
            <a:ext cx="4091056" cy="3108543"/>
          </a:xfrm>
          <a:prstGeom prst="rect">
            <a:avLst/>
          </a:prstGeom>
          <a:noFill/>
        </p:spPr>
        <p:txBody>
          <a:bodyPr wrap="none" rtlCol="0">
            <a:spAutoFit/>
          </a:bodyPr>
          <a:lstStyle/>
          <a:p>
            <a:pPr marL="285750" indent="-285750">
              <a:buFont typeface="Arial" panose="020B0604020202020204" pitchFamily="34" charset="0"/>
              <a:buChar char="•"/>
            </a:pPr>
            <a:r>
              <a:rPr lang="en-US" sz="2800" dirty="0"/>
              <a:t>3D coordinate system</a:t>
            </a:r>
          </a:p>
          <a:p>
            <a:pPr marL="285750" indent="-285750">
              <a:buFont typeface="Arial" panose="020B0604020202020204" pitchFamily="34" charset="0"/>
              <a:buChar char="•"/>
            </a:pPr>
            <a:r>
              <a:rPr lang="en-US" sz="2800" dirty="0"/>
              <a:t>Points &amp; Vectors</a:t>
            </a:r>
          </a:p>
          <a:p>
            <a:pPr marL="285750" indent="-285750">
              <a:buFont typeface="Arial" panose="020B0604020202020204" pitchFamily="34" charset="0"/>
              <a:buChar char="•"/>
            </a:pPr>
            <a:r>
              <a:rPr lang="en-US" sz="2800" dirty="0"/>
              <a:t>Translate</a:t>
            </a:r>
          </a:p>
          <a:p>
            <a:pPr marL="285750" indent="-285750">
              <a:buFont typeface="Arial" panose="020B0604020202020204" pitchFamily="34" charset="0"/>
              <a:buChar char="•"/>
            </a:pPr>
            <a:r>
              <a:rPr lang="en-US" sz="2800" dirty="0"/>
              <a:t>Rotate</a:t>
            </a:r>
          </a:p>
          <a:p>
            <a:pPr marL="285750" indent="-285750">
              <a:buFont typeface="Arial" panose="020B0604020202020204" pitchFamily="34" charset="0"/>
              <a:buChar char="•"/>
            </a:pPr>
            <a:r>
              <a:rPr lang="en-US" sz="2800" dirty="0"/>
              <a:t>Scale</a:t>
            </a:r>
          </a:p>
          <a:p>
            <a:pPr marL="285750" indent="-285750">
              <a:buFont typeface="Arial" panose="020B0604020202020204" pitchFamily="34" charset="0"/>
              <a:buChar char="•"/>
            </a:pPr>
            <a:r>
              <a:rPr lang="en-US" sz="2800" dirty="0"/>
              <a:t>We’ll go over them again</a:t>
            </a:r>
          </a:p>
          <a:p>
            <a:pPr marL="285750" indent="-285750">
              <a:buFont typeface="Arial" panose="020B0604020202020204" pitchFamily="34" charset="0"/>
              <a:buChar char="•"/>
            </a:pPr>
            <a:endParaRPr lang="en-BE" sz="2800" dirty="0"/>
          </a:p>
        </p:txBody>
      </p:sp>
    </p:spTree>
    <p:extLst>
      <p:ext uri="{BB962C8B-B14F-4D97-AF65-F5344CB8AC3E}">
        <p14:creationId xmlns:p14="http://schemas.microsoft.com/office/powerpoint/2010/main" val="1021368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1B564-CA9E-3D87-8903-3909F7D42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9F79E-D81D-C0B7-2D18-4AECB866817D}"/>
              </a:ext>
            </a:extLst>
          </p:cNvPr>
          <p:cNvSpPr>
            <a:spLocks noGrp="1"/>
          </p:cNvSpPr>
          <p:nvPr>
            <p:ph type="title"/>
          </p:nvPr>
        </p:nvSpPr>
        <p:spPr>
          <a:xfrm>
            <a:off x="519362" y="238794"/>
            <a:ext cx="10515600" cy="1325563"/>
          </a:xfrm>
        </p:spPr>
        <p:txBody>
          <a:bodyPr/>
          <a:lstStyle/>
          <a:p>
            <a:r>
              <a:rPr lang="en-US" dirty="0"/>
              <a:t>Course schedule</a:t>
            </a:r>
            <a:endParaRPr lang="en-BE" dirty="0"/>
          </a:p>
        </p:txBody>
      </p:sp>
      <p:pic>
        <p:nvPicPr>
          <p:cNvPr id="4" name="Picture 3">
            <a:extLst>
              <a:ext uri="{FF2B5EF4-FFF2-40B4-BE49-F238E27FC236}">
                <a16:creationId xmlns:a16="http://schemas.microsoft.com/office/drawing/2014/main" id="{44AD8DA9-97E3-0B9A-E8CC-21F1C6CD170F}"/>
              </a:ext>
            </a:extLst>
          </p:cNvPr>
          <p:cNvPicPr>
            <a:picLocks noChangeAspect="1"/>
          </p:cNvPicPr>
          <p:nvPr/>
        </p:nvPicPr>
        <p:blipFill>
          <a:blip r:embed="rId3"/>
          <a:stretch>
            <a:fillRect/>
          </a:stretch>
        </p:blipFill>
        <p:spPr>
          <a:xfrm>
            <a:off x="0" y="4223671"/>
            <a:ext cx="4032180" cy="2639927"/>
          </a:xfrm>
          <a:prstGeom prst="rect">
            <a:avLst/>
          </a:prstGeom>
        </p:spPr>
      </p:pic>
      <p:graphicFrame>
        <p:nvGraphicFramePr>
          <p:cNvPr id="8" name="Table 7">
            <a:extLst>
              <a:ext uri="{FF2B5EF4-FFF2-40B4-BE49-F238E27FC236}">
                <a16:creationId xmlns:a16="http://schemas.microsoft.com/office/drawing/2014/main" id="{26D5C226-4920-1470-4E26-725EDC46B091}"/>
              </a:ext>
            </a:extLst>
          </p:cNvPr>
          <p:cNvGraphicFramePr>
            <a:graphicFrameLocks noGrp="1"/>
          </p:cNvGraphicFramePr>
          <p:nvPr>
            <p:extLst>
              <p:ext uri="{D42A27DB-BD31-4B8C-83A1-F6EECF244321}">
                <p14:modId xmlns:p14="http://schemas.microsoft.com/office/powerpoint/2010/main" val="1692197322"/>
              </p:ext>
            </p:extLst>
          </p:nvPr>
        </p:nvGraphicFramePr>
        <p:xfrm>
          <a:off x="5124734" y="1"/>
          <a:ext cx="6602496" cy="6944308"/>
        </p:xfrm>
        <a:graphic>
          <a:graphicData uri="http://schemas.openxmlformats.org/drawingml/2006/table">
            <a:tbl>
              <a:tblPr firstRow="1" bandRow="1">
                <a:tableStyleId>{5C22544A-7EE6-4342-B048-85BDC9FD1C3A}</a:tableStyleId>
              </a:tblPr>
              <a:tblGrid>
                <a:gridCol w="2026693">
                  <a:extLst>
                    <a:ext uri="{9D8B030D-6E8A-4147-A177-3AD203B41FA5}">
                      <a16:colId xmlns:a16="http://schemas.microsoft.com/office/drawing/2014/main" val="4215952977"/>
                    </a:ext>
                  </a:extLst>
                </a:gridCol>
                <a:gridCol w="2299648">
                  <a:extLst>
                    <a:ext uri="{9D8B030D-6E8A-4147-A177-3AD203B41FA5}">
                      <a16:colId xmlns:a16="http://schemas.microsoft.com/office/drawing/2014/main" val="1545778933"/>
                    </a:ext>
                  </a:extLst>
                </a:gridCol>
                <a:gridCol w="2276155">
                  <a:extLst>
                    <a:ext uri="{9D8B030D-6E8A-4147-A177-3AD203B41FA5}">
                      <a16:colId xmlns:a16="http://schemas.microsoft.com/office/drawing/2014/main" val="1553113300"/>
                    </a:ext>
                  </a:extLst>
                </a:gridCol>
              </a:tblGrid>
              <a:tr h="522129">
                <a:tc>
                  <a:txBody>
                    <a:bodyPr/>
                    <a:lstStyle/>
                    <a:p>
                      <a:endParaRPr lang="en-BE" dirty="0"/>
                    </a:p>
                  </a:txBody>
                  <a:tcPr/>
                </a:tc>
                <a:tc>
                  <a:txBody>
                    <a:bodyPr/>
                    <a:lstStyle/>
                    <a:p>
                      <a:r>
                        <a:rPr lang="en-US" dirty="0"/>
                        <a:t>Theory</a:t>
                      </a:r>
                      <a:endParaRPr lang="en-BE" dirty="0"/>
                    </a:p>
                  </a:txBody>
                  <a:tcPr/>
                </a:tc>
                <a:tc>
                  <a:txBody>
                    <a:bodyPr/>
                    <a:lstStyle/>
                    <a:p>
                      <a:r>
                        <a:rPr lang="en-US" dirty="0"/>
                        <a:t>Practice</a:t>
                      </a:r>
                      <a:endParaRPr lang="en-BE" dirty="0"/>
                    </a:p>
                  </a:txBody>
                  <a:tcPr/>
                </a:tc>
                <a:extLst>
                  <a:ext uri="{0D108BD9-81ED-4DB2-BD59-A6C34878D82A}">
                    <a16:rowId xmlns:a16="http://schemas.microsoft.com/office/drawing/2014/main" val="2767273685"/>
                  </a:ext>
                </a:extLst>
              </a:tr>
              <a:tr h="522129">
                <a:tc>
                  <a:txBody>
                    <a:bodyPr/>
                    <a:lstStyle/>
                    <a:p>
                      <a:r>
                        <a:rPr lang="en-US" dirty="0"/>
                        <a:t>Week 1 : 12/02</a:t>
                      </a:r>
                      <a:endParaRPr lang="en-BE" dirty="0"/>
                    </a:p>
                  </a:txBody>
                  <a:tcPr/>
                </a:tc>
                <a:tc>
                  <a:txBody>
                    <a:bodyPr/>
                    <a:lstStyle/>
                    <a:p>
                      <a:r>
                        <a:rPr lang="en-US" dirty="0"/>
                        <a:t>Introduction</a:t>
                      </a:r>
                      <a:endParaRPr lang="en-BE" dirty="0"/>
                    </a:p>
                  </a:txBody>
                  <a:tcPr/>
                </a:tc>
                <a:tc>
                  <a:txBody>
                    <a:bodyPr/>
                    <a:lstStyle/>
                    <a:p>
                      <a:endParaRPr lang="en-BE" dirty="0"/>
                    </a:p>
                  </a:txBody>
                  <a:tcPr/>
                </a:tc>
                <a:extLst>
                  <a:ext uri="{0D108BD9-81ED-4DB2-BD59-A6C34878D82A}">
                    <a16:rowId xmlns:a16="http://schemas.microsoft.com/office/drawing/2014/main" val="3121121218"/>
                  </a:ext>
                </a:extLst>
              </a:tr>
              <a:tr h="522129">
                <a:tc>
                  <a:txBody>
                    <a:bodyPr/>
                    <a:lstStyle/>
                    <a:p>
                      <a:r>
                        <a:rPr lang="en-US" dirty="0"/>
                        <a:t>Week 2 : 19/02</a:t>
                      </a:r>
                      <a:endParaRPr lang="en-BE" dirty="0"/>
                    </a:p>
                  </a:txBody>
                  <a:tcPr/>
                </a:tc>
                <a:tc>
                  <a:txBody>
                    <a:bodyPr/>
                    <a:lstStyle/>
                    <a:p>
                      <a:r>
                        <a:rPr lang="en-US" dirty="0"/>
                        <a:t>3D reasoning</a:t>
                      </a:r>
                      <a:endParaRPr lang="en-BE" dirty="0"/>
                    </a:p>
                  </a:txBody>
                  <a:tcPr/>
                </a:tc>
                <a:tc>
                  <a:txBody>
                    <a:bodyPr/>
                    <a:lstStyle/>
                    <a:p>
                      <a:r>
                        <a:rPr lang="en-US" dirty="0"/>
                        <a:t>Camera Placement</a:t>
                      </a:r>
                      <a:endParaRPr lang="en-BE" dirty="0"/>
                    </a:p>
                  </a:txBody>
                  <a:tcPr/>
                </a:tc>
                <a:extLst>
                  <a:ext uri="{0D108BD9-81ED-4DB2-BD59-A6C34878D82A}">
                    <a16:rowId xmlns:a16="http://schemas.microsoft.com/office/drawing/2014/main" val="1569727011"/>
                  </a:ext>
                </a:extLst>
              </a:tr>
              <a:tr h="522129">
                <a:tc>
                  <a:txBody>
                    <a:bodyPr/>
                    <a:lstStyle/>
                    <a:p>
                      <a:r>
                        <a:rPr lang="en-US" dirty="0"/>
                        <a:t>Week 3 : 26/02</a:t>
                      </a:r>
                      <a:endParaRPr lang="en-BE" dirty="0"/>
                    </a:p>
                  </a:txBody>
                  <a:tcPr/>
                </a:tc>
                <a:tc>
                  <a:txBody>
                    <a:bodyPr/>
                    <a:lstStyle/>
                    <a:p>
                      <a:r>
                        <a:rPr lang="en-US" dirty="0"/>
                        <a:t>Geometry</a:t>
                      </a:r>
                      <a:endParaRPr lang="en-BE" dirty="0"/>
                    </a:p>
                  </a:txBody>
                  <a:tcPr/>
                </a:tc>
                <a:tc>
                  <a:txBody>
                    <a:bodyPr/>
                    <a:lstStyle/>
                    <a:p>
                      <a:r>
                        <a:rPr lang="en-US" dirty="0"/>
                        <a:t>Hardcoded </a:t>
                      </a:r>
                      <a:r>
                        <a:rPr lang="en-US" dirty="0" err="1"/>
                        <a:t>chuncks</a:t>
                      </a:r>
                      <a:endParaRPr lang="en-US" dirty="0"/>
                    </a:p>
                    <a:p>
                      <a:r>
                        <a:rPr lang="en-US" dirty="0"/>
                        <a:t>Chunk loading</a:t>
                      </a:r>
                      <a:endParaRPr lang="en-BE" dirty="0"/>
                    </a:p>
                  </a:txBody>
                  <a:tcPr/>
                </a:tc>
                <a:extLst>
                  <a:ext uri="{0D108BD9-81ED-4DB2-BD59-A6C34878D82A}">
                    <a16:rowId xmlns:a16="http://schemas.microsoft.com/office/drawing/2014/main" val="3180221313"/>
                  </a:ext>
                </a:extLst>
              </a:tr>
              <a:tr h="625607">
                <a:tc>
                  <a:txBody>
                    <a:bodyPr/>
                    <a:lstStyle/>
                    <a:p>
                      <a:r>
                        <a:rPr lang="en-US" dirty="0"/>
                        <a:t>Week 4 : 04/03</a:t>
                      </a:r>
                      <a:endParaRPr lang="en-BE" dirty="0"/>
                    </a:p>
                  </a:txBody>
                  <a:tcPr/>
                </a:tc>
                <a:tc>
                  <a:txBody>
                    <a:bodyPr/>
                    <a:lstStyle/>
                    <a:p>
                      <a:r>
                        <a:rPr lang="en-US" dirty="0"/>
                        <a:t>Textures</a:t>
                      </a:r>
                    </a:p>
                    <a:p>
                      <a:r>
                        <a:rPr lang="en-US" dirty="0"/>
                        <a:t>Materials</a:t>
                      </a:r>
                      <a:endParaRPr lang="en-BE" dirty="0"/>
                    </a:p>
                  </a:txBody>
                  <a:tcPr/>
                </a:tc>
                <a:tc>
                  <a:txBody>
                    <a:bodyPr/>
                    <a:lstStyle/>
                    <a:p>
                      <a:r>
                        <a:rPr lang="en-US" dirty="0"/>
                        <a:t>Materials</a:t>
                      </a:r>
                      <a:endParaRPr lang="en-BE" dirty="0"/>
                    </a:p>
                  </a:txBody>
                  <a:tcPr/>
                </a:tc>
                <a:extLst>
                  <a:ext uri="{0D108BD9-81ED-4DB2-BD59-A6C34878D82A}">
                    <a16:rowId xmlns:a16="http://schemas.microsoft.com/office/drawing/2014/main" val="3441918310"/>
                  </a:ext>
                </a:extLst>
              </a:tr>
              <a:tr h="625607">
                <a:tc>
                  <a:txBody>
                    <a:bodyPr/>
                    <a:lstStyle/>
                    <a:p>
                      <a:r>
                        <a:rPr lang="en-US" dirty="0"/>
                        <a:t>Week 5 : 11/03</a:t>
                      </a:r>
                      <a:endParaRPr lang="en-BE" dirty="0"/>
                    </a:p>
                  </a:txBody>
                  <a:tcPr/>
                </a:tc>
                <a:tc>
                  <a:txBody>
                    <a:bodyPr/>
                    <a:lstStyle/>
                    <a:p>
                      <a:endParaRPr lang="en-BE" dirty="0"/>
                    </a:p>
                  </a:txBody>
                  <a:tcPr/>
                </a:tc>
                <a:tc>
                  <a:txBody>
                    <a:bodyPr/>
                    <a:lstStyle/>
                    <a:p>
                      <a:r>
                        <a:rPr lang="en-US" dirty="0"/>
                        <a:t>l</a:t>
                      </a:r>
                      <a:endParaRPr lang="en-BE" dirty="0"/>
                    </a:p>
                  </a:txBody>
                  <a:tcPr/>
                </a:tc>
                <a:extLst>
                  <a:ext uri="{0D108BD9-81ED-4DB2-BD59-A6C34878D82A}">
                    <a16:rowId xmlns:a16="http://schemas.microsoft.com/office/drawing/2014/main" val="591078510"/>
                  </a:ext>
                </a:extLst>
              </a:tr>
              <a:tr h="522129">
                <a:tc>
                  <a:txBody>
                    <a:bodyPr/>
                    <a:lstStyle/>
                    <a:p>
                      <a:r>
                        <a:rPr lang="en-US" dirty="0"/>
                        <a:t>Week 6 : 18/03</a:t>
                      </a:r>
                      <a:endParaRPr lang="en-BE" dirty="0"/>
                    </a:p>
                  </a:txBody>
                  <a:tcPr/>
                </a:tc>
                <a:tc>
                  <a:txBody>
                    <a:bodyPr/>
                    <a:lstStyle/>
                    <a:p>
                      <a:endParaRPr lang="en-BE" dirty="0"/>
                    </a:p>
                  </a:txBody>
                  <a:tcPr/>
                </a:tc>
                <a:tc>
                  <a:txBody>
                    <a:bodyPr/>
                    <a:lstStyle/>
                    <a:p>
                      <a:endParaRPr lang="en-BE" dirty="0"/>
                    </a:p>
                  </a:txBody>
                  <a:tcPr/>
                </a:tc>
                <a:extLst>
                  <a:ext uri="{0D108BD9-81ED-4DB2-BD59-A6C34878D82A}">
                    <a16:rowId xmlns:a16="http://schemas.microsoft.com/office/drawing/2014/main" val="1977941231"/>
                  </a:ext>
                </a:extLst>
              </a:tr>
              <a:tr h="625607">
                <a:tc>
                  <a:txBody>
                    <a:bodyPr/>
                    <a:lstStyle/>
                    <a:p>
                      <a:r>
                        <a:rPr lang="en-US" dirty="0"/>
                        <a:t>Week 7 : 25/03</a:t>
                      </a:r>
                      <a:endParaRPr lang="en-BE" dirty="0"/>
                    </a:p>
                  </a:txBody>
                  <a:tcPr/>
                </a:tc>
                <a:tc>
                  <a:txBody>
                    <a:bodyPr/>
                    <a:lstStyle/>
                    <a:p>
                      <a:endParaRPr lang="en-BE" dirty="0"/>
                    </a:p>
                  </a:txBody>
                  <a:tcPr/>
                </a:tc>
                <a:tc>
                  <a:txBody>
                    <a:bodyPr/>
                    <a:lstStyle/>
                    <a:p>
                      <a:endParaRPr lang="en-BE" dirty="0"/>
                    </a:p>
                  </a:txBody>
                  <a:tcPr/>
                </a:tc>
                <a:extLst>
                  <a:ext uri="{0D108BD9-81ED-4DB2-BD59-A6C34878D82A}">
                    <a16:rowId xmlns:a16="http://schemas.microsoft.com/office/drawing/2014/main" val="4124929814"/>
                  </a:ext>
                </a:extLst>
              </a:tr>
              <a:tr h="625607">
                <a:tc>
                  <a:txBody>
                    <a:bodyPr/>
                    <a:lstStyle/>
                    <a:p>
                      <a:r>
                        <a:rPr lang="en-US" dirty="0"/>
                        <a:t>Week 8 : 15/04</a:t>
                      </a:r>
                      <a:endParaRPr lang="en-BE" dirty="0"/>
                    </a:p>
                  </a:txBody>
                  <a:tcPr/>
                </a:tc>
                <a:tc>
                  <a:txBody>
                    <a:bodyPr/>
                    <a:lstStyle/>
                    <a:p>
                      <a:r>
                        <a:rPr lang="en-US" dirty="0"/>
                        <a:t>Procedural generation</a:t>
                      </a:r>
                      <a:endParaRPr lang="en-BE" dirty="0"/>
                    </a:p>
                  </a:txBody>
                  <a:tcPr/>
                </a:tc>
                <a:tc>
                  <a:txBody>
                    <a:bodyPr/>
                    <a:lstStyle/>
                    <a:p>
                      <a:r>
                        <a:rPr lang="en-US" dirty="0"/>
                        <a:t>Procedural generation lab</a:t>
                      </a:r>
                      <a:endParaRPr lang="en-BE" dirty="0"/>
                    </a:p>
                  </a:txBody>
                  <a:tcPr/>
                </a:tc>
                <a:extLst>
                  <a:ext uri="{0D108BD9-81ED-4DB2-BD59-A6C34878D82A}">
                    <a16:rowId xmlns:a16="http://schemas.microsoft.com/office/drawing/2014/main" val="3765942271"/>
                  </a:ext>
                </a:extLst>
              </a:tr>
              <a:tr h="522129">
                <a:tc>
                  <a:txBody>
                    <a:bodyPr/>
                    <a:lstStyle/>
                    <a:p>
                      <a:r>
                        <a:rPr lang="en-US" dirty="0"/>
                        <a:t>Week 9 : 22/04</a:t>
                      </a:r>
                      <a:endParaRPr lang="en-BE" dirty="0"/>
                    </a:p>
                  </a:txBody>
                  <a:tcPr/>
                </a:tc>
                <a:tc>
                  <a:txBody>
                    <a:bodyPr/>
                    <a:lstStyle/>
                    <a:p>
                      <a:r>
                        <a:rPr lang="en-US" dirty="0"/>
                        <a:t>Project explanation</a:t>
                      </a:r>
                      <a:endParaRPr lang="en-BE" dirty="0"/>
                    </a:p>
                  </a:txBody>
                  <a:tcPr/>
                </a:tc>
                <a:tc>
                  <a:txBody>
                    <a:bodyPr/>
                    <a:lstStyle/>
                    <a:p>
                      <a:r>
                        <a:rPr lang="en-US" dirty="0"/>
                        <a:t>Project lab</a:t>
                      </a:r>
                      <a:endParaRPr lang="en-BE" dirty="0"/>
                    </a:p>
                  </a:txBody>
                  <a:tcPr/>
                </a:tc>
                <a:extLst>
                  <a:ext uri="{0D108BD9-81ED-4DB2-BD59-A6C34878D82A}">
                    <a16:rowId xmlns:a16="http://schemas.microsoft.com/office/drawing/2014/main" val="3316500834"/>
                  </a:ext>
                </a:extLst>
              </a:tr>
              <a:tr h="625607">
                <a:tc>
                  <a:txBody>
                    <a:bodyPr/>
                    <a:lstStyle/>
                    <a:p>
                      <a:r>
                        <a:rPr lang="en-US" dirty="0"/>
                        <a:t>Week 10 : 29/04</a:t>
                      </a:r>
                      <a:endParaRPr lang="en-BE" dirty="0"/>
                    </a:p>
                  </a:txBody>
                  <a:tcPr/>
                </a:tc>
                <a:tc>
                  <a:txBody>
                    <a:bodyPr/>
                    <a:lstStyle/>
                    <a:p>
                      <a:r>
                        <a:rPr lang="en-US" dirty="0"/>
                        <a:t>Guest Lecture</a:t>
                      </a:r>
                      <a:br>
                        <a:rPr lang="en-US" dirty="0"/>
                      </a:br>
                      <a:r>
                        <a:rPr lang="en-US" dirty="0"/>
                        <a:t>Project Labs</a:t>
                      </a:r>
                      <a:endParaRPr lang="en-BE" dirty="0"/>
                    </a:p>
                  </a:txBody>
                  <a:tcPr/>
                </a:tc>
                <a:tc>
                  <a:txBody>
                    <a:bodyPr/>
                    <a:lstStyle/>
                    <a:p>
                      <a:r>
                        <a:rPr lang="en-US" dirty="0"/>
                        <a:t>Guest Lecture</a:t>
                      </a:r>
                      <a:br>
                        <a:rPr lang="en-US" dirty="0"/>
                      </a:br>
                      <a:r>
                        <a:rPr lang="en-US" dirty="0"/>
                        <a:t>Project Labs</a:t>
                      </a:r>
                      <a:endParaRPr lang="en-BE" dirty="0"/>
                    </a:p>
                  </a:txBody>
                  <a:tcPr/>
                </a:tc>
                <a:extLst>
                  <a:ext uri="{0D108BD9-81ED-4DB2-BD59-A6C34878D82A}">
                    <a16:rowId xmlns:a16="http://schemas.microsoft.com/office/drawing/2014/main" val="2746961463"/>
                  </a:ext>
                </a:extLst>
              </a:tr>
              <a:tr h="522129">
                <a:tc>
                  <a:txBody>
                    <a:bodyPr/>
                    <a:lstStyle/>
                    <a:p>
                      <a:r>
                        <a:rPr lang="en-US" dirty="0"/>
                        <a:t>Week 11 : </a:t>
                      </a:r>
                      <a:endParaRPr lang="en-BE" dirty="0"/>
                    </a:p>
                  </a:txBody>
                  <a:tcPr/>
                </a:tc>
                <a:tc>
                  <a:txBody>
                    <a:bodyPr/>
                    <a:lstStyle/>
                    <a:p>
                      <a:r>
                        <a:rPr lang="en-US" dirty="0"/>
                        <a:t>Revision</a:t>
                      </a:r>
                      <a:endParaRPr lang="en-BE" dirty="0"/>
                    </a:p>
                  </a:txBody>
                  <a:tcPr/>
                </a:tc>
                <a:tc>
                  <a:txBody>
                    <a:bodyPr/>
                    <a:lstStyle/>
                    <a:p>
                      <a:r>
                        <a:rPr lang="en-US" dirty="0"/>
                        <a:t>Revision</a:t>
                      </a:r>
                      <a:endParaRPr lang="en-BE" dirty="0"/>
                    </a:p>
                  </a:txBody>
                  <a:tcPr/>
                </a:tc>
                <a:extLst>
                  <a:ext uri="{0D108BD9-81ED-4DB2-BD59-A6C34878D82A}">
                    <a16:rowId xmlns:a16="http://schemas.microsoft.com/office/drawing/2014/main" val="776446022"/>
                  </a:ext>
                </a:extLst>
              </a:tr>
            </a:tbl>
          </a:graphicData>
        </a:graphic>
      </p:graphicFrame>
      <p:sp>
        <p:nvSpPr>
          <p:cNvPr id="3" name="TextBox 2">
            <a:extLst>
              <a:ext uri="{FF2B5EF4-FFF2-40B4-BE49-F238E27FC236}">
                <a16:creationId xmlns:a16="http://schemas.microsoft.com/office/drawing/2014/main" id="{32CA2FDF-DB18-1375-BEF9-8DA80A37B085}"/>
              </a:ext>
            </a:extLst>
          </p:cNvPr>
          <p:cNvSpPr txBox="1"/>
          <p:nvPr/>
        </p:nvSpPr>
        <p:spPr>
          <a:xfrm>
            <a:off x="379445" y="1741714"/>
            <a:ext cx="4180114" cy="523220"/>
          </a:xfrm>
          <a:prstGeom prst="rect">
            <a:avLst/>
          </a:prstGeom>
          <a:noFill/>
        </p:spPr>
        <p:txBody>
          <a:bodyPr wrap="square" rtlCol="0">
            <a:spAutoFit/>
          </a:bodyPr>
          <a:lstStyle/>
          <a:p>
            <a:r>
              <a:rPr lang="en-US" sz="2800" dirty="0"/>
              <a:t>Highly likely to change </a:t>
            </a:r>
            <a:r>
              <a:rPr lang="en-US" sz="2800" dirty="0">
                <a:sym typeface="Wingdings" panose="05000000000000000000" pitchFamily="2" charset="2"/>
              </a:rPr>
              <a:t></a:t>
            </a:r>
            <a:endParaRPr lang="en-BE" sz="2800" dirty="0"/>
          </a:p>
        </p:txBody>
      </p:sp>
      <p:sp>
        <p:nvSpPr>
          <p:cNvPr id="7" name="Rectangle 6">
            <a:extLst>
              <a:ext uri="{FF2B5EF4-FFF2-40B4-BE49-F238E27FC236}">
                <a16:creationId xmlns:a16="http://schemas.microsoft.com/office/drawing/2014/main" id="{93A3E17F-4F06-7CE1-7EDB-8AB63537B683}"/>
              </a:ext>
            </a:extLst>
          </p:cNvPr>
          <p:cNvSpPr/>
          <p:nvPr/>
        </p:nvSpPr>
        <p:spPr>
          <a:xfrm>
            <a:off x="7147249" y="1038808"/>
            <a:ext cx="2276669" cy="525549"/>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noFill/>
            </a:endParaRPr>
          </a:p>
        </p:txBody>
      </p:sp>
    </p:spTree>
    <p:extLst>
      <p:ext uri="{BB962C8B-B14F-4D97-AF65-F5344CB8AC3E}">
        <p14:creationId xmlns:p14="http://schemas.microsoft.com/office/powerpoint/2010/main" val="2763300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E4832-2A04-C12C-19D4-31749239F40B}"/>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047AE3BC-0C59-672A-39CD-A07B2795AD24}"/>
              </a:ext>
            </a:extLst>
          </p:cNvPr>
          <p:cNvSpPr txBox="1"/>
          <p:nvPr/>
        </p:nvSpPr>
        <p:spPr>
          <a:xfrm>
            <a:off x="989902" y="1690689"/>
            <a:ext cx="4925486"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sym typeface="Wingdings" panose="05000000000000000000" pitchFamily="2" charset="2"/>
              </a:rPr>
              <a:t> </a:t>
            </a:r>
            <a:r>
              <a:rPr lang="en-US" sz="2800" dirty="0"/>
              <a:t>Unity basics </a:t>
            </a:r>
            <a:r>
              <a:rPr lang="en-US" sz="2800" dirty="0">
                <a:sym typeface="Wingdings" panose="05000000000000000000" pitchFamily="2" charset="2"/>
              </a:rPr>
              <a:t></a:t>
            </a:r>
            <a:endParaRPr lang="en-US" sz="2800" dirty="0"/>
          </a:p>
          <a:p>
            <a:pPr marL="285750" indent="-285750">
              <a:buFont typeface="Arial" panose="020B0604020202020204" pitchFamily="34" charset="0"/>
              <a:buChar char="•"/>
            </a:pPr>
            <a:r>
              <a:rPr lang="en-US" sz="2800" dirty="0"/>
              <a:t>3D coordinates</a:t>
            </a:r>
          </a:p>
          <a:p>
            <a:pPr marL="285750" indent="-285750">
              <a:buFont typeface="Arial" panose="020B0604020202020204" pitchFamily="34" charset="0"/>
              <a:buChar char="•"/>
            </a:pPr>
            <a:r>
              <a:rPr lang="en-US" sz="2800" dirty="0"/>
              <a:t>3D transforms</a:t>
            </a:r>
          </a:p>
          <a:p>
            <a:pPr marL="285750" indent="-285750">
              <a:buFont typeface="Arial" panose="020B0604020202020204" pitchFamily="34" charset="0"/>
              <a:buChar char="•"/>
            </a:pPr>
            <a:r>
              <a:rPr lang="en-US" sz="2800" dirty="0"/>
              <a:t>Why they are important</a:t>
            </a:r>
          </a:p>
          <a:p>
            <a:pPr marL="285750" indent="-285750">
              <a:buFont typeface="Arial" panose="020B0604020202020204" pitchFamily="34" charset="0"/>
              <a:buChar char="•"/>
            </a:pPr>
            <a:r>
              <a:rPr lang="en-US" sz="2800" dirty="0"/>
              <a:t>Dot &amp; Cross product</a:t>
            </a:r>
          </a:p>
          <a:p>
            <a:pPr marL="285750" indent="-285750">
              <a:buFont typeface="Arial" panose="020B0604020202020204" pitchFamily="34" charset="0"/>
              <a:buChar char="•"/>
            </a:pPr>
            <a:r>
              <a:rPr lang="en-US" sz="2800" dirty="0"/>
              <a:t>Quaternions</a:t>
            </a:r>
          </a:p>
        </p:txBody>
      </p:sp>
    </p:spTree>
    <p:extLst>
      <p:ext uri="{BB962C8B-B14F-4D97-AF65-F5344CB8AC3E}">
        <p14:creationId xmlns:p14="http://schemas.microsoft.com/office/powerpoint/2010/main" val="3945604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FC3BD-4595-860F-8D51-F6AFB6A7D9ED}"/>
              </a:ext>
            </a:extLst>
          </p:cNvPr>
          <p:cNvSpPr>
            <a:spLocks noGrp="1"/>
          </p:cNvSpPr>
          <p:nvPr>
            <p:ph type="title"/>
          </p:nvPr>
        </p:nvSpPr>
        <p:spPr>
          <a:xfrm>
            <a:off x="590939" y="365125"/>
            <a:ext cx="10762861" cy="1325563"/>
          </a:xfrm>
        </p:spPr>
        <p:txBody>
          <a:bodyPr/>
          <a:lstStyle/>
          <a:p>
            <a:r>
              <a:rPr lang="en-US" dirty="0"/>
              <a:t>Unity external architecture</a:t>
            </a:r>
            <a:endParaRPr lang="en-BE" dirty="0"/>
          </a:p>
        </p:txBody>
      </p:sp>
      <p:sp>
        <p:nvSpPr>
          <p:cNvPr id="4" name="Rectangle 3">
            <a:extLst>
              <a:ext uri="{FF2B5EF4-FFF2-40B4-BE49-F238E27FC236}">
                <a16:creationId xmlns:a16="http://schemas.microsoft.com/office/drawing/2014/main" id="{C1C4EA2B-533E-FA3D-C92E-CB54BD1BD376}"/>
              </a:ext>
            </a:extLst>
          </p:cNvPr>
          <p:cNvSpPr/>
          <p:nvPr/>
        </p:nvSpPr>
        <p:spPr>
          <a:xfrm>
            <a:off x="2183363" y="1449356"/>
            <a:ext cx="7364963" cy="2662334"/>
          </a:xfrm>
          <a:prstGeom prst="rect">
            <a:avLst/>
          </a:prstGeom>
          <a:solidFill>
            <a:schemeClr val="accent2">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Unity</a:t>
            </a:r>
            <a:endParaRPr lang="en-BE" dirty="0">
              <a:solidFill>
                <a:schemeClr val="tx1"/>
              </a:solidFill>
            </a:endParaRPr>
          </a:p>
        </p:txBody>
      </p:sp>
      <p:sp>
        <p:nvSpPr>
          <p:cNvPr id="5" name="Rectangle 4">
            <a:extLst>
              <a:ext uri="{FF2B5EF4-FFF2-40B4-BE49-F238E27FC236}">
                <a16:creationId xmlns:a16="http://schemas.microsoft.com/office/drawing/2014/main" id="{43DC3DA0-DD5C-4C12-CF90-BA8BB55597FD}"/>
              </a:ext>
            </a:extLst>
          </p:cNvPr>
          <p:cNvSpPr/>
          <p:nvPr/>
        </p:nvSpPr>
        <p:spPr>
          <a:xfrm>
            <a:off x="2134378" y="4601545"/>
            <a:ext cx="1188098" cy="671805"/>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DirectX</a:t>
            </a:r>
            <a:endParaRPr lang="en-BE" dirty="0">
              <a:solidFill>
                <a:schemeClr val="tx1"/>
              </a:solidFill>
            </a:endParaRPr>
          </a:p>
        </p:txBody>
      </p:sp>
      <p:sp>
        <p:nvSpPr>
          <p:cNvPr id="6" name="Rectangle 5">
            <a:extLst>
              <a:ext uri="{FF2B5EF4-FFF2-40B4-BE49-F238E27FC236}">
                <a16:creationId xmlns:a16="http://schemas.microsoft.com/office/drawing/2014/main" id="{9F2156F6-BAC2-AF3C-13BB-B68B24356BC6}"/>
              </a:ext>
            </a:extLst>
          </p:cNvPr>
          <p:cNvSpPr/>
          <p:nvPr/>
        </p:nvSpPr>
        <p:spPr>
          <a:xfrm>
            <a:off x="3403340" y="4601544"/>
            <a:ext cx="1287626" cy="671805"/>
          </a:xfrm>
          <a:prstGeom prst="rect">
            <a:avLst/>
          </a:prstGeom>
          <a:solidFill>
            <a:srgbClr val="FF797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Vulkan</a:t>
            </a:r>
            <a:endParaRPr lang="en-BE" dirty="0">
              <a:solidFill>
                <a:schemeClr val="tx1"/>
              </a:solidFill>
            </a:endParaRPr>
          </a:p>
        </p:txBody>
      </p:sp>
      <p:sp>
        <p:nvSpPr>
          <p:cNvPr id="7" name="Rectangle 6">
            <a:extLst>
              <a:ext uri="{FF2B5EF4-FFF2-40B4-BE49-F238E27FC236}">
                <a16:creationId xmlns:a16="http://schemas.microsoft.com/office/drawing/2014/main" id="{ADE9A631-2E5C-1768-8A3E-0B237A96AE9B}"/>
              </a:ext>
            </a:extLst>
          </p:cNvPr>
          <p:cNvSpPr/>
          <p:nvPr/>
        </p:nvSpPr>
        <p:spPr>
          <a:xfrm>
            <a:off x="4771830" y="4601544"/>
            <a:ext cx="1306286" cy="671805"/>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OpenGL </a:t>
            </a:r>
            <a:r>
              <a:rPr lang="en-US" dirty="0">
                <a:solidFill>
                  <a:schemeClr val="tx1"/>
                </a:solidFill>
                <a:sym typeface="Wingdings" panose="05000000000000000000" pitchFamily="2" charset="2"/>
              </a:rPr>
              <a:t></a:t>
            </a:r>
            <a:endParaRPr lang="en-BE" dirty="0">
              <a:solidFill>
                <a:schemeClr val="tx1"/>
              </a:solidFill>
            </a:endParaRPr>
          </a:p>
        </p:txBody>
      </p:sp>
      <p:sp>
        <p:nvSpPr>
          <p:cNvPr id="8" name="Rectangle 7">
            <a:extLst>
              <a:ext uri="{FF2B5EF4-FFF2-40B4-BE49-F238E27FC236}">
                <a16:creationId xmlns:a16="http://schemas.microsoft.com/office/drawing/2014/main" id="{92FEE8C0-D141-D8AC-1A2C-54CC5D3F5863}"/>
              </a:ext>
            </a:extLst>
          </p:cNvPr>
          <p:cNvSpPr/>
          <p:nvPr/>
        </p:nvSpPr>
        <p:spPr>
          <a:xfrm>
            <a:off x="2152262" y="5763208"/>
            <a:ext cx="1188098" cy="671805"/>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Intel</a:t>
            </a:r>
            <a:endParaRPr lang="en-BE" dirty="0">
              <a:solidFill>
                <a:schemeClr val="tx1"/>
              </a:solidFill>
            </a:endParaRPr>
          </a:p>
        </p:txBody>
      </p:sp>
      <p:sp>
        <p:nvSpPr>
          <p:cNvPr id="9" name="Rectangle 8">
            <a:extLst>
              <a:ext uri="{FF2B5EF4-FFF2-40B4-BE49-F238E27FC236}">
                <a16:creationId xmlns:a16="http://schemas.microsoft.com/office/drawing/2014/main" id="{E65F9278-C4F7-28B4-4CE2-A0B41960EDCF}"/>
              </a:ext>
            </a:extLst>
          </p:cNvPr>
          <p:cNvSpPr/>
          <p:nvPr/>
        </p:nvSpPr>
        <p:spPr>
          <a:xfrm>
            <a:off x="3421224" y="5763206"/>
            <a:ext cx="1287626" cy="671805"/>
          </a:xfrm>
          <a:prstGeom prst="rect">
            <a:avLst/>
          </a:prstGeom>
          <a:solidFill>
            <a:srgbClr val="FF797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AMD</a:t>
            </a:r>
            <a:endParaRPr lang="en-BE" dirty="0">
              <a:solidFill>
                <a:schemeClr val="tx1"/>
              </a:solidFill>
            </a:endParaRPr>
          </a:p>
        </p:txBody>
      </p:sp>
      <p:sp>
        <p:nvSpPr>
          <p:cNvPr id="10" name="Rectangle 9">
            <a:extLst>
              <a:ext uri="{FF2B5EF4-FFF2-40B4-BE49-F238E27FC236}">
                <a16:creationId xmlns:a16="http://schemas.microsoft.com/office/drawing/2014/main" id="{815D4139-D39C-8531-CAA0-A738958A27D8}"/>
              </a:ext>
            </a:extLst>
          </p:cNvPr>
          <p:cNvSpPr/>
          <p:nvPr/>
        </p:nvSpPr>
        <p:spPr>
          <a:xfrm>
            <a:off x="4789714" y="5763207"/>
            <a:ext cx="1306286" cy="671805"/>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NVIDIA</a:t>
            </a:r>
            <a:endParaRPr lang="en-BE" dirty="0">
              <a:solidFill>
                <a:schemeClr val="tx1"/>
              </a:solidFill>
            </a:endParaRPr>
          </a:p>
        </p:txBody>
      </p:sp>
      <p:cxnSp>
        <p:nvCxnSpPr>
          <p:cNvPr id="12" name="Straight Arrow Connector 11">
            <a:extLst>
              <a:ext uri="{FF2B5EF4-FFF2-40B4-BE49-F238E27FC236}">
                <a16:creationId xmlns:a16="http://schemas.microsoft.com/office/drawing/2014/main" id="{8C1C52AD-737E-CC69-854B-4071AEF4D01F}"/>
              </a:ext>
            </a:extLst>
          </p:cNvPr>
          <p:cNvCxnSpPr>
            <a:stCxn id="5" idx="2"/>
            <a:endCxn id="10" idx="0"/>
          </p:cNvCxnSpPr>
          <p:nvPr/>
        </p:nvCxnSpPr>
        <p:spPr>
          <a:xfrm>
            <a:off x="2728427" y="5273350"/>
            <a:ext cx="2714430" cy="4898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C8E7F67E-10BC-0586-5056-B9755ABB7BF0}"/>
              </a:ext>
            </a:extLst>
          </p:cNvPr>
          <p:cNvCxnSpPr>
            <a:stCxn id="5" idx="2"/>
            <a:endCxn id="8" idx="0"/>
          </p:cNvCxnSpPr>
          <p:nvPr/>
        </p:nvCxnSpPr>
        <p:spPr>
          <a:xfrm>
            <a:off x="2728427" y="5273350"/>
            <a:ext cx="17884" cy="489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830870B6-ED42-AE1B-EC44-A3901DDDF02F}"/>
              </a:ext>
            </a:extLst>
          </p:cNvPr>
          <p:cNvCxnSpPr>
            <a:cxnSpLocks/>
          </p:cNvCxnSpPr>
          <p:nvPr/>
        </p:nvCxnSpPr>
        <p:spPr>
          <a:xfrm>
            <a:off x="2735035" y="5261682"/>
            <a:ext cx="1336610" cy="489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6802A978-485C-9334-6789-63393947038F}"/>
              </a:ext>
            </a:extLst>
          </p:cNvPr>
          <p:cNvCxnSpPr>
            <a:stCxn id="6" idx="2"/>
          </p:cNvCxnSpPr>
          <p:nvPr/>
        </p:nvCxnSpPr>
        <p:spPr>
          <a:xfrm flipH="1">
            <a:off x="2746311" y="5273349"/>
            <a:ext cx="1300842" cy="4781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81324E07-033C-1C0B-012E-A0E7889CDBDF}"/>
              </a:ext>
            </a:extLst>
          </p:cNvPr>
          <p:cNvCxnSpPr>
            <a:stCxn id="6" idx="2"/>
            <a:endCxn id="9" idx="0"/>
          </p:cNvCxnSpPr>
          <p:nvPr/>
        </p:nvCxnSpPr>
        <p:spPr>
          <a:xfrm>
            <a:off x="4047153" y="5273349"/>
            <a:ext cx="17884" cy="4898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6AD61538-BB91-5261-4941-35C732A2D3FA}"/>
              </a:ext>
            </a:extLst>
          </p:cNvPr>
          <p:cNvCxnSpPr>
            <a:stCxn id="6" idx="2"/>
            <a:endCxn id="10" idx="0"/>
          </p:cNvCxnSpPr>
          <p:nvPr/>
        </p:nvCxnSpPr>
        <p:spPr>
          <a:xfrm>
            <a:off x="4047153" y="5273349"/>
            <a:ext cx="1395704" cy="489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678476ED-D70D-0FD9-2A03-3C7AC1DD6942}"/>
              </a:ext>
            </a:extLst>
          </p:cNvPr>
          <p:cNvCxnSpPr>
            <a:stCxn id="7" idx="2"/>
            <a:endCxn id="10" idx="0"/>
          </p:cNvCxnSpPr>
          <p:nvPr/>
        </p:nvCxnSpPr>
        <p:spPr>
          <a:xfrm>
            <a:off x="5424973" y="5273349"/>
            <a:ext cx="17884" cy="489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23111ECB-BDD3-C2EA-CEB0-0EB6F639576C}"/>
              </a:ext>
            </a:extLst>
          </p:cNvPr>
          <p:cNvCxnSpPr>
            <a:stCxn id="7" idx="2"/>
            <a:endCxn id="9" idx="0"/>
          </p:cNvCxnSpPr>
          <p:nvPr/>
        </p:nvCxnSpPr>
        <p:spPr>
          <a:xfrm flipH="1">
            <a:off x="4065037" y="5273349"/>
            <a:ext cx="1359936" cy="4898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FA3971B9-0902-7EAB-08B2-7F8B6217CB4E}"/>
              </a:ext>
            </a:extLst>
          </p:cNvPr>
          <p:cNvCxnSpPr>
            <a:stCxn id="7" idx="2"/>
            <a:endCxn id="8" idx="0"/>
          </p:cNvCxnSpPr>
          <p:nvPr/>
        </p:nvCxnSpPr>
        <p:spPr>
          <a:xfrm flipH="1">
            <a:off x="2746311" y="5273349"/>
            <a:ext cx="2678662" cy="4898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07B6C9AC-8AD1-9B7B-B64F-E4A786B9B695}"/>
              </a:ext>
            </a:extLst>
          </p:cNvPr>
          <p:cNvCxnSpPr/>
          <p:nvPr/>
        </p:nvCxnSpPr>
        <p:spPr>
          <a:xfrm>
            <a:off x="2544147" y="4111690"/>
            <a:ext cx="0" cy="4898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D5F96531-017F-9F94-C98B-32C40B3CD090}"/>
              </a:ext>
            </a:extLst>
          </p:cNvPr>
          <p:cNvCxnSpPr>
            <a:endCxn id="6" idx="0"/>
          </p:cNvCxnSpPr>
          <p:nvPr/>
        </p:nvCxnSpPr>
        <p:spPr>
          <a:xfrm>
            <a:off x="3987282" y="4111690"/>
            <a:ext cx="59871" cy="4898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F34B8C99-3D74-3636-9A6B-7BAC3AC6B266}"/>
              </a:ext>
            </a:extLst>
          </p:cNvPr>
          <p:cNvCxnSpPr>
            <a:endCxn id="7" idx="0"/>
          </p:cNvCxnSpPr>
          <p:nvPr/>
        </p:nvCxnSpPr>
        <p:spPr>
          <a:xfrm>
            <a:off x="5368212" y="4111690"/>
            <a:ext cx="56761" cy="4898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Rectangle 35">
            <a:extLst>
              <a:ext uri="{FF2B5EF4-FFF2-40B4-BE49-F238E27FC236}">
                <a16:creationId xmlns:a16="http://schemas.microsoft.com/office/drawing/2014/main" id="{1402039B-917C-A79B-8282-8DDAFF73CA20}"/>
              </a:ext>
            </a:extLst>
          </p:cNvPr>
          <p:cNvSpPr/>
          <p:nvPr/>
        </p:nvSpPr>
        <p:spPr>
          <a:xfrm>
            <a:off x="6444343" y="4589878"/>
            <a:ext cx="1443135" cy="671804"/>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OS Support</a:t>
            </a:r>
            <a:endParaRPr lang="en-BE" dirty="0">
              <a:solidFill>
                <a:schemeClr val="tx1"/>
              </a:solidFill>
            </a:endParaRPr>
          </a:p>
        </p:txBody>
      </p:sp>
      <p:cxnSp>
        <p:nvCxnSpPr>
          <p:cNvPr id="38" name="Straight Arrow Connector 37">
            <a:extLst>
              <a:ext uri="{FF2B5EF4-FFF2-40B4-BE49-F238E27FC236}">
                <a16:creationId xmlns:a16="http://schemas.microsoft.com/office/drawing/2014/main" id="{D21A2F82-9EF6-9C1F-4FEA-2764138DECC0}"/>
              </a:ext>
            </a:extLst>
          </p:cNvPr>
          <p:cNvCxnSpPr>
            <a:endCxn id="36" idx="0"/>
          </p:cNvCxnSpPr>
          <p:nvPr/>
        </p:nvCxnSpPr>
        <p:spPr>
          <a:xfrm>
            <a:off x="7165910" y="4111690"/>
            <a:ext cx="1" cy="478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AC205C1D-BA9D-62F3-1514-12BFC3C06BB7}"/>
              </a:ext>
            </a:extLst>
          </p:cNvPr>
          <p:cNvSpPr txBox="1"/>
          <p:nvPr/>
        </p:nvSpPr>
        <p:spPr>
          <a:xfrm>
            <a:off x="390569" y="5868275"/>
            <a:ext cx="949491" cy="461665"/>
          </a:xfrm>
          <a:prstGeom prst="rect">
            <a:avLst/>
          </a:prstGeom>
          <a:noFill/>
        </p:spPr>
        <p:txBody>
          <a:bodyPr wrap="none" rtlCol="0">
            <a:spAutoFit/>
          </a:bodyPr>
          <a:lstStyle/>
          <a:p>
            <a:r>
              <a:rPr lang="en-US" sz="2400" dirty="0"/>
              <a:t>Driver</a:t>
            </a:r>
            <a:endParaRPr lang="en-BE" sz="2400" dirty="0"/>
          </a:p>
        </p:txBody>
      </p:sp>
      <p:sp>
        <p:nvSpPr>
          <p:cNvPr id="40" name="TextBox 39">
            <a:extLst>
              <a:ext uri="{FF2B5EF4-FFF2-40B4-BE49-F238E27FC236}">
                <a16:creationId xmlns:a16="http://schemas.microsoft.com/office/drawing/2014/main" id="{7864610B-EDE3-DCAC-DABE-099692034CB8}"/>
              </a:ext>
            </a:extLst>
          </p:cNvPr>
          <p:cNvSpPr txBox="1"/>
          <p:nvPr/>
        </p:nvSpPr>
        <p:spPr>
          <a:xfrm>
            <a:off x="98886" y="4706613"/>
            <a:ext cx="1754135" cy="461665"/>
          </a:xfrm>
          <a:prstGeom prst="rect">
            <a:avLst/>
          </a:prstGeom>
          <a:noFill/>
        </p:spPr>
        <p:txBody>
          <a:bodyPr wrap="none" rtlCol="0">
            <a:spAutoFit/>
          </a:bodyPr>
          <a:lstStyle/>
          <a:p>
            <a:r>
              <a:rPr lang="en-US" sz="2400" dirty="0"/>
              <a:t>Graphics API</a:t>
            </a:r>
            <a:endParaRPr lang="en-BE" sz="2400" dirty="0"/>
          </a:p>
        </p:txBody>
      </p:sp>
      <p:sp>
        <p:nvSpPr>
          <p:cNvPr id="41" name="Rectangle 40">
            <a:extLst>
              <a:ext uri="{FF2B5EF4-FFF2-40B4-BE49-F238E27FC236}">
                <a16:creationId xmlns:a16="http://schemas.microsoft.com/office/drawing/2014/main" id="{9DD7DE0F-2AEA-DA9B-B5A7-BC527CB84A29}"/>
              </a:ext>
            </a:extLst>
          </p:cNvPr>
          <p:cNvSpPr/>
          <p:nvPr/>
        </p:nvSpPr>
        <p:spPr>
          <a:xfrm>
            <a:off x="8105191" y="4601545"/>
            <a:ext cx="1443135" cy="671804"/>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Many Others</a:t>
            </a:r>
            <a:endParaRPr lang="en-BE" dirty="0">
              <a:solidFill>
                <a:schemeClr val="tx1"/>
              </a:solidFill>
            </a:endParaRPr>
          </a:p>
        </p:txBody>
      </p:sp>
      <p:cxnSp>
        <p:nvCxnSpPr>
          <p:cNvPr id="42" name="Straight Arrow Connector 41">
            <a:extLst>
              <a:ext uri="{FF2B5EF4-FFF2-40B4-BE49-F238E27FC236}">
                <a16:creationId xmlns:a16="http://schemas.microsoft.com/office/drawing/2014/main" id="{6D09DBFB-AAE6-5961-3C80-45B27B4EED3A}"/>
              </a:ext>
            </a:extLst>
          </p:cNvPr>
          <p:cNvCxnSpPr/>
          <p:nvPr/>
        </p:nvCxnSpPr>
        <p:spPr>
          <a:xfrm>
            <a:off x="8826758" y="4098475"/>
            <a:ext cx="1" cy="478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1759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8CE86-B9BD-3A7E-1F4D-15C91AC3FAD9}"/>
              </a:ext>
            </a:extLst>
          </p:cNvPr>
          <p:cNvSpPr>
            <a:spLocks noGrp="1"/>
          </p:cNvSpPr>
          <p:nvPr>
            <p:ph type="title"/>
          </p:nvPr>
        </p:nvSpPr>
        <p:spPr>
          <a:xfrm>
            <a:off x="676469" y="91665"/>
            <a:ext cx="10515600" cy="1325563"/>
          </a:xfrm>
        </p:spPr>
        <p:txBody>
          <a:bodyPr/>
          <a:lstStyle/>
          <a:p>
            <a:r>
              <a:rPr lang="en-US" dirty="0"/>
              <a:t>Unity internal architecture : Scene</a:t>
            </a:r>
            <a:endParaRPr lang="en-BE" dirty="0"/>
          </a:p>
        </p:txBody>
      </p:sp>
      <p:sp>
        <p:nvSpPr>
          <p:cNvPr id="4" name="TextBox 3">
            <a:extLst>
              <a:ext uri="{FF2B5EF4-FFF2-40B4-BE49-F238E27FC236}">
                <a16:creationId xmlns:a16="http://schemas.microsoft.com/office/drawing/2014/main" id="{BFB579C5-01C7-3111-42CE-84AFA7955419}"/>
              </a:ext>
            </a:extLst>
          </p:cNvPr>
          <p:cNvSpPr txBox="1"/>
          <p:nvPr/>
        </p:nvSpPr>
        <p:spPr>
          <a:xfrm>
            <a:off x="475158" y="1168174"/>
            <a:ext cx="7673576"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A scene is the highest level container we will interact with</a:t>
            </a:r>
          </a:p>
          <a:p>
            <a:pPr marL="285750" indent="-285750">
              <a:buFont typeface="Arial" panose="020B0604020202020204" pitchFamily="34" charset="0"/>
              <a:buChar char="•"/>
            </a:pPr>
            <a:r>
              <a:rPr lang="en-US" sz="2400" dirty="0"/>
              <a:t>They are a lot like “levels”</a:t>
            </a:r>
          </a:p>
          <a:p>
            <a:pPr marL="285750" indent="-285750">
              <a:buFont typeface="Arial" panose="020B0604020202020204" pitchFamily="34" charset="0"/>
              <a:buChar char="•"/>
            </a:pPr>
            <a:r>
              <a:rPr lang="en-US" sz="2400" dirty="0"/>
              <a:t>They contain all of our </a:t>
            </a:r>
            <a:r>
              <a:rPr lang="en-US" sz="2400" dirty="0" err="1"/>
              <a:t>GameObjects</a:t>
            </a:r>
            <a:r>
              <a:rPr lang="en-US" sz="2400" dirty="0"/>
              <a:t> (“stuff”)</a:t>
            </a:r>
            <a:endParaRPr lang="en-BE" sz="2400" dirty="0"/>
          </a:p>
        </p:txBody>
      </p:sp>
      <p:pic>
        <p:nvPicPr>
          <p:cNvPr id="6" name="Picture 5">
            <a:extLst>
              <a:ext uri="{FF2B5EF4-FFF2-40B4-BE49-F238E27FC236}">
                <a16:creationId xmlns:a16="http://schemas.microsoft.com/office/drawing/2014/main" id="{2971B19F-D523-F850-0375-E4B6279026AF}"/>
              </a:ext>
            </a:extLst>
          </p:cNvPr>
          <p:cNvPicPr>
            <a:picLocks noChangeAspect="1"/>
          </p:cNvPicPr>
          <p:nvPr/>
        </p:nvPicPr>
        <p:blipFill>
          <a:blip r:embed="rId3"/>
          <a:stretch>
            <a:fillRect/>
          </a:stretch>
        </p:blipFill>
        <p:spPr>
          <a:xfrm>
            <a:off x="6488826" y="3029338"/>
            <a:ext cx="5703174" cy="3828661"/>
          </a:xfrm>
          <a:prstGeom prst="rect">
            <a:avLst/>
          </a:prstGeom>
        </p:spPr>
      </p:pic>
      <p:cxnSp>
        <p:nvCxnSpPr>
          <p:cNvPr id="8" name="Straight Arrow Connector 7">
            <a:extLst>
              <a:ext uri="{FF2B5EF4-FFF2-40B4-BE49-F238E27FC236}">
                <a16:creationId xmlns:a16="http://schemas.microsoft.com/office/drawing/2014/main" id="{32BAC3E2-245B-7919-EDC8-CC177F0C2B34}"/>
              </a:ext>
            </a:extLst>
          </p:cNvPr>
          <p:cNvCxnSpPr>
            <a:cxnSpLocks/>
          </p:cNvCxnSpPr>
          <p:nvPr/>
        </p:nvCxnSpPr>
        <p:spPr>
          <a:xfrm flipH="1" flipV="1">
            <a:off x="7700865" y="3110204"/>
            <a:ext cx="895739" cy="423604"/>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pic>
        <p:nvPicPr>
          <p:cNvPr id="11" name="Picture 10">
            <a:extLst>
              <a:ext uri="{FF2B5EF4-FFF2-40B4-BE49-F238E27FC236}">
                <a16:creationId xmlns:a16="http://schemas.microsoft.com/office/drawing/2014/main" id="{EF88F273-D7A2-9512-2D89-FE3F56AC0A99}"/>
              </a:ext>
            </a:extLst>
          </p:cNvPr>
          <p:cNvPicPr>
            <a:picLocks noChangeAspect="1"/>
          </p:cNvPicPr>
          <p:nvPr/>
        </p:nvPicPr>
        <p:blipFill>
          <a:blip r:embed="rId4"/>
          <a:stretch>
            <a:fillRect/>
          </a:stretch>
        </p:blipFill>
        <p:spPr>
          <a:xfrm>
            <a:off x="242756" y="3357782"/>
            <a:ext cx="5175220" cy="3509874"/>
          </a:xfrm>
          <a:prstGeom prst="rect">
            <a:avLst/>
          </a:prstGeom>
        </p:spPr>
      </p:pic>
      <p:cxnSp>
        <p:nvCxnSpPr>
          <p:cNvPr id="13" name="Straight Arrow Connector 12">
            <a:extLst>
              <a:ext uri="{FF2B5EF4-FFF2-40B4-BE49-F238E27FC236}">
                <a16:creationId xmlns:a16="http://schemas.microsoft.com/office/drawing/2014/main" id="{EC133DE4-7593-5463-CBEA-5CB2D5421DF8}"/>
              </a:ext>
            </a:extLst>
          </p:cNvPr>
          <p:cNvCxnSpPr/>
          <p:nvPr/>
        </p:nvCxnSpPr>
        <p:spPr>
          <a:xfrm flipH="1">
            <a:off x="2021633" y="3738465"/>
            <a:ext cx="597159" cy="2463282"/>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798B16A7-A77C-F251-CDC6-1C323999D147}"/>
              </a:ext>
            </a:extLst>
          </p:cNvPr>
          <p:cNvCxnSpPr>
            <a:cxnSpLocks/>
          </p:cNvCxnSpPr>
          <p:nvPr/>
        </p:nvCxnSpPr>
        <p:spPr>
          <a:xfrm flipV="1">
            <a:off x="2515071" y="4970106"/>
            <a:ext cx="794186" cy="1233204"/>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29134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F1FE5-044F-D559-6F22-764DDA22E3EA}"/>
              </a:ext>
            </a:extLst>
          </p:cNvPr>
          <p:cNvSpPr>
            <a:spLocks noGrp="1"/>
          </p:cNvSpPr>
          <p:nvPr>
            <p:ph type="title"/>
          </p:nvPr>
        </p:nvSpPr>
        <p:spPr>
          <a:xfrm>
            <a:off x="788437" y="175100"/>
            <a:ext cx="10515600" cy="701642"/>
          </a:xfrm>
        </p:spPr>
        <p:txBody>
          <a:bodyPr/>
          <a:lstStyle/>
          <a:p>
            <a:r>
              <a:rPr lang="en-US" dirty="0" err="1"/>
              <a:t>GameObjects</a:t>
            </a:r>
            <a:r>
              <a:rPr lang="en-US" dirty="0"/>
              <a:t> are containers of Components</a:t>
            </a:r>
            <a:endParaRPr lang="en-BE" dirty="0"/>
          </a:p>
        </p:txBody>
      </p:sp>
      <p:sp>
        <p:nvSpPr>
          <p:cNvPr id="4" name="TextBox 3">
            <a:extLst>
              <a:ext uri="{FF2B5EF4-FFF2-40B4-BE49-F238E27FC236}">
                <a16:creationId xmlns:a16="http://schemas.microsoft.com/office/drawing/2014/main" id="{EF962A34-5E5B-4BAD-124F-40549F40FC74}"/>
              </a:ext>
            </a:extLst>
          </p:cNvPr>
          <p:cNvSpPr txBox="1"/>
          <p:nvPr/>
        </p:nvSpPr>
        <p:spPr>
          <a:xfrm>
            <a:off x="713792" y="808653"/>
            <a:ext cx="10408490" cy="1938992"/>
          </a:xfrm>
          <a:prstGeom prst="rect">
            <a:avLst/>
          </a:prstGeom>
          <a:noFill/>
        </p:spPr>
        <p:txBody>
          <a:bodyPr wrap="none" rtlCol="0">
            <a:spAutoFit/>
          </a:bodyPr>
          <a:lstStyle/>
          <a:p>
            <a:pPr marL="285750" indent="-285750">
              <a:buFont typeface="Arial" panose="020B0604020202020204" pitchFamily="34" charset="0"/>
              <a:buChar char="•"/>
            </a:pPr>
            <a:r>
              <a:rPr lang="en-US" sz="2400" dirty="0"/>
              <a:t>They can be almost anything : light, camera, cube, enemy, global settings,…</a:t>
            </a:r>
          </a:p>
          <a:p>
            <a:pPr marL="285750" indent="-285750">
              <a:buFont typeface="Arial" panose="020B0604020202020204" pitchFamily="34" charset="0"/>
              <a:buChar char="•"/>
            </a:pPr>
            <a:r>
              <a:rPr lang="en-US" sz="2400" dirty="0"/>
              <a:t>They can have 1 -&gt; unlimited amount of components </a:t>
            </a:r>
          </a:p>
          <a:p>
            <a:pPr marL="285750" indent="-285750">
              <a:buFont typeface="Arial" panose="020B0604020202020204" pitchFamily="34" charset="0"/>
              <a:buChar char="•"/>
            </a:pPr>
            <a:r>
              <a:rPr lang="en-US" sz="2400" dirty="0"/>
              <a:t>They always have a transform component (we will see what a transform is later)</a:t>
            </a:r>
          </a:p>
          <a:p>
            <a:pPr marL="285750" indent="-285750">
              <a:buFont typeface="Arial" panose="020B0604020202020204" pitchFamily="34" charset="0"/>
              <a:buChar char="•"/>
            </a:pPr>
            <a:r>
              <a:rPr lang="en-US" sz="2400" dirty="0"/>
              <a:t>They can only have zero or one of each component</a:t>
            </a:r>
          </a:p>
          <a:p>
            <a:pPr marL="285750" indent="-285750">
              <a:buFont typeface="Arial" panose="020B0604020202020204" pitchFamily="34" charset="0"/>
              <a:buChar char="•"/>
            </a:pPr>
            <a:r>
              <a:rPr lang="en-US" sz="2400" dirty="0"/>
              <a:t>This is </a:t>
            </a:r>
            <a:r>
              <a:rPr lang="en-US" sz="2400" b="1" dirty="0"/>
              <a:t>not</a:t>
            </a:r>
            <a:r>
              <a:rPr lang="en-US" sz="2400" dirty="0"/>
              <a:t> ECS</a:t>
            </a:r>
            <a:endParaRPr lang="en-BE" sz="2400" dirty="0"/>
          </a:p>
        </p:txBody>
      </p:sp>
      <p:pic>
        <p:nvPicPr>
          <p:cNvPr id="6" name="Picture 5">
            <a:extLst>
              <a:ext uri="{FF2B5EF4-FFF2-40B4-BE49-F238E27FC236}">
                <a16:creationId xmlns:a16="http://schemas.microsoft.com/office/drawing/2014/main" id="{26D94AEB-0748-29D7-EE4F-2FDE4CF80E45}"/>
              </a:ext>
            </a:extLst>
          </p:cNvPr>
          <p:cNvPicPr>
            <a:picLocks noChangeAspect="1"/>
          </p:cNvPicPr>
          <p:nvPr/>
        </p:nvPicPr>
        <p:blipFill>
          <a:blip r:embed="rId3"/>
          <a:stretch>
            <a:fillRect/>
          </a:stretch>
        </p:blipFill>
        <p:spPr>
          <a:xfrm>
            <a:off x="46845" y="2882421"/>
            <a:ext cx="3567212" cy="3975579"/>
          </a:xfrm>
          <a:prstGeom prst="rect">
            <a:avLst/>
          </a:prstGeom>
        </p:spPr>
      </p:pic>
      <p:pic>
        <p:nvPicPr>
          <p:cNvPr id="8" name="Picture 7">
            <a:extLst>
              <a:ext uri="{FF2B5EF4-FFF2-40B4-BE49-F238E27FC236}">
                <a16:creationId xmlns:a16="http://schemas.microsoft.com/office/drawing/2014/main" id="{7C0A51EA-4260-0835-5204-1DF5019180CA}"/>
              </a:ext>
            </a:extLst>
          </p:cNvPr>
          <p:cNvPicPr>
            <a:picLocks noChangeAspect="1"/>
          </p:cNvPicPr>
          <p:nvPr/>
        </p:nvPicPr>
        <p:blipFill>
          <a:blip r:embed="rId4"/>
          <a:stretch>
            <a:fillRect/>
          </a:stretch>
        </p:blipFill>
        <p:spPr>
          <a:xfrm>
            <a:off x="3721418" y="2882420"/>
            <a:ext cx="2753088" cy="3975579"/>
          </a:xfrm>
          <a:prstGeom prst="rect">
            <a:avLst/>
          </a:prstGeom>
        </p:spPr>
      </p:pic>
      <p:pic>
        <p:nvPicPr>
          <p:cNvPr id="10" name="Picture 9">
            <a:extLst>
              <a:ext uri="{FF2B5EF4-FFF2-40B4-BE49-F238E27FC236}">
                <a16:creationId xmlns:a16="http://schemas.microsoft.com/office/drawing/2014/main" id="{7EDF880A-61C3-0C16-B69D-93860A977233}"/>
              </a:ext>
            </a:extLst>
          </p:cNvPr>
          <p:cNvPicPr>
            <a:picLocks noChangeAspect="1"/>
          </p:cNvPicPr>
          <p:nvPr/>
        </p:nvPicPr>
        <p:blipFill>
          <a:blip r:embed="rId5"/>
          <a:stretch>
            <a:fillRect/>
          </a:stretch>
        </p:blipFill>
        <p:spPr>
          <a:xfrm>
            <a:off x="7047970" y="2815031"/>
            <a:ext cx="2620351" cy="4110355"/>
          </a:xfrm>
          <a:prstGeom prst="rect">
            <a:avLst/>
          </a:prstGeom>
        </p:spPr>
      </p:pic>
    </p:spTree>
    <p:extLst>
      <p:ext uri="{BB962C8B-B14F-4D97-AF65-F5344CB8AC3E}">
        <p14:creationId xmlns:p14="http://schemas.microsoft.com/office/powerpoint/2010/main" val="1000606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76A41-13BE-037F-494B-974C1D168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67192-033D-E6CD-412C-27929B7DA3A8}"/>
              </a:ext>
            </a:extLst>
          </p:cNvPr>
          <p:cNvSpPr>
            <a:spLocks noGrp="1"/>
          </p:cNvSpPr>
          <p:nvPr>
            <p:ph type="title"/>
          </p:nvPr>
        </p:nvSpPr>
        <p:spPr>
          <a:xfrm>
            <a:off x="902368" y="365125"/>
            <a:ext cx="10451432" cy="1325563"/>
          </a:xfrm>
        </p:spPr>
        <p:txBody>
          <a:bodyPr/>
          <a:lstStyle/>
          <a:p>
            <a:r>
              <a:rPr lang="en-US" dirty="0"/>
              <a:t>Why do it this way? </a:t>
            </a:r>
            <a:endParaRPr lang="nl-BE" dirty="0"/>
          </a:p>
        </p:txBody>
      </p:sp>
      <p:pic>
        <p:nvPicPr>
          <p:cNvPr id="4" name="Picture 3" descr="A white airplane with black background&#10;&#10;Description automatically generated">
            <a:extLst>
              <a:ext uri="{FF2B5EF4-FFF2-40B4-BE49-F238E27FC236}">
                <a16:creationId xmlns:a16="http://schemas.microsoft.com/office/drawing/2014/main" id="{C174DB7B-897D-DD41-F8AE-0722B4CC26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8727" y="1722969"/>
            <a:ext cx="1066268" cy="1706031"/>
          </a:xfrm>
          <a:prstGeom prst="rect">
            <a:avLst/>
          </a:prstGeom>
        </p:spPr>
      </p:pic>
      <p:sp>
        <p:nvSpPr>
          <p:cNvPr id="5" name="TextBox 4">
            <a:extLst>
              <a:ext uri="{FF2B5EF4-FFF2-40B4-BE49-F238E27FC236}">
                <a16:creationId xmlns:a16="http://schemas.microsoft.com/office/drawing/2014/main" id="{8D5EDF4A-BEDD-1B63-5B41-CF8F7E383125}"/>
              </a:ext>
            </a:extLst>
          </p:cNvPr>
          <p:cNvSpPr txBox="1"/>
          <p:nvPr/>
        </p:nvSpPr>
        <p:spPr>
          <a:xfrm>
            <a:off x="450235" y="3693694"/>
            <a:ext cx="3230372" cy="1754326"/>
          </a:xfrm>
          <a:prstGeom prst="rect">
            <a:avLst/>
          </a:prstGeom>
          <a:noFill/>
        </p:spPr>
        <p:txBody>
          <a:bodyPr wrap="none" rtlCol="0">
            <a:spAutoFit/>
          </a:bodyPr>
          <a:lstStyle/>
          <a:p>
            <a:pPr algn="ctr"/>
            <a:r>
              <a:rPr lang="en-US" b="1" dirty="0"/>
              <a:t>Player ship</a:t>
            </a:r>
          </a:p>
          <a:p>
            <a:endParaRPr lang="en-US" dirty="0"/>
          </a:p>
          <a:p>
            <a:pPr marL="285750" indent="-285750">
              <a:buFont typeface="Arial" panose="020B0604020202020204" pitchFamily="34" charset="0"/>
              <a:buChar char="•"/>
            </a:pPr>
            <a:r>
              <a:rPr lang="en-US" dirty="0" err="1"/>
              <a:t>PositionComponent</a:t>
            </a:r>
            <a:endParaRPr lang="en-US" dirty="0"/>
          </a:p>
          <a:p>
            <a:pPr marL="285750" indent="-285750">
              <a:buFont typeface="Arial" panose="020B0604020202020204" pitchFamily="34" charset="0"/>
              <a:buChar char="•"/>
            </a:pPr>
            <a:r>
              <a:rPr lang="en-US" dirty="0" err="1"/>
              <a:t>CollidableComponent</a:t>
            </a:r>
            <a:endParaRPr lang="en-US" dirty="0"/>
          </a:p>
          <a:p>
            <a:pPr marL="285750" indent="-285750">
              <a:buFont typeface="Arial" panose="020B0604020202020204" pitchFamily="34" charset="0"/>
              <a:buChar char="•"/>
            </a:pPr>
            <a:r>
              <a:rPr lang="en-US" dirty="0" err="1"/>
              <a:t>PlayerInputComponent</a:t>
            </a:r>
            <a:endParaRPr lang="en-US" dirty="0"/>
          </a:p>
          <a:p>
            <a:pPr marL="285750" indent="-285750">
              <a:buFont typeface="Arial" panose="020B0604020202020204" pitchFamily="34" charset="0"/>
              <a:buChar char="•"/>
            </a:pPr>
            <a:r>
              <a:rPr lang="en-US" dirty="0" err="1"/>
              <a:t>HealthComponent</a:t>
            </a:r>
            <a:endParaRPr lang="en-BE" dirty="0"/>
          </a:p>
        </p:txBody>
      </p:sp>
      <p:pic>
        <p:nvPicPr>
          <p:cNvPr id="8" name="Picture 7">
            <a:extLst>
              <a:ext uri="{FF2B5EF4-FFF2-40B4-BE49-F238E27FC236}">
                <a16:creationId xmlns:a16="http://schemas.microsoft.com/office/drawing/2014/main" id="{C30A78F6-1E60-A954-2840-DD47EC9180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2339" y="1877802"/>
            <a:ext cx="1368435" cy="1396363"/>
          </a:xfrm>
          <a:prstGeom prst="rect">
            <a:avLst/>
          </a:prstGeom>
        </p:spPr>
      </p:pic>
      <p:sp>
        <p:nvSpPr>
          <p:cNvPr id="9" name="TextBox 8">
            <a:extLst>
              <a:ext uri="{FF2B5EF4-FFF2-40B4-BE49-F238E27FC236}">
                <a16:creationId xmlns:a16="http://schemas.microsoft.com/office/drawing/2014/main" id="{6E6F8DF1-BBCB-6D5A-6C38-8750B5873CEC}"/>
              </a:ext>
            </a:extLst>
          </p:cNvPr>
          <p:cNvSpPr txBox="1"/>
          <p:nvPr/>
        </p:nvSpPr>
        <p:spPr>
          <a:xfrm>
            <a:off x="4700301" y="3832193"/>
            <a:ext cx="3092513" cy="1754326"/>
          </a:xfrm>
          <a:prstGeom prst="rect">
            <a:avLst/>
          </a:prstGeom>
          <a:noFill/>
        </p:spPr>
        <p:txBody>
          <a:bodyPr wrap="none" rtlCol="0">
            <a:spAutoFit/>
          </a:bodyPr>
          <a:lstStyle/>
          <a:p>
            <a:pPr algn="ctr"/>
            <a:r>
              <a:rPr lang="en-US" b="1" dirty="0"/>
              <a:t>Bullet</a:t>
            </a:r>
          </a:p>
          <a:p>
            <a:endParaRPr lang="en-US" dirty="0"/>
          </a:p>
          <a:p>
            <a:pPr marL="285750" indent="-285750">
              <a:buFont typeface="Arial" panose="020B0604020202020204" pitchFamily="34" charset="0"/>
              <a:buChar char="•"/>
            </a:pPr>
            <a:r>
              <a:rPr lang="en-US" dirty="0" err="1"/>
              <a:t>PositionComponent</a:t>
            </a:r>
            <a:endParaRPr lang="en-US" dirty="0"/>
          </a:p>
          <a:p>
            <a:pPr marL="285750" indent="-285750">
              <a:buFont typeface="Arial" panose="020B0604020202020204" pitchFamily="34" charset="0"/>
              <a:buChar char="•"/>
            </a:pPr>
            <a:r>
              <a:rPr lang="en-US" dirty="0" err="1"/>
              <a:t>CollidableComponent</a:t>
            </a:r>
            <a:endParaRPr lang="en-US" dirty="0"/>
          </a:p>
          <a:p>
            <a:pPr marL="285750" indent="-285750">
              <a:buFont typeface="Arial" panose="020B0604020202020204" pitchFamily="34" charset="0"/>
              <a:buChar char="•"/>
            </a:pPr>
            <a:r>
              <a:rPr lang="en-US" dirty="0" err="1"/>
              <a:t>PhysicsComponent</a:t>
            </a:r>
            <a:endParaRPr lang="en-US" dirty="0"/>
          </a:p>
          <a:p>
            <a:pPr marL="285750" indent="-285750">
              <a:buFont typeface="Arial" panose="020B0604020202020204" pitchFamily="34" charset="0"/>
              <a:buChar char="•"/>
            </a:pPr>
            <a:r>
              <a:rPr lang="en-US" dirty="0" err="1"/>
              <a:t>ProjectileComponent</a:t>
            </a:r>
            <a:endParaRPr lang="en-US" dirty="0"/>
          </a:p>
        </p:txBody>
      </p:sp>
      <p:pic>
        <p:nvPicPr>
          <p:cNvPr id="11" name="Picture 10" descr="A purple and black mask&#10;&#10;Description automatically generated">
            <a:extLst>
              <a:ext uri="{FF2B5EF4-FFF2-40B4-BE49-F238E27FC236}">
                <a16:creationId xmlns:a16="http://schemas.microsoft.com/office/drawing/2014/main" id="{CBBC571C-2AA9-B993-C55B-914CF1A25C8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17672" y="1326825"/>
            <a:ext cx="1190791" cy="2267266"/>
          </a:xfrm>
          <a:prstGeom prst="rect">
            <a:avLst/>
          </a:prstGeom>
        </p:spPr>
      </p:pic>
      <p:sp>
        <p:nvSpPr>
          <p:cNvPr id="13" name="TextBox 12">
            <a:extLst>
              <a:ext uri="{FF2B5EF4-FFF2-40B4-BE49-F238E27FC236}">
                <a16:creationId xmlns:a16="http://schemas.microsoft.com/office/drawing/2014/main" id="{7AE35A31-54AC-43F3-2486-EFF55D393B30}"/>
              </a:ext>
            </a:extLst>
          </p:cNvPr>
          <p:cNvSpPr txBox="1"/>
          <p:nvPr/>
        </p:nvSpPr>
        <p:spPr>
          <a:xfrm>
            <a:off x="8536984" y="3832193"/>
            <a:ext cx="3092513" cy="1754326"/>
          </a:xfrm>
          <a:prstGeom prst="rect">
            <a:avLst/>
          </a:prstGeom>
          <a:noFill/>
        </p:spPr>
        <p:txBody>
          <a:bodyPr wrap="none" rtlCol="0">
            <a:spAutoFit/>
          </a:bodyPr>
          <a:lstStyle/>
          <a:p>
            <a:pPr algn="ctr"/>
            <a:r>
              <a:rPr lang="en-US" b="1" dirty="0"/>
              <a:t>Enemy</a:t>
            </a:r>
          </a:p>
          <a:p>
            <a:endParaRPr lang="en-US" dirty="0"/>
          </a:p>
          <a:p>
            <a:pPr marL="285750" indent="-285750">
              <a:buFont typeface="Arial" panose="020B0604020202020204" pitchFamily="34" charset="0"/>
              <a:buChar char="•"/>
            </a:pPr>
            <a:r>
              <a:rPr lang="en-US" dirty="0" err="1"/>
              <a:t>PositionComponent</a:t>
            </a:r>
            <a:endParaRPr lang="en-US" dirty="0"/>
          </a:p>
          <a:p>
            <a:pPr marL="285750" indent="-285750">
              <a:buFont typeface="Arial" panose="020B0604020202020204" pitchFamily="34" charset="0"/>
              <a:buChar char="•"/>
            </a:pPr>
            <a:r>
              <a:rPr lang="en-US" dirty="0" err="1"/>
              <a:t>CollidableComponent</a:t>
            </a:r>
            <a:endParaRPr lang="en-US" dirty="0"/>
          </a:p>
          <a:p>
            <a:pPr marL="285750" indent="-285750">
              <a:buFont typeface="Arial" panose="020B0604020202020204" pitchFamily="34" charset="0"/>
              <a:buChar char="•"/>
            </a:pPr>
            <a:r>
              <a:rPr lang="en-US" dirty="0" err="1"/>
              <a:t>AIComponent</a:t>
            </a:r>
            <a:endParaRPr lang="en-US" dirty="0"/>
          </a:p>
          <a:p>
            <a:pPr marL="285750" indent="-285750">
              <a:buFont typeface="Arial" panose="020B0604020202020204" pitchFamily="34" charset="0"/>
              <a:buChar char="•"/>
            </a:pPr>
            <a:r>
              <a:rPr lang="en-US" dirty="0" err="1"/>
              <a:t>HealthComponent</a:t>
            </a:r>
            <a:endParaRPr lang="en-BE" dirty="0"/>
          </a:p>
        </p:txBody>
      </p:sp>
    </p:spTree>
    <p:extLst>
      <p:ext uri="{BB962C8B-B14F-4D97-AF65-F5344CB8AC3E}">
        <p14:creationId xmlns:p14="http://schemas.microsoft.com/office/powerpoint/2010/main" val="3397573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769AF-F3AC-4F63-4CD2-F339BF77926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FF3E5FA-D0B2-D412-9F92-0B61EBA4B1BA}"/>
              </a:ext>
            </a:extLst>
          </p:cNvPr>
          <p:cNvSpPr/>
          <p:nvPr/>
        </p:nvSpPr>
        <p:spPr>
          <a:xfrm>
            <a:off x="906966" y="3560956"/>
            <a:ext cx="2297529" cy="5847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noFill/>
            </a:endParaRPr>
          </a:p>
        </p:txBody>
      </p:sp>
      <p:sp>
        <p:nvSpPr>
          <p:cNvPr id="2" name="Title 1">
            <a:extLst>
              <a:ext uri="{FF2B5EF4-FFF2-40B4-BE49-F238E27FC236}">
                <a16:creationId xmlns:a16="http://schemas.microsoft.com/office/drawing/2014/main" id="{E3A0FAAE-5CCA-9547-02C9-3833D6E2E648}"/>
              </a:ext>
            </a:extLst>
          </p:cNvPr>
          <p:cNvSpPr>
            <a:spLocks noGrp="1"/>
          </p:cNvSpPr>
          <p:nvPr>
            <p:ph type="title"/>
          </p:nvPr>
        </p:nvSpPr>
        <p:spPr/>
        <p:txBody>
          <a:bodyPr/>
          <a:lstStyle/>
          <a:p>
            <a:r>
              <a:rPr lang="en-US" dirty="0"/>
              <a:t>Unity internal architecture</a:t>
            </a:r>
            <a:endParaRPr lang="en-BE" dirty="0"/>
          </a:p>
        </p:txBody>
      </p:sp>
      <p:sp>
        <p:nvSpPr>
          <p:cNvPr id="4" name="TextBox 3">
            <a:extLst>
              <a:ext uri="{FF2B5EF4-FFF2-40B4-BE49-F238E27FC236}">
                <a16:creationId xmlns:a16="http://schemas.microsoft.com/office/drawing/2014/main" id="{BCBA5D1C-CBC1-F653-DAED-C131792BA95E}"/>
              </a:ext>
            </a:extLst>
          </p:cNvPr>
          <p:cNvSpPr txBox="1"/>
          <p:nvPr/>
        </p:nvSpPr>
        <p:spPr>
          <a:xfrm>
            <a:off x="1018478" y="3560956"/>
            <a:ext cx="2066591" cy="584775"/>
          </a:xfrm>
          <a:prstGeom prst="rect">
            <a:avLst/>
          </a:prstGeom>
          <a:noFill/>
        </p:spPr>
        <p:txBody>
          <a:bodyPr wrap="none" rtlCol="0">
            <a:spAutoFit/>
          </a:bodyPr>
          <a:lstStyle/>
          <a:p>
            <a:r>
              <a:rPr lang="en-US" sz="3200" dirty="0"/>
              <a:t>Load Scene</a:t>
            </a:r>
            <a:endParaRPr lang="en-BE" sz="3200" dirty="0"/>
          </a:p>
        </p:txBody>
      </p:sp>
      <p:sp>
        <p:nvSpPr>
          <p:cNvPr id="7" name="TextBox 6">
            <a:extLst>
              <a:ext uri="{FF2B5EF4-FFF2-40B4-BE49-F238E27FC236}">
                <a16:creationId xmlns:a16="http://schemas.microsoft.com/office/drawing/2014/main" id="{24F9AC7D-839A-4699-9E03-966A7A647B32}"/>
              </a:ext>
            </a:extLst>
          </p:cNvPr>
          <p:cNvSpPr txBox="1"/>
          <p:nvPr/>
        </p:nvSpPr>
        <p:spPr>
          <a:xfrm>
            <a:off x="4166840" y="3560956"/>
            <a:ext cx="3631956" cy="584775"/>
          </a:xfrm>
          <a:prstGeom prst="rect">
            <a:avLst/>
          </a:prstGeom>
          <a:noFill/>
        </p:spPr>
        <p:txBody>
          <a:bodyPr wrap="none" rtlCol="0">
            <a:spAutoFit/>
          </a:bodyPr>
          <a:lstStyle/>
          <a:p>
            <a:r>
              <a:rPr lang="en-US" sz="3200" dirty="0"/>
              <a:t>Update Components</a:t>
            </a:r>
            <a:endParaRPr lang="en-BE" sz="3200" dirty="0"/>
          </a:p>
        </p:txBody>
      </p:sp>
      <p:sp>
        <p:nvSpPr>
          <p:cNvPr id="8" name="TextBox 7">
            <a:extLst>
              <a:ext uri="{FF2B5EF4-FFF2-40B4-BE49-F238E27FC236}">
                <a16:creationId xmlns:a16="http://schemas.microsoft.com/office/drawing/2014/main" id="{D7F3A97B-5880-4743-8DFC-4922848C564D}"/>
              </a:ext>
            </a:extLst>
          </p:cNvPr>
          <p:cNvSpPr txBox="1"/>
          <p:nvPr/>
        </p:nvSpPr>
        <p:spPr>
          <a:xfrm>
            <a:off x="9151472" y="3560953"/>
            <a:ext cx="1382879" cy="584775"/>
          </a:xfrm>
          <a:prstGeom prst="rect">
            <a:avLst/>
          </a:prstGeom>
          <a:noFill/>
        </p:spPr>
        <p:txBody>
          <a:bodyPr wrap="none" rtlCol="0">
            <a:spAutoFit/>
          </a:bodyPr>
          <a:lstStyle/>
          <a:p>
            <a:r>
              <a:rPr lang="en-US" sz="3200" dirty="0"/>
              <a:t>Render</a:t>
            </a:r>
            <a:endParaRPr lang="en-BE" sz="3200" dirty="0"/>
          </a:p>
        </p:txBody>
      </p:sp>
      <p:sp>
        <p:nvSpPr>
          <p:cNvPr id="10" name="Rectangle 9">
            <a:extLst>
              <a:ext uri="{FF2B5EF4-FFF2-40B4-BE49-F238E27FC236}">
                <a16:creationId xmlns:a16="http://schemas.microsoft.com/office/drawing/2014/main" id="{AE30A9D3-45EA-D3AD-EA81-BDBC0DEA6CB6}"/>
              </a:ext>
            </a:extLst>
          </p:cNvPr>
          <p:cNvSpPr/>
          <p:nvPr/>
        </p:nvSpPr>
        <p:spPr>
          <a:xfrm>
            <a:off x="4166840" y="3560955"/>
            <a:ext cx="3631956" cy="5847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noFill/>
            </a:endParaRPr>
          </a:p>
        </p:txBody>
      </p:sp>
      <p:sp>
        <p:nvSpPr>
          <p:cNvPr id="11" name="Rectangle 10">
            <a:extLst>
              <a:ext uri="{FF2B5EF4-FFF2-40B4-BE49-F238E27FC236}">
                <a16:creationId xmlns:a16="http://schemas.microsoft.com/office/drawing/2014/main" id="{A6D1921F-ACDF-0987-DA96-0D3E5D85D146}"/>
              </a:ext>
            </a:extLst>
          </p:cNvPr>
          <p:cNvSpPr/>
          <p:nvPr/>
        </p:nvSpPr>
        <p:spPr>
          <a:xfrm>
            <a:off x="8761141" y="3560954"/>
            <a:ext cx="2297529" cy="5847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noFill/>
            </a:endParaRPr>
          </a:p>
        </p:txBody>
      </p:sp>
      <p:cxnSp>
        <p:nvCxnSpPr>
          <p:cNvPr id="5" name="Straight Arrow Connector 4">
            <a:extLst>
              <a:ext uri="{FF2B5EF4-FFF2-40B4-BE49-F238E27FC236}">
                <a16:creationId xmlns:a16="http://schemas.microsoft.com/office/drawing/2014/main" id="{545B73A3-EA1A-6440-575D-99B9465244C2}"/>
              </a:ext>
            </a:extLst>
          </p:cNvPr>
          <p:cNvCxnSpPr>
            <a:stCxn id="9" idx="3"/>
            <a:endCxn id="7" idx="1"/>
          </p:cNvCxnSpPr>
          <p:nvPr/>
        </p:nvCxnSpPr>
        <p:spPr>
          <a:xfrm>
            <a:off x="3204495" y="3853344"/>
            <a:ext cx="962345" cy="0"/>
          </a:xfrm>
          <a:prstGeom prst="straightConnector1">
            <a:avLst/>
          </a:prstGeom>
          <a:ln w="76200">
            <a:solidFill>
              <a:schemeClr val="tx1">
                <a:lumMod val="95000"/>
                <a:lumOff val="5000"/>
              </a:schemeClr>
            </a:solidFill>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02E02DAE-4001-6ECC-09C9-D2FA72974B63}"/>
              </a:ext>
            </a:extLst>
          </p:cNvPr>
          <p:cNvCxnSpPr/>
          <p:nvPr/>
        </p:nvCxnSpPr>
        <p:spPr>
          <a:xfrm>
            <a:off x="7798796" y="3853344"/>
            <a:ext cx="962345" cy="0"/>
          </a:xfrm>
          <a:prstGeom prst="straightConnector1">
            <a:avLst/>
          </a:prstGeom>
          <a:ln w="76200">
            <a:solidFill>
              <a:schemeClr val="tx1">
                <a:lumMod val="95000"/>
                <a:lumOff val="5000"/>
              </a:schemeClr>
            </a:solidFill>
            <a:tailEnd type="triangle"/>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50B7FB59-D8FD-85AE-09E5-462C64C7E93C}"/>
              </a:ext>
            </a:extLst>
          </p:cNvPr>
          <p:cNvSpPr/>
          <p:nvPr/>
        </p:nvSpPr>
        <p:spPr>
          <a:xfrm>
            <a:off x="4073912" y="3428999"/>
            <a:ext cx="7279888" cy="879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noFill/>
            </a:endParaRPr>
          </a:p>
        </p:txBody>
      </p:sp>
      <p:sp>
        <p:nvSpPr>
          <p:cNvPr id="18" name="TextBox 17">
            <a:extLst>
              <a:ext uri="{FF2B5EF4-FFF2-40B4-BE49-F238E27FC236}">
                <a16:creationId xmlns:a16="http://schemas.microsoft.com/office/drawing/2014/main" id="{14F4CD96-910E-39E9-2D30-7D1B06DA5B0C}"/>
              </a:ext>
            </a:extLst>
          </p:cNvPr>
          <p:cNvSpPr txBox="1"/>
          <p:nvPr/>
        </p:nvSpPr>
        <p:spPr>
          <a:xfrm>
            <a:off x="9426542" y="4308488"/>
            <a:ext cx="1789914" cy="523220"/>
          </a:xfrm>
          <a:prstGeom prst="rect">
            <a:avLst/>
          </a:prstGeom>
          <a:noFill/>
        </p:spPr>
        <p:txBody>
          <a:bodyPr wrap="none" rtlCol="0">
            <a:spAutoFit/>
          </a:bodyPr>
          <a:lstStyle/>
          <a:p>
            <a:r>
              <a:rPr lang="en-US" sz="2800" dirty="0"/>
              <a:t>One Frame</a:t>
            </a:r>
            <a:endParaRPr lang="en-BE" sz="2800" dirty="0"/>
          </a:p>
        </p:txBody>
      </p:sp>
      <p:cxnSp>
        <p:nvCxnSpPr>
          <p:cNvPr id="26" name="Straight Connector 25">
            <a:extLst>
              <a:ext uri="{FF2B5EF4-FFF2-40B4-BE49-F238E27FC236}">
                <a16:creationId xmlns:a16="http://schemas.microsoft.com/office/drawing/2014/main" id="{49721643-6B42-0F4F-C049-A8D231E095A7}"/>
              </a:ext>
            </a:extLst>
          </p:cNvPr>
          <p:cNvCxnSpPr>
            <a:cxnSpLocks/>
            <a:stCxn id="17" idx="3"/>
          </p:cNvCxnSpPr>
          <p:nvPr/>
        </p:nvCxnSpPr>
        <p:spPr>
          <a:xfrm flipV="1">
            <a:off x="11353800" y="3868743"/>
            <a:ext cx="390331" cy="1"/>
          </a:xfrm>
          <a:prstGeom prst="line">
            <a:avLst/>
          </a:prstGeom>
          <a:ln w="76200">
            <a:solidFill>
              <a:schemeClr val="tx1">
                <a:lumMod val="95000"/>
                <a:lumOff val="5000"/>
              </a:schemeClr>
            </a:solidFill>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CA63BAD2-77EF-526B-D27E-5ED9BB1B8625}"/>
              </a:ext>
            </a:extLst>
          </p:cNvPr>
          <p:cNvCxnSpPr>
            <a:cxnSpLocks/>
          </p:cNvCxnSpPr>
          <p:nvPr/>
        </p:nvCxnSpPr>
        <p:spPr>
          <a:xfrm>
            <a:off x="11742274" y="2720898"/>
            <a:ext cx="0" cy="1132442"/>
          </a:xfrm>
          <a:prstGeom prst="line">
            <a:avLst/>
          </a:prstGeom>
          <a:ln w="76200">
            <a:solidFill>
              <a:schemeClr val="tx1">
                <a:lumMod val="95000"/>
                <a:lumOff val="5000"/>
              </a:schemeClr>
            </a:solidFill>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BD884351-01DE-B477-C612-3D8438BFBB52}"/>
              </a:ext>
            </a:extLst>
          </p:cNvPr>
          <p:cNvCxnSpPr>
            <a:cxnSpLocks/>
          </p:cNvCxnSpPr>
          <p:nvPr/>
        </p:nvCxnSpPr>
        <p:spPr>
          <a:xfrm>
            <a:off x="4304371" y="2772236"/>
            <a:ext cx="7402559" cy="0"/>
          </a:xfrm>
          <a:prstGeom prst="line">
            <a:avLst/>
          </a:prstGeom>
          <a:ln w="76200">
            <a:solidFill>
              <a:schemeClr val="tx1">
                <a:lumMod val="95000"/>
                <a:lumOff val="5000"/>
              </a:schemeClr>
            </a:solidFill>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ECE6F756-51AC-2765-9A72-FB333342FEE8}"/>
              </a:ext>
            </a:extLst>
          </p:cNvPr>
          <p:cNvCxnSpPr/>
          <p:nvPr/>
        </p:nvCxnSpPr>
        <p:spPr>
          <a:xfrm>
            <a:off x="4319239" y="2720898"/>
            <a:ext cx="0" cy="708101"/>
          </a:xfrm>
          <a:prstGeom prst="straightConnector1">
            <a:avLst/>
          </a:prstGeom>
          <a:ln w="76200">
            <a:solidFill>
              <a:schemeClr val="tx1">
                <a:lumMod val="95000"/>
                <a:lumOff val="5000"/>
              </a:schemeClr>
            </a:solidFill>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C76C6375-2438-4A1F-437F-9FDA10C4306A}"/>
              </a:ext>
            </a:extLst>
          </p:cNvPr>
          <p:cNvSpPr txBox="1"/>
          <p:nvPr/>
        </p:nvSpPr>
        <p:spPr>
          <a:xfrm>
            <a:off x="7084881" y="2115033"/>
            <a:ext cx="2089033" cy="584775"/>
          </a:xfrm>
          <a:prstGeom prst="rect">
            <a:avLst/>
          </a:prstGeom>
          <a:noFill/>
        </p:spPr>
        <p:txBody>
          <a:bodyPr wrap="none" rtlCol="0">
            <a:spAutoFit/>
          </a:bodyPr>
          <a:lstStyle/>
          <a:p>
            <a:r>
              <a:rPr lang="en-US" sz="3200" dirty="0"/>
              <a:t>Game Loop</a:t>
            </a:r>
            <a:endParaRPr lang="en-BE" sz="3200" dirty="0"/>
          </a:p>
        </p:txBody>
      </p:sp>
    </p:spTree>
    <p:extLst>
      <p:ext uri="{BB962C8B-B14F-4D97-AF65-F5344CB8AC3E}">
        <p14:creationId xmlns:p14="http://schemas.microsoft.com/office/powerpoint/2010/main" val="4160318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ECE26-EFC0-7D72-CECB-A8A49B67DE66}"/>
              </a:ext>
            </a:extLst>
          </p:cNvPr>
          <p:cNvSpPr>
            <a:spLocks noGrp="1"/>
          </p:cNvSpPr>
          <p:nvPr>
            <p:ph type="title"/>
          </p:nvPr>
        </p:nvSpPr>
        <p:spPr/>
        <p:txBody>
          <a:bodyPr/>
          <a:lstStyle/>
          <a:p>
            <a:r>
              <a:rPr lang="en-US" dirty="0"/>
              <a:t>Script Components</a:t>
            </a:r>
            <a:endParaRPr lang="en-BE" dirty="0"/>
          </a:p>
        </p:txBody>
      </p:sp>
      <p:sp>
        <p:nvSpPr>
          <p:cNvPr id="3" name="TextBox 2">
            <a:extLst>
              <a:ext uri="{FF2B5EF4-FFF2-40B4-BE49-F238E27FC236}">
                <a16:creationId xmlns:a16="http://schemas.microsoft.com/office/drawing/2014/main" id="{8EC45EE5-0287-BB09-22E8-131E5AAB521F}"/>
              </a:ext>
            </a:extLst>
          </p:cNvPr>
          <p:cNvSpPr txBox="1"/>
          <p:nvPr/>
        </p:nvSpPr>
        <p:spPr>
          <a:xfrm>
            <a:off x="1616312" y="1790662"/>
            <a:ext cx="8959376"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t>Have a method called Start, which is called once</a:t>
            </a:r>
          </a:p>
          <a:p>
            <a:pPr marL="285750" indent="-285750">
              <a:buFont typeface="Arial" panose="020B0604020202020204" pitchFamily="34" charset="0"/>
              <a:buChar char="•"/>
            </a:pPr>
            <a:r>
              <a:rPr lang="en-US" sz="2800" dirty="0"/>
              <a:t>Have a method called Update, which is called every frame </a:t>
            </a:r>
            <a:endParaRPr lang="en-BE" sz="2800" dirty="0"/>
          </a:p>
        </p:txBody>
      </p:sp>
      <p:sp>
        <p:nvSpPr>
          <p:cNvPr id="4" name="Rectangle 3">
            <a:extLst>
              <a:ext uri="{FF2B5EF4-FFF2-40B4-BE49-F238E27FC236}">
                <a16:creationId xmlns:a16="http://schemas.microsoft.com/office/drawing/2014/main" id="{5C5175B7-AF6E-C1C1-94DA-E8C094D1E6AC}"/>
              </a:ext>
            </a:extLst>
          </p:cNvPr>
          <p:cNvSpPr/>
          <p:nvPr/>
        </p:nvSpPr>
        <p:spPr>
          <a:xfrm>
            <a:off x="512677" y="4274731"/>
            <a:ext cx="2297529" cy="5847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noFill/>
            </a:endParaRPr>
          </a:p>
        </p:txBody>
      </p:sp>
      <p:sp>
        <p:nvSpPr>
          <p:cNvPr id="5" name="TextBox 4">
            <a:extLst>
              <a:ext uri="{FF2B5EF4-FFF2-40B4-BE49-F238E27FC236}">
                <a16:creationId xmlns:a16="http://schemas.microsoft.com/office/drawing/2014/main" id="{338F46D2-5F77-FAC9-4AC3-448DD80E420A}"/>
              </a:ext>
            </a:extLst>
          </p:cNvPr>
          <p:cNvSpPr txBox="1"/>
          <p:nvPr/>
        </p:nvSpPr>
        <p:spPr>
          <a:xfrm>
            <a:off x="628147" y="4274735"/>
            <a:ext cx="2066591" cy="584775"/>
          </a:xfrm>
          <a:prstGeom prst="rect">
            <a:avLst/>
          </a:prstGeom>
          <a:noFill/>
        </p:spPr>
        <p:txBody>
          <a:bodyPr wrap="none" rtlCol="0">
            <a:spAutoFit/>
          </a:bodyPr>
          <a:lstStyle/>
          <a:p>
            <a:r>
              <a:rPr lang="en-US" sz="3200" dirty="0"/>
              <a:t>Load Scene</a:t>
            </a:r>
            <a:endParaRPr lang="en-BE" sz="3200" dirty="0"/>
          </a:p>
        </p:txBody>
      </p:sp>
      <p:sp>
        <p:nvSpPr>
          <p:cNvPr id="6" name="TextBox 5">
            <a:extLst>
              <a:ext uri="{FF2B5EF4-FFF2-40B4-BE49-F238E27FC236}">
                <a16:creationId xmlns:a16="http://schemas.microsoft.com/office/drawing/2014/main" id="{F676D24F-A3E4-0B5B-2158-DE6F1011486A}"/>
              </a:ext>
            </a:extLst>
          </p:cNvPr>
          <p:cNvSpPr txBox="1"/>
          <p:nvPr/>
        </p:nvSpPr>
        <p:spPr>
          <a:xfrm>
            <a:off x="3776509" y="4274735"/>
            <a:ext cx="3631956" cy="584775"/>
          </a:xfrm>
          <a:prstGeom prst="rect">
            <a:avLst/>
          </a:prstGeom>
          <a:noFill/>
        </p:spPr>
        <p:txBody>
          <a:bodyPr wrap="none" rtlCol="0">
            <a:spAutoFit/>
          </a:bodyPr>
          <a:lstStyle/>
          <a:p>
            <a:r>
              <a:rPr lang="en-US" sz="3200" dirty="0"/>
              <a:t>Update Components</a:t>
            </a:r>
            <a:endParaRPr lang="en-BE" sz="3200" dirty="0"/>
          </a:p>
        </p:txBody>
      </p:sp>
      <p:sp>
        <p:nvSpPr>
          <p:cNvPr id="7" name="TextBox 6">
            <a:extLst>
              <a:ext uri="{FF2B5EF4-FFF2-40B4-BE49-F238E27FC236}">
                <a16:creationId xmlns:a16="http://schemas.microsoft.com/office/drawing/2014/main" id="{40C70B0A-6F61-9826-3F6F-35F9D6AAF714}"/>
              </a:ext>
            </a:extLst>
          </p:cNvPr>
          <p:cNvSpPr txBox="1"/>
          <p:nvPr/>
        </p:nvSpPr>
        <p:spPr>
          <a:xfrm>
            <a:off x="8761141" y="4274732"/>
            <a:ext cx="1382879" cy="584775"/>
          </a:xfrm>
          <a:prstGeom prst="rect">
            <a:avLst/>
          </a:prstGeom>
          <a:noFill/>
        </p:spPr>
        <p:txBody>
          <a:bodyPr wrap="none" rtlCol="0">
            <a:spAutoFit/>
          </a:bodyPr>
          <a:lstStyle/>
          <a:p>
            <a:r>
              <a:rPr lang="en-US" sz="3200" dirty="0"/>
              <a:t>Render</a:t>
            </a:r>
            <a:endParaRPr lang="en-BE" sz="3200" dirty="0"/>
          </a:p>
        </p:txBody>
      </p:sp>
      <p:sp>
        <p:nvSpPr>
          <p:cNvPr id="8" name="Rectangle 7">
            <a:extLst>
              <a:ext uri="{FF2B5EF4-FFF2-40B4-BE49-F238E27FC236}">
                <a16:creationId xmlns:a16="http://schemas.microsoft.com/office/drawing/2014/main" id="{39B9C84D-0E42-3422-1008-961762E5BEAB}"/>
              </a:ext>
            </a:extLst>
          </p:cNvPr>
          <p:cNvSpPr/>
          <p:nvPr/>
        </p:nvSpPr>
        <p:spPr>
          <a:xfrm>
            <a:off x="3776509" y="4274734"/>
            <a:ext cx="3631956" cy="5847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noFill/>
            </a:endParaRPr>
          </a:p>
        </p:txBody>
      </p:sp>
      <p:sp>
        <p:nvSpPr>
          <p:cNvPr id="9" name="Rectangle 8">
            <a:extLst>
              <a:ext uri="{FF2B5EF4-FFF2-40B4-BE49-F238E27FC236}">
                <a16:creationId xmlns:a16="http://schemas.microsoft.com/office/drawing/2014/main" id="{76E60442-48DA-572E-6AFF-8AE6E6EEC323}"/>
              </a:ext>
            </a:extLst>
          </p:cNvPr>
          <p:cNvSpPr/>
          <p:nvPr/>
        </p:nvSpPr>
        <p:spPr>
          <a:xfrm>
            <a:off x="8370810" y="4274733"/>
            <a:ext cx="2297529" cy="5847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noFill/>
            </a:endParaRPr>
          </a:p>
        </p:txBody>
      </p:sp>
      <p:cxnSp>
        <p:nvCxnSpPr>
          <p:cNvPr id="10" name="Straight Arrow Connector 9">
            <a:extLst>
              <a:ext uri="{FF2B5EF4-FFF2-40B4-BE49-F238E27FC236}">
                <a16:creationId xmlns:a16="http://schemas.microsoft.com/office/drawing/2014/main" id="{A40ADC56-5FEB-6BD0-C82D-3E691A8023E8}"/>
              </a:ext>
            </a:extLst>
          </p:cNvPr>
          <p:cNvCxnSpPr>
            <a:stCxn id="4" idx="3"/>
            <a:endCxn id="6" idx="1"/>
          </p:cNvCxnSpPr>
          <p:nvPr/>
        </p:nvCxnSpPr>
        <p:spPr>
          <a:xfrm>
            <a:off x="2810206" y="4567119"/>
            <a:ext cx="966303" cy="4"/>
          </a:xfrm>
          <a:prstGeom prst="straightConnector1">
            <a:avLst/>
          </a:prstGeom>
          <a:ln w="76200">
            <a:solidFill>
              <a:schemeClr val="tx1">
                <a:lumMod val="95000"/>
                <a:lumOff val="5000"/>
              </a:schemeClr>
            </a:solidFill>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6464B470-26A0-D322-8118-1A5A65BDFD58}"/>
              </a:ext>
            </a:extLst>
          </p:cNvPr>
          <p:cNvCxnSpPr/>
          <p:nvPr/>
        </p:nvCxnSpPr>
        <p:spPr>
          <a:xfrm>
            <a:off x="7408465" y="4567123"/>
            <a:ext cx="962345" cy="0"/>
          </a:xfrm>
          <a:prstGeom prst="straightConnector1">
            <a:avLst/>
          </a:prstGeom>
          <a:ln w="76200">
            <a:solidFill>
              <a:schemeClr val="tx1">
                <a:lumMod val="95000"/>
                <a:lumOff val="5000"/>
              </a:schemeClr>
            </a:solidFill>
            <a:tailEnd type="triangle"/>
          </a:ln>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BD397675-E95C-6F76-8074-C2BF928CC6D3}"/>
              </a:ext>
            </a:extLst>
          </p:cNvPr>
          <p:cNvSpPr/>
          <p:nvPr/>
        </p:nvSpPr>
        <p:spPr>
          <a:xfrm>
            <a:off x="3683581" y="4142778"/>
            <a:ext cx="7279888" cy="879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noFill/>
            </a:endParaRPr>
          </a:p>
        </p:txBody>
      </p:sp>
      <p:sp>
        <p:nvSpPr>
          <p:cNvPr id="13" name="TextBox 12">
            <a:extLst>
              <a:ext uri="{FF2B5EF4-FFF2-40B4-BE49-F238E27FC236}">
                <a16:creationId xmlns:a16="http://schemas.microsoft.com/office/drawing/2014/main" id="{1B56243F-AC23-F9A8-717F-99993B2AA966}"/>
              </a:ext>
            </a:extLst>
          </p:cNvPr>
          <p:cNvSpPr txBox="1"/>
          <p:nvPr/>
        </p:nvSpPr>
        <p:spPr>
          <a:xfrm>
            <a:off x="9998971" y="5113383"/>
            <a:ext cx="1789914" cy="523220"/>
          </a:xfrm>
          <a:prstGeom prst="rect">
            <a:avLst/>
          </a:prstGeom>
          <a:noFill/>
        </p:spPr>
        <p:txBody>
          <a:bodyPr wrap="none" rtlCol="0">
            <a:spAutoFit/>
          </a:bodyPr>
          <a:lstStyle/>
          <a:p>
            <a:r>
              <a:rPr lang="en-US" sz="2800" dirty="0"/>
              <a:t>One Frame</a:t>
            </a:r>
            <a:endParaRPr lang="en-BE" sz="2800" dirty="0"/>
          </a:p>
        </p:txBody>
      </p:sp>
      <p:cxnSp>
        <p:nvCxnSpPr>
          <p:cNvPr id="14" name="Straight Connector 13">
            <a:extLst>
              <a:ext uri="{FF2B5EF4-FFF2-40B4-BE49-F238E27FC236}">
                <a16:creationId xmlns:a16="http://schemas.microsoft.com/office/drawing/2014/main" id="{95CDE9FB-1A81-9334-11DF-1C97BF4DAD60}"/>
              </a:ext>
            </a:extLst>
          </p:cNvPr>
          <p:cNvCxnSpPr>
            <a:cxnSpLocks/>
            <a:stCxn id="12" idx="3"/>
          </p:cNvCxnSpPr>
          <p:nvPr/>
        </p:nvCxnSpPr>
        <p:spPr>
          <a:xfrm flipV="1">
            <a:off x="10963469" y="4582522"/>
            <a:ext cx="390331" cy="1"/>
          </a:xfrm>
          <a:prstGeom prst="line">
            <a:avLst/>
          </a:prstGeom>
          <a:ln w="76200">
            <a:solidFill>
              <a:schemeClr val="tx1">
                <a:lumMod val="95000"/>
                <a:lumOff val="5000"/>
              </a:schemeClr>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81CB875C-D535-A582-9CAB-4EEC0CF5F607}"/>
              </a:ext>
            </a:extLst>
          </p:cNvPr>
          <p:cNvCxnSpPr>
            <a:cxnSpLocks/>
          </p:cNvCxnSpPr>
          <p:nvPr/>
        </p:nvCxnSpPr>
        <p:spPr>
          <a:xfrm>
            <a:off x="11351943" y="3434677"/>
            <a:ext cx="0" cy="1132442"/>
          </a:xfrm>
          <a:prstGeom prst="line">
            <a:avLst/>
          </a:prstGeom>
          <a:ln w="76200">
            <a:solidFill>
              <a:schemeClr val="tx1">
                <a:lumMod val="95000"/>
                <a:lumOff val="5000"/>
              </a:schemeClr>
            </a:solidFill>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E168C053-5678-8FDC-FD53-0A3D7036030A}"/>
              </a:ext>
            </a:extLst>
          </p:cNvPr>
          <p:cNvCxnSpPr>
            <a:cxnSpLocks/>
          </p:cNvCxnSpPr>
          <p:nvPr/>
        </p:nvCxnSpPr>
        <p:spPr>
          <a:xfrm>
            <a:off x="3914040" y="3486015"/>
            <a:ext cx="7402559" cy="0"/>
          </a:xfrm>
          <a:prstGeom prst="line">
            <a:avLst/>
          </a:prstGeom>
          <a:ln w="76200">
            <a:solidFill>
              <a:schemeClr val="tx1">
                <a:lumMod val="95000"/>
                <a:lumOff val="5000"/>
              </a:schemeClr>
            </a:solidFill>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EE6E9411-BC02-FD42-4DFF-82B0C602785F}"/>
              </a:ext>
            </a:extLst>
          </p:cNvPr>
          <p:cNvCxnSpPr/>
          <p:nvPr/>
        </p:nvCxnSpPr>
        <p:spPr>
          <a:xfrm>
            <a:off x="3928908" y="3434677"/>
            <a:ext cx="0" cy="708101"/>
          </a:xfrm>
          <a:prstGeom prst="straightConnector1">
            <a:avLst/>
          </a:prstGeom>
          <a:ln w="76200">
            <a:solidFill>
              <a:schemeClr val="tx1">
                <a:lumMod val="95000"/>
                <a:lumOff val="5000"/>
              </a:schemeClr>
            </a:solidFill>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BA26905A-A205-BBC4-4D67-8257D755FD54}"/>
              </a:ext>
            </a:extLst>
          </p:cNvPr>
          <p:cNvSpPr txBox="1"/>
          <p:nvPr/>
        </p:nvSpPr>
        <p:spPr>
          <a:xfrm>
            <a:off x="6694550" y="2828812"/>
            <a:ext cx="2089033" cy="584775"/>
          </a:xfrm>
          <a:prstGeom prst="rect">
            <a:avLst/>
          </a:prstGeom>
          <a:noFill/>
        </p:spPr>
        <p:txBody>
          <a:bodyPr wrap="none" rtlCol="0">
            <a:spAutoFit/>
          </a:bodyPr>
          <a:lstStyle/>
          <a:p>
            <a:r>
              <a:rPr lang="en-US" sz="3200" dirty="0"/>
              <a:t>Game Loop</a:t>
            </a:r>
            <a:endParaRPr lang="en-BE" sz="3200" dirty="0"/>
          </a:p>
        </p:txBody>
      </p:sp>
      <p:cxnSp>
        <p:nvCxnSpPr>
          <p:cNvPr id="29" name="Straight Arrow Connector 28">
            <a:extLst>
              <a:ext uri="{FF2B5EF4-FFF2-40B4-BE49-F238E27FC236}">
                <a16:creationId xmlns:a16="http://schemas.microsoft.com/office/drawing/2014/main" id="{BB05C5FD-56F2-42A0-6EB9-C2CC3D4E991D}"/>
              </a:ext>
            </a:extLst>
          </p:cNvPr>
          <p:cNvCxnSpPr>
            <a:cxnSpLocks/>
          </p:cNvCxnSpPr>
          <p:nvPr/>
        </p:nvCxnSpPr>
        <p:spPr>
          <a:xfrm>
            <a:off x="3193064" y="4567118"/>
            <a:ext cx="0" cy="811487"/>
          </a:xfrm>
          <a:prstGeom prst="straightConnector1">
            <a:avLst/>
          </a:prstGeom>
          <a:ln w="76200">
            <a:solidFill>
              <a:schemeClr val="tx1">
                <a:lumMod val="95000"/>
                <a:lumOff val="5000"/>
              </a:schemeClr>
            </a:solidFill>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3894B329-89EE-12E8-651B-24C2D8ED7321}"/>
              </a:ext>
            </a:extLst>
          </p:cNvPr>
          <p:cNvSpPr txBox="1"/>
          <p:nvPr/>
        </p:nvSpPr>
        <p:spPr>
          <a:xfrm>
            <a:off x="2570432" y="5374993"/>
            <a:ext cx="984372" cy="584775"/>
          </a:xfrm>
          <a:prstGeom prst="rect">
            <a:avLst/>
          </a:prstGeom>
          <a:noFill/>
        </p:spPr>
        <p:txBody>
          <a:bodyPr wrap="none" rtlCol="0">
            <a:spAutoFit/>
          </a:bodyPr>
          <a:lstStyle/>
          <a:p>
            <a:r>
              <a:rPr lang="en-US" sz="3200" dirty="0"/>
              <a:t>Start</a:t>
            </a:r>
            <a:endParaRPr lang="en-BE" sz="3200" dirty="0"/>
          </a:p>
        </p:txBody>
      </p:sp>
      <p:sp>
        <p:nvSpPr>
          <p:cNvPr id="32" name="TextBox 31">
            <a:extLst>
              <a:ext uri="{FF2B5EF4-FFF2-40B4-BE49-F238E27FC236}">
                <a16:creationId xmlns:a16="http://schemas.microsoft.com/office/drawing/2014/main" id="{DEE00AA7-9E48-02B3-0D17-FB6E102DB534}"/>
              </a:ext>
            </a:extLst>
          </p:cNvPr>
          <p:cNvSpPr txBox="1"/>
          <p:nvPr/>
        </p:nvSpPr>
        <p:spPr>
          <a:xfrm>
            <a:off x="4794986" y="5636602"/>
            <a:ext cx="1410771" cy="584775"/>
          </a:xfrm>
          <a:prstGeom prst="rect">
            <a:avLst/>
          </a:prstGeom>
          <a:noFill/>
        </p:spPr>
        <p:txBody>
          <a:bodyPr wrap="none" rtlCol="0">
            <a:spAutoFit/>
          </a:bodyPr>
          <a:lstStyle/>
          <a:p>
            <a:r>
              <a:rPr lang="en-US" sz="3200" dirty="0"/>
              <a:t>Update</a:t>
            </a:r>
            <a:endParaRPr lang="en-BE" sz="3200" dirty="0"/>
          </a:p>
        </p:txBody>
      </p:sp>
      <p:cxnSp>
        <p:nvCxnSpPr>
          <p:cNvPr id="34" name="Straight Arrow Connector 33">
            <a:extLst>
              <a:ext uri="{FF2B5EF4-FFF2-40B4-BE49-F238E27FC236}">
                <a16:creationId xmlns:a16="http://schemas.microsoft.com/office/drawing/2014/main" id="{9D2A8266-7400-CB3A-9E81-5CD76E7F4987}"/>
              </a:ext>
            </a:extLst>
          </p:cNvPr>
          <p:cNvCxnSpPr>
            <a:cxnSpLocks/>
          </p:cNvCxnSpPr>
          <p:nvPr/>
        </p:nvCxnSpPr>
        <p:spPr>
          <a:xfrm>
            <a:off x="5562849" y="4859506"/>
            <a:ext cx="0" cy="811487"/>
          </a:xfrm>
          <a:prstGeom prst="straightConnector1">
            <a:avLst/>
          </a:prstGeom>
          <a:ln w="76200">
            <a:solidFill>
              <a:schemeClr val="tx1">
                <a:lumMod val="95000"/>
                <a:lumOff val="5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28416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C0957-0469-EC5B-3826-C9569720B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2CF804-FBB3-E19E-3EFE-35FE994B7EF2}"/>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11B9B2A7-E963-D073-450A-FF728959BEF2}"/>
              </a:ext>
            </a:extLst>
          </p:cNvPr>
          <p:cNvSpPr txBox="1"/>
          <p:nvPr/>
        </p:nvSpPr>
        <p:spPr>
          <a:xfrm>
            <a:off x="989902" y="1690689"/>
            <a:ext cx="4925486"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t>Unity basics </a:t>
            </a:r>
          </a:p>
          <a:p>
            <a:pPr marL="285750" indent="-285750">
              <a:buFont typeface="Arial" panose="020B0604020202020204" pitchFamily="34" charset="0"/>
              <a:buChar char="•"/>
            </a:pPr>
            <a:r>
              <a:rPr lang="en-US" sz="2800" dirty="0">
                <a:sym typeface="Wingdings" panose="05000000000000000000" pitchFamily="2" charset="2"/>
              </a:rPr>
              <a:t> </a:t>
            </a:r>
            <a:r>
              <a:rPr lang="en-US" sz="2800" dirty="0"/>
              <a:t>3D coordinates </a:t>
            </a:r>
            <a:r>
              <a:rPr lang="en-US" sz="2800" dirty="0">
                <a:sym typeface="Wingdings" panose="05000000000000000000" pitchFamily="2" charset="2"/>
              </a:rPr>
              <a:t></a:t>
            </a:r>
            <a:endParaRPr lang="en-US" sz="2800" dirty="0"/>
          </a:p>
          <a:p>
            <a:pPr marL="285750" indent="-285750">
              <a:buFont typeface="Arial" panose="020B0604020202020204" pitchFamily="34" charset="0"/>
              <a:buChar char="•"/>
            </a:pPr>
            <a:r>
              <a:rPr lang="en-US" sz="2800" dirty="0"/>
              <a:t>3D transforms</a:t>
            </a:r>
          </a:p>
          <a:p>
            <a:pPr marL="285750" indent="-285750">
              <a:buFont typeface="Arial" panose="020B0604020202020204" pitchFamily="34" charset="0"/>
              <a:buChar char="•"/>
            </a:pPr>
            <a:r>
              <a:rPr lang="en-US" sz="2800" dirty="0"/>
              <a:t>Why they are important</a:t>
            </a:r>
          </a:p>
          <a:p>
            <a:pPr marL="285750" indent="-285750">
              <a:buFont typeface="Arial" panose="020B0604020202020204" pitchFamily="34" charset="0"/>
              <a:buChar char="•"/>
            </a:pPr>
            <a:r>
              <a:rPr lang="en-US" sz="2800" dirty="0"/>
              <a:t>Dot &amp; Cross product</a:t>
            </a:r>
          </a:p>
          <a:p>
            <a:pPr marL="285750" indent="-285750">
              <a:buFont typeface="Arial" panose="020B0604020202020204" pitchFamily="34" charset="0"/>
              <a:buChar char="•"/>
            </a:pPr>
            <a:r>
              <a:rPr lang="en-US" sz="2800" dirty="0"/>
              <a:t>Quaternions</a:t>
            </a:r>
          </a:p>
        </p:txBody>
      </p:sp>
    </p:spTree>
    <p:extLst>
      <p:ext uri="{BB962C8B-B14F-4D97-AF65-F5344CB8AC3E}">
        <p14:creationId xmlns:p14="http://schemas.microsoft.com/office/powerpoint/2010/main" val="1947325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4B747-33A1-C906-E5EA-C9831BBAF79B}"/>
              </a:ext>
            </a:extLst>
          </p:cNvPr>
          <p:cNvSpPr>
            <a:spLocks noGrp="1"/>
          </p:cNvSpPr>
          <p:nvPr>
            <p:ph type="title"/>
          </p:nvPr>
        </p:nvSpPr>
        <p:spPr/>
        <p:txBody>
          <a:bodyPr/>
          <a:lstStyle/>
          <a:p>
            <a:r>
              <a:rPr lang="en-US" dirty="0"/>
              <a:t>Coordinate system</a:t>
            </a:r>
            <a:endParaRPr lang="en-BE" dirty="0"/>
          </a:p>
        </p:txBody>
      </p:sp>
      <p:cxnSp>
        <p:nvCxnSpPr>
          <p:cNvPr id="10" name="Straight Arrow Connector 9">
            <a:extLst>
              <a:ext uri="{FF2B5EF4-FFF2-40B4-BE49-F238E27FC236}">
                <a16:creationId xmlns:a16="http://schemas.microsoft.com/office/drawing/2014/main" id="{62FC71B0-5D4B-A82E-ED6A-6E29F5F2726C}"/>
              </a:ext>
            </a:extLst>
          </p:cNvPr>
          <p:cNvCxnSpPr>
            <a:cxnSpLocks/>
          </p:cNvCxnSpPr>
          <p:nvPr/>
        </p:nvCxnSpPr>
        <p:spPr>
          <a:xfrm>
            <a:off x="838200" y="5517502"/>
            <a:ext cx="298113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71EEFD8-6C6F-8F3B-DCB4-E06F4FB7680E}"/>
              </a:ext>
            </a:extLst>
          </p:cNvPr>
          <p:cNvCxnSpPr/>
          <p:nvPr/>
        </p:nvCxnSpPr>
        <p:spPr>
          <a:xfrm flipV="1">
            <a:off x="838200" y="2676293"/>
            <a:ext cx="0" cy="2841209"/>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EA2C3DC-6C15-5D82-4C4A-C2FCC9E69976}"/>
              </a:ext>
            </a:extLst>
          </p:cNvPr>
          <p:cNvCxnSpPr>
            <a:cxnSpLocks/>
          </p:cNvCxnSpPr>
          <p:nvPr/>
        </p:nvCxnSpPr>
        <p:spPr>
          <a:xfrm flipV="1">
            <a:off x="838199" y="3568390"/>
            <a:ext cx="1490566" cy="1949113"/>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8681FB3-E011-FD2A-C699-DFFCAC8CA1FD}"/>
              </a:ext>
            </a:extLst>
          </p:cNvPr>
          <p:cNvSpPr txBox="1"/>
          <p:nvPr/>
        </p:nvSpPr>
        <p:spPr>
          <a:xfrm>
            <a:off x="3842227" y="5255892"/>
            <a:ext cx="370614" cy="523220"/>
          </a:xfrm>
          <a:prstGeom prst="rect">
            <a:avLst/>
          </a:prstGeom>
          <a:noFill/>
        </p:spPr>
        <p:txBody>
          <a:bodyPr wrap="none" rtlCol="0">
            <a:spAutoFit/>
          </a:bodyPr>
          <a:lstStyle/>
          <a:p>
            <a:r>
              <a:rPr lang="en-US" sz="2800" dirty="0"/>
              <a:t>X</a:t>
            </a:r>
            <a:endParaRPr lang="en-BE" sz="2800" dirty="0"/>
          </a:p>
        </p:txBody>
      </p:sp>
      <p:sp>
        <p:nvSpPr>
          <p:cNvPr id="19" name="TextBox 18">
            <a:extLst>
              <a:ext uri="{FF2B5EF4-FFF2-40B4-BE49-F238E27FC236}">
                <a16:creationId xmlns:a16="http://schemas.microsoft.com/office/drawing/2014/main" id="{549641ED-CE00-414A-9DB1-32319C828539}"/>
              </a:ext>
            </a:extLst>
          </p:cNvPr>
          <p:cNvSpPr txBox="1"/>
          <p:nvPr/>
        </p:nvSpPr>
        <p:spPr>
          <a:xfrm>
            <a:off x="622623" y="2089302"/>
            <a:ext cx="215576" cy="523220"/>
          </a:xfrm>
          <a:prstGeom prst="rect">
            <a:avLst/>
          </a:prstGeom>
          <a:noFill/>
        </p:spPr>
        <p:txBody>
          <a:bodyPr wrap="square" rtlCol="0">
            <a:spAutoFit/>
          </a:bodyPr>
          <a:lstStyle/>
          <a:p>
            <a:r>
              <a:rPr lang="en-US" sz="2800" b="1" dirty="0"/>
              <a:t>Y</a:t>
            </a:r>
            <a:endParaRPr lang="en-BE" sz="2800" b="1" dirty="0"/>
          </a:p>
        </p:txBody>
      </p:sp>
      <p:sp>
        <p:nvSpPr>
          <p:cNvPr id="20" name="TextBox 19">
            <a:extLst>
              <a:ext uri="{FF2B5EF4-FFF2-40B4-BE49-F238E27FC236}">
                <a16:creationId xmlns:a16="http://schemas.microsoft.com/office/drawing/2014/main" id="{C25A10E0-D05D-4A30-A5D6-7BBA0B5E810E}"/>
              </a:ext>
            </a:extLst>
          </p:cNvPr>
          <p:cNvSpPr txBox="1"/>
          <p:nvPr/>
        </p:nvSpPr>
        <p:spPr>
          <a:xfrm>
            <a:off x="2255037" y="3116580"/>
            <a:ext cx="352982" cy="523220"/>
          </a:xfrm>
          <a:prstGeom prst="rect">
            <a:avLst/>
          </a:prstGeom>
          <a:noFill/>
        </p:spPr>
        <p:txBody>
          <a:bodyPr wrap="none" rtlCol="0">
            <a:spAutoFit/>
          </a:bodyPr>
          <a:lstStyle/>
          <a:p>
            <a:r>
              <a:rPr lang="en-US" sz="2800" dirty="0"/>
              <a:t>Z</a:t>
            </a:r>
            <a:endParaRPr lang="en-BE" sz="2800" dirty="0"/>
          </a:p>
        </p:txBody>
      </p:sp>
      <p:sp>
        <p:nvSpPr>
          <p:cNvPr id="21" name="TextBox 20">
            <a:extLst>
              <a:ext uri="{FF2B5EF4-FFF2-40B4-BE49-F238E27FC236}">
                <a16:creationId xmlns:a16="http://schemas.microsoft.com/office/drawing/2014/main" id="{94FC11E5-068E-5FDD-9D33-F1B769A10F29}"/>
              </a:ext>
            </a:extLst>
          </p:cNvPr>
          <p:cNvSpPr txBox="1"/>
          <p:nvPr/>
        </p:nvSpPr>
        <p:spPr>
          <a:xfrm>
            <a:off x="4773048" y="2612522"/>
            <a:ext cx="7196714" cy="3108543"/>
          </a:xfrm>
          <a:prstGeom prst="rect">
            <a:avLst/>
          </a:prstGeom>
          <a:noFill/>
        </p:spPr>
        <p:txBody>
          <a:bodyPr wrap="none" rtlCol="0">
            <a:spAutoFit/>
          </a:bodyPr>
          <a:lstStyle/>
          <a:p>
            <a:pPr marL="285750" indent="-285750">
              <a:buFont typeface="Arial" panose="020B0604020202020204" pitchFamily="34" charset="0"/>
              <a:buChar char="•"/>
            </a:pPr>
            <a:r>
              <a:rPr lang="en-US" sz="2800" dirty="0"/>
              <a:t>RGB -&gt; XYZ</a:t>
            </a:r>
          </a:p>
          <a:p>
            <a:pPr marL="285750" indent="-285750">
              <a:buFont typeface="Arial" panose="020B0604020202020204" pitchFamily="34" charset="0"/>
              <a:buChar char="•"/>
            </a:pPr>
            <a:r>
              <a:rPr lang="en-US" sz="2800" dirty="0"/>
              <a:t>X is right</a:t>
            </a:r>
          </a:p>
          <a:p>
            <a:pPr marL="285750" indent="-285750">
              <a:buFont typeface="Arial" panose="020B0604020202020204" pitchFamily="34" charset="0"/>
              <a:buChar char="•"/>
            </a:pPr>
            <a:r>
              <a:rPr lang="en-US" sz="2800" dirty="0"/>
              <a:t>Y is up</a:t>
            </a:r>
          </a:p>
          <a:p>
            <a:pPr marL="285750" indent="-285750">
              <a:buFont typeface="Arial" panose="020B0604020202020204" pitchFamily="34" charset="0"/>
              <a:buChar char="•"/>
            </a:pPr>
            <a:r>
              <a:rPr lang="en-US" sz="2800" dirty="0"/>
              <a:t>Z is “into”</a:t>
            </a:r>
          </a:p>
          <a:p>
            <a:pPr marL="285750" indent="-285750">
              <a:buFont typeface="Arial" panose="020B0604020202020204" pitchFamily="34" charset="0"/>
              <a:buChar char="•"/>
            </a:pPr>
            <a:r>
              <a:rPr lang="en-US" sz="2800" dirty="0"/>
              <a:t>Try putting your thumb as the x axis</a:t>
            </a:r>
          </a:p>
          <a:p>
            <a:pPr marL="285750" indent="-285750">
              <a:buFont typeface="Arial" panose="020B0604020202020204" pitchFamily="34" charset="0"/>
              <a:buChar char="•"/>
            </a:pPr>
            <a:r>
              <a:rPr lang="en-US" sz="2800" dirty="0"/>
              <a:t>Put your index on the Y axis</a:t>
            </a:r>
          </a:p>
          <a:p>
            <a:pPr marL="285750" indent="-285750">
              <a:buFont typeface="Arial" panose="020B0604020202020204" pitchFamily="34" charset="0"/>
              <a:buChar char="•"/>
            </a:pPr>
            <a:r>
              <a:rPr lang="en-US" sz="2800" dirty="0"/>
              <a:t>Hold your middle finger perpendicular to both</a:t>
            </a:r>
          </a:p>
        </p:txBody>
      </p:sp>
    </p:spTree>
    <p:extLst>
      <p:ext uri="{BB962C8B-B14F-4D97-AF65-F5344CB8AC3E}">
        <p14:creationId xmlns:p14="http://schemas.microsoft.com/office/powerpoint/2010/main" val="61683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F43E8-F3E7-430E-EC6F-AA5A8B50ABF1}"/>
              </a:ext>
            </a:extLst>
          </p:cNvPr>
          <p:cNvSpPr>
            <a:spLocks noGrp="1"/>
          </p:cNvSpPr>
          <p:nvPr>
            <p:ph type="title"/>
          </p:nvPr>
        </p:nvSpPr>
        <p:spPr/>
        <p:txBody>
          <a:bodyPr/>
          <a:lstStyle/>
          <a:p>
            <a:r>
              <a:rPr lang="en-US" dirty="0"/>
              <a:t>Did you succeed?</a:t>
            </a:r>
            <a:endParaRPr lang="en-BE" dirty="0"/>
          </a:p>
        </p:txBody>
      </p:sp>
      <p:sp>
        <p:nvSpPr>
          <p:cNvPr id="3" name="TextBox 2">
            <a:extLst>
              <a:ext uri="{FF2B5EF4-FFF2-40B4-BE49-F238E27FC236}">
                <a16:creationId xmlns:a16="http://schemas.microsoft.com/office/drawing/2014/main" id="{2338D23E-EEAF-AFF0-033A-7FC084287313}"/>
              </a:ext>
            </a:extLst>
          </p:cNvPr>
          <p:cNvSpPr txBox="1"/>
          <p:nvPr/>
        </p:nvSpPr>
        <p:spPr>
          <a:xfrm>
            <a:off x="416312" y="1690688"/>
            <a:ext cx="10557121" cy="1569660"/>
          </a:xfrm>
          <a:prstGeom prst="rect">
            <a:avLst/>
          </a:prstGeom>
          <a:noFill/>
        </p:spPr>
        <p:txBody>
          <a:bodyPr wrap="none" rtlCol="0">
            <a:spAutoFit/>
          </a:bodyPr>
          <a:lstStyle/>
          <a:p>
            <a:pPr marL="285750" indent="-285750">
              <a:buFont typeface="Arial" panose="020B0604020202020204" pitchFamily="34" charset="0"/>
              <a:buChar char="•"/>
            </a:pPr>
            <a:r>
              <a:rPr lang="en-US" sz="3200" dirty="0"/>
              <a:t>If you did, you’re left-handed</a:t>
            </a:r>
          </a:p>
          <a:p>
            <a:pPr marL="285750" indent="-285750">
              <a:buFont typeface="Arial" panose="020B0604020202020204" pitchFamily="34" charset="0"/>
              <a:buChar char="•"/>
            </a:pPr>
            <a:r>
              <a:rPr lang="en-US" sz="3200" dirty="0"/>
              <a:t>3D coordinate system are either left-handed or right-handed</a:t>
            </a:r>
          </a:p>
          <a:p>
            <a:pPr marL="285750" indent="-285750">
              <a:buFont typeface="Arial" panose="020B0604020202020204" pitchFamily="34" charset="0"/>
              <a:buChar char="•"/>
            </a:pPr>
            <a:r>
              <a:rPr lang="en-US" sz="3200" dirty="0"/>
              <a:t>Unity is </a:t>
            </a:r>
            <a:r>
              <a:rPr lang="en-US" sz="3200" b="1" dirty="0"/>
              <a:t>left</a:t>
            </a:r>
            <a:r>
              <a:rPr lang="en-US" sz="3200" dirty="0"/>
              <a:t> handed</a:t>
            </a:r>
          </a:p>
        </p:txBody>
      </p:sp>
      <p:pic>
        <p:nvPicPr>
          <p:cNvPr id="5" name="Picture 4" descr="A pair of hands pointing at different angles&#10;&#10;Description automatically generated">
            <a:extLst>
              <a:ext uri="{FF2B5EF4-FFF2-40B4-BE49-F238E27FC236}">
                <a16:creationId xmlns:a16="http://schemas.microsoft.com/office/drawing/2014/main" id="{51C9D194-4AE6-9AD7-40CA-9153F25338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7835" y="2973354"/>
            <a:ext cx="5102914" cy="3851667"/>
          </a:xfrm>
          <a:prstGeom prst="rect">
            <a:avLst/>
          </a:prstGeom>
        </p:spPr>
      </p:pic>
    </p:spTree>
    <p:extLst>
      <p:ext uri="{BB962C8B-B14F-4D97-AF65-F5344CB8AC3E}">
        <p14:creationId xmlns:p14="http://schemas.microsoft.com/office/powerpoint/2010/main" val="3769181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2C102-4145-A62B-43E9-E3E38257B1E2}"/>
              </a:ext>
            </a:extLst>
          </p:cNvPr>
          <p:cNvSpPr>
            <a:spLocks noGrp="1"/>
          </p:cNvSpPr>
          <p:nvPr>
            <p:ph type="title"/>
          </p:nvPr>
        </p:nvSpPr>
        <p:spPr/>
        <p:txBody>
          <a:bodyPr/>
          <a:lstStyle/>
          <a:p>
            <a:r>
              <a:rPr lang="en-US" dirty="0"/>
              <a:t>Y is up</a:t>
            </a:r>
            <a:endParaRPr lang="en-BE" dirty="0"/>
          </a:p>
        </p:txBody>
      </p:sp>
      <p:sp>
        <p:nvSpPr>
          <p:cNvPr id="3" name="TextBox 2">
            <a:extLst>
              <a:ext uri="{FF2B5EF4-FFF2-40B4-BE49-F238E27FC236}">
                <a16:creationId xmlns:a16="http://schemas.microsoft.com/office/drawing/2014/main" id="{81D022A2-2166-AA99-2959-CD693C238D66}"/>
              </a:ext>
            </a:extLst>
          </p:cNvPr>
          <p:cNvSpPr txBox="1"/>
          <p:nvPr/>
        </p:nvSpPr>
        <p:spPr>
          <a:xfrm>
            <a:off x="215590" y="1546303"/>
            <a:ext cx="11316303" cy="2677656"/>
          </a:xfrm>
          <a:prstGeom prst="rect">
            <a:avLst/>
          </a:prstGeom>
          <a:noFill/>
        </p:spPr>
        <p:txBody>
          <a:bodyPr wrap="none" rtlCol="0">
            <a:spAutoFit/>
          </a:bodyPr>
          <a:lstStyle/>
          <a:p>
            <a:pPr marL="285750" indent="-285750">
              <a:buFont typeface="Arial" panose="020B0604020202020204" pitchFamily="34" charset="0"/>
              <a:buChar char="•"/>
            </a:pPr>
            <a:r>
              <a:rPr lang="en-US" sz="2800" dirty="0"/>
              <a:t>You can implement applications where another axis is up (</a:t>
            </a:r>
            <a:r>
              <a:rPr lang="en-US" sz="2800" dirty="0" err="1"/>
              <a:t>eg</a:t>
            </a:r>
            <a:r>
              <a:rPr lang="en-US" sz="2800" dirty="0"/>
              <a:t> space games)</a:t>
            </a:r>
          </a:p>
          <a:p>
            <a:pPr marL="285750" indent="-285750">
              <a:buFont typeface="Arial" panose="020B0604020202020204" pitchFamily="34" charset="0"/>
              <a:buChar char="•"/>
            </a:pPr>
            <a:r>
              <a:rPr lang="en-US" sz="2800" dirty="0"/>
              <a:t>But most people follow this convention</a:t>
            </a:r>
          </a:p>
          <a:p>
            <a:pPr marL="285750" indent="-285750">
              <a:buFont typeface="Arial" panose="020B0604020202020204" pitchFamily="34" charset="0"/>
              <a:buChar char="•"/>
            </a:pPr>
            <a:r>
              <a:rPr lang="en-US" sz="2800" dirty="0"/>
              <a:t>Models are oriented by this way by default</a:t>
            </a:r>
          </a:p>
          <a:p>
            <a:pPr marL="285750" indent="-285750">
              <a:buFont typeface="Arial" panose="020B0604020202020204" pitchFamily="34" charset="0"/>
              <a:buChar char="•"/>
            </a:pPr>
            <a:r>
              <a:rPr lang="en-US" sz="2800" dirty="0"/>
              <a:t>Gravity is oriented this way by default</a:t>
            </a:r>
          </a:p>
          <a:p>
            <a:pPr marL="285750" indent="-285750">
              <a:buFont typeface="Arial" panose="020B0604020202020204" pitchFamily="34" charset="0"/>
              <a:buChar char="•"/>
            </a:pPr>
            <a:r>
              <a:rPr lang="en-US" sz="2800" dirty="0"/>
              <a:t>Best to follow it</a:t>
            </a:r>
          </a:p>
          <a:p>
            <a:pPr marL="285750" indent="-285750">
              <a:buFont typeface="Arial" panose="020B0604020202020204" pitchFamily="34" charset="0"/>
              <a:buChar char="•"/>
            </a:pPr>
            <a:r>
              <a:rPr lang="en-US" sz="2800" dirty="0"/>
              <a:t>Trigger warning for the next slide</a:t>
            </a:r>
            <a:endParaRPr lang="en-BE" sz="2800" dirty="0"/>
          </a:p>
        </p:txBody>
      </p:sp>
    </p:spTree>
    <p:extLst>
      <p:ext uri="{BB962C8B-B14F-4D97-AF65-F5344CB8AC3E}">
        <p14:creationId xmlns:p14="http://schemas.microsoft.com/office/powerpoint/2010/main" val="2966203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4C5A6-975A-F964-61B6-549CC051F4CB}"/>
              </a:ext>
            </a:extLst>
          </p:cNvPr>
          <p:cNvSpPr>
            <a:spLocks noGrp="1"/>
          </p:cNvSpPr>
          <p:nvPr>
            <p:ph type="title"/>
          </p:nvPr>
        </p:nvSpPr>
        <p:spPr/>
        <p:txBody>
          <a:bodyPr/>
          <a:lstStyle/>
          <a:p>
            <a:r>
              <a:rPr lang="en-US" dirty="0"/>
              <a:t>It’s a mess out there</a:t>
            </a:r>
            <a:endParaRPr lang="en-BE" dirty="0"/>
          </a:p>
        </p:txBody>
      </p:sp>
      <p:pic>
        <p:nvPicPr>
          <p:cNvPr id="4" name="Picture 3" descr="A group of logos with text&#10;&#10;Description automatically generated">
            <a:extLst>
              <a:ext uri="{FF2B5EF4-FFF2-40B4-BE49-F238E27FC236}">
                <a16:creationId xmlns:a16="http://schemas.microsoft.com/office/drawing/2014/main" id="{83214A4C-9597-8A81-5346-11D67F6F07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0966" y="906966"/>
            <a:ext cx="5951034" cy="5951034"/>
          </a:xfrm>
          <a:prstGeom prst="rect">
            <a:avLst/>
          </a:prstGeom>
        </p:spPr>
      </p:pic>
      <p:sp>
        <p:nvSpPr>
          <p:cNvPr id="3" name="TextBox 2">
            <a:extLst>
              <a:ext uri="{FF2B5EF4-FFF2-40B4-BE49-F238E27FC236}">
                <a16:creationId xmlns:a16="http://schemas.microsoft.com/office/drawing/2014/main" id="{2CB030EA-2E53-9CE7-B5C0-DA6E412D249A}"/>
              </a:ext>
            </a:extLst>
          </p:cNvPr>
          <p:cNvSpPr txBox="1"/>
          <p:nvPr/>
        </p:nvSpPr>
        <p:spPr>
          <a:xfrm>
            <a:off x="603380" y="1635967"/>
            <a:ext cx="5546647"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Almost every import requires conversion</a:t>
            </a:r>
          </a:p>
          <a:p>
            <a:pPr marL="285750" indent="-285750">
              <a:buFont typeface="Arial" panose="020B0604020202020204" pitchFamily="34" charset="0"/>
              <a:buChar char="•"/>
            </a:pPr>
            <a:r>
              <a:rPr lang="en-US" sz="2400" dirty="0"/>
              <a:t>It might be done automatically</a:t>
            </a:r>
          </a:p>
          <a:p>
            <a:pPr marL="285750" indent="-285750">
              <a:buFont typeface="Arial" panose="020B0604020202020204" pitchFamily="34" charset="0"/>
              <a:buChar char="•"/>
            </a:pPr>
            <a:r>
              <a:rPr lang="en-US" sz="2400" dirty="0"/>
              <a:t>It might have to be done explicitly</a:t>
            </a:r>
          </a:p>
        </p:txBody>
      </p:sp>
    </p:spTree>
    <p:extLst>
      <p:ext uri="{BB962C8B-B14F-4D97-AF65-F5344CB8AC3E}">
        <p14:creationId xmlns:p14="http://schemas.microsoft.com/office/powerpoint/2010/main" val="4014497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EBF34-B399-EAA1-A6E5-9A8450261B5A}"/>
              </a:ext>
            </a:extLst>
          </p:cNvPr>
          <p:cNvSpPr>
            <a:spLocks noGrp="1"/>
          </p:cNvSpPr>
          <p:nvPr>
            <p:ph type="title"/>
          </p:nvPr>
        </p:nvSpPr>
        <p:spPr/>
        <p:txBody>
          <a:bodyPr/>
          <a:lstStyle/>
          <a:p>
            <a:r>
              <a:rPr lang="en-US" dirty="0"/>
              <a:t>Vectors</a:t>
            </a:r>
            <a:endParaRPr lang="en-BE" dirty="0"/>
          </a:p>
        </p:txBody>
      </p:sp>
      <p:sp>
        <p:nvSpPr>
          <p:cNvPr id="3" name="TextBox 2">
            <a:extLst>
              <a:ext uri="{FF2B5EF4-FFF2-40B4-BE49-F238E27FC236}">
                <a16:creationId xmlns:a16="http://schemas.microsoft.com/office/drawing/2014/main" id="{A89647B1-0C0B-A777-5FFA-ED2E48B773AF}"/>
              </a:ext>
            </a:extLst>
          </p:cNvPr>
          <p:cNvSpPr txBox="1"/>
          <p:nvPr/>
        </p:nvSpPr>
        <p:spPr>
          <a:xfrm>
            <a:off x="335903" y="1393321"/>
            <a:ext cx="6221014"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Is an annoying concept to explain</a:t>
            </a:r>
          </a:p>
          <a:p>
            <a:pPr marL="285750" indent="-285750">
              <a:buFont typeface="Arial" panose="020B0604020202020204" pitchFamily="34" charset="0"/>
              <a:buChar char="•"/>
            </a:pPr>
            <a:r>
              <a:rPr lang="en-US" sz="2400" dirty="0"/>
              <a:t>You know it as an array that can grow</a:t>
            </a:r>
          </a:p>
          <a:p>
            <a:pPr marL="285750" indent="-285750">
              <a:buFont typeface="Arial" panose="020B0604020202020204" pitchFamily="34" charset="0"/>
              <a:buChar char="•"/>
            </a:pPr>
            <a:r>
              <a:rPr lang="en-US" sz="2400" dirty="0"/>
              <a:t>In graphics, it’s collection of 3 or 4 float’s</a:t>
            </a:r>
          </a:p>
          <a:p>
            <a:pPr marL="285750" indent="-285750">
              <a:buFont typeface="Arial" panose="020B0604020202020204" pitchFamily="34" charset="0"/>
              <a:buChar char="•"/>
            </a:pPr>
            <a:r>
              <a:rPr lang="en-US" sz="2400" dirty="0"/>
              <a:t>More specifically, it’s an offset from the origin</a:t>
            </a:r>
          </a:p>
        </p:txBody>
      </p:sp>
      <p:cxnSp>
        <p:nvCxnSpPr>
          <p:cNvPr id="4" name="Straight Arrow Connector 3">
            <a:extLst>
              <a:ext uri="{FF2B5EF4-FFF2-40B4-BE49-F238E27FC236}">
                <a16:creationId xmlns:a16="http://schemas.microsoft.com/office/drawing/2014/main" id="{10E4630A-9205-DD19-2F98-A28196492C56}"/>
              </a:ext>
            </a:extLst>
          </p:cNvPr>
          <p:cNvCxnSpPr>
            <a:cxnSpLocks/>
          </p:cNvCxnSpPr>
          <p:nvPr/>
        </p:nvCxnSpPr>
        <p:spPr>
          <a:xfrm>
            <a:off x="7482507" y="4294509"/>
            <a:ext cx="298113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952F658F-00C6-A415-20C6-77F4A508B9ED}"/>
              </a:ext>
            </a:extLst>
          </p:cNvPr>
          <p:cNvCxnSpPr/>
          <p:nvPr/>
        </p:nvCxnSpPr>
        <p:spPr>
          <a:xfrm flipV="1">
            <a:off x="7482507" y="1453300"/>
            <a:ext cx="0" cy="2841209"/>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83AE3B57-53CB-BF3D-0E86-E6DDF339B807}"/>
              </a:ext>
            </a:extLst>
          </p:cNvPr>
          <p:cNvCxnSpPr>
            <a:cxnSpLocks/>
          </p:cNvCxnSpPr>
          <p:nvPr/>
        </p:nvCxnSpPr>
        <p:spPr>
          <a:xfrm flipV="1">
            <a:off x="7482506" y="2345397"/>
            <a:ext cx="1490566" cy="1949113"/>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21ACE5-DBE3-FA78-5122-1FC63140BA87}"/>
              </a:ext>
            </a:extLst>
          </p:cNvPr>
          <p:cNvSpPr txBox="1"/>
          <p:nvPr/>
        </p:nvSpPr>
        <p:spPr>
          <a:xfrm>
            <a:off x="10486534" y="4032899"/>
            <a:ext cx="370614" cy="523220"/>
          </a:xfrm>
          <a:prstGeom prst="rect">
            <a:avLst/>
          </a:prstGeom>
          <a:noFill/>
        </p:spPr>
        <p:txBody>
          <a:bodyPr wrap="none" rtlCol="0">
            <a:spAutoFit/>
          </a:bodyPr>
          <a:lstStyle/>
          <a:p>
            <a:r>
              <a:rPr lang="en-US" sz="2800" dirty="0"/>
              <a:t>X</a:t>
            </a:r>
            <a:endParaRPr lang="en-BE" sz="2800" dirty="0"/>
          </a:p>
        </p:txBody>
      </p:sp>
      <p:sp>
        <p:nvSpPr>
          <p:cNvPr id="8" name="TextBox 7">
            <a:extLst>
              <a:ext uri="{FF2B5EF4-FFF2-40B4-BE49-F238E27FC236}">
                <a16:creationId xmlns:a16="http://schemas.microsoft.com/office/drawing/2014/main" id="{E3107B33-C0D0-5F9D-0D89-65F4F16F7F73}"/>
              </a:ext>
            </a:extLst>
          </p:cNvPr>
          <p:cNvSpPr txBox="1"/>
          <p:nvPr/>
        </p:nvSpPr>
        <p:spPr>
          <a:xfrm>
            <a:off x="7266930" y="866309"/>
            <a:ext cx="215576" cy="523220"/>
          </a:xfrm>
          <a:prstGeom prst="rect">
            <a:avLst/>
          </a:prstGeom>
          <a:noFill/>
        </p:spPr>
        <p:txBody>
          <a:bodyPr wrap="square" rtlCol="0">
            <a:spAutoFit/>
          </a:bodyPr>
          <a:lstStyle/>
          <a:p>
            <a:r>
              <a:rPr lang="en-US" sz="2800" b="1" dirty="0"/>
              <a:t>Y</a:t>
            </a:r>
            <a:endParaRPr lang="en-BE" sz="2800" b="1" dirty="0"/>
          </a:p>
        </p:txBody>
      </p:sp>
      <p:sp>
        <p:nvSpPr>
          <p:cNvPr id="9" name="TextBox 8">
            <a:extLst>
              <a:ext uri="{FF2B5EF4-FFF2-40B4-BE49-F238E27FC236}">
                <a16:creationId xmlns:a16="http://schemas.microsoft.com/office/drawing/2014/main" id="{40841FC9-4DC7-F551-9744-A4FA00CD45C1}"/>
              </a:ext>
            </a:extLst>
          </p:cNvPr>
          <p:cNvSpPr txBox="1"/>
          <p:nvPr/>
        </p:nvSpPr>
        <p:spPr>
          <a:xfrm>
            <a:off x="8899344" y="1893587"/>
            <a:ext cx="352982" cy="523220"/>
          </a:xfrm>
          <a:prstGeom prst="rect">
            <a:avLst/>
          </a:prstGeom>
          <a:noFill/>
        </p:spPr>
        <p:txBody>
          <a:bodyPr wrap="none" rtlCol="0">
            <a:spAutoFit/>
          </a:bodyPr>
          <a:lstStyle/>
          <a:p>
            <a:r>
              <a:rPr lang="en-US" sz="2800" dirty="0"/>
              <a:t>Z</a:t>
            </a:r>
            <a:endParaRPr lang="en-BE" sz="2800" dirty="0"/>
          </a:p>
        </p:txBody>
      </p:sp>
      <p:cxnSp>
        <p:nvCxnSpPr>
          <p:cNvPr id="11" name="Straight Arrow Connector 10">
            <a:extLst>
              <a:ext uri="{FF2B5EF4-FFF2-40B4-BE49-F238E27FC236}">
                <a16:creationId xmlns:a16="http://schemas.microsoft.com/office/drawing/2014/main" id="{77E20993-0D40-7066-60B2-D90CE692F917}"/>
              </a:ext>
            </a:extLst>
          </p:cNvPr>
          <p:cNvCxnSpPr/>
          <p:nvPr/>
        </p:nvCxnSpPr>
        <p:spPr>
          <a:xfrm flipV="1">
            <a:off x="7573575" y="2969866"/>
            <a:ext cx="2438400" cy="1324643"/>
          </a:xfrm>
          <a:prstGeom prst="straightConnector1">
            <a:avLst/>
          </a:prstGeom>
          <a:ln w="76200">
            <a:solidFill>
              <a:schemeClr val="tx1">
                <a:lumMod val="95000"/>
                <a:lumOff val="5000"/>
              </a:schemeClr>
            </a:solidFill>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A1F4EFD7-018D-EDE8-5073-F48ABED12B04}"/>
              </a:ext>
            </a:extLst>
          </p:cNvPr>
          <p:cNvSpPr txBox="1"/>
          <p:nvPr/>
        </p:nvSpPr>
        <p:spPr>
          <a:xfrm>
            <a:off x="10011975" y="2555450"/>
            <a:ext cx="1422184" cy="369332"/>
          </a:xfrm>
          <a:prstGeom prst="rect">
            <a:avLst/>
          </a:prstGeom>
          <a:noFill/>
        </p:spPr>
        <p:txBody>
          <a:bodyPr wrap="none" rtlCol="0">
            <a:spAutoFit/>
          </a:bodyPr>
          <a:lstStyle/>
          <a:p>
            <a:r>
              <a:rPr lang="en-US" dirty="0"/>
              <a:t>(3.0, 1.0, 0.0)</a:t>
            </a:r>
            <a:endParaRPr lang="en-BE" dirty="0"/>
          </a:p>
        </p:txBody>
      </p:sp>
    </p:spTree>
    <p:extLst>
      <p:ext uri="{BB962C8B-B14F-4D97-AF65-F5344CB8AC3E}">
        <p14:creationId xmlns:p14="http://schemas.microsoft.com/office/powerpoint/2010/main" val="1940820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22E71-EE58-7896-3608-08CA2DFC9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D450F-86B0-BE9C-B0E3-1E153B5AB3E3}"/>
              </a:ext>
            </a:extLst>
          </p:cNvPr>
          <p:cNvSpPr>
            <a:spLocks noGrp="1"/>
          </p:cNvSpPr>
          <p:nvPr>
            <p:ph type="title"/>
          </p:nvPr>
        </p:nvSpPr>
        <p:spPr/>
        <p:txBody>
          <a:bodyPr/>
          <a:lstStyle/>
          <a:p>
            <a:r>
              <a:rPr lang="en-US" dirty="0"/>
              <a:t>Unity</a:t>
            </a:r>
            <a:endParaRPr lang="en-BE" dirty="0"/>
          </a:p>
        </p:txBody>
      </p:sp>
      <p:sp>
        <p:nvSpPr>
          <p:cNvPr id="3" name="TextBox 2">
            <a:extLst>
              <a:ext uri="{FF2B5EF4-FFF2-40B4-BE49-F238E27FC236}">
                <a16:creationId xmlns:a16="http://schemas.microsoft.com/office/drawing/2014/main" id="{FB982587-ED4B-F970-BE4C-19E90C83C38E}"/>
              </a:ext>
            </a:extLst>
          </p:cNvPr>
          <p:cNvSpPr txBox="1"/>
          <p:nvPr/>
        </p:nvSpPr>
        <p:spPr>
          <a:xfrm>
            <a:off x="186611" y="1598644"/>
            <a:ext cx="7051930" cy="1754326"/>
          </a:xfrm>
          <a:prstGeom prst="rect">
            <a:avLst/>
          </a:prstGeom>
          <a:noFill/>
        </p:spPr>
        <p:txBody>
          <a:bodyPr wrap="none" rtlCol="0">
            <a:spAutoFit/>
          </a:bodyPr>
          <a:lstStyle/>
          <a:p>
            <a:r>
              <a:rPr lang="en-US" sz="1800" dirty="0">
                <a:solidFill>
                  <a:srgbClr val="000000"/>
                </a:solidFill>
                <a:latin typeface="Cascadia Mono" panose="020B0609020000020004" pitchFamily="49" charset="0"/>
              </a:rPr>
              <a:t> </a:t>
            </a:r>
            <a:r>
              <a:rPr lang="en-US" sz="1800" dirty="0">
                <a:solidFill>
                  <a:srgbClr val="008000"/>
                </a:solidFill>
                <a:latin typeface="Cascadia Mono" panose="020B0609020000020004" pitchFamily="49" charset="0"/>
              </a:rPr>
              <a:t>// initialize with all components</a:t>
            </a:r>
          </a:p>
          <a:p>
            <a:r>
              <a:rPr lang="en-US" sz="1800" dirty="0">
                <a:solidFill>
                  <a:srgbClr val="000000"/>
                </a:solidFill>
                <a:latin typeface="Cascadia Mono" panose="020B0609020000020004" pitchFamily="49" charset="0"/>
              </a:rPr>
              <a:t> </a:t>
            </a:r>
            <a:r>
              <a:rPr lang="en-US" sz="1800" i="1" dirty="0">
                <a:solidFill>
                  <a:srgbClr val="0000FF"/>
                </a:solidFill>
                <a:latin typeface="Cascadia Mono" panose="020B0609020000020004" pitchFamily="49" charset="0"/>
              </a:rPr>
              <a:t>Vector3</a:t>
            </a:r>
            <a:r>
              <a:rPr lang="en-US" sz="1800" i="0" dirty="0">
                <a:solidFill>
                  <a:srgbClr val="000000"/>
                </a:solidFill>
                <a:latin typeface="Cascadia Mono" panose="020B0609020000020004" pitchFamily="49" charset="0"/>
              </a:rPr>
              <a:t> </a:t>
            </a:r>
            <a:r>
              <a:rPr lang="en-US" sz="1800" i="0" dirty="0">
                <a:solidFill>
                  <a:srgbClr val="000080"/>
                </a:solidFill>
                <a:latin typeface="Cascadia Mono" panose="020B0609020000020004" pitchFamily="49" charset="0"/>
              </a:rPr>
              <a:t>v1</a:t>
            </a:r>
            <a:r>
              <a:rPr lang="en-US" sz="1800" i="0" dirty="0">
                <a:solidFill>
                  <a:srgbClr val="000000"/>
                </a:solidFill>
                <a:latin typeface="Cascadia Mono" panose="020B0609020000020004" pitchFamily="49" charset="0"/>
              </a:rPr>
              <a:t> = </a:t>
            </a:r>
            <a:r>
              <a:rPr lang="en-US" sz="1800" i="0" dirty="0">
                <a:solidFill>
                  <a:srgbClr val="0000FF"/>
                </a:solidFill>
                <a:latin typeface="Cascadia Mono" panose="020B0609020000020004" pitchFamily="49" charset="0"/>
              </a:rPr>
              <a:t>new</a:t>
            </a:r>
            <a:r>
              <a:rPr lang="en-US" sz="1800" i="0" dirty="0">
                <a:solidFill>
                  <a:srgbClr val="000000"/>
                </a:solidFill>
                <a:latin typeface="Cascadia Mono" panose="020B0609020000020004" pitchFamily="49" charset="0"/>
              </a:rPr>
              <a:t> </a:t>
            </a:r>
            <a:r>
              <a:rPr lang="en-US" sz="1800" i="1" dirty="0">
                <a:solidFill>
                  <a:srgbClr val="0000FF"/>
                </a:solidFill>
                <a:latin typeface="Cascadia Mono" panose="020B0609020000020004" pitchFamily="49" charset="0"/>
              </a:rPr>
              <a:t>Vector3</a:t>
            </a:r>
            <a:r>
              <a:rPr lang="en-US" sz="1800" i="0" dirty="0">
                <a:solidFill>
                  <a:srgbClr val="000000"/>
                </a:solidFill>
                <a:latin typeface="Cascadia Mono" panose="020B0609020000020004" pitchFamily="49" charset="0"/>
              </a:rPr>
              <a:t>(2, 1, 0);</a:t>
            </a:r>
          </a:p>
          <a:p>
            <a:r>
              <a:rPr lang="en-US" sz="1800" i="0" dirty="0">
                <a:solidFill>
                  <a:srgbClr val="000000"/>
                </a:solidFill>
                <a:latin typeface="Cascadia Mono" panose="020B0609020000020004" pitchFamily="49" charset="0"/>
              </a:rPr>
              <a:t> </a:t>
            </a:r>
            <a:r>
              <a:rPr lang="en-US" sz="1800" i="0" dirty="0">
                <a:solidFill>
                  <a:srgbClr val="008000"/>
                </a:solidFill>
                <a:latin typeface="Cascadia Mono" panose="020B0609020000020004" pitchFamily="49" charset="0"/>
              </a:rPr>
              <a:t>// shorthand for (0, 0, 0)</a:t>
            </a:r>
          </a:p>
          <a:p>
            <a:r>
              <a:rPr lang="en-US" sz="1800" i="0" dirty="0">
                <a:solidFill>
                  <a:srgbClr val="000000"/>
                </a:solidFill>
                <a:latin typeface="Cascadia Mono" panose="020B0609020000020004" pitchFamily="49" charset="0"/>
              </a:rPr>
              <a:t> </a:t>
            </a:r>
            <a:r>
              <a:rPr lang="en-US" sz="1800" i="1" dirty="0">
                <a:solidFill>
                  <a:srgbClr val="0000FF"/>
                </a:solidFill>
                <a:latin typeface="Cascadia Mono" panose="020B0609020000020004" pitchFamily="49" charset="0"/>
              </a:rPr>
              <a:t>Vector3</a:t>
            </a:r>
            <a:r>
              <a:rPr lang="en-US" sz="1800" i="0" dirty="0">
                <a:solidFill>
                  <a:srgbClr val="000000"/>
                </a:solidFill>
                <a:latin typeface="Cascadia Mono" panose="020B0609020000020004" pitchFamily="49" charset="0"/>
              </a:rPr>
              <a:t> </a:t>
            </a:r>
            <a:r>
              <a:rPr lang="en-US" sz="1800" i="0" dirty="0">
                <a:solidFill>
                  <a:srgbClr val="000080"/>
                </a:solidFill>
                <a:latin typeface="Cascadia Mono" panose="020B0609020000020004" pitchFamily="49" charset="0"/>
              </a:rPr>
              <a:t>v2</a:t>
            </a:r>
            <a:r>
              <a:rPr lang="en-US" sz="1800" i="0" dirty="0">
                <a:solidFill>
                  <a:srgbClr val="000000"/>
                </a:solidFill>
                <a:latin typeface="Cascadia Mono" panose="020B0609020000020004" pitchFamily="49" charset="0"/>
              </a:rPr>
              <a:t> = </a:t>
            </a:r>
            <a:r>
              <a:rPr lang="en-US" sz="1800" i="1" dirty="0">
                <a:solidFill>
                  <a:srgbClr val="0000FF"/>
                </a:solidFill>
                <a:latin typeface="Cascadia Mono" panose="020B0609020000020004" pitchFamily="49" charset="0"/>
              </a:rPr>
              <a:t>Vector3</a:t>
            </a:r>
            <a:r>
              <a:rPr lang="en-US" sz="1800" i="0" dirty="0">
                <a:solidFill>
                  <a:srgbClr val="000000"/>
                </a:solidFill>
                <a:latin typeface="Cascadia Mono" panose="020B0609020000020004" pitchFamily="49" charset="0"/>
              </a:rPr>
              <a:t>.</a:t>
            </a:r>
            <a:r>
              <a:rPr lang="en-US" sz="1800" i="1" dirty="0">
                <a:solidFill>
                  <a:srgbClr val="000080"/>
                </a:solidFill>
                <a:latin typeface="Cascadia Mono" panose="020B0609020000020004" pitchFamily="49" charset="0"/>
              </a:rPr>
              <a:t>zero</a:t>
            </a:r>
            <a:r>
              <a:rPr lang="en-US" sz="1800" i="0" dirty="0">
                <a:solidFill>
                  <a:srgbClr val="000000"/>
                </a:solidFill>
                <a:latin typeface="Cascadia Mono" panose="020B0609020000020004" pitchFamily="49" charset="0"/>
              </a:rPr>
              <a:t>;</a:t>
            </a:r>
          </a:p>
          <a:p>
            <a:r>
              <a:rPr lang="en-US" sz="1800" i="0" dirty="0">
                <a:solidFill>
                  <a:srgbClr val="000000"/>
                </a:solidFill>
                <a:latin typeface="Cascadia Mono" panose="020B0609020000020004" pitchFamily="49" charset="0"/>
              </a:rPr>
              <a:t> </a:t>
            </a:r>
            <a:r>
              <a:rPr lang="en-US" sz="1800" i="0" dirty="0">
                <a:solidFill>
                  <a:srgbClr val="008000"/>
                </a:solidFill>
                <a:latin typeface="Cascadia Mono" panose="020B0609020000020004" pitchFamily="49" charset="0"/>
              </a:rPr>
              <a:t>// shorthand for (1, 0, 0). All 6 directions exist</a:t>
            </a:r>
          </a:p>
          <a:p>
            <a:r>
              <a:rPr lang="en-US" sz="1800" i="0" dirty="0">
                <a:solidFill>
                  <a:srgbClr val="000000"/>
                </a:solidFill>
                <a:latin typeface="Cascadia Mono" panose="020B0609020000020004" pitchFamily="49" charset="0"/>
              </a:rPr>
              <a:t> </a:t>
            </a:r>
            <a:r>
              <a:rPr lang="en-US" sz="1800" i="1" dirty="0">
                <a:solidFill>
                  <a:srgbClr val="0000FF"/>
                </a:solidFill>
                <a:latin typeface="Cascadia Mono" panose="020B0609020000020004" pitchFamily="49" charset="0"/>
              </a:rPr>
              <a:t>Vector3</a:t>
            </a:r>
            <a:r>
              <a:rPr lang="en-US" sz="1800" i="0" dirty="0">
                <a:solidFill>
                  <a:srgbClr val="000000"/>
                </a:solidFill>
                <a:latin typeface="Cascadia Mono" panose="020B0609020000020004" pitchFamily="49" charset="0"/>
              </a:rPr>
              <a:t> </a:t>
            </a:r>
            <a:r>
              <a:rPr lang="en-US" sz="1800" i="0" dirty="0">
                <a:solidFill>
                  <a:srgbClr val="000080"/>
                </a:solidFill>
                <a:latin typeface="Cascadia Mono" panose="020B0609020000020004" pitchFamily="49" charset="0"/>
              </a:rPr>
              <a:t>v3</a:t>
            </a:r>
            <a:r>
              <a:rPr lang="en-US" sz="1800" i="0" dirty="0">
                <a:solidFill>
                  <a:srgbClr val="000000"/>
                </a:solidFill>
                <a:latin typeface="Cascadia Mono" panose="020B0609020000020004" pitchFamily="49" charset="0"/>
              </a:rPr>
              <a:t> = </a:t>
            </a:r>
            <a:r>
              <a:rPr lang="en-US" sz="1800" i="1" dirty="0">
                <a:solidFill>
                  <a:srgbClr val="0000FF"/>
                </a:solidFill>
                <a:latin typeface="Cascadia Mono" panose="020B0609020000020004" pitchFamily="49" charset="0"/>
              </a:rPr>
              <a:t>Vector3</a:t>
            </a:r>
            <a:r>
              <a:rPr lang="en-US" sz="1800" i="0" dirty="0">
                <a:solidFill>
                  <a:srgbClr val="000000"/>
                </a:solidFill>
                <a:latin typeface="Cascadia Mono" panose="020B0609020000020004" pitchFamily="49" charset="0"/>
              </a:rPr>
              <a:t>.</a:t>
            </a:r>
            <a:r>
              <a:rPr lang="en-US" sz="1800" i="1" dirty="0">
                <a:solidFill>
                  <a:srgbClr val="000080"/>
                </a:solidFill>
                <a:latin typeface="Cascadia Mono" panose="020B0609020000020004" pitchFamily="49" charset="0"/>
              </a:rPr>
              <a:t>right</a:t>
            </a:r>
            <a:r>
              <a:rPr lang="en-US" sz="1800" i="0" dirty="0">
                <a:solidFill>
                  <a:srgbClr val="000000"/>
                </a:solidFill>
                <a:latin typeface="Cascadia Mono" panose="020B0609020000020004" pitchFamily="49" charset="0"/>
              </a:rPr>
              <a:t>;</a:t>
            </a:r>
            <a:endParaRPr lang="en-BE" dirty="0"/>
          </a:p>
        </p:txBody>
      </p:sp>
    </p:spTree>
    <p:extLst>
      <p:ext uri="{BB962C8B-B14F-4D97-AF65-F5344CB8AC3E}">
        <p14:creationId xmlns:p14="http://schemas.microsoft.com/office/powerpoint/2010/main" val="1661790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C8710-F645-C12C-C2D9-A7F8B8E2CC06}"/>
              </a:ext>
            </a:extLst>
          </p:cNvPr>
          <p:cNvSpPr>
            <a:spLocks noGrp="1"/>
          </p:cNvSpPr>
          <p:nvPr>
            <p:ph type="title"/>
          </p:nvPr>
        </p:nvSpPr>
        <p:spPr>
          <a:xfrm>
            <a:off x="312234" y="365125"/>
            <a:ext cx="11041566" cy="1325563"/>
          </a:xfrm>
        </p:spPr>
        <p:txBody>
          <a:bodyPr/>
          <a:lstStyle/>
          <a:p>
            <a:r>
              <a:rPr lang="en-US" dirty="0"/>
              <a:t>Each element of a vector is called a component</a:t>
            </a:r>
            <a:endParaRPr lang="en-BE" dirty="0"/>
          </a:p>
        </p:txBody>
      </p:sp>
      <p:sp>
        <p:nvSpPr>
          <p:cNvPr id="3" name="TextBox 2">
            <a:extLst>
              <a:ext uri="{FF2B5EF4-FFF2-40B4-BE49-F238E27FC236}">
                <a16:creationId xmlns:a16="http://schemas.microsoft.com/office/drawing/2014/main" id="{D8E5E8BD-62F3-CB83-B74D-82DED82DA0C7}"/>
              </a:ext>
            </a:extLst>
          </p:cNvPr>
          <p:cNvSpPr txBox="1"/>
          <p:nvPr/>
        </p:nvSpPr>
        <p:spPr>
          <a:xfrm>
            <a:off x="676507" y="2088995"/>
            <a:ext cx="5259838" cy="1384995"/>
          </a:xfrm>
          <a:prstGeom prst="rect">
            <a:avLst/>
          </a:prstGeom>
          <a:noFill/>
        </p:spPr>
        <p:txBody>
          <a:bodyPr wrap="none" rtlCol="0">
            <a:spAutoFit/>
          </a:bodyPr>
          <a:lstStyle/>
          <a:p>
            <a:pPr marL="285750" indent="-285750">
              <a:buFont typeface="Arial" panose="020B0604020202020204" pitchFamily="34" charset="0"/>
              <a:buChar char="•"/>
            </a:pPr>
            <a:r>
              <a:rPr lang="en-US" sz="2800" dirty="0"/>
              <a:t>Take a vector of (2, 1, 3), called A</a:t>
            </a:r>
          </a:p>
          <a:p>
            <a:pPr marL="285750" indent="-285750">
              <a:buFont typeface="Arial" panose="020B0604020202020204" pitchFamily="34" charset="0"/>
              <a:buChar char="•"/>
            </a:pPr>
            <a:r>
              <a:rPr lang="en-US" sz="2800" dirty="0"/>
              <a:t>The x component is </a:t>
            </a:r>
            <a:r>
              <a:rPr lang="en-US" sz="2800" dirty="0" err="1"/>
              <a:t>A.x</a:t>
            </a:r>
            <a:r>
              <a:rPr lang="en-US" sz="2800" dirty="0"/>
              <a:t> is 2</a:t>
            </a:r>
          </a:p>
          <a:p>
            <a:pPr marL="285750" indent="-285750">
              <a:buFont typeface="Arial" panose="020B0604020202020204" pitchFamily="34" charset="0"/>
              <a:buChar char="•"/>
            </a:pPr>
            <a:r>
              <a:rPr lang="en-US" sz="2800" dirty="0"/>
              <a:t>The third component (A[2]) is 3</a:t>
            </a:r>
            <a:endParaRPr lang="en-BE" sz="2800" dirty="0"/>
          </a:p>
        </p:txBody>
      </p:sp>
    </p:spTree>
    <p:extLst>
      <p:ext uri="{BB962C8B-B14F-4D97-AF65-F5344CB8AC3E}">
        <p14:creationId xmlns:p14="http://schemas.microsoft.com/office/powerpoint/2010/main" val="2764792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84D69-ACEE-7961-8F9A-B5298312E176}"/>
              </a:ext>
            </a:extLst>
          </p:cNvPr>
          <p:cNvSpPr>
            <a:spLocks noGrp="1"/>
          </p:cNvSpPr>
          <p:nvPr>
            <p:ph type="title"/>
          </p:nvPr>
        </p:nvSpPr>
        <p:spPr/>
        <p:txBody>
          <a:bodyPr/>
          <a:lstStyle/>
          <a:p>
            <a:r>
              <a:rPr lang="en-US" dirty="0"/>
              <a:t>Positions</a:t>
            </a:r>
            <a:endParaRPr lang="en-BE" dirty="0"/>
          </a:p>
        </p:txBody>
      </p:sp>
      <p:cxnSp>
        <p:nvCxnSpPr>
          <p:cNvPr id="3" name="Straight Arrow Connector 2">
            <a:extLst>
              <a:ext uri="{FF2B5EF4-FFF2-40B4-BE49-F238E27FC236}">
                <a16:creationId xmlns:a16="http://schemas.microsoft.com/office/drawing/2014/main" id="{02F5350E-D415-8EED-702F-17E871950543}"/>
              </a:ext>
            </a:extLst>
          </p:cNvPr>
          <p:cNvCxnSpPr>
            <a:cxnSpLocks/>
          </p:cNvCxnSpPr>
          <p:nvPr/>
        </p:nvCxnSpPr>
        <p:spPr>
          <a:xfrm>
            <a:off x="7075436" y="5963550"/>
            <a:ext cx="298113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47CC68F8-5842-EA45-9F7A-8A2530BDCE57}"/>
              </a:ext>
            </a:extLst>
          </p:cNvPr>
          <p:cNvCxnSpPr/>
          <p:nvPr/>
        </p:nvCxnSpPr>
        <p:spPr>
          <a:xfrm flipV="1">
            <a:off x="7075436" y="3122341"/>
            <a:ext cx="0" cy="2841209"/>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241CF63-D605-BF74-9BE2-3CA76544195D}"/>
              </a:ext>
            </a:extLst>
          </p:cNvPr>
          <p:cNvSpPr txBox="1"/>
          <p:nvPr/>
        </p:nvSpPr>
        <p:spPr>
          <a:xfrm>
            <a:off x="10079463" y="5701940"/>
            <a:ext cx="370614" cy="523220"/>
          </a:xfrm>
          <a:prstGeom prst="rect">
            <a:avLst/>
          </a:prstGeom>
          <a:noFill/>
        </p:spPr>
        <p:txBody>
          <a:bodyPr wrap="none" rtlCol="0">
            <a:spAutoFit/>
          </a:bodyPr>
          <a:lstStyle/>
          <a:p>
            <a:r>
              <a:rPr lang="en-US" sz="2800" dirty="0"/>
              <a:t>X</a:t>
            </a:r>
            <a:endParaRPr lang="en-BE" sz="2800" dirty="0"/>
          </a:p>
        </p:txBody>
      </p:sp>
      <p:sp>
        <p:nvSpPr>
          <p:cNvPr id="7" name="TextBox 6">
            <a:extLst>
              <a:ext uri="{FF2B5EF4-FFF2-40B4-BE49-F238E27FC236}">
                <a16:creationId xmlns:a16="http://schemas.microsoft.com/office/drawing/2014/main" id="{85210759-5BAB-E72C-30D8-40E1BD4EBF0F}"/>
              </a:ext>
            </a:extLst>
          </p:cNvPr>
          <p:cNvSpPr txBox="1"/>
          <p:nvPr/>
        </p:nvSpPr>
        <p:spPr>
          <a:xfrm>
            <a:off x="6859859" y="2535350"/>
            <a:ext cx="215576" cy="523220"/>
          </a:xfrm>
          <a:prstGeom prst="rect">
            <a:avLst/>
          </a:prstGeom>
          <a:noFill/>
        </p:spPr>
        <p:txBody>
          <a:bodyPr wrap="square" rtlCol="0">
            <a:spAutoFit/>
          </a:bodyPr>
          <a:lstStyle/>
          <a:p>
            <a:r>
              <a:rPr lang="en-US" sz="2800" b="1" dirty="0"/>
              <a:t>Y</a:t>
            </a:r>
            <a:endParaRPr lang="en-BE" sz="2800" b="1" dirty="0"/>
          </a:p>
        </p:txBody>
      </p:sp>
      <p:sp>
        <p:nvSpPr>
          <p:cNvPr id="11" name="TextBox 10">
            <a:extLst>
              <a:ext uri="{FF2B5EF4-FFF2-40B4-BE49-F238E27FC236}">
                <a16:creationId xmlns:a16="http://schemas.microsoft.com/office/drawing/2014/main" id="{23D1E1A2-33C1-2DD5-F0C3-62F3115FBAE0}"/>
              </a:ext>
            </a:extLst>
          </p:cNvPr>
          <p:cNvSpPr txBox="1"/>
          <p:nvPr/>
        </p:nvSpPr>
        <p:spPr>
          <a:xfrm>
            <a:off x="408879" y="1929461"/>
            <a:ext cx="6241645" cy="1815882"/>
          </a:xfrm>
          <a:prstGeom prst="rect">
            <a:avLst/>
          </a:prstGeom>
          <a:noFill/>
        </p:spPr>
        <p:txBody>
          <a:bodyPr wrap="none" rtlCol="0">
            <a:spAutoFit/>
          </a:bodyPr>
          <a:lstStyle/>
          <a:p>
            <a:pPr marL="285750" indent="-285750">
              <a:buFont typeface="Arial" panose="020B0604020202020204" pitchFamily="34" charset="0"/>
              <a:buChar char="•"/>
            </a:pPr>
            <a:r>
              <a:rPr lang="en-US" sz="2800" dirty="0"/>
              <a:t>The type in code is often called a vector</a:t>
            </a:r>
          </a:p>
          <a:p>
            <a:pPr marL="285750" indent="-285750">
              <a:buFont typeface="Arial" panose="020B0604020202020204" pitchFamily="34" charset="0"/>
              <a:buChar char="•"/>
            </a:pPr>
            <a:r>
              <a:rPr lang="en-US" sz="2800" dirty="0"/>
              <a:t>In Unity, a Vector3 </a:t>
            </a:r>
          </a:p>
          <a:p>
            <a:pPr marL="285750" indent="-285750">
              <a:buFont typeface="Arial" panose="020B0604020202020204" pitchFamily="34" charset="0"/>
              <a:buChar char="•"/>
            </a:pPr>
            <a:r>
              <a:rPr lang="en-US" sz="2800" dirty="0"/>
              <a:t>A point is technically different </a:t>
            </a:r>
            <a:br>
              <a:rPr lang="en-US" sz="2800" dirty="0"/>
            </a:br>
            <a:r>
              <a:rPr lang="en-US" sz="2800" dirty="0"/>
              <a:t>than a vector, but it’s not important</a:t>
            </a:r>
            <a:endParaRPr lang="en-BE" sz="2800" dirty="0"/>
          </a:p>
        </p:txBody>
      </p:sp>
      <p:sp>
        <p:nvSpPr>
          <p:cNvPr id="12" name="Oval 11">
            <a:extLst>
              <a:ext uri="{FF2B5EF4-FFF2-40B4-BE49-F238E27FC236}">
                <a16:creationId xmlns:a16="http://schemas.microsoft.com/office/drawing/2014/main" id="{710FB282-6A20-8A0D-6977-A6CDBED7ED93}"/>
              </a:ext>
            </a:extLst>
          </p:cNvPr>
          <p:cNvSpPr/>
          <p:nvPr/>
        </p:nvSpPr>
        <p:spPr>
          <a:xfrm>
            <a:off x="8088351" y="4155688"/>
            <a:ext cx="163550" cy="16355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BE"/>
          </a:p>
        </p:txBody>
      </p:sp>
      <p:sp>
        <p:nvSpPr>
          <p:cNvPr id="13" name="TextBox 12">
            <a:extLst>
              <a:ext uri="{FF2B5EF4-FFF2-40B4-BE49-F238E27FC236}">
                <a16:creationId xmlns:a16="http://schemas.microsoft.com/office/drawing/2014/main" id="{A04B440C-6F19-65B5-51AD-7C4E51A32860}"/>
              </a:ext>
            </a:extLst>
          </p:cNvPr>
          <p:cNvSpPr txBox="1"/>
          <p:nvPr/>
        </p:nvSpPr>
        <p:spPr>
          <a:xfrm>
            <a:off x="8586439" y="4007005"/>
            <a:ext cx="898003" cy="369332"/>
          </a:xfrm>
          <a:prstGeom prst="rect">
            <a:avLst/>
          </a:prstGeom>
          <a:noFill/>
        </p:spPr>
        <p:txBody>
          <a:bodyPr wrap="none" rtlCol="0">
            <a:spAutoFit/>
          </a:bodyPr>
          <a:lstStyle/>
          <a:p>
            <a:r>
              <a:rPr lang="en-US" dirty="0"/>
              <a:t>(1, 2, 0)</a:t>
            </a:r>
          </a:p>
        </p:txBody>
      </p:sp>
    </p:spTree>
    <p:extLst>
      <p:ext uri="{BB962C8B-B14F-4D97-AF65-F5344CB8AC3E}">
        <p14:creationId xmlns:p14="http://schemas.microsoft.com/office/powerpoint/2010/main" val="2801130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08033-206B-F34C-4F7F-7FC6635E2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E482DA-4368-C521-6331-1D551775BE30}"/>
              </a:ext>
            </a:extLst>
          </p:cNvPr>
          <p:cNvSpPr>
            <a:spLocks noGrp="1"/>
          </p:cNvSpPr>
          <p:nvPr>
            <p:ph type="title"/>
          </p:nvPr>
        </p:nvSpPr>
        <p:spPr/>
        <p:txBody>
          <a:bodyPr/>
          <a:lstStyle/>
          <a:p>
            <a:r>
              <a:rPr lang="en-US" dirty="0"/>
              <a:t>Origin</a:t>
            </a:r>
            <a:endParaRPr lang="en-BE" dirty="0"/>
          </a:p>
        </p:txBody>
      </p:sp>
      <p:pic>
        <p:nvPicPr>
          <p:cNvPr id="3" name="Picture 2" descr="A graph of colored arrows&#10;&#10;Description automatically generated with medium confidence">
            <a:extLst>
              <a:ext uri="{FF2B5EF4-FFF2-40B4-BE49-F238E27FC236}">
                <a16:creationId xmlns:a16="http://schemas.microsoft.com/office/drawing/2014/main" id="{5EFF9B62-E35C-7AC4-24F8-8A7896BE41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8665" y="1027906"/>
            <a:ext cx="5006458" cy="5067963"/>
          </a:xfrm>
          <a:prstGeom prst="rect">
            <a:avLst/>
          </a:prstGeom>
        </p:spPr>
      </p:pic>
      <p:sp>
        <p:nvSpPr>
          <p:cNvPr id="4" name="TextBox 3">
            <a:extLst>
              <a:ext uri="{FF2B5EF4-FFF2-40B4-BE49-F238E27FC236}">
                <a16:creationId xmlns:a16="http://schemas.microsoft.com/office/drawing/2014/main" id="{9DFE5506-7099-FE4F-49E4-6FBC8180B5EC}"/>
              </a:ext>
            </a:extLst>
          </p:cNvPr>
          <p:cNvSpPr txBox="1"/>
          <p:nvPr/>
        </p:nvSpPr>
        <p:spPr>
          <a:xfrm>
            <a:off x="783771" y="1690688"/>
            <a:ext cx="4883645"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A position in our coordinate system</a:t>
            </a:r>
          </a:p>
          <a:p>
            <a:pPr marL="285750" indent="-285750">
              <a:buFont typeface="Arial" panose="020B0604020202020204" pitchFamily="34" charset="0"/>
              <a:buChar char="•"/>
            </a:pPr>
            <a:r>
              <a:rPr lang="en-US" sz="2400" dirty="0"/>
              <a:t>Position is (0, 0, 0)</a:t>
            </a:r>
          </a:p>
          <a:p>
            <a:pPr marL="285750" indent="-285750">
              <a:buFont typeface="Arial" panose="020B0604020202020204" pitchFamily="34" charset="0"/>
              <a:buChar char="•"/>
            </a:pPr>
            <a:r>
              <a:rPr lang="en-US" sz="2400" dirty="0"/>
              <a:t>Place where all the axis are 0</a:t>
            </a:r>
          </a:p>
        </p:txBody>
      </p:sp>
      <p:sp>
        <p:nvSpPr>
          <p:cNvPr id="5" name="Oval 4">
            <a:extLst>
              <a:ext uri="{FF2B5EF4-FFF2-40B4-BE49-F238E27FC236}">
                <a16:creationId xmlns:a16="http://schemas.microsoft.com/office/drawing/2014/main" id="{A631ABB9-DFB2-AFAD-3C58-CCCFA3559D22}"/>
              </a:ext>
            </a:extLst>
          </p:cNvPr>
          <p:cNvSpPr/>
          <p:nvPr/>
        </p:nvSpPr>
        <p:spPr>
          <a:xfrm>
            <a:off x="6663694" y="5791200"/>
            <a:ext cx="230155" cy="23015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BE"/>
          </a:p>
        </p:txBody>
      </p:sp>
      <p:sp>
        <p:nvSpPr>
          <p:cNvPr id="17" name="TextBox 16">
            <a:extLst>
              <a:ext uri="{FF2B5EF4-FFF2-40B4-BE49-F238E27FC236}">
                <a16:creationId xmlns:a16="http://schemas.microsoft.com/office/drawing/2014/main" id="{461375F6-0B16-22A8-9F8F-202142A857F4}"/>
              </a:ext>
            </a:extLst>
          </p:cNvPr>
          <p:cNvSpPr txBox="1"/>
          <p:nvPr/>
        </p:nvSpPr>
        <p:spPr>
          <a:xfrm>
            <a:off x="5304721" y="6021355"/>
            <a:ext cx="1293944" cy="523220"/>
          </a:xfrm>
          <a:prstGeom prst="rect">
            <a:avLst/>
          </a:prstGeom>
          <a:noFill/>
        </p:spPr>
        <p:txBody>
          <a:bodyPr wrap="none" rtlCol="0">
            <a:spAutoFit/>
          </a:bodyPr>
          <a:lstStyle/>
          <a:p>
            <a:r>
              <a:rPr lang="en-US" sz="2800" dirty="0"/>
              <a:t>(0, 0, 0)</a:t>
            </a:r>
          </a:p>
        </p:txBody>
      </p:sp>
    </p:spTree>
    <p:extLst>
      <p:ext uri="{BB962C8B-B14F-4D97-AF65-F5344CB8AC3E}">
        <p14:creationId xmlns:p14="http://schemas.microsoft.com/office/powerpoint/2010/main" val="3665360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1A0CA-7F91-96F9-27A8-8469E5635F1A}"/>
              </a:ext>
            </a:extLst>
          </p:cNvPr>
          <p:cNvSpPr>
            <a:spLocks noGrp="1"/>
          </p:cNvSpPr>
          <p:nvPr>
            <p:ph type="title"/>
          </p:nvPr>
        </p:nvSpPr>
        <p:spPr/>
        <p:txBody>
          <a:bodyPr/>
          <a:lstStyle/>
          <a:p>
            <a:r>
              <a:rPr lang="en-US" dirty="0"/>
              <a:t>We can do calculations with vectors</a:t>
            </a:r>
            <a:endParaRPr lang="en-BE" dirty="0"/>
          </a:p>
        </p:txBody>
      </p:sp>
      <p:sp>
        <p:nvSpPr>
          <p:cNvPr id="3" name="TextBox 2">
            <a:extLst>
              <a:ext uri="{FF2B5EF4-FFF2-40B4-BE49-F238E27FC236}">
                <a16:creationId xmlns:a16="http://schemas.microsoft.com/office/drawing/2014/main" id="{FCD95714-221E-D275-F37E-5FA2F4075C5E}"/>
              </a:ext>
            </a:extLst>
          </p:cNvPr>
          <p:cNvSpPr txBox="1"/>
          <p:nvPr/>
        </p:nvSpPr>
        <p:spPr>
          <a:xfrm>
            <a:off x="348342" y="1779036"/>
            <a:ext cx="9074151"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a:t>I’m going to remove the Z axis for the next couple of slides, for clarity</a:t>
            </a:r>
          </a:p>
        </p:txBody>
      </p:sp>
    </p:spTree>
    <p:extLst>
      <p:ext uri="{BB962C8B-B14F-4D97-AF65-F5344CB8AC3E}">
        <p14:creationId xmlns:p14="http://schemas.microsoft.com/office/powerpoint/2010/main" val="3201813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493F-1FEE-5D23-9BBB-99917B6339D1}"/>
              </a:ext>
            </a:extLst>
          </p:cNvPr>
          <p:cNvSpPr>
            <a:spLocks noGrp="1"/>
          </p:cNvSpPr>
          <p:nvPr>
            <p:ph type="title"/>
          </p:nvPr>
        </p:nvSpPr>
        <p:spPr/>
        <p:txBody>
          <a:bodyPr/>
          <a:lstStyle/>
          <a:p>
            <a:r>
              <a:rPr lang="en-US" dirty="0"/>
              <a:t>Addition</a:t>
            </a:r>
            <a:endParaRPr lang="en-BE" dirty="0"/>
          </a:p>
        </p:txBody>
      </p:sp>
      <p:pic>
        <p:nvPicPr>
          <p:cNvPr id="4" name="Picture 3" descr="A green and red arrows on a black background&#10;&#10;Description automatically generated">
            <a:extLst>
              <a:ext uri="{FF2B5EF4-FFF2-40B4-BE49-F238E27FC236}">
                <a16:creationId xmlns:a16="http://schemas.microsoft.com/office/drawing/2014/main" id="{A5C2D8FA-F000-0154-1078-5BB47B45F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8070" y="1690688"/>
            <a:ext cx="3877216" cy="3924848"/>
          </a:xfrm>
          <a:prstGeom prst="rect">
            <a:avLst/>
          </a:prstGeom>
        </p:spPr>
      </p:pic>
      <p:sp>
        <p:nvSpPr>
          <p:cNvPr id="5" name="TextBox 4">
            <a:extLst>
              <a:ext uri="{FF2B5EF4-FFF2-40B4-BE49-F238E27FC236}">
                <a16:creationId xmlns:a16="http://schemas.microsoft.com/office/drawing/2014/main" id="{158FE684-FDF0-D988-3928-6B906E5849D3}"/>
              </a:ext>
            </a:extLst>
          </p:cNvPr>
          <p:cNvSpPr txBox="1"/>
          <p:nvPr/>
        </p:nvSpPr>
        <p:spPr>
          <a:xfrm>
            <a:off x="548006" y="2098840"/>
            <a:ext cx="5547994" cy="4401205"/>
          </a:xfrm>
          <a:prstGeom prst="rect">
            <a:avLst/>
          </a:prstGeom>
          <a:noFill/>
        </p:spPr>
        <p:txBody>
          <a:bodyPr wrap="none" rtlCol="0">
            <a:spAutoFit/>
          </a:bodyPr>
          <a:lstStyle/>
          <a:p>
            <a:pPr marL="342900" indent="-342900">
              <a:buFont typeface="Arial" panose="020B0604020202020204" pitchFamily="34" charset="0"/>
              <a:buChar char="•"/>
            </a:pPr>
            <a:r>
              <a:rPr lang="en-US" sz="2800" dirty="0"/>
              <a:t>We can add two vectors together</a:t>
            </a:r>
          </a:p>
          <a:p>
            <a:pPr marL="342900" indent="-342900">
              <a:buFont typeface="Arial" panose="020B0604020202020204" pitchFamily="34" charset="0"/>
              <a:buChar char="•"/>
            </a:pPr>
            <a:r>
              <a:rPr lang="en-US" sz="2800" dirty="0"/>
              <a:t>We add all components separately</a:t>
            </a:r>
          </a:p>
          <a:p>
            <a:pPr marL="342900" indent="-342900">
              <a:buFont typeface="Arial" panose="020B0604020202020204" pitchFamily="34" charset="0"/>
              <a:buChar char="•"/>
            </a:pPr>
            <a:r>
              <a:rPr lang="en-US" sz="2800" dirty="0"/>
              <a:t>This is called “component-wise”</a:t>
            </a:r>
          </a:p>
          <a:p>
            <a:pPr marL="342900" indent="-342900">
              <a:buFont typeface="Arial" panose="020B0604020202020204" pitchFamily="34" charset="0"/>
              <a:buChar char="•"/>
            </a:pPr>
            <a:endParaRPr lang="en-US" sz="2800" dirty="0"/>
          </a:p>
          <a:p>
            <a:r>
              <a:rPr lang="en-US" sz="2800" b="1" dirty="0">
                <a:latin typeface="Courier New" panose="02070309020205020404" pitchFamily="49" charset="0"/>
                <a:cs typeface="Courier New" panose="02070309020205020404" pitchFamily="49" charset="0"/>
              </a:rPr>
              <a:t>A   = (1, 2, 0)</a:t>
            </a:r>
          </a:p>
          <a:p>
            <a:r>
              <a:rPr lang="en-US" sz="2800" b="1" dirty="0">
                <a:latin typeface="Courier New" panose="02070309020205020404" pitchFamily="49" charset="0"/>
                <a:cs typeface="Courier New" panose="02070309020205020404" pitchFamily="49" charset="0"/>
              </a:rPr>
              <a:t>  B = (2, 1, 0)</a:t>
            </a:r>
          </a:p>
          <a:p>
            <a:r>
              <a:rPr lang="en-US" sz="2800" b="1" dirty="0">
                <a:latin typeface="Courier New" panose="02070309020205020404" pitchFamily="49" charset="0"/>
                <a:cs typeface="Courier New" panose="02070309020205020404" pitchFamily="49" charset="0"/>
              </a:rPr>
              <a:t>A+B = (3, 3, 0)</a:t>
            </a:r>
          </a:p>
          <a:p>
            <a:endParaRPr lang="en-US" sz="2800" b="1" dirty="0">
              <a:latin typeface="Courier New" panose="02070309020205020404" pitchFamily="49" charset="0"/>
              <a:cs typeface="Courier New" panose="02070309020205020404" pitchFamily="49" charset="0"/>
            </a:endParaRPr>
          </a:p>
          <a:p>
            <a:endParaRPr lang="en-US" sz="2800" b="1" dirty="0">
              <a:latin typeface="Courier New" panose="02070309020205020404" pitchFamily="49" charset="0"/>
              <a:cs typeface="Courier New" panose="02070309020205020404" pitchFamily="49" charset="0"/>
            </a:endParaRPr>
          </a:p>
          <a:p>
            <a:endParaRPr lang="en-BE" sz="28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44998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DEAC1-67E4-5DFE-57E8-E7CC76F9F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E343B2-D53A-6CA6-CEB0-5784245DAD9B}"/>
              </a:ext>
            </a:extLst>
          </p:cNvPr>
          <p:cNvSpPr>
            <a:spLocks noGrp="1"/>
          </p:cNvSpPr>
          <p:nvPr>
            <p:ph type="title"/>
          </p:nvPr>
        </p:nvSpPr>
        <p:spPr/>
        <p:txBody>
          <a:bodyPr/>
          <a:lstStyle/>
          <a:p>
            <a:r>
              <a:rPr lang="en-US" dirty="0"/>
              <a:t>Addition</a:t>
            </a:r>
            <a:endParaRPr lang="en-BE" dirty="0"/>
          </a:p>
        </p:txBody>
      </p:sp>
      <p:pic>
        <p:nvPicPr>
          <p:cNvPr id="4" name="Picture 3" descr="A green and red arrows on a black background&#10;&#10;Description automatically generated">
            <a:extLst>
              <a:ext uri="{FF2B5EF4-FFF2-40B4-BE49-F238E27FC236}">
                <a16:creationId xmlns:a16="http://schemas.microsoft.com/office/drawing/2014/main" id="{4748795A-6DB1-4ACB-E64E-CE5F87BB1E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2715" y="1027906"/>
            <a:ext cx="3877216" cy="3924848"/>
          </a:xfrm>
          <a:prstGeom prst="rect">
            <a:avLst/>
          </a:prstGeom>
        </p:spPr>
      </p:pic>
      <p:sp>
        <p:nvSpPr>
          <p:cNvPr id="5" name="TextBox 4">
            <a:extLst>
              <a:ext uri="{FF2B5EF4-FFF2-40B4-BE49-F238E27FC236}">
                <a16:creationId xmlns:a16="http://schemas.microsoft.com/office/drawing/2014/main" id="{39850BB2-E93D-C262-E509-052CDA1C2497}"/>
              </a:ext>
            </a:extLst>
          </p:cNvPr>
          <p:cNvSpPr txBox="1"/>
          <p:nvPr/>
        </p:nvSpPr>
        <p:spPr>
          <a:xfrm>
            <a:off x="548006" y="2098840"/>
            <a:ext cx="7792518" cy="5078313"/>
          </a:xfrm>
          <a:prstGeom prst="rect">
            <a:avLst/>
          </a:prstGeom>
          <a:noFill/>
        </p:spPr>
        <p:txBody>
          <a:bodyPr wrap="none" rtlCol="0">
            <a:spAutoFit/>
          </a:bodyPr>
          <a:lstStyle/>
          <a:p>
            <a:pPr marL="342900" indent="-342900">
              <a:buFont typeface="Arial" panose="020B0604020202020204" pitchFamily="34" charset="0"/>
              <a:buChar char="•"/>
            </a:pPr>
            <a:r>
              <a:rPr lang="en-US" sz="2800" dirty="0"/>
              <a:t>We can add two vectors together</a:t>
            </a:r>
          </a:p>
          <a:p>
            <a:pPr marL="342900" indent="-342900">
              <a:buFont typeface="Arial" panose="020B0604020202020204" pitchFamily="34" charset="0"/>
              <a:buChar char="•"/>
            </a:pPr>
            <a:r>
              <a:rPr lang="en-US" sz="2800" dirty="0"/>
              <a:t>We add all components separately</a:t>
            </a:r>
          </a:p>
          <a:p>
            <a:pPr marL="342900" indent="-342900">
              <a:buFont typeface="Arial" panose="020B0604020202020204" pitchFamily="34" charset="0"/>
              <a:buChar char="•"/>
            </a:pPr>
            <a:r>
              <a:rPr lang="en-US" sz="2800" dirty="0"/>
              <a:t>This is called “component-wise”</a:t>
            </a:r>
          </a:p>
          <a:p>
            <a:pPr marL="342900" indent="-342900">
              <a:buFont typeface="Arial" panose="020B0604020202020204" pitchFamily="34" charset="0"/>
              <a:buChar char="•"/>
            </a:pPr>
            <a:endParaRPr lang="en-US" sz="2800" dirty="0"/>
          </a:p>
          <a:p>
            <a:r>
              <a:rPr lang="en-US" sz="2800" b="1" dirty="0">
                <a:latin typeface="Courier New" panose="02070309020205020404" pitchFamily="49" charset="0"/>
                <a:cs typeface="Courier New" panose="02070309020205020404" pitchFamily="49" charset="0"/>
              </a:rPr>
              <a:t>A   = (1, 2, 0)</a:t>
            </a:r>
          </a:p>
          <a:p>
            <a:r>
              <a:rPr lang="en-US" sz="2800" b="1" dirty="0">
                <a:latin typeface="Courier New" panose="02070309020205020404" pitchFamily="49" charset="0"/>
                <a:cs typeface="Courier New" panose="02070309020205020404" pitchFamily="49" charset="0"/>
              </a:rPr>
              <a:t>  B = (2, 1, 0)</a:t>
            </a:r>
          </a:p>
          <a:p>
            <a:r>
              <a:rPr lang="en-US" sz="2800" b="1" dirty="0">
                <a:latin typeface="Courier New" panose="02070309020205020404" pitchFamily="49" charset="0"/>
                <a:cs typeface="Courier New" panose="02070309020205020404" pitchFamily="49" charset="0"/>
              </a:rPr>
              <a:t>A+B = (3, 3, 0)</a:t>
            </a:r>
          </a:p>
          <a:p>
            <a:endParaRPr lang="en-US" sz="2800" b="1" dirty="0">
              <a:latin typeface="Courier New" panose="02070309020205020404" pitchFamily="49" charset="0"/>
              <a:cs typeface="Courier New" panose="02070309020205020404" pitchFamily="49" charset="0"/>
            </a:endParaRPr>
          </a:p>
          <a:p>
            <a:r>
              <a:rPr lang="en-US" sz="2400" i="1" dirty="0">
                <a:solidFill>
                  <a:srgbClr val="0000FF"/>
                </a:solidFill>
                <a:latin typeface="Cascadia Mono" panose="020B0609020000020004" pitchFamily="49" charset="0"/>
              </a:rPr>
              <a:t>Vector3</a:t>
            </a:r>
            <a:r>
              <a:rPr lang="en-US" sz="2400" i="0" dirty="0">
                <a:solidFill>
                  <a:srgbClr val="000000"/>
                </a:solidFill>
                <a:latin typeface="Cascadia Mono" panose="020B0609020000020004" pitchFamily="49" charset="0"/>
              </a:rPr>
              <a:t> </a:t>
            </a:r>
            <a:r>
              <a:rPr lang="en-US" sz="2400" i="0" dirty="0">
                <a:solidFill>
                  <a:srgbClr val="000080"/>
                </a:solidFill>
                <a:latin typeface="Cascadia Mono" panose="020B0609020000020004" pitchFamily="49" charset="0"/>
              </a:rPr>
              <a:t>a</a:t>
            </a:r>
            <a:r>
              <a:rPr lang="en-US" sz="2400" i="0" dirty="0">
                <a:solidFill>
                  <a:srgbClr val="000000"/>
                </a:solidFill>
                <a:latin typeface="Cascadia Mono" panose="020B0609020000020004" pitchFamily="49" charset="0"/>
              </a:rPr>
              <a:t> = </a:t>
            </a:r>
            <a:r>
              <a:rPr lang="en-US" sz="2400" i="0" dirty="0">
                <a:solidFill>
                  <a:srgbClr val="0000FF"/>
                </a:solidFill>
                <a:latin typeface="Cascadia Mono" panose="020B0609020000020004" pitchFamily="49" charset="0"/>
              </a:rPr>
              <a:t>new</a:t>
            </a:r>
            <a:r>
              <a:rPr lang="en-US" sz="2400" i="0" dirty="0">
                <a:solidFill>
                  <a:srgbClr val="000000"/>
                </a:solidFill>
                <a:latin typeface="Cascadia Mono" panose="020B0609020000020004" pitchFamily="49" charset="0"/>
              </a:rPr>
              <a:t> </a:t>
            </a:r>
            <a:r>
              <a:rPr lang="en-US" sz="2400" i="1" dirty="0">
                <a:solidFill>
                  <a:srgbClr val="0000FF"/>
                </a:solidFill>
                <a:latin typeface="Cascadia Mono" panose="020B0609020000020004" pitchFamily="49" charset="0"/>
              </a:rPr>
              <a:t>Vector3</a:t>
            </a:r>
            <a:r>
              <a:rPr lang="en-US" sz="2400" i="0" dirty="0">
                <a:solidFill>
                  <a:srgbClr val="000000"/>
                </a:solidFill>
                <a:latin typeface="Cascadia Mono" panose="020B0609020000020004" pitchFamily="49" charset="0"/>
              </a:rPr>
              <a:t>(1.0f, 2.0f, 0.0f);</a:t>
            </a:r>
          </a:p>
          <a:p>
            <a:r>
              <a:rPr lang="en-US" sz="2400" i="1" dirty="0">
                <a:solidFill>
                  <a:srgbClr val="0000FF"/>
                </a:solidFill>
                <a:latin typeface="Cascadia Mono" panose="020B0609020000020004" pitchFamily="49" charset="0"/>
              </a:rPr>
              <a:t>Vector3</a:t>
            </a:r>
            <a:r>
              <a:rPr lang="en-US" sz="2400" i="0" dirty="0">
                <a:solidFill>
                  <a:srgbClr val="000000"/>
                </a:solidFill>
                <a:latin typeface="Cascadia Mono" panose="020B0609020000020004" pitchFamily="49" charset="0"/>
              </a:rPr>
              <a:t> </a:t>
            </a:r>
            <a:r>
              <a:rPr lang="en-US" sz="2400" i="0" dirty="0">
                <a:solidFill>
                  <a:srgbClr val="000080"/>
                </a:solidFill>
                <a:latin typeface="Cascadia Mono" panose="020B0609020000020004" pitchFamily="49" charset="0"/>
              </a:rPr>
              <a:t>b</a:t>
            </a:r>
            <a:r>
              <a:rPr lang="en-US" sz="2400" i="0" dirty="0">
                <a:solidFill>
                  <a:srgbClr val="000000"/>
                </a:solidFill>
                <a:latin typeface="Cascadia Mono" panose="020B0609020000020004" pitchFamily="49" charset="0"/>
              </a:rPr>
              <a:t> = </a:t>
            </a:r>
            <a:r>
              <a:rPr lang="en-US" sz="2400" i="0" dirty="0">
                <a:solidFill>
                  <a:srgbClr val="0000FF"/>
                </a:solidFill>
                <a:latin typeface="Cascadia Mono" panose="020B0609020000020004" pitchFamily="49" charset="0"/>
              </a:rPr>
              <a:t>new</a:t>
            </a:r>
            <a:r>
              <a:rPr lang="en-US" sz="2400" i="0" dirty="0">
                <a:solidFill>
                  <a:srgbClr val="000000"/>
                </a:solidFill>
                <a:latin typeface="Cascadia Mono" panose="020B0609020000020004" pitchFamily="49" charset="0"/>
              </a:rPr>
              <a:t> </a:t>
            </a:r>
            <a:r>
              <a:rPr lang="en-US" sz="2400" i="1" dirty="0">
                <a:solidFill>
                  <a:srgbClr val="0000FF"/>
                </a:solidFill>
                <a:latin typeface="Cascadia Mono" panose="020B0609020000020004" pitchFamily="49" charset="0"/>
              </a:rPr>
              <a:t>Vector3</a:t>
            </a:r>
            <a:r>
              <a:rPr lang="en-US" sz="2400" i="0" dirty="0">
                <a:solidFill>
                  <a:srgbClr val="000000"/>
                </a:solidFill>
                <a:latin typeface="Cascadia Mono" panose="020B0609020000020004" pitchFamily="49" charset="0"/>
              </a:rPr>
              <a:t>(2.0f, 1.0f, 0.0f);</a:t>
            </a:r>
          </a:p>
          <a:p>
            <a:r>
              <a:rPr lang="en-US" sz="2400" i="1" dirty="0">
                <a:solidFill>
                  <a:srgbClr val="0000FF"/>
                </a:solidFill>
                <a:latin typeface="Cascadia Mono" panose="020B0609020000020004" pitchFamily="49" charset="0"/>
              </a:rPr>
              <a:t>Vector3</a:t>
            </a:r>
            <a:r>
              <a:rPr lang="en-US" sz="2400" i="0" dirty="0">
                <a:solidFill>
                  <a:srgbClr val="000000"/>
                </a:solidFill>
                <a:latin typeface="Cascadia Mono" panose="020B0609020000020004" pitchFamily="49" charset="0"/>
              </a:rPr>
              <a:t> </a:t>
            </a:r>
            <a:r>
              <a:rPr lang="en-US" sz="2400" i="0" dirty="0">
                <a:solidFill>
                  <a:srgbClr val="000080"/>
                </a:solidFill>
                <a:latin typeface="Cascadia Mono" panose="020B0609020000020004" pitchFamily="49" charset="0"/>
              </a:rPr>
              <a:t>c</a:t>
            </a:r>
            <a:r>
              <a:rPr lang="en-US" sz="2400" i="0" dirty="0">
                <a:solidFill>
                  <a:srgbClr val="000000"/>
                </a:solidFill>
                <a:latin typeface="Cascadia Mono" panose="020B0609020000020004" pitchFamily="49" charset="0"/>
              </a:rPr>
              <a:t> = </a:t>
            </a:r>
            <a:r>
              <a:rPr lang="en-US" sz="2400" i="0" dirty="0">
                <a:solidFill>
                  <a:srgbClr val="000080"/>
                </a:solidFill>
                <a:latin typeface="Cascadia Mono" panose="020B0609020000020004" pitchFamily="49" charset="0"/>
              </a:rPr>
              <a:t>a</a:t>
            </a:r>
            <a:r>
              <a:rPr lang="en-US" sz="2400" i="0" dirty="0">
                <a:solidFill>
                  <a:srgbClr val="000000"/>
                </a:solidFill>
                <a:latin typeface="Cascadia Mono" panose="020B0609020000020004" pitchFamily="49" charset="0"/>
              </a:rPr>
              <a:t> + </a:t>
            </a:r>
            <a:r>
              <a:rPr lang="en-US" sz="2400" i="0" dirty="0">
                <a:solidFill>
                  <a:srgbClr val="000080"/>
                </a:solidFill>
                <a:latin typeface="Cascadia Mono" panose="020B0609020000020004" pitchFamily="49" charset="0"/>
              </a:rPr>
              <a:t>b</a:t>
            </a:r>
            <a:r>
              <a:rPr lang="en-US" sz="2400" i="0" dirty="0">
                <a:solidFill>
                  <a:srgbClr val="000000"/>
                </a:solidFill>
                <a:latin typeface="Cascadia Mono" panose="020B0609020000020004" pitchFamily="49" charset="0"/>
              </a:rPr>
              <a:t>;</a:t>
            </a:r>
            <a:endParaRPr lang="en-US" sz="3600" b="1" dirty="0">
              <a:latin typeface="Courier New" panose="02070309020205020404" pitchFamily="49" charset="0"/>
              <a:cs typeface="Courier New" panose="02070309020205020404" pitchFamily="49" charset="0"/>
            </a:endParaRPr>
          </a:p>
          <a:p>
            <a:endParaRPr lang="en-BE" sz="28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961493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5E120-9BA8-2BAA-079F-30D92D8C4EB8}"/>
              </a:ext>
            </a:extLst>
          </p:cNvPr>
          <p:cNvSpPr>
            <a:spLocks noGrp="1"/>
          </p:cNvSpPr>
          <p:nvPr>
            <p:ph type="title"/>
          </p:nvPr>
        </p:nvSpPr>
        <p:spPr/>
        <p:txBody>
          <a:bodyPr/>
          <a:lstStyle/>
          <a:p>
            <a:r>
              <a:rPr lang="en-US" dirty="0"/>
              <a:t>Addition is communicative </a:t>
            </a:r>
            <a:endParaRPr lang="en-BE" dirty="0"/>
          </a:p>
        </p:txBody>
      </p:sp>
      <p:sp>
        <p:nvSpPr>
          <p:cNvPr id="3" name="TextBox 2">
            <a:extLst>
              <a:ext uri="{FF2B5EF4-FFF2-40B4-BE49-F238E27FC236}">
                <a16:creationId xmlns:a16="http://schemas.microsoft.com/office/drawing/2014/main" id="{707B6437-5A3E-A597-8A8B-ECF21513D964}"/>
              </a:ext>
            </a:extLst>
          </p:cNvPr>
          <p:cNvSpPr txBox="1"/>
          <p:nvPr/>
        </p:nvSpPr>
        <p:spPr>
          <a:xfrm>
            <a:off x="548006" y="2098840"/>
            <a:ext cx="3698192" cy="954107"/>
          </a:xfrm>
          <a:prstGeom prst="rect">
            <a:avLst/>
          </a:prstGeom>
          <a:noFill/>
        </p:spPr>
        <p:txBody>
          <a:bodyPr wrap="none" rtlCol="0">
            <a:spAutoFit/>
          </a:bodyPr>
          <a:lstStyle/>
          <a:p>
            <a:pPr marL="342900" indent="-342900">
              <a:buFont typeface="Arial" panose="020B0604020202020204" pitchFamily="34" charset="0"/>
              <a:buChar char="•"/>
            </a:pPr>
            <a:r>
              <a:rPr lang="en-US" sz="2800" dirty="0">
                <a:cs typeface="Courier New" panose="02070309020205020404" pitchFamily="49" charset="0"/>
              </a:rPr>
              <a:t>Order doesn’t matter</a:t>
            </a:r>
          </a:p>
          <a:p>
            <a:pPr marL="342900" indent="-342900">
              <a:buFont typeface="Arial" panose="020B0604020202020204" pitchFamily="34" charset="0"/>
              <a:buChar char="•"/>
            </a:pPr>
            <a:r>
              <a:rPr lang="en-US" sz="2800" b="1" dirty="0">
                <a:latin typeface="Courier New" panose="02070309020205020404" pitchFamily="49" charset="0"/>
                <a:cs typeface="Courier New" panose="02070309020205020404" pitchFamily="49" charset="0"/>
              </a:rPr>
              <a:t>A + B = B + A</a:t>
            </a:r>
            <a:endParaRPr lang="en-BE" sz="2800" b="1" dirty="0">
              <a:latin typeface="Courier New" panose="02070309020205020404" pitchFamily="49" charset="0"/>
              <a:cs typeface="Courier New" panose="02070309020205020404" pitchFamily="49" charset="0"/>
            </a:endParaRPr>
          </a:p>
        </p:txBody>
      </p:sp>
      <p:pic>
        <p:nvPicPr>
          <p:cNvPr id="5" name="Picture 4" descr="A green and red arrows on a black background&#10;&#10;Description automatically generated">
            <a:extLst>
              <a:ext uri="{FF2B5EF4-FFF2-40B4-BE49-F238E27FC236}">
                <a16:creationId xmlns:a16="http://schemas.microsoft.com/office/drawing/2014/main" id="{43EF0F7D-8BD5-CEAF-13C2-6278F19CE6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3760" y="1573763"/>
            <a:ext cx="5123212" cy="5186151"/>
          </a:xfrm>
          <a:prstGeom prst="rect">
            <a:avLst/>
          </a:prstGeom>
        </p:spPr>
      </p:pic>
    </p:spTree>
    <p:extLst>
      <p:ext uri="{BB962C8B-B14F-4D97-AF65-F5344CB8AC3E}">
        <p14:creationId xmlns:p14="http://schemas.microsoft.com/office/powerpoint/2010/main" val="2184646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0DE42-E148-7174-651C-06402237B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90ADE-8589-C768-781B-398436FA0F34}"/>
              </a:ext>
            </a:extLst>
          </p:cNvPr>
          <p:cNvSpPr>
            <a:spLocks noGrp="1"/>
          </p:cNvSpPr>
          <p:nvPr>
            <p:ph type="title"/>
          </p:nvPr>
        </p:nvSpPr>
        <p:spPr/>
        <p:txBody>
          <a:bodyPr/>
          <a:lstStyle/>
          <a:p>
            <a:r>
              <a:rPr lang="en-US" dirty="0"/>
              <a:t>Subtraction</a:t>
            </a:r>
            <a:endParaRPr lang="en-BE" dirty="0"/>
          </a:p>
        </p:txBody>
      </p:sp>
      <p:sp>
        <p:nvSpPr>
          <p:cNvPr id="5" name="TextBox 4">
            <a:extLst>
              <a:ext uri="{FF2B5EF4-FFF2-40B4-BE49-F238E27FC236}">
                <a16:creationId xmlns:a16="http://schemas.microsoft.com/office/drawing/2014/main" id="{BC1B335A-0B1E-4F02-A30E-EB407C40DB9F}"/>
              </a:ext>
            </a:extLst>
          </p:cNvPr>
          <p:cNvSpPr txBox="1"/>
          <p:nvPr/>
        </p:nvSpPr>
        <p:spPr>
          <a:xfrm>
            <a:off x="548006" y="2098840"/>
            <a:ext cx="6557180" cy="3108543"/>
          </a:xfrm>
          <a:prstGeom prst="rect">
            <a:avLst/>
          </a:prstGeom>
          <a:noFill/>
        </p:spPr>
        <p:txBody>
          <a:bodyPr wrap="none" rtlCol="0">
            <a:spAutoFit/>
          </a:bodyPr>
          <a:lstStyle/>
          <a:p>
            <a:pPr marL="342900" indent="-342900">
              <a:buFont typeface="Arial" panose="020B0604020202020204" pitchFamily="34" charset="0"/>
              <a:buChar char="•"/>
            </a:pPr>
            <a:r>
              <a:rPr lang="en-US" sz="2800" dirty="0"/>
              <a:t>We can subtract one vector from another</a:t>
            </a:r>
          </a:p>
          <a:p>
            <a:pPr marL="342900" indent="-342900">
              <a:buFont typeface="Arial" panose="020B0604020202020204" pitchFamily="34" charset="0"/>
              <a:buChar char="•"/>
            </a:pPr>
            <a:r>
              <a:rPr lang="en-US" sz="2800" dirty="0"/>
              <a:t>We subtract all components separately</a:t>
            </a:r>
          </a:p>
          <a:p>
            <a:pPr marL="342900" indent="-342900">
              <a:buFont typeface="Arial" panose="020B0604020202020204" pitchFamily="34" charset="0"/>
              <a:buChar char="•"/>
            </a:pPr>
            <a:r>
              <a:rPr lang="en-US" sz="2800" dirty="0"/>
              <a:t>Order does matter</a:t>
            </a:r>
          </a:p>
          <a:p>
            <a:endParaRPr lang="en-US" sz="2800" dirty="0"/>
          </a:p>
          <a:p>
            <a:r>
              <a:rPr lang="en-US" sz="2800" b="1" dirty="0">
                <a:latin typeface="Courier New" panose="02070309020205020404" pitchFamily="49" charset="0"/>
                <a:cs typeface="Courier New" panose="02070309020205020404" pitchFamily="49" charset="0"/>
              </a:rPr>
              <a:t>A   = ( 1, 2, 0)</a:t>
            </a:r>
          </a:p>
          <a:p>
            <a:r>
              <a:rPr lang="en-US" sz="2800" b="1" dirty="0">
                <a:latin typeface="Courier New" panose="02070309020205020404" pitchFamily="49" charset="0"/>
                <a:cs typeface="Courier New" panose="02070309020205020404" pitchFamily="49" charset="0"/>
              </a:rPr>
              <a:t>  B = ( 2, 1, 0)</a:t>
            </a:r>
          </a:p>
          <a:p>
            <a:r>
              <a:rPr lang="en-US" sz="2800" b="1" dirty="0">
                <a:latin typeface="Courier New" panose="02070309020205020404" pitchFamily="49" charset="0"/>
                <a:cs typeface="Courier New" panose="02070309020205020404" pitchFamily="49" charset="0"/>
              </a:rPr>
              <a:t>A-B = (-1, 1, 0)</a:t>
            </a:r>
            <a:endParaRPr lang="en-BE" sz="2800" b="1" dirty="0">
              <a:latin typeface="Courier New" panose="02070309020205020404" pitchFamily="49" charset="0"/>
              <a:cs typeface="Courier New" panose="02070309020205020404" pitchFamily="49" charset="0"/>
            </a:endParaRPr>
          </a:p>
        </p:txBody>
      </p:sp>
      <p:pic>
        <p:nvPicPr>
          <p:cNvPr id="6" name="Picture 5" descr="A green and red arrow&#10;&#10;Description automatically generated">
            <a:extLst>
              <a:ext uri="{FF2B5EF4-FFF2-40B4-BE49-F238E27FC236}">
                <a16:creationId xmlns:a16="http://schemas.microsoft.com/office/drawing/2014/main" id="{63D123CF-D0D2-073F-FF37-40E46D5711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6171" y="1423033"/>
            <a:ext cx="5020376" cy="3924848"/>
          </a:xfrm>
          <a:prstGeom prst="rect">
            <a:avLst/>
          </a:prstGeom>
        </p:spPr>
      </p:pic>
    </p:spTree>
    <p:extLst>
      <p:ext uri="{BB962C8B-B14F-4D97-AF65-F5344CB8AC3E}">
        <p14:creationId xmlns:p14="http://schemas.microsoft.com/office/powerpoint/2010/main" val="381203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15E56-D143-3D3C-1126-1CEEA9385F62}"/>
              </a:ext>
            </a:extLst>
          </p:cNvPr>
          <p:cNvSpPr>
            <a:spLocks noGrp="1"/>
          </p:cNvSpPr>
          <p:nvPr>
            <p:ph type="title"/>
          </p:nvPr>
        </p:nvSpPr>
        <p:spPr/>
        <p:txBody>
          <a:bodyPr/>
          <a:lstStyle/>
          <a:p>
            <a:r>
              <a:rPr lang="en-US" dirty="0"/>
              <a:t>Multiplication / division</a:t>
            </a:r>
            <a:endParaRPr lang="en-BE" dirty="0"/>
          </a:p>
        </p:txBody>
      </p:sp>
      <p:sp>
        <p:nvSpPr>
          <p:cNvPr id="3" name="TextBox 2">
            <a:extLst>
              <a:ext uri="{FF2B5EF4-FFF2-40B4-BE49-F238E27FC236}">
                <a16:creationId xmlns:a16="http://schemas.microsoft.com/office/drawing/2014/main" id="{85CF6BC4-225F-F512-BD4F-9706C49F1906}"/>
              </a:ext>
            </a:extLst>
          </p:cNvPr>
          <p:cNvSpPr txBox="1"/>
          <p:nvPr/>
        </p:nvSpPr>
        <p:spPr>
          <a:xfrm>
            <a:off x="957943" y="2034073"/>
            <a:ext cx="8183651" cy="2523768"/>
          </a:xfrm>
          <a:prstGeom prst="rect">
            <a:avLst/>
          </a:prstGeom>
          <a:noFill/>
        </p:spPr>
        <p:txBody>
          <a:bodyPr wrap="none" rtlCol="0">
            <a:spAutoFit/>
          </a:bodyPr>
          <a:lstStyle/>
          <a:p>
            <a:pPr marL="285750" indent="-285750">
              <a:buFont typeface="Arial" panose="020B0604020202020204" pitchFamily="34" charset="0"/>
              <a:buChar char="•"/>
            </a:pPr>
            <a:r>
              <a:rPr lang="en-US" sz="2800" dirty="0"/>
              <a:t>We can’t meaningfully multiply/divide 2 vectors </a:t>
            </a:r>
          </a:p>
          <a:p>
            <a:pPr marL="285750" indent="-285750">
              <a:buFont typeface="Arial" panose="020B0604020202020204" pitchFamily="34" charset="0"/>
              <a:buChar char="•"/>
            </a:pPr>
            <a:r>
              <a:rPr lang="en-US" sz="2800" dirty="0"/>
              <a:t>But we can multiply/divide by a single float (“scalar”)</a:t>
            </a:r>
          </a:p>
          <a:p>
            <a:pPr marL="285750" indent="-285750">
              <a:buFont typeface="Arial" panose="020B0604020202020204" pitchFamily="34" charset="0"/>
              <a:buChar char="•"/>
            </a:pPr>
            <a:endParaRPr lang="en-US" dirty="0"/>
          </a:p>
          <a:p>
            <a:r>
              <a:rPr lang="en-US" sz="2800" b="1" dirty="0">
                <a:latin typeface="Courier New" panose="02070309020205020404" pitchFamily="49" charset="0"/>
                <a:cs typeface="Courier New" panose="02070309020205020404" pitchFamily="49" charset="0"/>
              </a:rPr>
              <a:t>A   = (2, 1  , 0) </a:t>
            </a:r>
          </a:p>
          <a:p>
            <a:r>
              <a:rPr lang="en-US" sz="2800" b="1" dirty="0">
                <a:latin typeface="Courier New" panose="02070309020205020404" pitchFamily="49" charset="0"/>
                <a:cs typeface="Courier New" panose="02070309020205020404" pitchFamily="49" charset="0"/>
              </a:rPr>
              <a:t>A*2 = (4, 2  , 0)</a:t>
            </a:r>
          </a:p>
          <a:p>
            <a:r>
              <a:rPr lang="en-US" sz="2800" b="1" dirty="0">
                <a:latin typeface="Courier New" panose="02070309020205020404" pitchFamily="49" charset="0"/>
                <a:cs typeface="Courier New" panose="02070309020205020404" pitchFamily="49" charset="0"/>
              </a:rPr>
              <a:t>A/2 = (1, 0.5, 0)</a:t>
            </a:r>
            <a:endParaRPr lang="en-BE" sz="28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161655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68224-1FB2-B28A-C2E8-A21702E1F67C}"/>
              </a:ext>
            </a:extLst>
          </p:cNvPr>
          <p:cNvSpPr>
            <a:spLocks noGrp="1"/>
          </p:cNvSpPr>
          <p:nvPr>
            <p:ph type="title"/>
          </p:nvPr>
        </p:nvSpPr>
        <p:spPr/>
        <p:txBody>
          <a:bodyPr/>
          <a:lstStyle/>
          <a:p>
            <a:r>
              <a:rPr lang="en-US" dirty="0"/>
              <a:t>Multiplication / division changes length</a:t>
            </a:r>
            <a:endParaRPr lang="en-BE" dirty="0"/>
          </a:p>
        </p:txBody>
      </p:sp>
      <p:cxnSp>
        <p:nvCxnSpPr>
          <p:cNvPr id="4" name="Straight Arrow Connector 3">
            <a:extLst>
              <a:ext uri="{FF2B5EF4-FFF2-40B4-BE49-F238E27FC236}">
                <a16:creationId xmlns:a16="http://schemas.microsoft.com/office/drawing/2014/main" id="{E6D38AD9-979A-FFEB-C2F0-B6DB89DFE8B1}"/>
              </a:ext>
            </a:extLst>
          </p:cNvPr>
          <p:cNvCxnSpPr/>
          <p:nvPr/>
        </p:nvCxnSpPr>
        <p:spPr>
          <a:xfrm>
            <a:off x="1511559" y="2948473"/>
            <a:ext cx="274942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F849E8E8-54C4-800F-38CA-99DA1E50E6D9}"/>
              </a:ext>
            </a:extLst>
          </p:cNvPr>
          <p:cNvCxnSpPr>
            <a:cxnSpLocks/>
          </p:cNvCxnSpPr>
          <p:nvPr/>
        </p:nvCxnSpPr>
        <p:spPr>
          <a:xfrm>
            <a:off x="1511559" y="3505200"/>
            <a:ext cx="5778759"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D6DDD4C-3943-0A7F-8204-1EDB6813F195}"/>
              </a:ext>
            </a:extLst>
          </p:cNvPr>
          <p:cNvCxnSpPr>
            <a:cxnSpLocks/>
          </p:cNvCxnSpPr>
          <p:nvPr/>
        </p:nvCxnSpPr>
        <p:spPr>
          <a:xfrm>
            <a:off x="1511559" y="4065036"/>
            <a:ext cx="1362269"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8C04DE3-156E-593C-F42C-91BF9400CA08}"/>
              </a:ext>
            </a:extLst>
          </p:cNvPr>
          <p:cNvSpPr txBox="1"/>
          <p:nvPr/>
        </p:nvSpPr>
        <p:spPr>
          <a:xfrm>
            <a:off x="671804" y="2768082"/>
            <a:ext cx="662361" cy="1477328"/>
          </a:xfrm>
          <a:prstGeom prst="rect">
            <a:avLst/>
          </a:prstGeom>
          <a:noFill/>
        </p:spPr>
        <p:txBody>
          <a:bodyPr wrap="none" rtlCol="0">
            <a:spAutoFit/>
          </a:bodyPr>
          <a:lstStyle/>
          <a:p>
            <a:r>
              <a:rPr lang="en-US" b="1" dirty="0"/>
              <a:t>A</a:t>
            </a:r>
            <a:br>
              <a:rPr lang="en-US" b="1" dirty="0"/>
            </a:br>
            <a:endParaRPr lang="en-US" b="1" dirty="0"/>
          </a:p>
          <a:p>
            <a:r>
              <a:rPr lang="en-US" b="1" dirty="0"/>
              <a:t>A * 2</a:t>
            </a:r>
            <a:br>
              <a:rPr lang="en-US" b="1" dirty="0"/>
            </a:br>
            <a:br>
              <a:rPr lang="en-US" b="1" dirty="0"/>
            </a:br>
            <a:r>
              <a:rPr lang="en-US" b="1" dirty="0"/>
              <a:t>A / 2</a:t>
            </a:r>
            <a:endParaRPr lang="en-BE" b="1" dirty="0"/>
          </a:p>
        </p:txBody>
      </p:sp>
    </p:spTree>
    <p:extLst>
      <p:ext uri="{BB962C8B-B14F-4D97-AF65-F5344CB8AC3E}">
        <p14:creationId xmlns:p14="http://schemas.microsoft.com/office/powerpoint/2010/main" val="12470936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80DCF-5E0D-EEB8-BB2B-8E9A91FA914C}"/>
              </a:ext>
            </a:extLst>
          </p:cNvPr>
          <p:cNvSpPr>
            <a:spLocks noGrp="1"/>
          </p:cNvSpPr>
          <p:nvPr>
            <p:ph type="title"/>
          </p:nvPr>
        </p:nvSpPr>
        <p:spPr/>
        <p:txBody>
          <a:bodyPr/>
          <a:lstStyle/>
          <a:p>
            <a:r>
              <a:rPr lang="en-US" dirty="0"/>
              <a:t>We can subtract / divide vectors</a:t>
            </a:r>
            <a:endParaRPr lang="en-BE" dirty="0"/>
          </a:p>
        </p:txBody>
      </p:sp>
      <p:sp>
        <p:nvSpPr>
          <p:cNvPr id="9" name="TextBox 8">
            <a:extLst>
              <a:ext uri="{FF2B5EF4-FFF2-40B4-BE49-F238E27FC236}">
                <a16:creationId xmlns:a16="http://schemas.microsoft.com/office/drawing/2014/main" id="{90C897E4-CDDF-ADE8-61AE-DE5505ACFD5A}"/>
              </a:ext>
            </a:extLst>
          </p:cNvPr>
          <p:cNvSpPr txBox="1"/>
          <p:nvPr/>
        </p:nvSpPr>
        <p:spPr>
          <a:xfrm>
            <a:off x="564995" y="1568606"/>
            <a:ext cx="8411533"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t>By a single number: it changes the length of the vector</a:t>
            </a:r>
          </a:p>
        </p:txBody>
      </p:sp>
      <p:cxnSp>
        <p:nvCxnSpPr>
          <p:cNvPr id="10" name="Straight Arrow Connector 9">
            <a:extLst>
              <a:ext uri="{FF2B5EF4-FFF2-40B4-BE49-F238E27FC236}">
                <a16:creationId xmlns:a16="http://schemas.microsoft.com/office/drawing/2014/main" id="{DCB258C3-491E-7810-8A1C-7059E6F45AED}"/>
              </a:ext>
            </a:extLst>
          </p:cNvPr>
          <p:cNvCxnSpPr>
            <a:cxnSpLocks/>
          </p:cNvCxnSpPr>
          <p:nvPr/>
        </p:nvCxnSpPr>
        <p:spPr>
          <a:xfrm>
            <a:off x="421875" y="6298087"/>
            <a:ext cx="298113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03461C4-54E8-17ED-B6C4-520889D83619}"/>
              </a:ext>
            </a:extLst>
          </p:cNvPr>
          <p:cNvCxnSpPr/>
          <p:nvPr/>
        </p:nvCxnSpPr>
        <p:spPr>
          <a:xfrm flipV="1">
            <a:off x="421875" y="3456878"/>
            <a:ext cx="0" cy="2841209"/>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6906632-EC58-913D-3116-D960734DF147}"/>
              </a:ext>
            </a:extLst>
          </p:cNvPr>
          <p:cNvSpPr txBox="1"/>
          <p:nvPr/>
        </p:nvSpPr>
        <p:spPr>
          <a:xfrm>
            <a:off x="3425902" y="6036477"/>
            <a:ext cx="370614" cy="523220"/>
          </a:xfrm>
          <a:prstGeom prst="rect">
            <a:avLst/>
          </a:prstGeom>
          <a:noFill/>
        </p:spPr>
        <p:txBody>
          <a:bodyPr wrap="none" rtlCol="0">
            <a:spAutoFit/>
          </a:bodyPr>
          <a:lstStyle/>
          <a:p>
            <a:r>
              <a:rPr lang="en-US" sz="2800" dirty="0"/>
              <a:t>X</a:t>
            </a:r>
            <a:endParaRPr lang="en-BE" sz="2800" dirty="0"/>
          </a:p>
        </p:txBody>
      </p:sp>
      <p:sp>
        <p:nvSpPr>
          <p:cNvPr id="15" name="TextBox 14">
            <a:extLst>
              <a:ext uri="{FF2B5EF4-FFF2-40B4-BE49-F238E27FC236}">
                <a16:creationId xmlns:a16="http://schemas.microsoft.com/office/drawing/2014/main" id="{20248C5C-B292-3A1C-DF73-1482E03B4D9E}"/>
              </a:ext>
            </a:extLst>
          </p:cNvPr>
          <p:cNvSpPr txBox="1"/>
          <p:nvPr/>
        </p:nvSpPr>
        <p:spPr>
          <a:xfrm>
            <a:off x="2544250" y="5135148"/>
            <a:ext cx="1244251" cy="369332"/>
          </a:xfrm>
          <a:prstGeom prst="rect">
            <a:avLst/>
          </a:prstGeom>
          <a:noFill/>
        </p:spPr>
        <p:txBody>
          <a:bodyPr wrap="none" rtlCol="0">
            <a:spAutoFit/>
          </a:bodyPr>
          <a:lstStyle/>
          <a:p>
            <a:r>
              <a:rPr lang="en-US" dirty="0"/>
              <a:t>C = (2, 1, 0)</a:t>
            </a:r>
          </a:p>
        </p:txBody>
      </p:sp>
      <p:cxnSp>
        <p:nvCxnSpPr>
          <p:cNvPr id="18" name="Straight Arrow Connector 17">
            <a:extLst>
              <a:ext uri="{FF2B5EF4-FFF2-40B4-BE49-F238E27FC236}">
                <a16:creationId xmlns:a16="http://schemas.microsoft.com/office/drawing/2014/main" id="{B081668D-2E85-A756-7122-183B5C1852C0}"/>
              </a:ext>
            </a:extLst>
          </p:cNvPr>
          <p:cNvCxnSpPr>
            <a:cxnSpLocks/>
          </p:cNvCxnSpPr>
          <p:nvPr/>
        </p:nvCxnSpPr>
        <p:spPr>
          <a:xfrm flipV="1">
            <a:off x="421875" y="5649952"/>
            <a:ext cx="2365930" cy="648135"/>
          </a:xfrm>
          <a:prstGeom prst="straightConnector1">
            <a:avLst/>
          </a:prstGeom>
          <a:ln w="762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179FE3D-F3F0-2436-23AB-A07FDBB16637}"/>
              </a:ext>
            </a:extLst>
          </p:cNvPr>
          <p:cNvSpPr txBox="1"/>
          <p:nvPr/>
        </p:nvSpPr>
        <p:spPr>
          <a:xfrm>
            <a:off x="206299" y="2933657"/>
            <a:ext cx="215576" cy="523220"/>
          </a:xfrm>
          <a:prstGeom prst="rect">
            <a:avLst/>
          </a:prstGeom>
          <a:noFill/>
        </p:spPr>
        <p:txBody>
          <a:bodyPr wrap="square" rtlCol="0">
            <a:spAutoFit/>
          </a:bodyPr>
          <a:lstStyle/>
          <a:p>
            <a:r>
              <a:rPr lang="en-US" sz="2800" b="1" dirty="0"/>
              <a:t>Y</a:t>
            </a:r>
            <a:endParaRPr lang="en-BE" sz="2800" b="1" dirty="0"/>
          </a:p>
        </p:txBody>
      </p:sp>
      <p:cxnSp>
        <p:nvCxnSpPr>
          <p:cNvPr id="21" name="Straight Arrow Connector 20">
            <a:extLst>
              <a:ext uri="{FF2B5EF4-FFF2-40B4-BE49-F238E27FC236}">
                <a16:creationId xmlns:a16="http://schemas.microsoft.com/office/drawing/2014/main" id="{F035FCC3-6369-2FFF-DEA3-4F116692CB4E}"/>
              </a:ext>
            </a:extLst>
          </p:cNvPr>
          <p:cNvCxnSpPr>
            <a:cxnSpLocks/>
          </p:cNvCxnSpPr>
          <p:nvPr/>
        </p:nvCxnSpPr>
        <p:spPr>
          <a:xfrm>
            <a:off x="4836170" y="6337765"/>
            <a:ext cx="298113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2C72051-AAC4-CC24-8A1E-C3050517A695}"/>
              </a:ext>
            </a:extLst>
          </p:cNvPr>
          <p:cNvCxnSpPr/>
          <p:nvPr/>
        </p:nvCxnSpPr>
        <p:spPr>
          <a:xfrm flipV="1">
            <a:off x="4836170" y="3496556"/>
            <a:ext cx="0" cy="2841209"/>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6A6257C-7501-FDA3-E660-A47FD45423AF}"/>
              </a:ext>
            </a:extLst>
          </p:cNvPr>
          <p:cNvSpPr txBox="1"/>
          <p:nvPr/>
        </p:nvSpPr>
        <p:spPr>
          <a:xfrm>
            <a:off x="7840197" y="6076155"/>
            <a:ext cx="370614" cy="523220"/>
          </a:xfrm>
          <a:prstGeom prst="rect">
            <a:avLst/>
          </a:prstGeom>
          <a:noFill/>
        </p:spPr>
        <p:txBody>
          <a:bodyPr wrap="none" rtlCol="0">
            <a:spAutoFit/>
          </a:bodyPr>
          <a:lstStyle/>
          <a:p>
            <a:r>
              <a:rPr lang="en-US" sz="2800" dirty="0"/>
              <a:t>X</a:t>
            </a:r>
            <a:endParaRPr lang="en-BE" sz="2800" dirty="0"/>
          </a:p>
        </p:txBody>
      </p:sp>
      <p:sp>
        <p:nvSpPr>
          <p:cNvPr id="24" name="TextBox 23">
            <a:extLst>
              <a:ext uri="{FF2B5EF4-FFF2-40B4-BE49-F238E27FC236}">
                <a16:creationId xmlns:a16="http://schemas.microsoft.com/office/drawing/2014/main" id="{D0C7454B-0842-5359-1E66-0008EE40E245}"/>
              </a:ext>
            </a:extLst>
          </p:cNvPr>
          <p:cNvSpPr txBox="1"/>
          <p:nvPr/>
        </p:nvSpPr>
        <p:spPr>
          <a:xfrm>
            <a:off x="6110236" y="5649952"/>
            <a:ext cx="1729961" cy="369332"/>
          </a:xfrm>
          <a:prstGeom prst="rect">
            <a:avLst/>
          </a:prstGeom>
          <a:noFill/>
        </p:spPr>
        <p:txBody>
          <a:bodyPr wrap="square" rtlCol="0">
            <a:spAutoFit/>
          </a:bodyPr>
          <a:lstStyle/>
          <a:p>
            <a:r>
              <a:rPr lang="en-US" dirty="0"/>
              <a:t>C / 2 = (1, 0.5, 0)</a:t>
            </a:r>
          </a:p>
        </p:txBody>
      </p:sp>
      <p:cxnSp>
        <p:nvCxnSpPr>
          <p:cNvPr id="25" name="Straight Arrow Connector 24">
            <a:extLst>
              <a:ext uri="{FF2B5EF4-FFF2-40B4-BE49-F238E27FC236}">
                <a16:creationId xmlns:a16="http://schemas.microsoft.com/office/drawing/2014/main" id="{7D9E4A82-118A-F0D8-68CE-8CBA95A487F1}"/>
              </a:ext>
            </a:extLst>
          </p:cNvPr>
          <p:cNvCxnSpPr>
            <a:cxnSpLocks/>
          </p:cNvCxnSpPr>
          <p:nvPr/>
        </p:nvCxnSpPr>
        <p:spPr>
          <a:xfrm flipV="1">
            <a:off x="4836170" y="5949824"/>
            <a:ext cx="1252396" cy="387941"/>
          </a:xfrm>
          <a:prstGeom prst="straightConnector1">
            <a:avLst/>
          </a:prstGeom>
          <a:ln w="762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701CB6A-AD41-0ED8-FFCD-9045D401C7B1}"/>
              </a:ext>
            </a:extLst>
          </p:cNvPr>
          <p:cNvCxnSpPr>
            <a:cxnSpLocks/>
          </p:cNvCxnSpPr>
          <p:nvPr/>
        </p:nvCxnSpPr>
        <p:spPr>
          <a:xfrm>
            <a:off x="8515082" y="6337765"/>
            <a:ext cx="298113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0ECC5BB-BE6F-8280-0E2D-3275CAE0F60B}"/>
              </a:ext>
            </a:extLst>
          </p:cNvPr>
          <p:cNvCxnSpPr/>
          <p:nvPr/>
        </p:nvCxnSpPr>
        <p:spPr>
          <a:xfrm flipV="1">
            <a:off x="8515082" y="3496556"/>
            <a:ext cx="0" cy="2841209"/>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68F8CA7-0890-453E-F03A-1B617CBF2235}"/>
              </a:ext>
            </a:extLst>
          </p:cNvPr>
          <p:cNvSpPr txBox="1"/>
          <p:nvPr/>
        </p:nvSpPr>
        <p:spPr>
          <a:xfrm>
            <a:off x="11519109" y="6076155"/>
            <a:ext cx="370614" cy="523220"/>
          </a:xfrm>
          <a:prstGeom prst="rect">
            <a:avLst/>
          </a:prstGeom>
          <a:noFill/>
        </p:spPr>
        <p:txBody>
          <a:bodyPr wrap="none" rtlCol="0">
            <a:spAutoFit/>
          </a:bodyPr>
          <a:lstStyle/>
          <a:p>
            <a:r>
              <a:rPr lang="en-US" sz="2800" dirty="0"/>
              <a:t>X</a:t>
            </a:r>
            <a:endParaRPr lang="en-BE" sz="2800" dirty="0"/>
          </a:p>
        </p:txBody>
      </p:sp>
      <p:sp>
        <p:nvSpPr>
          <p:cNvPr id="30" name="TextBox 29">
            <a:extLst>
              <a:ext uri="{FF2B5EF4-FFF2-40B4-BE49-F238E27FC236}">
                <a16:creationId xmlns:a16="http://schemas.microsoft.com/office/drawing/2014/main" id="{47E022D8-E04A-6775-F7D4-E8018B501C17}"/>
              </a:ext>
            </a:extLst>
          </p:cNvPr>
          <p:cNvSpPr txBox="1"/>
          <p:nvPr/>
        </p:nvSpPr>
        <p:spPr>
          <a:xfrm>
            <a:off x="10631232" y="4849311"/>
            <a:ext cx="1729961" cy="369332"/>
          </a:xfrm>
          <a:prstGeom prst="rect">
            <a:avLst/>
          </a:prstGeom>
          <a:noFill/>
        </p:spPr>
        <p:txBody>
          <a:bodyPr wrap="square" rtlCol="0">
            <a:spAutoFit/>
          </a:bodyPr>
          <a:lstStyle/>
          <a:p>
            <a:r>
              <a:rPr lang="en-US" dirty="0"/>
              <a:t>C * 2 = (4, 2, 0)</a:t>
            </a:r>
          </a:p>
        </p:txBody>
      </p:sp>
      <p:cxnSp>
        <p:nvCxnSpPr>
          <p:cNvPr id="31" name="Straight Arrow Connector 30">
            <a:extLst>
              <a:ext uri="{FF2B5EF4-FFF2-40B4-BE49-F238E27FC236}">
                <a16:creationId xmlns:a16="http://schemas.microsoft.com/office/drawing/2014/main" id="{76260C61-1DC9-19CF-B0DD-F4E89F9A40B3}"/>
              </a:ext>
            </a:extLst>
          </p:cNvPr>
          <p:cNvCxnSpPr>
            <a:cxnSpLocks/>
          </p:cNvCxnSpPr>
          <p:nvPr/>
        </p:nvCxnSpPr>
        <p:spPr>
          <a:xfrm flipV="1">
            <a:off x="8515082" y="5504480"/>
            <a:ext cx="3193698" cy="833285"/>
          </a:xfrm>
          <a:prstGeom prst="straightConnector1">
            <a:avLst/>
          </a:prstGeom>
          <a:ln w="762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33004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E8DCE-0EA2-B59E-9A01-89C93BB3FBFB}"/>
              </a:ext>
            </a:extLst>
          </p:cNvPr>
          <p:cNvSpPr>
            <a:spLocks noGrp="1"/>
          </p:cNvSpPr>
          <p:nvPr>
            <p:ph type="title"/>
          </p:nvPr>
        </p:nvSpPr>
        <p:spPr/>
        <p:txBody>
          <a:bodyPr/>
          <a:lstStyle/>
          <a:p>
            <a:r>
              <a:rPr lang="en-US" dirty="0"/>
              <a:t>Normalization</a:t>
            </a:r>
            <a:endParaRPr lang="en-BE" dirty="0"/>
          </a:p>
        </p:txBody>
      </p:sp>
      <p:sp>
        <p:nvSpPr>
          <p:cNvPr id="3" name="TextBox 2">
            <a:extLst>
              <a:ext uri="{FF2B5EF4-FFF2-40B4-BE49-F238E27FC236}">
                <a16:creationId xmlns:a16="http://schemas.microsoft.com/office/drawing/2014/main" id="{773ED899-D1E3-8BA4-F22F-24324C8B270E}"/>
              </a:ext>
            </a:extLst>
          </p:cNvPr>
          <p:cNvSpPr txBox="1"/>
          <p:nvPr/>
        </p:nvSpPr>
        <p:spPr>
          <a:xfrm>
            <a:off x="248816" y="1760376"/>
            <a:ext cx="11162608" cy="2339102"/>
          </a:xfrm>
          <a:prstGeom prst="rect">
            <a:avLst/>
          </a:prstGeom>
          <a:noFill/>
        </p:spPr>
        <p:txBody>
          <a:bodyPr wrap="none" rtlCol="0">
            <a:spAutoFit/>
          </a:bodyPr>
          <a:lstStyle/>
          <a:p>
            <a:pPr marL="457200" indent="-457200">
              <a:buFont typeface="Arial" panose="020B0604020202020204" pitchFamily="34" charset="0"/>
              <a:buChar char="•"/>
            </a:pPr>
            <a:r>
              <a:rPr lang="en-US" sz="3200" dirty="0"/>
              <a:t>Make a vector length one</a:t>
            </a:r>
          </a:p>
          <a:p>
            <a:pPr marL="457200" indent="-457200">
              <a:buFont typeface="Arial" panose="020B0604020202020204" pitchFamily="34" charset="0"/>
              <a:buChar char="•"/>
            </a:pPr>
            <a:r>
              <a:rPr lang="en-US" sz="3200" dirty="0"/>
              <a:t>N and L are examples of normalized vectors.</a:t>
            </a:r>
            <a:br>
              <a:rPr lang="en-US" sz="3200" dirty="0"/>
            </a:br>
            <a:r>
              <a:rPr lang="en-US" sz="3200" dirty="0"/>
              <a:t>We call these unit vectors. They are always used for directions</a:t>
            </a:r>
          </a:p>
          <a:p>
            <a:pPr marL="457200" indent="-457200">
              <a:buFont typeface="Arial" panose="020B0604020202020204" pitchFamily="34" charset="0"/>
              <a:buChar char="•"/>
            </a:pPr>
            <a:r>
              <a:rPr lang="en-US" sz="3200" dirty="0"/>
              <a:t>X, Y, and Z axis are unit vectors of (1, 0, 0), (0, 1, 0), and (0, 0, 1)</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8746092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ACC9D-9302-97DA-B9DC-685BF6229B5B}"/>
              </a:ext>
            </a:extLst>
          </p:cNvPr>
          <p:cNvSpPr>
            <a:spLocks noGrp="1"/>
          </p:cNvSpPr>
          <p:nvPr>
            <p:ph type="title"/>
          </p:nvPr>
        </p:nvSpPr>
        <p:spPr/>
        <p:txBody>
          <a:bodyPr/>
          <a:lstStyle/>
          <a:p>
            <a:r>
              <a:rPr lang="en-US" dirty="0"/>
              <a:t>Special and import case : normalization</a:t>
            </a:r>
            <a:endParaRPr lang="en-BE" dirty="0"/>
          </a:p>
        </p:txBody>
      </p:sp>
      <p:sp>
        <p:nvSpPr>
          <p:cNvPr id="3" name="TextBox 2">
            <a:extLst>
              <a:ext uri="{FF2B5EF4-FFF2-40B4-BE49-F238E27FC236}">
                <a16:creationId xmlns:a16="http://schemas.microsoft.com/office/drawing/2014/main" id="{EB930EC2-DA07-E799-5630-12B1AE26362D}"/>
              </a:ext>
            </a:extLst>
          </p:cNvPr>
          <p:cNvSpPr txBox="1"/>
          <p:nvPr/>
        </p:nvSpPr>
        <p:spPr>
          <a:xfrm>
            <a:off x="742767" y="1723561"/>
            <a:ext cx="10938315" cy="1938992"/>
          </a:xfrm>
          <a:prstGeom prst="rect">
            <a:avLst/>
          </a:prstGeom>
          <a:noFill/>
        </p:spPr>
        <p:txBody>
          <a:bodyPr wrap="none" rtlCol="0">
            <a:spAutoFit/>
          </a:bodyPr>
          <a:lstStyle/>
          <a:p>
            <a:pPr marL="285750" indent="-285750">
              <a:buFont typeface="Arial" panose="020B0604020202020204" pitchFamily="34" charset="0"/>
              <a:buChar char="•"/>
            </a:pPr>
            <a:r>
              <a:rPr lang="en-US" sz="2400" dirty="0"/>
              <a:t>When we normalize a vector, it’s </a:t>
            </a:r>
            <a:r>
              <a:rPr lang="en-US" sz="2400" b="1" dirty="0"/>
              <a:t>length becomes 1</a:t>
            </a:r>
          </a:p>
          <a:p>
            <a:pPr marL="285750" indent="-285750">
              <a:buFont typeface="Arial" panose="020B0604020202020204" pitchFamily="34" charset="0"/>
              <a:buChar char="•"/>
            </a:pPr>
            <a:r>
              <a:rPr lang="en-US" sz="2400" dirty="0"/>
              <a:t>A vector with length one is known as a </a:t>
            </a:r>
            <a:r>
              <a:rPr lang="en-US" sz="2400" b="1" dirty="0"/>
              <a:t>unit vector</a:t>
            </a:r>
            <a:endParaRPr lang="en-US" sz="2400" dirty="0"/>
          </a:p>
          <a:p>
            <a:pPr marL="285750" indent="-285750">
              <a:buFont typeface="Arial" panose="020B0604020202020204" pitchFamily="34" charset="0"/>
              <a:buChar char="•"/>
            </a:pPr>
            <a:r>
              <a:rPr lang="en-US" sz="2400" dirty="0"/>
              <a:t>It’s used for </a:t>
            </a:r>
            <a:r>
              <a:rPr lang="en-US" sz="2400" b="1" dirty="0"/>
              <a:t>directions</a:t>
            </a:r>
          </a:p>
          <a:p>
            <a:pPr marL="285750" indent="-285750">
              <a:buFont typeface="Arial" panose="020B0604020202020204" pitchFamily="34" charset="0"/>
              <a:buChar char="•"/>
            </a:pPr>
            <a:r>
              <a:rPr lang="en-US" sz="2400" dirty="0"/>
              <a:t>I live 3 km north-west &lt;-&gt; I live to the north west</a:t>
            </a:r>
          </a:p>
          <a:p>
            <a:pPr marL="285750" indent="-285750">
              <a:buFont typeface="Arial" panose="020B0604020202020204" pitchFamily="34" charset="0"/>
              <a:buChar char="•"/>
            </a:pPr>
            <a:r>
              <a:rPr lang="en-US" sz="2400" b="1" dirty="0"/>
              <a:t>L</a:t>
            </a:r>
            <a:r>
              <a:rPr lang="en-US" sz="2400" dirty="0"/>
              <a:t> and </a:t>
            </a:r>
            <a:r>
              <a:rPr lang="en-US" sz="2400" b="1" dirty="0"/>
              <a:t>N</a:t>
            </a:r>
            <a:r>
              <a:rPr lang="en-US" sz="2400" dirty="0"/>
              <a:t> in the previous class were unit vectors, otherwise the algorithm would work</a:t>
            </a:r>
            <a:endParaRPr lang="en-US" sz="2400" b="1" dirty="0"/>
          </a:p>
        </p:txBody>
      </p:sp>
    </p:spTree>
    <p:extLst>
      <p:ext uri="{BB962C8B-B14F-4D97-AF65-F5344CB8AC3E}">
        <p14:creationId xmlns:p14="http://schemas.microsoft.com/office/powerpoint/2010/main" val="4115388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0F198-B6C2-E5E9-EC13-F28F37F852FE}"/>
              </a:ext>
            </a:extLst>
          </p:cNvPr>
          <p:cNvSpPr>
            <a:spLocks noGrp="1"/>
          </p:cNvSpPr>
          <p:nvPr>
            <p:ph type="title"/>
          </p:nvPr>
        </p:nvSpPr>
        <p:spPr>
          <a:xfrm>
            <a:off x="275063" y="365125"/>
            <a:ext cx="11078737" cy="1325563"/>
          </a:xfrm>
        </p:spPr>
        <p:txBody>
          <a:bodyPr/>
          <a:lstStyle/>
          <a:p>
            <a:r>
              <a:rPr lang="en-US" dirty="0" err="1"/>
              <a:t>TransformComponent</a:t>
            </a:r>
            <a:r>
              <a:rPr lang="en-US" dirty="0"/>
              <a:t> has a vector for position</a:t>
            </a:r>
            <a:endParaRPr lang="en-BE" dirty="0"/>
          </a:p>
        </p:txBody>
      </p:sp>
      <p:pic>
        <p:nvPicPr>
          <p:cNvPr id="4" name="Picture 3">
            <a:extLst>
              <a:ext uri="{FF2B5EF4-FFF2-40B4-BE49-F238E27FC236}">
                <a16:creationId xmlns:a16="http://schemas.microsoft.com/office/drawing/2014/main" id="{50C1A391-9B67-DDE5-E004-44B560900D82}"/>
              </a:ext>
            </a:extLst>
          </p:cNvPr>
          <p:cNvPicPr>
            <a:picLocks noChangeAspect="1"/>
          </p:cNvPicPr>
          <p:nvPr/>
        </p:nvPicPr>
        <p:blipFill>
          <a:blip r:embed="rId3"/>
          <a:stretch>
            <a:fillRect/>
          </a:stretch>
        </p:blipFill>
        <p:spPr>
          <a:xfrm>
            <a:off x="3347654" y="2118733"/>
            <a:ext cx="7856618" cy="2015216"/>
          </a:xfrm>
          <a:prstGeom prst="rect">
            <a:avLst/>
          </a:prstGeom>
        </p:spPr>
      </p:pic>
      <p:cxnSp>
        <p:nvCxnSpPr>
          <p:cNvPr id="6" name="Straight Arrow Connector 5">
            <a:extLst>
              <a:ext uri="{FF2B5EF4-FFF2-40B4-BE49-F238E27FC236}">
                <a16:creationId xmlns:a16="http://schemas.microsoft.com/office/drawing/2014/main" id="{D675B1F3-8E9E-8AAD-7C14-95A239E75DC9}"/>
              </a:ext>
            </a:extLst>
          </p:cNvPr>
          <p:cNvCxnSpPr/>
          <p:nvPr/>
        </p:nvCxnSpPr>
        <p:spPr>
          <a:xfrm>
            <a:off x="892098" y="2245112"/>
            <a:ext cx="2765502" cy="468351"/>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70B7687C-F668-16F1-0FCD-CB8C27DBC9EA}"/>
              </a:ext>
            </a:extLst>
          </p:cNvPr>
          <p:cNvPicPr>
            <a:picLocks noChangeAspect="1"/>
          </p:cNvPicPr>
          <p:nvPr/>
        </p:nvPicPr>
        <p:blipFill>
          <a:blip r:embed="rId4"/>
          <a:stretch>
            <a:fillRect/>
          </a:stretch>
        </p:blipFill>
        <p:spPr>
          <a:xfrm>
            <a:off x="-28832" y="5055219"/>
            <a:ext cx="12249664" cy="687659"/>
          </a:xfrm>
          <a:prstGeom prst="rect">
            <a:avLst/>
          </a:prstGeom>
        </p:spPr>
      </p:pic>
    </p:spTree>
    <p:extLst>
      <p:ext uri="{BB962C8B-B14F-4D97-AF65-F5344CB8AC3E}">
        <p14:creationId xmlns:p14="http://schemas.microsoft.com/office/powerpoint/2010/main" val="2619348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A527-3A2D-F41A-1E90-949A45CC7C94}"/>
              </a:ext>
            </a:extLst>
          </p:cNvPr>
          <p:cNvSpPr>
            <a:spLocks noGrp="1"/>
          </p:cNvSpPr>
          <p:nvPr>
            <p:ph type="title"/>
          </p:nvPr>
        </p:nvSpPr>
        <p:spPr/>
        <p:txBody>
          <a:bodyPr/>
          <a:lstStyle/>
          <a:p>
            <a:r>
              <a:rPr lang="en-US" dirty="0"/>
              <a:t>Rotations are stored as Vectors too</a:t>
            </a:r>
            <a:endParaRPr lang="en-BE" dirty="0"/>
          </a:p>
        </p:txBody>
      </p:sp>
      <p:pic>
        <p:nvPicPr>
          <p:cNvPr id="7" name="Picture 6">
            <a:extLst>
              <a:ext uri="{FF2B5EF4-FFF2-40B4-BE49-F238E27FC236}">
                <a16:creationId xmlns:a16="http://schemas.microsoft.com/office/drawing/2014/main" id="{B7790D7D-EC73-42F5-0A29-F379F8636306}"/>
              </a:ext>
            </a:extLst>
          </p:cNvPr>
          <p:cNvPicPr>
            <a:picLocks noChangeAspect="1"/>
          </p:cNvPicPr>
          <p:nvPr/>
        </p:nvPicPr>
        <p:blipFill>
          <a:blip r:embed="rId3"/>
          <a:stretch>
            <a:fillRect/>
          </a:stretch>
        </p:blipFill>
        <p:spPr>
          <a:xfrm>
            <a:off x="5040943" y="1579176"/>
            <a:ext cx="5443692" cy="5167312"/>
          </a:xfrm>
          <a:prstGeom prst="rect">
            <a:avLst/>
          </a:prstGeom>
        </p:spPr>
      </p:pic>
      <p:sp>
        <p:nvSpPr>
          <p:cNvPr id="8" name="TextBox 7">
            <a:extLst>
              <a:ext uri="{FF2B5EF4-FFF2-40B4-BE49-F238E27FC236}">
                <a16:creationId xmlns:a16="http://schemas.microsoft.com/office/drawing/2014/main" id="{0FA90673-D6CC-D528-A566-FF294824D50C}"/>
              </a:ext>
            </a:extLst>
          </p:cNvPr>
          <p:cNvSpPr txBox="1"/>
          <p:nvPr/>
        </p:nvSpPr>
        <p:spPr>
          <a:xfrm>
            <a:off x="884952" y="1799974"/>
            <a:ext cx="3776546"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t>XYZ = pitch yaw roll</a:t>
            </a:r>
          </a:p>
          <a:p>
            <a:pPr marL="342900" indent="-342900">
              <a:buFont typeface="Arial" panose="020B0604020202020204" pitchFamily="34" charset="0"/>
              <a:buChar char="•"/>
            </a:pPr>
            <a:r>
              <a:rPr lang="en-US" sz="2400" dirty="0"/>
              <a:t>You’ll use this for your 1</a:t>
            </a:r>
            <a:r>
              <a:rPr lang="en-US" sz="2400" baseline="30000" dirty="0"/>
              <a:t>st</a:t>
            </a:r>
            <a:r>
              <a:rPr lang="en-US" sz="2400" dirty="0"/>
              <a:t> person camera</a:t>
            </a:r>
            <a:endParaRPr lang="en-BE" sz="2400" dirty="0"/>
          </a:p>
        </p:txBody>
      </p:sp>
    </p:spTree>
    <p:extLst>
      <p:ext uri="{BB962C8B-B14F-4D97-AF65-F5344CB8AC3E}">
        <p14:creationId xmlns:p14="http://schemas.microsoft.com/office/powerpoint/2010/main" val="2037457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54267-9958-A16E-3B7E-B40150E31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AB0E5-C678-AF11-117E-3811D2ECD118}"/>
              </a:ext>
            </a:extLst>
          </p:cNvPr>
          <p:cNvSpPr>
            <a:spLocks noGrp="1"/>
          </p:cNvSpPr>
          <p:nvPr>
            <p:ph type="title"/>
          </p:nvPr>
        </p:nvSpPr>
        <p:spPr/>
        <p:txBody>
          <a:bodyPr/>
          <a:lstStyle/>
          <a:p>
            <a:r>
              <a:rPr lang="en-US" dirty="0"/>
              <a:t>Framerate independence</a:t>
            </a:r>
            <a:endParaRPr lang="en-BE" dirty="0"/>
          </a:p>
        </p:txBody>
      </p:sp>
      <p:sp>
        <p:nvSpPr>
          <p:cNvPr id="3" name="Parallelogram 2">
            <a:extLst>
              <a:ext uri="{FF2B5EF4-FFF2-40B4-BE49-F238E27FC236}">
                <a16:creationId xmlns:a16="http://schemas.microsoft.com/office/drawing/2014/main" id="{1B667A07-F2BE-941B-E54D-38437DC10860}"/>
              </a:ext>
            </a:extLst>
          </p:cNvPr>
          <p:cNvSpPr/>
          <p:nvPr/>
        </p:nvSpPr>
        <p:spPr>
          <a:xfrm>
            <a:off x="1025912" y="20369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 name="Parallelogram 3">
            <a:extLst>
              <a:ext uri="{FF2B5EF4-FFF2-40B4-BE49-F238E27FC236}">
                <a16:creationId xmlns:a16="http://schemas.microsoft.com/office/drawing/2014/main" id="{BB89DAD2-41C5-CAC3-2F96-F99EB20171B8}"/>
              </a:ext>
            </a:extLst>
          </p:cNvPr>
          <p:cNvSpPr/>
          <p:nvPr/>
        </p:nvSpPr>
        <p:spPr>
          <a:xfrm>
            <a:off x="1274956" y="21893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 name="Parallelogram 4">
            <a:extLst>
              <a:ext uri="{FF2B5EF4-FFF2-40B4-BE49-F238E27FC236}">
                <a16:creationId xmlns:a16="http://schemas.microsoft.com/office/drawing/2014/main" id="{7123E6FF-4058-69A4-78B6-3F5D59E95F49}"/>
              </a:ext>
            </a:extLst>
          </p:cNvPr>
          <p:cNvSpPr/>
          <p:nvPr/>
        </p:nvSpPr>
        <p:spPr>
          <a:xfrm>
            <a:off x="1178312" y="21893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 name="Parallelogram 5">
            <a:extLst>
              <a:ext uri="{FF2B5EF4-FFF2-40B4-BE49-F238E27FC236}">
                <a16:creationId xmlns:a16="http://schemas.microsoft.com/office/drawing/2014/main" id="{6EC3DDB6-4740-666E-41CF-2C51A2C02FD9}"/>
              </a:ext>
            </a:extLst>
          </p:cNvPr>
          <p:cNvSpPr/>
          <p:nvPr/>
        </p:nvSpPr>
        <p:spPr>
          <a:xfrm>
            <a:off x="1427356" y="23417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7" name="Parallelogram 6">
            <a:extLst>
              <a:ext uri="{FF2B5EF4-FFF2-40B4-BE49-F238E27FC236}">
                <a16:creationId xmlns:a16="http://schemas.microsoft.com/office/drawing/2014/main" id="{94F000AE-FD69-5F5F-809E-67F3765E5EEE}"/>
              </a:ext>
            </a:extLst>
          </p:cNvPr>
          <p:cNvSpPr/>
          <p:nvPr/>
        </p:nvSpPr>
        <p:spPr>
          <a:xfrm>
            <a:off x="1330712" y="23417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8" name="Parallelogram 7">
            <a:extLst>
              <a:ext uri="{FF2B5EF4-FFF2-40B4-BE49-F238E27FC236}">
                <a16:creationId xmlns:a16="http://schemas.microsoft.com/office/drawing/2014/main" id="{4C3566DE-3EDA-A142-1F52-CBE13F685B55}"/>
              </a:ext>
            </a:extLst>
          </p:cNvPr>
          <p:cNvSpPr/>
          <p:nvPr/>
        </p:nvSpPr>
        <p:spPr>
          <a:xfrm>
            <a:off x="1579756" y="24941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 name="Parallelogram 8">
            <a:extLst>
              <a:ext uri="{FF2B5EF4-FFF2-40B4-BE49-F238E27FC236}">
                <a16:creationId xmlns:a16="http://schemas.microsoft.com/office/drawing/2014/main" id="{D663020C-7933-62C8-27FE-0944C7090C07}"/>
              </a:ext>
            </a:extLst>
          </p:cNvPr>
          <p:cNvSpPr/>
          <p:nvPr/>
        </p:nvSpPr>
        <p:spPr>
          <a:xfrm>
            <a:off x="1483112" y="24941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0" name="Parallelogram 9">
            <a:extLst>
              <a:ext uri="{FF2B5EF4-FFF2-40B4-BE49-F238E27FC236}">
                <a16:creationId xmlns:a16="http://schemas.microsoft.com/office/drawing/2014/main" id="{DF318C27-94EC-8597-1FC7-6906D75B21DF}"/>
              </a:ext>
            </a:extLst>
          </p:cNvPr>
          <p:cNvSpPr/>
          <p:nvPr/>
        </p:nvSpPr>
        <p:spPr>
          <a:xfrm>
            <a:off x="1732156" y="26465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Parallelogram 10">
            <a:extLst>
              <a:ext uri="{FF2B5EF4-FFF2-40B4-BE49-F238E27FC236}">
                <a16:creationId xmlns:a16="http://schemas.microsoft.com/office/drawing/2014/main" id="{BCF0B81B-5241-0871-D486-95A9AD27BB5E}"/>
              </a:ext>
            </a:extLst>
          </p:cNvPr>
          <p:cNvSpPr/>
          <p:nvPr/>
        </p:nvSpPr>
        <p:spPr>
          <a:xfrm>
            <a:off x="1635512" y="26465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2" name="Parallelogram 11">
            <a:extLst>
              <a:ext uri="{FF2B5EF4-FFF2-40B4-BE49-F238E27FC236}">
                <a16:creationId xmlns:a16="http://schemas.microsoft.com/office/drawing/2014/main" id="{5075CC4A-CB42-7708-ECF4-FDB48DBC9EDB}"/>
              </a:ext>
            </a:extLst>
          </p:cNvPr>
          <p:cNvSpPr/>
          <p:nvPr/>
        </p:nvSpPr>
        <p:spPr>
          <a:xfrm>
            <a:off x="1884556" y="27989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3" name="Parallelogram 12">
            <a:extLst>
              <a:ext uri="{FF2B5EF4-FFF2-40B4-BE49-F238E27FC236}">
                <a16:creationId xmlns:a16="http://schemas.microsoft.com/office/drawing/2014/main" id="{6CD211BC-87C3-8259-C929-3680AEDF66D5}"/>
              </a:ext>
            </a:extLst>
          </p:cNvPr>
          <p:cNvSpPr/>
          <p:nvPr/>
        </p:nvSpPr>
        <p:spPr>
          <a:xfrm>
            <a:off x="1787912" y="27989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4" name="Parallelogram 13">
            <a:extLst>
              <a:ext uri="{FF2B5EF4-FFF2-40B4-BE49-F238E27FC236}">
                <a16:creationId xmlns:a16="http://schemas.microsoft.com/office/drawing/2014/main" id="{FD40E349-EA68-D002-F7AA-010F8788E657}"/>
              </a:ext>
            </a:extLst>
          </p:cNvPr>
          <p:cNvSpPr/>
          <p:nvPr/>
        </p:nvSpPr>
        <p:spPr>
          <a:xfrm>
            <a:off x="2036956" y="29513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5" name="Parallelogram 14">
            <a:extLst>
              <a:ext uri="{FF2B5EF4-FFF2-40B4-BE49-F238E27FC236}">
                <a16:creationId xmlns:a16="http://schemas.microsoft.com/office/drawing/2014/main" id="{49A10EC8-263C-FBE8-13DE-3B9A2A39192E}"/>
              </a:ext>
            </a:extLst>
          </p:cNvPr>
          <p:cNvSpPr/>
          <p:nvPr/>
        </p:nvSpPr>
        <p:spPr>
          <a:xfrm>
            <a:off x="1940312" y="29513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6" name="Parallelogram 15">
            <a:extLst>
              <a:ext uri="{FF2B5EF4-FFF2-40B4-BE49-F238E27FC236}">
                <a16:creationId xmlns:a16="http://schemas.microsoft.com/office/drawing/2014/main" id="{87046826-D651-658C-C89D-265AC57587C4}"/>
              </a:ext>
            </a:extLst>
          </p:cNvPr>
          <p:cNvSpPr/>
          <p:nvPr/>
        </p:nvSpPr>
        <p:spPr>
          <a:xfrm>
            <a:off x="2189356" y="31037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7" name="Parallelogram 16">
            <a:extLst>
              <a:ext uri="{FF2B5EF4-FFF2-40B4-BE49-F238E27FC236}">
                <a16:creationId xmlns:a16="http://schemas.microsoft.com/office/drawing/2014/main" id="{B15443CD-44BE-4D04-597E-76084985232D}"/>
              </a:ext>
            </a:extLst>
          </p:cNvPr>
          <p:cNvSpPr/>
          <p:nvPr/>
        </p:nvSpPr>
        <p:spPr>
          <a:xfrm>
            <a:off x="2092712" y="31037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8" name="Parallelogram 17">
            <a:extLst>
              <a:ext uri="{FF2B5EF4-FFF2-40B4-BE49-F238E27FC236}">
                <a16:creationId xmlns:a16="http://schemas.microsoft.com/office/drawing/2014/main" id="{4E9A0947-DC35-E46B-B880-0C6E84F1C345}"/>
              </a:ext>
            </a:extLst>
          </p:cNvPr>
          <p:cNvSpPr/>
          <p:nvPr/>
        </p:nvSpPr>
        <p:spPr>
          <a:xfrm>
            <a:off x="2341756" y="32561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9" name="Parallelogram 18">
            <a:extLst>
              <a:ext uri="{FF2B5EF4-FFF2-40B4-BE49-F238E27FC236}">
                <a16:creationId xmlns:a16="http://schemas.microsoft.com/office/drawing/2014/main" id="{D1450DE0-FE21-3619-9D69-90CCEEC34024}"/>
              </a:ext>
            </a:extLst>
          </p:cNvPr>
          <p:cNvSpPr/>
          <p:nvPr/>
        </p:nvSpPr>
        <p:spPr>
          <a:xfrm>
            <a:off x="2245112" y="32561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0" name="Parallelogram 19">
            <a:extLst>
              <a:ext uri="{FF2B5EF4-FFF2-40B4-BE49-F238E27FC236}">
                <a16:creationId xmlns:a16="http://schemas.microsoft.com/office/drawing/2014/main" id="{581A28E1-C456-CFC6-61F1-D8FCD1F59CCD}"/>
              </a:ext>
            </a:extLst>
          </p:cNvPr>
          <p:cNvSpPr/>
          <p:nvPr/>
        </p:nvSpPr>
        <p:spPr>
          <a:xfrm>
            <a:off x="2494156" y="3408556"/>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1" name="Parallelogram 20">
            <a:extLst>
              <a:ext uri="{FF2B5EF4-FFF2-40B4-BE49-F238E27FC236}">
                <a16:creationId xmlns:a16="http://schemas.microsoft.com/office/drawing/2014/main" id="{3605EEA6-BD1A-B4DB-70D7-8CF10A1415A6}"/>
              </a:ext>
            </a:extLst>
          </p:cNvPr>
          <p:cNvSpPr/>
          <p:nvPr/>
        </p:nvSpPr>
        <p:spPr>
          <a:xfrm>
            <a:off x="5954751" y="2036955"/>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2" name="Parallelogram 21">
            <a:extLst>
              <a:ext uri="{FF2B5EF4-FFF2-40B4-BE49-F238E27FC236}">
                <a16:creationId xmlns:a16="http://schemas.microsoft.com/office/drawing/2014/main" id="{95E2C176-A33C-DF25-8D1B-D9A74AE3B553}"/>
              </a:ext>
            </a:extLst>
          </p:cNvPr>
          <p:cNvSpPr/>
          <p:nvPr/>
        </p:nvSpPr>
        <p:spPr>
          <a:xfrm>
            <a:off x="6408233" y="2598233"/>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3" name="Parallelogram 22">
            <a:extLst>
              <a:ext uri="{FF2B5EF4-FFF2-40B4-BE49-F238E27FC236}">
                <a16:creationId xmlns:a16="http://schemas.microsoft.com/office/drawing/2014/main" id="{DD33495C-91FE-4CA7-FBA5-C9C97C4E27BB}"/>
              </a:ext>
            </a:extLst>
          </p:cNvPr>
          <p:cNvSpPr/>
          <p:nvPr/>
        </p:nvSpPr>
        <p:spPr>
          <a:xfrm>
            <a:off x="7118195" y="3442010"/>
            <a:ext cx="1836234" cy="1568605"/>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4" name="TextBox 23">
            <a:extLst>
              <a:ext uri="{FF2B5EF4-FFF2-40B4-BE49-F238E27FC236}">
                <a16:creationId xmlns:a16="http://schemas.microsoft.com/office/drawing/2014/main" id="{6AC5E464-B653-1CFF-1819-086462ECEC88}"/>
              </a:ext>
            </a:extLst>
          </p:cNvPr>
          <p:cNvSpPr txBox="1"/>
          <p:nvPr/>
        </p:nvSpPr>
        <p:spPr>
          <a:xfrm>
            <a:off x="1940312" y="6014224"/>
            <a:ext cx="1069395" cy="523220"/>
          </a:xfrm>
          <a:prstGeom prst="rect">
            <a:avLst/>
          </a:prstGeom>
          <a:noFill/>
        </p:spPr>
        <p:txBody>
          <a:bodyPr wrap="none" rtlCol="0">
            <a:spAutoFit/>
          </a:bodyPr>
          <a:lstStyle/>
          <a:p>
            <a:r>
              <a:rPr lang="en-US" sz="2800" dirty="0"/>
              <a:t>60 fps</a:t>
            </a:r>
            <a:endParaRPr lang="en-BE" sz="2800" dirty="0"/>
          </a:p>
        </p:txBody>
      </p:sp>
      <p:sp>
        <p:nvSpPr>
          <p:cNvPr id="26" name="TextBox 25">
            <a:extLst>
              <a:ext uri="{FF2B5EF4-FFF2-40B4-BE49-F238E27FC236}">
                <a16:creationId xmlns:a16="http://schemas.microsoft.com/office/drawing/2014/main" id="{0C8377F1-FE32-A88B-048D-B1722984EEB7}"/>
              </a:ext>
            </a:extLst>
          </p:cNvPr>
          <p:cNvSpPr txBox="1"/>
          <p:nvPr/>
        </p:nvSpPr>
        <p:spPr>
          <a:xfrm>
            <a:off x="7058722" y="5860938"/>
            <a:ext cx="5698273" cy="523220"/>
          </a:xfrm>
          <a:prstGeom prst="rect">
            <a:avLst/>
          </a:prstGeom>
          <a:noFill/>
        </p:spPr>
        <p:txBody>
          <a:bodyPr wrap="square" rtlCol="0">
            <a:spAutoFit/>
          </a:bodyPr>
          <a:lstStyle/>
          <a:p>
            <a:r>
              <a:rPr lang="en-US" sz="2800" dirty="0"/>
              <a:t>10 fps</a:t>
            </a:r>
            <a:endParaRPr lang="en-BE" sz="2800" dirty="0"/>
          </a:p>
        </p:txBody>
      </p:sp>
      <p:cxnSp>
        <p:nvCxnSpPr>
          <p:cNvPr id="28" name="Straight Arrow Connector 27">
            <a:extLst>
              <a:ext uri="{FF2B5EF4-FFF2-40B4-BE49-F238E27FC236}">
                <a16:creationId xmlns:a16="http://schemas.microsoft.com/office/drawing/2014/main" id="{52570264-754D-9300-460D-24B7A3F719C1}"/>
              </a:ext>
            </a:extLst>
          </p:cNvPr>
          <p:cNvCxnSpPr/>
          <p:nvPr/>
        </p:nvCxnSpPr>
        <p:spPr>
          <a:xfrm>
            <a:off x="4921405" y="3583258"/>
            <a:ext cx="929268" cy="1393903"/>
          </a:xfrm>
          <a:prstGeom prst="straightConnector1">
            <a:avLst/>
          </a:prstGeom>
          <a:ln w="76200">
            <a:headEnd type="triangle"/>
            <a:tailEnd type="triangle"/>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86AC0CE2-0691-75C2-197F-F7D21694B884}"/>
              </a:ext>
            </a:extLst>
          </p:cNvPr>
          <p:cNvSpPr txBox="1"/>
          <p:nvPr/>
        </p:nvSpPr>
        <p:spPr>
          <a:xfrm>
            <a:off x="4666786" y="4062761"/>
            <a:ext cx="828907" cy="523220"/>
          </a:xfrm>
          <a:prstGeom prst="rect">
            <a:avLst/>
          </a:prstGeom>
          <a:noFill/>
        </p:spPr>
        <p:txBody>
          <a:bodyPr wrap="square" rtlCol="0">
            <a:spAutoFit/>
          </a:bodyPr>
          <a:lstStyle/>
          <a:p>
            <a:r>
              <a:rPr lang="en-US" sz="2800" dirty="0"/>
              <a:t>1s</a:t>
            </a:r>
            <a:endParaRPr lang="en-BE" sz="2800" dirty="0"/>
          </a:p>
        </p:txBody>
      </p:sp>
    </p:spTree>
    <p:extLst>
      <p:ext uri="{BB962C8B-B14F-4D97-AF65-F5344CB8AC3E}">
        <p14:creationId xmlns:p14="http://schemas.microsoft.com/office/powerpoint/2010/main" val="1112491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603A0-624C-E529-F2C7-1E2C18A13460}"/>
              </a:ext>
            </a:extLst>
          </p:cNvPr>
          <p:cNvSpPr>
            <a:spLocks noGrp="1"/>
          </p:cNvSpPr>
          <p:nvPr>
            <p:ph type="title"/>
          </p:nvPr>
        </p:nvSpPr>
        <p:spPr/>
        <p:txBody>
          <a:bodyPr/>
          <a:lstStyle/>
          <a:p>
            <a:r>
              <a:rPr lang="en-US" dirty="0"/>
              <a:t>Say we translate 1 cm each frame</a:t>
            </a:r>
            <a:endParaRPr lang="en-BE" dirty="0"/>
          </a:p>
        </p:txBody>
      </p:sp>
      <p:sp>
        <p:nvSpPr>
          <p:cNvPr id="3" name="TextBox 2">
            <a:extLst>
              <a:ext uri="{FF2B5EF4-FFF2-40B4-BE49-F238E27FC236}">
                <a16:creationId xmlns:a16="http://schemas.microsoft.com/office/drawing/2014/main" id="{1A25A5A5-7A6B-F3FB-6A6A-D8339AEC9344}"/>
              </a:ext>
            </a:extLst>
          </p:cNvPr>
          <p:cNvSpPr txBox="1"/>
          <p:nvPr/>
        </p:nvSpPr>
        <p:spPr>
          <a:xfrm>
            <a:off x="1219200" y="1970048"/>
            <a:ext cx="5574859"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t>60 fps = 60 centimeters per second</a:t>
            </a:r>
          </a:p>
          <a:p>
            <a:pPr marL="285750" indent="-285750">
              <a:buFont typeface="Arial" panose="020B0604020202020204" pitchFamily="34" charset="0"/>
              <a:buChar char="•"/>
            </a:pPr>
            <a:r>
              <a:rPr lang="en-US" sz="2800" dirty="0"/>
              <a:t>10 fps = 10 centimeters per second</a:t>
            </a:r>
            <a:endParaRPr lang="en-BE" sz="2800" dirty="0"/>
          </a:p>
        </p:txBody>
      </p:sp>
    </p:spTree>
    <p:extLst>
      <p:ext uri="{BB962C8B-B14F-4D97-AF65-F5344CB8AC3E}">
        <p14:creationId xmlns:p14="http://schemas.microsoft.com/office/powerpoint/2010/main" val="2453690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F758F-8F70-9352-EF1F-231C87E28CBA}"/>
              </a:ext>
            </a:extLst>
          </p:cNvPr>
          <p:cNvSpPr>
            <a:spLocks noGrp="1"/>
          </p:cNvSpPr>
          <p:nvPr>
            <p:ph type="title"/>
          </p:nvPr>
        </p:nvSpPr>
        <p:spPr/>
        <p:txBody>
          <a:bodyPr/>
          <a:lstStyle/>
          <a:p>
            <a:r>
              <a:rPr lang="en-US" dirty="0"/>
              <a:t>Solution: multiply by frame duration</a:t>
            </a:r>
            <a:endParaRPr lang="en-BE" dirty="0"/>
          </a:p>
        </p:txBody>
      </p:sp>
      <p:sp>
        <p:nvSpPr>
          <p:cNvPr id="3" name="TextBox 2">
            <a:extLst>
              <a:ext uri="{FF2B5EF4-FFF2-40B4-BE49-F238E27FC236}">
                <a16:creationId xmlns:a16="http://schemas.microsoft.com/office/drawing/2014/main" id="{83D7ADBE-1A96-3D15-5E08-6C8CB1C29F6E}"/>
              </a:ext>
            </a:extLst>
          </p:cNvPr>
          <p:cNvSpPr txBox="1"/>
          <p:nvPr/>
        </p:nvSpPr>
        <p:spPr>
          <a:xfrm>
            <a:off x="1219200" y="1970048"/>
            <a:ext cx="9282606" cy="2246769"/>
          </a:xfrm>
          <a:prstGeom prst="rect">
            <a:avLst/>
          </a:prstGeom>
          <a:noFill/>
        </p:spPr>
        <p:txBody>
          <a:bodyPr wrap="none" rtlCol="0">
            <a:spAutoFit/>
          </a:bodyPr>
          <a:lstStyle/>
          <a:p>
            <a:pPr marL="285750" indent="-285750">
              <a:buFont typeface="Arial" panose="020B0604020202020204" pitchFamily="34" charset="0"/>
              <a:buChar char="•"/>
            </a:pPr>
            <a:r>
              <a:rPr lang="en-US" sz="2800" dirty="0"/>
              <a:t>We want 1 meter per second</a:t>
            </a:r>
          </a:p>
          <a:p>
            <a:pPr marL="285750" indent="-285750">
              <a:buFont typeface="Arial" panose="020B0604020202020204" pitchFamily="34" charset="0"/>
              <a:buChar char="•"/>
            </a:pPr>
            <a:r>
              <a:rPr lang="en-US" sz="2800" dirty="0"/>
              <a:t>60 fps : frame is 16.67 milliseconds</a:t>
            </a:r>
          </a:p>
          <a:p>
            <a:pPr marL="285750" indent="-285750">
              <a:buFont typeface="Arial" panose="020B0604020202020204" pitchFamily="34" charset="0"/>
              <a:buChar char="•"/>
            </a:pPr>
            <a:r>
              <a:rPr lang="en-US" sz="2800" dirty="0"/>
              <a:t>1 meter * 0.016 second = 1.6 cm</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Framerates vary during runtime, always use </a:t>
            </a:r>
            <a:r>
              <a:rPr lang="en-US" sz="2800" b="1" dirty="0" err="1"/>
              <a:t>Time.DeltaTime</a:t>
            </a:r>
            <a:r>
              <a:rPr lang="en-US" sz="2800" b="1" dirty="0"/>
              <a:t> </a:t>
            </a:r>
            <a:endParaRPr lang="en-BE" sz="2800" b="1" dirty="0"/>
          </a:p>
        </p:txBody>
      </p:sp>
    </p:spTree>
    <p:extLst>
      <p:ext uri="{BB962C8B-B14F-4D97-AF65-F5344CB8AC3E}">
        <p14:creationId xmlns:p14="http://schemas.microsoft.com/office/powerpoint/2010/main" val="39698080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82F27-92BA-16A2-903A-6124466C6CD9}"/>
              </a:ext>
            </a:extLst>
          </p:cNvPr>
          <p:cNvSpPr>
            <a:spLocks noGrp="1"/>
          </p:cNvSpPr>
          <p:nvPr>
            <p:ph type="title"/>
          </p:nvPr>
        </p:nvSpPr>
        <p:spPr/>
        <p:txBody>
          <a:bodyPr/>
          <a:lstStyle/>
          <a:p>
            <a:r>
              <a:rPr lang="en-US" dirty="0"/>
              <a:t>Unity</a:t>
            </a:r>
            <a:endParaRPr lang="en-BE" dirty="0"/>
          </a:p>
        </p:txBody>
      </p:sp>
      <p:sp>
        <p:nvSpPr>
          <p:cNvPr id="3" name="TextBox 2">
            <a:extLst>
              <a:ext uri="{FF2B5EF4-FFF2-40B4-BE49-F238E27FC236}">
                <a16:creationId xmlns:a16="http://schemas.microsoft.com/office/drawing/2014/main" id="{184A32D6-00AF-574C-297A-19E41096EE45}"/>
              </a:ext>
            </a:extLst>
          </p:cNvPr>
          <p:cNvSpPr txBox="1"/>
          <p:nvPr/>
        </p:nvSpPr>
        <p:spPr>
          <a:xfrm>
            <a:off x="186611" y="1598644"/>
            <a:ext cx="7051930" cy="1754326"/>
          </a:xfrm>
          <a:prstGeom prst="rect">
            <a:avLst/>
          </a:prstGeom>
          <a:noFill/>
        </p:spPr>
        <p:txBody>
          <a:bodyPr wrap="none" rtlCol="0">
            <a:spAutoFit/>
          </a:bodyPr>
          <a:lstStyle/>
          <a:p>
            <a:r>
              <a:rPr lang="en-US" sz="1800" dirty="0">
                <a:solidFill>
                  <a:srgbClr val="000000"/>
                </a:solidFill>
                <a:latin typeface="Cascadia Mono" panose="020B0609020000020004" pitchFamily="49" charset="0"/>
              </a:rPr>
              <a:t> </a:t>
            </a:r>
            <a:r>
              <a:rPr lang="en-US" sz="1800" dirty="0">
                <a:solidFill>
                  <a:srgbClr val="008000"/>
                </a:solidFill>
                <a:latin typeface="Cascadia Mono" panose="020B0609020000020004" pitchFamily="49" charset="0"/>
              </a:rPr>
              <a:t>// initialize with all components</a:t>
            </a:r>
          </a:p>
          <a:p>
            <a:r>
              <a:rPr lang="en-US" sz="1800" dirty="0">
                <a:solidFill>
                  <a:srgbClr val="000000"/>
                </a:solidFill>
                <a:latin typeface="Cascadia Mono" panose="020B0609020000020004" pitchFamily="49" charset="0"/>
              </a:rPr>
              <a:t> </a:t>
            </a:r>
            <a:r>
              <a:rPr lang="en-US" sz="1800" i="1" dirty="0">
                <a:solidFill>
                  <a:srgbClr val="0000FF"/>
                </a:solidFill>
                <a:latin typeface="Cascadia Mono" panose="020B0609020000020004" pitchFamily="49" charset="0"/>
              </a:rPr>
              <a:t>Vector3</a:t>
            </a:r>
            <a:r>
              <a:rPr lang="en-US" sz="1800" i="0" dirty="0">
                <a:solidFill>
                  <a:srgbClr val="000000"/>
                </a:solidFill>
                <a:latin typeface="Cascadia Mono" panose="020B0609020000020004" pitchFamily="49" charset="0"/>
              </a:rPr>
              <a:t> </a:t>
            </a:r>
            <a:r>
              <a:rPr lang="en-US" sz="1800" i="0" dirty="0">
                <a:solidFill>
                  <a:srgbClr val="000080"/>
                </a:solidFill>
                <a:latin typeface="Cascadia Mono" panose="020B0609020000020004" pitchFamily="49" charset="0"/>
              </a:rPr>
              <a:t>v1</a:t>
            </a:r>
            <a:r>
              <a:rPr lang="en-US" sz="1800" i="0" dirty="0">
                <a:solidFill>
                  <a:srgbClr val="000000"/>
                </a:solidFill>
                <a:latin typeface="Cascadia Mono" panose="020B0609020000020004" pitchFamily="49" charset="0"/>
              </a:rPr>
              <a:t> = </a:t>
            </a:r>
            <a:r>
              <a:rPr lang="en-US" sz="1800" i="0" dirty="0">
                <a:solidFill>
                  <a:srgbClr val="0000FF"/>
                </a:solidFill>
                <a:latin typeface="Cascadia Mono" panose="020B0609020000020004" pitchFamily="49" charset="0"/>
              </a:rPr>
              <a:t>new</a:t>
            </a:r>
            <a:r>
              <a:rPr lang="en-US" sz="1800" i="0" dirty="0">
                <a:solidFill>
                  <a:srgbClr val="000000"/>
                </a:solidFill>
                <a:latin typeface="Cascadia Mono" panose="020B0609020000020004" pitchFamily="49" charset="0"/>
              </a:rPr>
              <a:t> </a:t>
            </a:r>
            <a:r>
              <a:rPr lang="en-US" sz="1800" i="1" dirty="0">
                <a:solidFill>
                  <a:srgbClr val="0000FF"/>
                </a:solidFill>
                <a:latin typeface="Cascadia Mono" panose="020B0609020000020004" pitchFamily="49" charset="0"/>
              </a:rPr>
              <a:t>Vector3</a:t>
            </a:r>
            <a:r>
              <a:rPr lang="en-US" sz="1800" i="0" dirty="0">
                <a:solidFill>
                  <a:srgbClr val="000000"/>
                </a:solidFill>
                <a:latin typeface="Cascadia Mono" panose="020B0609020000020004" pitchFamily="49" charset="0"/>
              </a:rPr>
              <a:t>(2, 1, 0);</a:t>
            </a:r>
          </a:p>
          <a:p>
            <a:r>
              <a:rPr lang="en-US" sz="1800" i="0" dirty="0">
                <a:solidFill>
                  <a:srgbClr val="000000"/>
                </a:solidFill>
                <a:latin typeface="Cascadia Mono" panose="020B0609020000020004" pitchFamily="49" charset="0"/>
              </a:rPr>
              <a:t> </a:t>
            </a:r>
            <a:r>
              <a:rPr lang="en-US" sz="1800" i="0" dirty="0">
                <a:solidFill>
                  <a:srgbClr val="008000"/>
                </a:solidFill>
                <a:latin typeface="Cascadia Mono" panose="020B0609020000020004" pitchFamily="49" charset="0"/>
              </a:rPr>
              <a:t>// shorthand for (0, 0, 0)</a:t>
            </a:r>
          </a:p>
          <a:p>
            <a:r>
              <a:rPr lang="en-US" sz="1800" i="0" dirty="0">
                <a:solidFill>
                  <a:srgbClr val="000000"/>
                </a:solidFill>
                <a:latin typeface="Cascadia Mono" panose="020B0609020000020004" pitchFamily="49" charset="0"/>
              </a:rPr>
              <a:t> </a:t>
            </a:r>
            <a:r>
              <a:rPr lang="en-US" sz="1800" i="1" dirty="0">
                <a:solidFill>
                  <a:srgbClr val="0000FF"/>
                </a:solidFill>
                <a:latin typeface="Cascadia Mono" panose="020B0609020000020004" pitchFamily="49" charset="0"/>
              </a:rPr>
              <a:t>Vector3</a:t>
            </a:r>
            <a:r>
              <a:rPr lang="en-US" sz="1800" i="0" dirty="0">
                <a:solidFill>
                  <a:srgbClr val="000000"/>
                </a:solidFill>
                <a:latin typeface="Cascadia Mono" panose="020B0609020000020004" pitchFamily="49" charset="0"/>
              </a:rPr>
              <a:t> </a:t>
            </a:r>
            <a:r>
              <a:rPr lang="en-US" sz="1800" i="0" dirty="0">
                <a:solidFill>
                  <a:srgbClr val="000080"/>
                </a:solidFill>
                <a:latin typeface="Cascadia Mono" panose="020B0609020000020004" pitchFamily="49" charset="0"/>
              </a:rPr>
              <a:t>v2</a:t>
            </a:r>
            <a:r>
              <a:rPr lang="en-US" sz="1800" i="0" dirty="0">
                <a:solidFill>
                  <a:srgbClr val="000000"/>
                </a:solidFill>
                <a:latin typeface="Cascadia Mono" panose="020B0609020000020004" pitchFamily="49" charset="0"/>
              </a:rPr>
              <a:t> = </a:t>
            </a:r>
            <a:r>
              <a:rPr lang="en-US" sz="1800" i="1" dirty="0">
                <a:solidFill>
                  <a:srgbClr val="0000FF"/>
                </a:solidFill>
                <a:latin typeface="Cascadia Mono" panose="020B0609020000020004" pitchFamily="49" charset="0"/>
              </a:rPr>
              <a:t>Vector3</a:t>
            </a:r>
            <a:r>
              <a:rPr lang="en-US" sz="1800" i="0" dirty="0">
                <a:solidFill>
                  <a:srgbClr val="000000"/>
                </a:solidFill>
                <a:latin typeface="Cascadia Mono" panose="020B0609020000020004" pitchFamily="49" charset="0"/>
              </a:rPr>
              <a:t>.</a:t>
            </a:r>
            <a:r>
              <a:rPr lang="en-US" sz="1800" i="1" dirty="0">
                <a:solidFill>
                  <a:srgbClr val="000080"/>
                </a:solidFill>
                <a:latin typeface="Cascadia Mono" panose="020B0609020000020004" pitchFamily="49" charset="0"/>
              </a:rPr>
              <a:t>zero</a:t>
            </a:r>
            <a:r>
              <a:rPr lang="en-US" sz="1800" i="0" dirty="0">
                <a:solidFill>
                  <a:srgbClr val="000000"/>
                </a:solidFill>
                <a:latin typeface="Cascadia Mono" panose="020B0609020000020004" pitchFamily="49" charset="0"/>
              </a:rPr>
              <a:t>;</a:t>
            </a:r>
          </a:p>
          <a:p>
            <a:r>
              <a:rPr lang="en-US" sz="1800" i="0" dirty="0">
                <a:solidFill>
                  <a:srgbClr val="000000"/>
                </a:solidFill>
                <a:latin typeface="Cascadia Mono" panose="020B0609020000020004" pitchFamily="49" charset="0"/>
              </a:rPr>
              <a:t> </a:t>
            </a:r>
            <a:r>
              <a:rPr lang="en-US" sz="1800" i="0" dirty="0">
                <a:solidFill>
                  <a:srgbClr val="008000"/>
                </a:solidFill>
                <a:latin typeface="Cascadia Mono" panose="020B0609020000020004" pitchFamily="49" charset="0"/>
              </a:rPr>
              <a:t>// shorthand for (1, 0, 0). All 6 directions exist</a:t>
            </a:r>
          </a:p>
          <a:p>
            <a:r>
              <a:rPr lang="en-US" sz="1800" i="0" dirty="0">
                <a:solidFill>
                  <a:srgbClr val="000000"/>
                </a:solidFill>
                <a:latin typeface="Cascadia Mono" panose="020B0609020000020004" pitchFamily="49" charset="0"/>
              </a:rPr>
              <a:t> </a:t>
            </a:r>
            <a:r>
              <a:rPr lang="en-US" sz="1800" i="1" dirty="0">
                <a:solidFill>
                  <a:srgbClr val="0000FF"/>
                </a:solidFill>
                <a:latin typeface="Cascadia Mono" panose="020B0609020000020004" pitchFamily="49" charset="0"/>
              </a:rPr>
              <a:t>Vector3</a:t>
            </a:r>
            <a:r>
              <a:rPr lang="en-US" sz="1800" i="0" dirty="0">
                <a:solidFill>
                  <a:srgbClr val="000000"/>
                </a:solidFill>
                <a:latin typeface="Cascadia Mono" panose="020B0609020000020004" pitchFamily="49" charset="0"/>
              </a:rPr>
              <a:t> </a:t>
            </a:r>
            <a:r>
              <a:rPr lang="en-US" sz="1800" i="0" dirty="0">
                <a:solidFill>
                  <a:srgbClr val="000080"/>
                </a:solidFill>
                <a:latin typeface="Cascadia Mono" panose="020B0609020000020004" pitchFamily="49" charset="0"/>
              </a:rPr>
              <a:t>v3</a:t>
            </a:r>
            <a:r>
              <a:rPr lang="en-US" sz="1800" i="0" dirty="0">
                <a:solidFill>
                  <a:srgbClr val="000000"/>
                </a:solidFill>
                <a:latin typeface="Cascadia Mono" panose="020B0609020000020004" pitchFamily="49" charset="0"/>
              </a:rPr>
              <a:t> = </a:t>
            </a:r>
            <a:r>
              <a:rPr lang="en-US" sz="1800" i="1" dirty="0">
                <a:solidFill>
                  <a:srgbClr val="0000FF"/>
                </a:solidFill>
                <a:latin typeface="Cascadia Mono" panose="020B0609020000020004" pitchFamily="49" charset="0"/>
              </a:rPr>
              <a:t>Vector3</a:t>
            </a:r>
            <a:r>
              <a:rPr lang="en-US" sz="1800" i="0" dirty="0">
                <a:solidFill>
                  <a:srgbClr val="000000"/>
                </a:solidFill>
                <a:latin typeface="Cascadia Mono" panose="020B0609020000020004" pitchFamily="49" charset="0"/>
              </a:rPr>
              <a:t>.</a:t>
            </a:r>
            <a:r>
              <a:rPr lang="en-US" sz="1800" i="1" dirty="0">
                <a:solidFill>
                  <a:srgbClr val="000080"/>
                </a:solidFill>
                <a:latin typeface="Cascadia Mono" panose="020B0609020000020004" pitchFamily="49" charset="0"/>
              </a:rPr>
              <a:t>right</a:t>
            </a:r>
            <a:r>
              <a:rPr lang="en-US" sz="1800" i="0" dirty="0">
                <a:solidFill>
                  <a:srgbClr val="000000"/>
                </a:solidFill>
                <a:latin typeface="Cascadia Mono" panose="020B0609020000020004" pitchFamily="49" charset="0"/>
              </a:rPr>
              <a:t>;</a:t>
            </a:r>
            <a:endParaRPr lang="en-BE" dirty="0"/>
          </a:p>
        </p:txBody>
      </p:sp>
    </p:spTree>
    <p:extLst>
      <p:ext uri="{BB962C8B-B14F-4D97-AF65-F5344CB8AC3E}">
        <p14:creationId xmlns:p14="http://schemas.microsoft.com/office/powerpoint/2010/main" val="25278211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FC727-E6AC-748E-8A73-0E6A03039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028A4-12E2-50E0-6EBF-4FA3C912CB08}"/>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9F9EDC2D-DB29-41CC-AF6E-BCF12FFE86A9}"/>
              </a:ext>
            </a:extLst>
          </p:cNvPr>
          <p:cNvSpPr txBox="1"/>
          <p:nvPr/>
        </p:nvSpPr>
        <p:spPr>
          <a:xfrm>
            <a:off x="989902" y="1690689"/>
            <a:ext cx="4925486"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t>3D coordinates</a:t>
            </a:r>
          </a:p>
          <a:p>
            <a:pPr marL="285750" indent="-285750">
              <a:buFont typeface="Arial" panose="020B0604020202020204" pitchFamily="34" charset="0"/>
              <a:buChar char="•"/>
            </a:pPr>
            <a:r>
              <a:rPr lang="en-US" sz="2800" dirty="0">
                <a:sym typeface="Wingdings" panose="05000000000000000000" pitchFamily="2" charset="2"/>
              </a:rPr>
              <a:t> </a:t>
            </a:r>
            <a:r>
              <a:rPr lang="en-US" sz="2800" dirty="0"/>
              <a:t>3D transforms </a:t>
            </a:r>
            <a:r>
              <a:rPr lang="en-US" sz="2800" dirty="0">
                <a:sym typeface="Wingdings" panose="05000000000000000000" pitchFamily="2" charset="2"/>
              </a:rPr>
              <a:t></a:t>
            </a:r>
            <a:endParaRPr lang="en-US" sz="2800" dirty="0"/>
          </a:p>
          <a:p>
            <a:pPr marL="285750" indent="-285750">
              <a:buFont typeface="Arial" panose="020B0604020202020204" pitchFamily="34" charset="0"/>
              <a:buChar char="•"/>
            </a:pPr>
            <a:r>
              <a:rPr lang="en-US" sz="2800" dirty="0"/>
              <a:t>Why they are important</a:t>
            </a:r>
          </a:p>
          <a:p>
            <a:pPr marL="285750" indent="-285750">
              <a:buFont typeface="Arial" panose="020B0604020202020204" pitchFamily="34" charset="0"/>
              <a:buChar char="•"/>
            </a:pPr>
            <a:r>
              <a:rPr lang="en-US" sz="2800" dirty="0"/>
              <a:t>Dot &amp; Cross product</a:t>
            </a:r>
          </a:p>
          <a:p>
            <a:pPr marL="285750" indent="-285750">
              <a:buFont typeface="Arial" panose="020B0604020202020204" pitchFamily="34" charset="0"/>
              <a:buChar char="•"/>
            </a:pPr>
            <a:r>
              <a:rPr lang="en-US" sz="2800" dirty="0"/>
              <a:t>Quaternions</a:t>
            </a:r>
          </a:p>
        </p:txBody>
      </p:sp>
    </p:spTree>
    <p:extLst>
      <p:ext uri="{BB962C8B-B14F-4D97-AF65-F5344CB8AC3E}">
        <p14:creationId xmlns:p14="http://schemas.microsoft.com/office/powerpoint/2010/main" val="35987917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C818D-5674-ADBE-247C-2286A1DF8CDF}"/>
              </a:ext>
            </a:extLst>
          </p:cNvPr>
          <p:cNvSpPr>
            <a:spLocks noGrp="1"/>
          </p:cNvSpPr>
          <p:nvPr>
            <p:ph type="title"/>
          </p:nvPr>
        </p:nvSpPr>
        <p:spPr/>
        <p:txBody>
          <a:bodyPr/>
          <a:lstStyle/>
          <a:p>
            <a:r>
              <a:rPr lang="en-US" dirty="0"/>
              <a:t>So, why did we learn all of this?</a:t>
            </a:r>
            <a:endParaRPr lang="en-BE" dirty="0"/>
          </a:p>
        </p:txBody>
      </p:sp>
      <p:sp>
        <p:nvSpPr>
          <p:cNvPr id="3" name="TextBox 2">
            <a:extLst>
              <a:ext uri="{FF2B5EF4-FFF2-40B4-BE49-F238E27FC236}">
                <a16:creationId xmlns:a16="http://schemas.microsoft.com/office/drawing/2014/main" id="{EB84739F-E7A2-E400-F2CA-78FA84A93989}"/>
              </a:ext>
            </a:extLst>
          </p:cNvPr>
          <p:cNvSpPr txBox="1"/>
          <p:nvPr/>
        </p:nvSpPr>
        <p:spPr>
          <a:xfrm>
            <a:off x="447870" y="2052734"/>
            <a:ext cx="8145628" cy="3385542"/>
          </a:xfrm>
          <a:prstGeom prst="rect">
            <a:avLst/>
          </a:prstGeom>
          <a:noFill/>
        </p:spPr>
        <p:txBody>
          <a:bodyPr wrap="none" rtlCol="0">
            <a:spAutoFit/>
          </a:bodyPr>
          <a:lstStyle/>
          <a:p>
            <a:pPr marL="285750" indent="-285750">
              <a:buFont typeface="Arial" panose="020B0604020202020204" pitchFamily="34" charset="0"/>
              <a:buChar char="•"/>
            </a:pPr>
            <a:r>
              <a:rPr lang="en-US" sz="2800" dirty="0"/>
              <a:t>Now we can learn about Unity transforms</a:t>
            </a:r>
          </a:p>
          <a:p>
            <a:pPr marL="285750" indent="-285750">
              <a:buFont typeface="Arial" panose="020B0604020202020204" pitchFamily="34" charset="0"/>
              <a:buChar char="•"/>
            </a:pPr>
            <a:r>
              <a:rPr lang="en-US" sz="2800" dirty="0"/>
              <a:t>Every Unity </a:t>
            </a:r>
            <a:r>
              <a:rPr lang="en-US" sz="2800" dirty="0" err="1"/>
              <a:t>GameObject</a:t>
            </a:r>
            <a:r>
              <a:rPr lang="en-US" sz="2800" dirty="0"/>
              <a:t> has a </a:t>
            </a:r>
            <a:r>
              <a:rPr lang="en-US" sz="2800" dirty="0" err="1"/>
              <a:t>TransformComponent</a:t>
            </a:r>
            <a:endParaRPr lang="en-US" sz="2800" dirty="0"/>
          </a:p>
          <a:p>
            <a:pPr marL="285750" indent="-285750">
              <a:buFont typeface="Arial" panose="020B0604020202020204" pitchFamily="34" charset="0"/>
              <a:buChar char="•"/>
            </a:pPr>
            <a:r>
              <a:rPr lang="en-US" sz="2800" dirty="0"/>
              <a:t>It contains:</a:t>
            </a:r>
          </a:p>
          <a:p>
            <a:pPr marL="285750" indent="-285750">
              <a:buFont typeface="Arial" panose="020B0604020202020204" pitchFamily="34" charset="0"/>
              <a:buChar char="•"/>
            </a:pPr>
            <a:endParaRPr lang="en-US" sz="2800" dirty="0"/>
          </a:p>
          <a:p>
            <a:pPr marL="514350" indent="-514350">
              <a:buFont typeface="+mj-lt"/>
              <a:buAutoNum type="arabicPeriod"/>
            </a:pPr>
            <a:r>
              <a:rPr lang="en-US" sz="2800" dirty="0"/>
              <a:t>A position</a:t>
            </a:r>
          </a:p>
          <a:p>
            <a:pPr marL="514350" indent="-514350">
              <a:buFont typeface="+mj-lt"/>
              <a:buAutoNum type="arabicPeriod"/>
            </a:pPr>
            <a:r>
              <a:rPr lang="en-US" sz="2800" dirty="0"/>
              <a:t>A rotation</a:t>
            </a:r>
          </a:p>
          <a:p>
            <a:pPr marL="514350" indent="-514350">
              <a:buFont typeface="+mj-lt"/>
              <a:buAutoNum type="arabicPeriod"/>
            </a:pPr>
            <a:r>
              <a:rPr lang="en-US" sz="2800" dirty="0"/>
              <a:t>A scale</a:t>
            </a:r>
          </a:p>
          <a:p>
            <a:pPr marL="285750" indent="-285750">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33A9A797-5490-DC4A-9391-E7D92C3D75CA}"/>
              </a:ext>
            </a:extLst>
          </p:cNvPr>
          <p:cNvPicPr>
            <a:picLocks noChangeAspect="1"/>
          </p:cNvPicPr>
          <p:nvPr/>
        </p:nvPicPr>
        <p:blipFill>
          <a:blip r:embed="rId3"/>
          <a:stretch>
            <a:fillRect/>
          </a:stretch>
        </p:blipFill>
        <p:spPr>
          <a:xfrm>
            <a:off x="3428518" y="3474182"/>
            <a:ext cx="8585475" cy="1964094"/>
          </a:xfrm>
          <a:prstGeom prst="rect">
            <a:avLst/>
          </a:prstGeom>
        </p:spPr>
      </p:pic>
    </p:spTree>
    <p:extLst>
      <p:ext uri="{BB962C8B-B14F-4D97-AF65-F5344CB8AC3E}">
        <p14:creationId xmlns:p14="http://schemas.microsoft.com/office/powerpoint/2010/main" val="40446468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8E182-2273-C66E-6597-C57F1250170E}"/>
              </a:ext>
            </a:extLst>
          </p:cNvPr>
          <p:cNvSpPr>
            <a:spLocks noGrp="1"/>
          </p:cNvSpPr>
          <p:nvPr>
            <p:ph type="title"/>
          </p:nvPr>
        </p:nvSpPr>
        <p:spPr/>
        <p:txBody>
          <a:bodyPr/>
          <a:lstStyle/>
          <a:p>
            <a:r>
              <a:rPr lang="en-US" sz="4400" dirty="0" err="1"/>
              <a:t>Transform.position</a:t>
            </a:r>
            <a:endParaRPr lang="en-BE" dirty="0"/>
          </a:p>
        </p:txBody>
      </p:sp>
      <p:pic>
        <p:nvPicPr>
          <p:cNvPr id="4" name="Picture 3" descr="A graph with green and red arrows&#10;&#10;Description automatically generated">
            <a:extLst>
              <a:ext uri="{FF2B5EF4-FFF2-40B4-BE49-F238E27FC236}">
                <a16:creationId xmlns:a16="http://schemas.microsoft.com/office/drawing/2014/main" id="{D2448CF6-E767-CFD6-2DF6-6155B82855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8897" y="1567543"/>
            <a:ext cx="4613184" cy="4669857"/>
          </a:xfrm>
          <a:prstGeom prst="rect">
            <a:avLst/>
          </a:prstGeom>
        </p:spPr>
      </p:pic>
      <p:sp>
        <p:nvSpPr>
          <p:cNvPr id="5" name="TextBox 4">
            <a:extLst>
              <a:ext uri="{FF2B5EF4-FFF2-40B4-BE49-F238E27FC236}">
                <a16:creationId xmlns:a16="http://schemas.microsoft.com/office/drawing/2014/main" id="{7CA22964-42C8-7474-A878-867CEF784173}"/>
              </a:ext>
            </a:extLst>
          </p:cNvPr>
          <p:cNvSpPr txBox="1"/>
          <p:nvPr/>
        </p:nvSpPr>
        <p:spPr>
          <a:xfrm>
            <a:off x="279919" y="1982518"/>
            <a:ext cx="6664004" cy="2862322"/>
          </a:xfrm>
          <a:prstGeom prst="rect">
            <a:avLst/>
          </a:prstGeom>
          <a:noFill/>
        </p:spPr>
        <p:txBody>
          <a:bodyPr wrap="none" rtlCol="0">
            <a:spAutoFit/>
          </a:bodyPr>
          <a:lstStyle/>
          <a:p>
            <a:pPr marL="285750" indent="-285750">
              <a:buFont typeface="Arial" panose="020B0604020202020204" pitchFamily="34" charset="0"/>
              <a:buChar char="•"/>
            </a:pPr>
            <a:r>
              <a:rPr lang="en-US" sz="2800" dirty="0"/>
              <a:t>Remember: position is a point in space</a:t>
            </a:r>
          </a:p>
          <a:p>
            <a:pPr marL="285750" indent="-285750">
              <a:buFont typeface="Arial" panose="020B0604020202020204" pitchFamily="34" charset="0"/>
              <a:buChar char="•"/>
            </a:pPr>
            <a:r>
              <a:rPr lang="en-US" sz="2800" dirty="0"/>
              <a:t>is a property on Transform</a:t>
            </a:r>
          </a:p>
          <a:p>
            <a:pPr marL="285750" indent="-285750">
              <a:buFont typeface="Arial" panose="020B0604020202020204" pitchFamily="34" charset="0"/>
              <a:buChar char="•"/>
            </a:pPr>
            <a:r>
              <a:rPr lang="en-US" sz="2800" dirty="0"/>
              <a:t>Has a getter and a setter</a:t>
            </a:r>
          </a:p>
          <a:p>
            <a:pPr marL="285750" indent="-285750">
              <a:buFont typeface="Arial" panose="020B0604020202020204" pitchFamily="34" charset="0"/>
              <a:buChar char="•"/>
            </a:pPr>
            <a:r>
              <a:rPr lang="en-US" sz="2800" dirty="0"/>
              <a:t>We can assign or read position</a:t>
            </a:r>
          </a:p>
          <a:p>
            <a:pPr marL="285750" indent="-285750">
              <a:buFont typeface="Arial" panose="020B0604020202020204" pitchFamily="34" charset="0"/>
              <a:buChar char="•"/>
            </a:pPr>
            <a:endParaRPr lang="en-US" sz="2800" dirty="0"/>
          </a:p>
          <a:p>
            <a:r>
              <a:rPr lang="en-US" sz="2000" i="1" dirty="0">
                <a:solidFill>
                  <a:srgbClr val="0000FF"/>
                </a:solidFill>
                <a:latin typeface="Cascadia Mono" panose="020B0609020000020004" pitchFamily="49" charset="0"/>
              </a:rPr>
              <a:t>Transform</a:t>
            </a:r>
            <a:r>
              <a:rPr lang="en-US" sz="2000" i="0" dirty="0">
                <a:solidFill>
                  <a:srgbClr val="000000"/>
                </a:solidFill>
                <a:latin typeface="Cascadia Mono" panose="020B0609020000020004" pitchFamily="49" charset="0"/>
              </a:rPr>
              <a:t> </a:t>
            </a:r>
            <a:r>
              <a:rPr lang="en-US" sz="2000" i="0" dirty="0" err="1">
                <a:solidFill>
                  <a:srgbClr val="000080"/>
                </a:solidFill>
                <a:latin typeface="Cascadia Mono" panose="020B0609020000020004" pitchFamily="49" charset="0"/>
              </a:rPr>
              <a:t>transform</a:t>
            </a:r>
            <a:r>
              <a:rPr lang="en-US" sz="2000" i="0" dirty="0">
                <a:solidFill>
                  <a:srgbClr val="000000"/>
                </a:solidFill>
                <a:latin typeface="Cascadia Mono" panose="020B0609020000020004" pitchFamily="49" charset="0"/>
              </a:rPr>
              <a:t> = </a:t>
            </a:r>
            <a:r>
              <a:rPr lang="en-US" sz="2000" i="0" dirty="0" err="1">
                <a:solidFill>
                  <a:srgbClr val="000080"/>
                </a:solidFill>
                <a:latin typeface="Cascadia Mono" panose="020B0609020000020004" pitchFamily="49" charset="0"/>
              </a:rPr>
              <a:t>gameObject</a:t>
            </a:r>
            <a:r>
              <a:rPr lang="en-US" sz="2000" i="0" dirty="0" err="1">
                <a:solidFill>
                  <a:srgbClr val="000000"/>
                </a:solidFill>
                <a:latin typeface="Cascadia Mono" panose="020B0609020000020004" pitchFamily="49" charset="0"/>
              </a:rPr>
              <a:t>.</a:t>
            </a:r>
            <a:r>
              <a:rPr lang="en-US" sz="2000" i="1" dirty="0" err="1">
                <a:solidFill>
                  <a:srgbClr val="000080"/>
                </a:solidFill>
                <a:latin typeface="Cascadia Mono" panose="020B0609020000020004" pitchFamily="49" charset="0"/>
              </a:rPr>
              <a:t>transform</a:t>
            </a:r>
            <a:r>
              <a:rPr lang="en-US" sz="2000" i="0" dirty="0">
                <a:solidFill>
                  <a:srgbClr val="000000"/>
                </a:solidFill>
                <a:latin typeface="Cascadia Mono" panose="020B0609020000020004" pitchFamily="49" charset="0"/>
              </a:rPr>
              <a:t>;</a:t>
            </a:r>
          </a:p>
          <a:p>
            <a:r>
              <a:rPr lang="en-US" sz="2000" i="0" dirty="0" err="1">
                <a:solidFill>
                  <a:srgbClr val="000080"/>
                </a:solidFill>
                <a:latin typeface="Cascadia Mono" panose="020B0609020000020004" pitchFamily="49" charset="0"/>
              </a:rPr>
              <a:t>transform</a:t>
            </a:r>
            <a:r>
              <a:rPr lang="en-US" sz="2000" i="0" dirty="0" err="1">
                <a:solidFill>
                  <a:srgbClr val="000000"/>
                </a:solidFill>
                <a:latin typeface="Cascadia Mono" panose="020B0609020000020004" pitchFamily="49" charset="0"/>
              </a:rPr>
              <a:t>.</a:t>
            </a:r>
            <a:r>
              <a:rPr lang="en-US" sz="2000" i="1" dirty="0" err="1">
                <a:solidFill>
                  <a:srgbClr val="000080"/>
                </a:solidFill>
                <a:latin typeface="Cascadia Mono" panose="020B0609020000020004" pitchFamily="49" charset="0"/>
              </a:rPr>
              <a:t>position</a:t>
            </a:r>
            <a:r>
              <a:rPr lang="en-US" sz="2000" i="0" dirty="0">
                <a:solidFill>
                  <a:srgbClr val="000000"/>
                </a:solidFill>
                <a:latin typeface="Cascadia Mono" panose="020B0609020000020004" pitchFamily="49" charset="0"/>
              </a:rPr>
              <a:t> = </a:t>
            </a:r>
            <a:r>
              <a:rPr lang="en-US" sz="2000" i="0" dirty="0">
                <a:solidFill>
                  <a:srgbClr val="0000FF"/>
                </a:solidFill>
                <a:latin typeface="Cascadia Mono" panose="020B0609020000020004" pitchFamily="49" charset="0"/>
              </a:rPr>
              <a:t>new</a:t>
            </a:r>
            <a:r>
              <a:rPr lang="en-US" sz="2000" i="0" dirty="0">
                <a:solidFill>
                  <a:srgbClr val="000000"/>
                </a:solidFill>
                <a:latin typeface="Cascadia Mono" panose="020B0609020000020004" pitchFamily="49" charset="0"/>
              </a:rPr>
              <a:t> </a:t>
            </a:r>
            <a:r>
              <a:rPr lang="en-US" sz="2000" i="1" dirty="0">
                <a:solidFill>
                  <a:srgbClr val="0000FF"/>
                </a:solidFill>
                <a:latin typeface="Cascadia Mono" panose="020B0609020000020004" pitchFamily="49" charset="0"/>
              </a:rPr>
              <a:t>Vector3</a:t>
            </a:r>
            <a:r>
              <a:rPr lang="en-US" sz="2000" i="0" dirty="0">
                <a:solidFill>
                  <a:srgbClr val="000000"/>
                </a:solidFill>
                <a:latin typeface="Cascadia Mono" panose="020B0609020000020004" pitchFamily="49" charset="0"/>
              </a:rPr>
              <a:t>(1, 2, 0);</a:t>
            </a:r>
            <a:endParaRPr lang="en-BE" sz="3200" dirty="0"/>
          </a:p>
        </p:txBody>
      </p:sp>
    </p:spTree>
    <p:extLst>
      <p:ext uri="{BB962C8B-B14F-4D97-AF65-F5344CB8AC3E}">
        <p14:creationId xmlns:p14="http://schemas.microsoft.com/office/powerpoint/2010/main" val="31292562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6E906-AA42-FE64-D3E1-0FB98A5F4539}"/>
              </a:ext>
            </a:extLst>
          </p:cNvPr>
          <p:cNvSpPr>
            <a:spLocks noGrp="1"/>
          </p:cNvSpPr>
          <p:nvPr>
            <p:ph type="title"/>
          </p:nvPr>
        </p:nvSpPr>
        <p:spPr/>
        <p:txBody>
          <a:bodyPr/>
          <a:lstStyle/>
          <a:p>
            <a:r>
              <a:rPr lang="en-US" dirty="0" err="1"/>
              <a:t>Transform.translate</a:t>
            </a:r>
            <a:r>
              <a:rPr lang="en-US" dirty="0"/>
              <a:t>()</a:t>
            </a:r>
            <a:endParaRPr lang="en-BE" dirty="0"/>
          </a:p>
        </p:txBody>
      </p:sp>
      <p:sp>
        <p:nvSpPr>
          <p:cNvPr id="3" name="TextBox 2">
            <a:extLst>
              <a:ext uri="{FF2B5EF4-FFF2-40B4-BE49-F238E27FC236}">
                <a16:creationId xmlns:a16="http://schemas.microsoft.com/office/drawing/2014/main" id="{63646987-DCF0-D5D3-0322-A58ABEF20E1A}"/>
              </a:ext>
            </a:extLst>
          </p:cNvPr>
          <p:cNvSpPr txBox="1"/>
          <p:nvPr/>
        </p:nvSpPr>
        <p:spPr>
          <a:xfrm>
            <a:off x="576942" y="1443135"/>
            <a:ext cx="6513322" cy="2554545"/>
          </a:xfrm>
          <a:prstGeom prst="rect">
            <a:avLst/>
          </a:prstGeom>
          <a:noFill/>
        </p:spPr>
        <p:txBody>
          <a:bodyPr wrap="none" rtlCol="0">
            <a:spAutoFit/>
          </a:bodyPr>
          <a:lstStyle/>
          <a:p>
            <a:pPr marL="285750" indent="-285750">
              <a:buFont typeface="Arial" panose="020B0604020202020204" pitchFamily="34" charset="0"/>
              <a:buChar char="•"/>
            </a:pPr>
            <a:r>
              <a:rPr lang="en-US" sz="2800" dirty="0"/>
              <a:t>Translation is moving an object</a:t>
            </a:r>
          </a:p>
          <a:p>
            <a:pPr marL="285750" indent="-285750">
              <a:buFont typeface="Arial" panose="020B0604020202020204" pitchFamily="34" charset="0"/>
              <a:buChar char="•"/>
            </a:pPr>
            <a:r>
              <a:rPr lang="en-US" sz="2800" dirty="0"/>
              <a:t>Without changing it’s rotation or scale</a:t>
            </a:r>
          </a:p>
          <a:p>
            <a:pPr marL="285750" indent="-285750">
              <a:buFont typeface="Arial" panose="020B0604020202020204" pitchFamily="34" charset="0"/>
              <a:buChar char="•"/>
            </a:pPr>
            <a:r>
              <a:rPr lang="en-US" sz="2800" dirty="0"/>
              <a:t>It’s a relative movement</a:t>
            </a:r>
          </a:p>
          <a:p>
            <a:pPr marL="285750" indent="-285750">
              <a:buFont typeface="Arial" panose="020B0604020202020204" pitchFamily="34" charset="0"/>
              <a:buChar char="•"/>
            </a:pPr>
            <a:endParaRPr lang="en-US" sz="2800" dirty="0"/>
          </a:p>
          <a:p>
            <a:br>
              <a:rPr lang="en-US" sz="2800" dirty="0"/>
            </a:br>
            <a:r>
              <a:rPr lang="en-US" sz="2000" dirty="0" err="1">
                <a:solidFill>
                  <a:srgbClr val="000080"/>
                </a:solidFill>
                <a:latin typeface="Cascadia Mono" panose="020B0609020000020004" pitchFamily="49" charset="0"/>
              </a:rPr>
              <a:t>transform</a:t>
            </a:r>
            <a:r>
              <a:rPr lang="en-US" sz="2000" dirty="0" err="1">
                <a:solidFill>
                  <a:srgbClr val="000000"/>
                </a:solidFill>
                <a:latin typeface="Cascadia Mono" panose="020B0609020000020004" pitchFamily="49" charset="0"/>
              </a:rPr>
              <a:t>.</a:t>
            </a:r>
            <a:r>
              <a:rPr lang="en-US" sz="2000" i="1" dirty="0" err="1">
                <a:solidFill>
                  <a:srgbClr val="880000"/>
                </a:solidFill>
                <a:latin typeface="Cascadia Mono" panose="020B0609020000020004" pitchFamily="49" charset="0"/>
              </a:rPr>
              <a:t>Translate</a:t>
            </a:r>
            <a:r>
              <a:rPr lang="en-US" sz="2000" i="0" dirty="0">
                <a:solidFill>
                  <a:srgbClr val="000000"/>
                </a:solidFill>
                <a:latin typeface="Cascadia Mono" panose="020B0609020000020004" pitchFamily="49" charset="0"/>
              </a:rPr>
              <a:t>(</a:t>
            </a:r>
            <a:r>
              <a:rPr lang="en-US" sz="2000" i="0" dirty="0">
                <a:solidFill>
                  <a:srgbClr val="0000FF"/>
                </a:solidFill>
                <a:latin typeface="Cascadia Mono" panose="020B0609020000020004" pitchFamily="49" charset="0"/>
              </a:rPr>
              <a:t>new</a:t>
            </a:r>
            <a:r>
              <a:rPr lang="en-US" sz="2000" i="0" dirty="0">
                <a:solidFill>
                  <a:srgbClr val="000000"/>
                </a:solidFill>
                <a:latin typeface="Cascadia Mono" panose="020B0609020000020004" pitchFamily="49" charset="0"/>
              </a:rPr>
              <a:t> </a:t>
            </a:r>
            <a:r>
              <a:rPr lang="en-US" sz="2000" i="1" dirty="0">
                <a:solidFill>
                  <a:srgbClr val="0000FF"/>
                </a:solidFill>
                <a:latin typeface="Cascadia Mono" panose="020B0609020000020004" pitchFamily="49" charset="0"/>
              </a:rPr>
              <a:t>Vector3</a:t>
            </a:r>
            <a:r>
              <a:rPr lang="en-US" sz="2000" i="0" dirty="0">
                <a:solidFill>
                  <a:srgbClr val="000000"/>
                </a:solidFill>
                <a:latin typeface="Cascadia Mono" panose="020B0609020000020004" pitchFamily="49" charset="0"/>
              </a:rPr>
              <a:t>(3, 0, 0));</a:t>
            </a:r>
            <a:endParaRPr lang="en-BE" sz="2800" dirty="0"/>
          </a:p>
        </p:txBody>
      </p:sp>
      <p:pic>
        <p:nvPicPr>
          <p:cNvPr id="5" name="Picture 4" descr="A graph with green and red arrows&#10;&#10;Description automatically generated">
            <a:extLst>
              <a:ext uri="{FF2B5EF4-FFF2-40B4-BE49-F238E27FC236}">
                <a16:creationId xmlns:a16="http://schemas.microsoft.com/office/drawing/2014/main" id="{A34AB441-2B49-7D00-8142-AEF571616A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8605" y="2108718"/>
            <a:ext cx="4508721" cy="4564111"/>
          </a:xfrm>
          <a:prstGeom prst="rect">
            <a:avLst/>
          </a:prstGeom>
        </p:spPr>
      </p:pic>
    </p:spTree>
    <p:extLst>
      <p:ext uri="{BB962C8B-B14F-4D97-AF65-F5344CB8AC3E}">
        <p14:creationId xmlns:p14="http://schemas.microsoft.com/office/powerpoint/2010/main" val="25456626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CE1B8-0713-C203-4C42-A4E70271E428}"/>
              </a:ext>
            </a:extLst>
          </p:cNvPr>
          <p:cNvSpPr>
            <a:spLocks noGrp="1"/>
          </p:cNvSpPr>
          <p:nvPr>
            <p:ph type="title"/>
          </p:nvPr>
        </p:nvSpPr>
        <p:spPr/>
        <p:txBody>
          <a:bodyPr/>
          <a:lstStyle/>
          <a:p>
            <a:r>
              <a:rPr lang="en-US" dirty="0" err="1"/>
              <a:t>Transform.rotation</a:t>
            </a:r>
            <a:endParaRPr lang="en-BE" dirty="0"/>
          </a:p>
        </p:txBody>
      </p:sp>
      <p:sp>
        <p:nvSpPr>
          <p:cNvPr id="3" name="TextBox 2">
            <a:extLst>
              <a:ext uri="{FF2B5EF4-FFF2-40B4-BE49-F238E27FC236}">
                <a16:creationId xmlns:a16="http://schemas.microsoft.com/office/drawing/2014/main" id="{F9B51AFF-CEDC-CB31-F05A-3431BDAF2147}"/>
              </a:ext>
            </a:extLst>
          </p:cNvPr>
          <p:cNvSpPr txBox="1"/>
          <p:nvPr/>
        </p:nvSpPr>
        <p:spPr>
          <a:xfrm>
            <a:off x="415213" y="1690688"/>
            <a:ext cx="7276736"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t>We will look at them in the Quaternion section</a:t>
            </a:r>
            <a:endParaRPr lang="en-BE" sz="2800" dirty="0"/>
          </a:p>
        </p:txBody>
      </p:sp>
    </p:spTree>
    <p:extLst>
      <p:ext uri="{BB962C8B-B14F-4D97-AF65-F5344CB8AC3E}">
        <p14:creationId xmlns:p14="http://schemas.microsoft.com/office/powerpoint/2010/main" val="29843336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8671F-8477-2012-E895-BABD71880B8B}"/>
              </a:ext>
            </a:extLst>
          </p:cNvPr>
          <p:cNvSpPr>
            <a:spLocks noGrp="1"/>
          </p:cNvSpPr>
          <p:nvPr>
            <p:ph type="title"/>
          </p:nvPr>
        </p:nvSpPr>
        <p:spPr/>
        <p:txBody>
          <a:bodyPr/>
          <a:lstStyle/>
          <a:p>
            <a:r>
              <a:rPr lang="en-US" dirty="0" err="1"/>
              <a:t>Transform.scale</a:t>
            </a:r>
            <a:endParaRPr lang="en-BE" dirty="0"/>
          </a:p>
        </p:txBody>
      </p:sp>
      <p:pic>
        <p:nvPicPr>
          <p:cNvPr id="6" name="Picture 5" descr="A group of white rabbits&#10;&#10;Description automatically generated">
            <a:extLst>
              <a:ext uri="{FF2B5EF4-FFF2-40B4-BE49-F238E27FC236}">
                <a16:creationId xmlns:a16="http://schemas.microsoft.com/office/drawing/2014/main" id="{237119A0-0AA6-1D74-AB5F-9D15F8F94A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1098" y="1779036"/>
            <a:ext cx="4850902" cy="5078963"/>
          </a:xfrm>
          <a:prstGeom prst="rect">
            <a:avLst/>
          </a:prstGeom>
        </p:spPr>
      </p:pic>
      <p:sp>
        <p:nvSpPr>
          <p:cNvPr id="7" name="TextBox 6">
            <a:extLst>
              <a:ext uri="{FF2B5EF4-FFF2-40B4-BE49-F238E27FC236}">
                <a16:creationId xmlns:a16="http://schemas.microsoft.com/office/drawing/2014/main" id="{49D8EF08-13C5-7B25-5C96-E4A0AC904EE3}"/>
              </a:ext>
            </a:extLst>
          </p:cNvPr>
          <p:cNvSpPr txBox="1"/>
          <p:nvPr/>
        </p:nvSpPr>
        <p:spPr>
          <a:xfrm>
            <a:off x="255037" y="1866122"/>
            <a:ext cx="6881307" cy="2246769"/>
          </a:xfrm>
          <a:prstGeom prst="rect">
            <a:avLst/>
          </a:prstGeom>
          <a:noFill/>
        </p:spPr>
        <p:txBody>
          <a:bodyPr wrap="none" rtlCol="0">
            <a:spAutoFit/>
          </a:bodyPr>
          <a:lstStyle/>
          <a:p>
            <a:pPr marL="285750" indent="-285750">
              <a:buFont typeface="Arial" panose="020B0604020202020204" pitchFamily="34" charset="0"/>
              <a:buChar char="•"/>
            </a:pPr>
            <a:r>
              <a:rPr lang="en-US" sz="2800" dirty="0"/>
              <a:t>Stretching coordinates</a:t>
            </a:r>
          </a:p>
          <a:p>
            <a:pPr marL="285750" indent="-285750">
              <a:buFont typeface="Arial" panose="020B0604020202020204" pitchFamily="34" charset="0"/>
              <a:buChar char="•"/>
            </a:pPr>
            <a:r>
              <a:rPr lang="en-US" sz="2800" dirty="0"/>
              <a:t>Among one or multiple axis</a:t>
            </a:r>
          </a:p>
          <a:p>
            <a:pPr marL="285750" indent="-285750">
              <a:buFont typeface="Arial" panose="020B0604020202020204" pitchFamily="34" charset="0"/>
              <a:buChar char="•"/>
            </a:pPr>
            <a:r>
              <a:rPr lang="en-US" sz="2800" dirty="0"/>
              <a:t>Almost always want a “uniform” scale</a:t>
            </a:r>
          </a:p>
          <a:p>
            <a:pPr marL="285750" indent="-285750">
              <a:buFont typeface="Arial" panose="020B0604020202020204" pitchFamily="34" charset="0"/>
              <a:buChar char="•"/>
            </a:pPr>
            <a:r>
              <a:rPr lang="en-US" sz="2800" dirty="0"/>
              <a:t>“uniform scale” = components are the same</a:t>
            </a:r>
            <a:br>
              <a:rPr lang="en-US" sz="2800" dirty="0"/>
            </a:br>
            <a:r>
              <a:rPr lang="en-US" sz="2800" dirty="0" err="1"/>
              <a:t>eg</a:t>
            </a:r>
            <a:r>
              <a:rPr lang="en-US" sz="2800" dirty="0"/>
              <a:t> (2, 2, 2)</a:t>
            </a:r>
          </a:p>
        </p:txBody>
      </p:sp>
    </p:spTree>
    <p:extLst>
      <p:ext uri="{BB962C8B-B14F-4D97-AF65-F5344CB8AC3E}">
        <p14:creationId xmlns:p14="http://schemas.microsoft.com/office/powerpoint/2010/main" val="16155374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F5856-C370-4CD2-BB81-657F199CD114}"/>
              </a:ext>
            </a:extLst>
          </p:cNvPr>
          <p:cNvSpPr>
            <a:spLocks noGrp="1"/>
          </p:cNvSpPr>
          <p:nvPr>
            <p:ph type="title"/>
          </p:nvPr>
        </p:nvSpPr>
        <p:spPr/>
        <p:txBody>
          <a:bodyPr/>
          <a:lstStyle/>
          <a:p>
            <a:r>
              <a:rPr lang="en-US" dirty="0"/>
              <a:t>What are your questions?</a:t>
            </a:r>
            <a:endParaRPr lang="en-BE" dirty="0"/>
          </a:p>
        </p:txBody>
      </p:sp>
    </p:spTree>
    <p:extLst>
      <p:ext uri="{BB962C8B-B14F-4D97-AF65-F5344CB8AC3E}">
        <p14:creationId xmlns:p14="http://schemas.microsoft.com/office/powerpoint/2010/main" val="1474357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A2898-50BE-DE26-CCE8-415070269BF3}"/>
              </a:ext>
            </a:extLst>
          </p:cNvPr>
          <p:cNvSpPr>
            <a:spLocks noGrp="1"/>
          </p:cNvSpPr>
          <p:nvPr>
            <p:ph type="title"/>
          </p:nvPr>
        </p:nvSpPr>
        <p:spPr/>
        <p:txBody>
          <a:bodyPr/>
          <a:lstStyle/>
          <a:p>
            <a:r>
              <a:rPr lang="en-US" dirty="0"/>
              <a:t>Transforms are represented by a Matrix</a:t>
            </a:r>
            <a:endParaRPr lang="en-BE" dirty="0"/>
          </a:p>
        </p:txBody>
      </p:sp>
      <p:sp>
        <p:nvSpPr>
          <p:cNvPr id="3" name="TextBox 2">
            <a:extLst>
              <a:ext uri="{FF2B5EF4-FFF2-40B4-BE49-F238E27FC236}">
                <a16:creationId xmlns:a16="http://schemas.microsoft.com/office/drawing/2014/main" id="{5D5E50AC-6C07-A90B-C2D9-C5D280B890A5}"/>
              </a:ext>
            </a:extLst>
          </p:cNvPr>
          <p:cNvSpPr txBox="1"/>
          <p:nvPr/>
        </p:nvSpPr>
        <p:spPr>
          <a:xfrm>
            <a:off x="441649" y="1959429"/>
            <a:ext cx="7645555" cy="1384995"/>
          </a:xfrm>
          <a:prstGeom prst="rect">
            <a:avLst/>
          </a:prstGeom>
          <a:noFill/>
        </p:spPr>
        <p:txBody>
          <a:bodyPr wrap="none" rtlCol="0">
            <a:spAutoFit/>
          </a:bodyPr>
          <a:lstStyle/>
          <a:p>
            <a:pPr marL="285750" indent="-285750">
              <a:buFont typeface="Arial" panose="020B0604020202020204" pitchFamily="34" charset="0"/>
              <a:buChar char="•"/>
            </a:pPr>
            <a:r>
              <a:rPr lang="en-US" sz="2800" dirty="0"/>
              <a:t>4x4 grid of floats</a:t>
            </a:r>
          </a:p>
          <a:p>
            <a:pPr marL="285750" indent="-285750">
              <a:buFont typeface="Arial" panose="020B0604020202020204" pitchFamily="34" charset="0"/>
              <a:buChar char="•"/>
            </a:pPr>
            <a:r>
              <a:rPr lang="en-US" sz="2800" dirty="0"/>
              <a:t>Contains a translation, rotation, and scale</a:t>
            </a:r>
          </a:p>
          <a:p>
            <a:pPr marL="285750" indent="-285750">
              <a:buFont typeface="Arial" panose="020B0604020202020204" pitchFamily="34" charset="0"/>
              <a:buChar char="•"/>
            </a:pPr>
            <a:r>
              <a:rPr lang="en-US" sz="2800" dirty="0"/>
              <a:t>Can contain other things (</a:t>
            </a:r>
            <a:r>
              <a:rPr lang="en-US" sz="2800" dirty="0" err="1"/>
              <a:t>eg</a:t>
            </a:r>
            <a:r>
              <a:rPr lang="en-US" sz="2800" dirty="0"/>
              <a:t> camera projection) </a:t>
            </a:r>
            <a:endParaRPr lang="en-BE" sz="2800" dirty="0"/>
          </a:p>
        </p:txBody>
      </p:sp>
    </p:spTree>
    <p:extLst>
      <p:ext uri="{BB962C8B-B14F-4D97-AF65-F5344CB8AC3E}">
        <p14:creationId xmlns:p14="http://schemas.microsoft.com/office/powerpoint/2010/main" val="5053167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7147D-21AE-6D87-9EAB-5C04D75138EC}"/>
              </a:ext>
            </a:extLst>
          </p:cNvPr>
          <p:cNvSpPr>
            <a:spLocks noGrp="1"/>
          </p:cNvSpPr>
          <p:nvPr>
            <p:ph type="title"/>
          </p:nvPr>
        </p:nvSpPr>
        <p:spPr/>
        <p:txBody>
          <a:bodyPr/>
          <a:lstStyle/>
          <a:p>
            <a:r>
              <a:rPr lang="en-US" dirty="0"/>
              <a:t>Let’s learn about space(s)</a:t>
            </a:r>
            <a:endParaRPr lang="en-BE" dirty="0"/>
          </a:p>
        </p:txBody>
      </p:sp>
      <p:pic>
        <p:nvPicPr>
          <p:cNvPr id="6" name="Picture 5" descr="A cat sitting on a slice of pizza&#10;&#10;Description automatically generated">
            <a:extLst>
              <a:ext uri="{FF2B5EF4-FFF2-40B4-BE49-F238E27FC236}">
                <a16:creationId xmlns:a16="http://schemas.microsoft.com/office/drawing/2014/main" id="{2C41E598-722D-64FD-68A4-5A5E8B704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3551" y="1490096"/>
            <a:ext cx="5373061" cy="5367904"/>
          </a:xfrm>
          <a:prstGeom prst="rect">
            <a:avLst/>
          </a:prstGeom>
        </p:spPr>
      </p:pic>
    </p:spTree>
    <p:extLst>
      <p:ext uri="{BB962C8B-B14F-4D97-AF65-F5344CB8AC3E}">
        <p14:creationId xmlns:p14="http://schemas.microsoft.com/office/powerpoint/2010/main" val="20018277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A0A69-20FA-23CE-CDE1-D06A06641E39}"/>
              </a:ext>
            </a:extLst>
          </p:cNvPr>
          <p:cNvSpPr>
            <a:spLocks noGrp="1"/>
          </p:cNvSpPr>
          <p:nvPr>
            <p:ph type="title"/>
          </p:nvPr>
        </p:nvSpPr>
        <p:spPr/>
        <p:txBody>
          <a:bodyPr/>
          <a:lstStyle/>
          <a:p>
            <a:r>
              <a:rPr lang="en-US" dirty="0"/>
              <a:t>Example</a:t>
            </a:r>
            <a:endParaRPr lang="en-BE" dirty="0"/>
          </a:p>
        </p:txBody>
      </p:sp>
      <p:pic>
        <p:nvPicPr>
          <p:cNvPr id="6" name="Picture 5" descr="A screenshot of a video camera and a rabbit&#10;&#10;Description automatically generated">
            <a:extLst>
              <a:ext uri="{FF2B5EF4-FFF2-40B4-BE49-F238E27FC236}">
                <a16:creationId xmlns:a16="http://schemas.microsoft.com/office/drawing/2014/main" id="{A54C4ADF-2B7B-2886-9892-8BA3BBCCB3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970429"/>
            <a:ext cx="3877216" cy="3924848"/>
          </a:xfrm>
          <a:prstGeom prst="rect">
            <a:avLst/>
          </a:prstGeom>
        </p:spPr>
      </p:pic>
    </p:spTree>
    <p:extLst>
      <p:ext uri="{BB962C8B-B14F-4D97-AF65-F5344CB8AC3E}">
        <p14:creationId xmlns:p14="http://schemas.microsoft.com/office/powerpoint/2010/main" val="23900141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4170A-DAB3-8A8A-E95F-6E251C9F0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E213A-3B47-C9B5-C1E8-ED744B47C1A2}"/>
              </a:ext>
            </a:extLst>
          </p:cNvPr>
          <p:cNvSpPr>
            <a:spLocks noGrp="1"/>
          </p:cNvSpPr>
          <p:nvPr>
            <p:ph type="title"/>
          </p:nvPr>
        </p:nvSpPr>
        <p:spPr/>
        <p:txBody>
          <a:bodyPr/>
          <a:lstStyle/>
          <a:p>
            <a:r>
              <a:rPr lang="en-US" dirty="0"/>
              <a:t>Camera is looking down +X</a:t>
            </a:r>
            <a:endParaRPr lang="en-BE" dirty="0"/>
          </a:p>
        </p:txBody>
      </p:sp>
      <p:pic>
        <p:nvPicPr>
          <p:cNvPr id="4" name="Picture 3">
            <a:extLst>
              <a:ext uri="{FF2B5EF4-FFF2-40B4-BE49-F238E27FC236}">
                <a16:creationId xmlns:a16="http://schemas.microsoft.com/office/drawing/2014/main" id="{9AAB30A4-237A-49CF-63B8-6BB1654E24AD}"/>
              </a:ext>
            </a:extLst>
          </p:cNvPr>
          <p:cNvPicPr>
            <a:picLocks noChangeAspect="1"/>
          </p:cNvPicPr>
          <p:nvPr/>
        </p:nvPicPr>
        <p:blipFill>
          <a:blip r:embed="rId3"/>
          <a:stretch>
            <a:fillRect/>
          </a:stretch>
        </p:blipFill>
        <p:spPr>
          <a:xfrm>
            <a:off x="5908656" y="1432134"/>
            <a:ext cx="5909276" cy="4463143"/>
          </a:xfrm>
          <a:prstGeom prst="rect">
            <a:avLst/>
          </a:prstGeom>
        </p:spPr>
      </p:pic>
      <p:pic>
        <p:nvPicPr>
          <p:cNvPr id="6" name="Picture 5" descr="A screenshot of a video camera and a rabbit&#10;&#10;Description automatically generated">
            <a:extLst>
              <a:ext uri="{FF2B5EF4-FFF2-40B4-BE49-F238E27FC236}">
                <a16:creationId xmlns:a16="http://schemas.microsoft.com/office/drawing/2014/main" id="{E91FFE7B-426B-FE6C-BB58-38D644BE16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1970429"/>
            <a:ext cx="3877216" cy="3924848"/>
          </a:xfrm>
          <a:prstGeom prst="rect">
            <a:avLst/>
          </a:prstGeom>
        </p:spPr>
      </p:pic>
    </p:spTree>
    <p:extLst>
      <p:ext uri="{BB962C8B-B14F-4D97-AF65-F5344CB8AC3E}">
        <p14:creationId xmlns:p14="http://schemas.microsoft.com/office/powerpoint/2010/main" val="24622166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21762-12D4-B971-9D3E-41A5E077F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C08EF-8174-A3ED-5775-D9B5A6304278}"/>
              </a:ext>
            </a:extLst>
          </p:cNvPr>
          <p:cNvSpPr>
            <a:spLocks noGrp="1"/>
          </p:cNvSpPr>
          <p:nvPr>
            <p:ph type="title"/>
          </p:nvPr>
        </p:nvSpPr>
        <p:spPr/>
        <p:txBody>
          <a:bodyPr/>
          <a:lstStyle/>
          <a:p>
            <a:r>
              <a:rPr lang="en-US" dirty="0"/>
              <a:t>We move the camera up (+Y) by one unit</a:t>
            </a:r>
            <a:endParaRPr lang="en-BE" dirty="0"/>
          </a:p>
        </p:txBody>
      </p:sp>
      <p:pic>
        <p:nvPicPr>
          <p:cNvPr id="5" name="Picture 4" descr="A screenshot of a video game&#10;&#10;Description automatically generated">
            <a:extLst>
              <a:ext uri="{FF2B5EF4-FFF2-40B4-BE49-F238E27FC236}">
                <a16:creationId xmlns:a16="http://schemas.microsoft.com/office/drawing/2014/main" id="{9DE33E65-1E4F-D1F4-24AF-7053B698E3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677" y="1970429"/>
            <a:ext cx="3877216" cy="3924848"/>
          </a:xfrm>
          <a:prstGeom prst="rect">
            <a:avLst/>
          </a:prstGeom>
        </p:spPr>
      </p:pic>
      <p:pic>
        <p:nvPicPr>
          <p:cNvPr id="8" name="Picture 7">
            <a:extLst>
              <a:ext uri="{FF2B5EF4-FFF2-40B4-BE49-F238E27FC236}">
                <a16:creationId xmlns:a16="http://schemas.microsoft.com/office/drawing/2014/main" id="{BFAFE51E-70C1-9B37-CC27-E69F8130731D}"/>
              </a:ext>
            </a:extLst>
          </p:cNvPr>
          <p:cNvPicPr>
            <a:picLocks noChangeAspect="1"/>
          </p:cNvPicPr>
          <p:nvPr/>
        </p:nvPicPr>
        <p:blipFill>
          <a:blip r:embed="rId4"/>
          <a:stretch>
            <a:fillRect/>
          </a:stretch>
        </p:blipFill>
        <p:spPr>
          <a:xfrm>
            <a:off x="5896825" y="1828800"/>
            <a:ext cx="5962812" cy="4444481"/>
          </a:xfrm>
          <a:prstGeom prst="rect">
            <a:avLst/>
          </a:prstGeom>
        </p:spPr>
      </p:pic>
    </p:spTree>
    <p:extLst>
      <p:ext uri="{BB962C8B-B14F-4D97-AF65-F5344CB8AC3E}">
        <p14:creationId xmlns:p14="http://schemas.microsoft.com/office/powerpoint/2010/main" val="16330321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D88CE-C081-894C-765D-6C5853032CE4}"/>
              </a:ext>
            </a:extLst>
          </p:cNvPr>
          <p:cNvSpPr>
            <a:spLocks noGrp="1"/>
          </p:cNvSpPr>
          <p:nvPr>
            <p:ph type="title"/>
          </p:nvPr>
        </p:nvSpPr>
        <p:spPr>
          <a:xfrm>
            <a:off x="838200" y="122967"/>
            <a:ext cx="10515600" cy="1325563"/>
          </a:xfrm>
        </p:spPr>
        <p:txBody>
          <a:bodyPr/>
          <a:lstStyle/>
          <a:p>
            <a:r>
              <a:rPr lang="en-US" dirty="0"/>
              <a:t>The bunny moved down</a:t>
            </a:r>
            <a:endParaRPr lang="en-BE" dirty="0"/>
          </a:p>
        </p:txBody>
      </p:sp>
      <p:pic>
        <p:nvPicPr>
          <p:cNvPr id="3" name="Picture 2">
            <a:extLst>
              <a:ext uri="{FF2B5EF4-FFF2-40B4-BE49-F238E27FC236}">
                <a16:creationId xmlns:a16="http://schemas.microsoft.com/office/drawing/2014/main" id="{08B4C4C2-8F43-61C5-CC4C-F3F99475AC00}"/>
              </a:ext>
            </a:extLst>
          </p:cNvPr>
          <p:cNvPicPr>
            <a:picLocks noChangeAspect="1"/>
          </p:cNvPicPr>
          <p:nvPr/>
        </p:nvPicPr>
        <p:blipFill>
          <a:blip r:embed="rId3"/>
          <a:stretch>
            <a:fillRect/>
          </a:stretch>
        </p:blipFill>
        <p:spPr>
          <a:xfrm>
            <a:off x="67692" y="2271890"/>
            <a:ext cx="5909276" cy="4463143"/>
          </a:xfrm>
          <a:prstGeom prst="rect">
            <a:avLst/>
          </a:prstGeom>
        </p:spPr>
      </p:pic>
      <p:pic>
        <p:nvPicPr>
          <p:cNvPr id="5" name="Picture 4">
            <a:extLst>
              <a:ext uri="{FF2B5EF4-FFF2-40B4-BE49-F238E27FC236}">
                <a16:creationId xmlns:a16="http://schemas.microsoft.com/office/drawing/2014/main" id="{7A9D886C-ADDE-1E40-131B-59F76810D2FF}"/>
              </a:ext>
            </a:extLst>
          </p:cNvPr>
          <p:cNvPicPr>
            <a:picLocks noChangeAspect="1"/>
          </p:cNvPicPr>
          <p:nvPr/>
        </p:nvPicPr>
        <p:blipFill>
          <a:blip r:embed="rId4"/>
          <a:stretch>
            <a:fillRect/>
          </a:stretch>
        </p:blipFill>
        <p:spPr>
          <a:xfrm>
            <a:off x="6096000" y="2290552"/>
            <a:ext cx="5962812" cy="4444481"/>
          </a:xfrm>
          <a:prstGeom prst="rect">
            <a:avLst/>
          </a:prstGeom>
        </p:spPr>
      </p:pic>
      <p:sp>
        <p:nvSpPr>
          <p:cNvPr id="6" name="TextBox 5">
            <a:extLst>
              <a:ext uri="{FF2B5EF4-FFF2-40B4-BE49-F238E27FC236}">
                <a16:creationId xmlns:a16="http://schemas.microsoft.com/office/drawing/2014/main" id="{485CE09A-267B-D973-B4FC-83516638C993}"/>
              </a:ext>
            </a:extLst>
          </p:cNvPr>
          <p:cNvSpPr txBox="1"/>
          <p:nvPr/>
        </p:nvSpPr>
        <p:spPr>
          <a:xfrm>
            <a:off x="838200" y="1448530"/>
            <a:ext cx="5853590" cy="461665"/>
          </a:xfrm>
          <a:prstGeom prst="rect">
            <a:avLst/>
          </a:prstGeom>
          <a:noFill/>
        </p:spPr>
        <p:txBody>
          <a:bodyPr wrap="none" rtlCol="0">
            <a:spAutoFit/>
          </a:bodyPr>
          <a:lstStyle/>
          <a:p>
            <a:r>
              <a:rPr lang="en-US" sz="2400" dirty="0"/>
              <a:t>This doesn’t surprise us, but maybe it should!</a:t>
            </a:r>
            <a:endParaRPr lang="en-BE" sz="2400" dirty="0"/>
          </a:p>
        </p:txBody>
      </p:sp>
    </p:spTree>
    <p:extLst>
      <p:ext uri="{BB962C8B-B14F-4D97-AF65-F5344CB8AC3E}">
        <p14:creationId xmlns:p14="http://schemas.microsoft.com/office/powerpoint/2010/main" val="13769837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7160D-5E81-F880-7750-E672A68ACCDB}"/>
              </a:ext>
            </a:extLst>
          </p:cNvPr>
          <p:cNvSpPr>
            <a:spLocks noGrp="1"/>
          </p:cNvSpPr>
          <p:nvPr>
            <p:ph type="title"/>
          </p:nvPr>
        </p:nvSpPr>
        <p:spPr>
          <a:xfrm>
            <a:off x="373224" y="201000"/>
            <a:ext cx="11395787" cy="1325563"/>
          </a:xfrm>
        </p:spPr>
        <p:txBody>
          <a:bodyPr/>
          <a:lstStyle/>
          <a:p>
            <a:r>
              <a:rPr lang="en-US" dirty="0"/>
              <a:t>Rendering is done from a camera’s point of view</a:t>
            </a:r>
            <a:endParaRPr lang="en-BE" dirty="0"/>
          </a:p>
        </p:txBody>
      </p:sp>
      <p:pic>
        <p:nvPicPr>
          <p:cNvPr id="4" name="Picture 3">
            <a:extLst>
              <a:ext uri="{FF2B5EF4-FFF2-40B4-BE49-F238E27FC236}">
                <a16:creationId xmlns:a16="http://schemas.microsoft.com/office/drawing/2014/main" id="{EF347CA3-B785-36DA-88B7-CCEF2FB67D6C}"/>
              </a:ext>
            </a:extLst>
          </p:cNvPr>
          <p:cNvPicPr>
            <a:picLocks noChangeAspect="1"/>
          </p:cNvPicPr>
          <p:nvPr/>
        </p:nvPicPr>
        <p:blipFill>
          <a:blip r:embed="rId3"/>
          <a:stretch>
            <a:fillRect/>
          </a:stretch>
        </p:blipFill>
        <p:spPr>
          <a:xfrm>
            <a:off x="478972" y="3509943"/>
            <a:ext cx="3642652" cy="1867050"/>
          </a:xfrm>
          <a:prstGeom prst="rect">
            <a:avLst/>
          </a:prstGeom>
        </p:spPr>
      </p:pic>
      <p:pic>
        <p:nvPicPr>
          <p:cNvPr id="6" name="Picture 5">
            <a:extLst>
              <a:ext uri="{FF2B5EF4-FFF2-40B4-BE49-F238E27FC236}">
                <a16:creationId xmlns:a16="http://schemas.microsoft.com/office/drawing/2014/main" id="{99469D95-DA64-47C6-1D85-CCE8B6956021}"/>
              </a:ext>
            </a:extLst>
          </p:cNvPr>
          <p:cNvPicPr>
            <a:picLocks noChangeAspect="1"/>
          </p:cNvPicPr>
          <p:nvPr/>
        </p:nvPicPr>
        <p:blipFill>
          <a:blip r:embed="rId4"/>
          <a:stretch>
            <a:fillRect/>
          </a:stretch>
        </p:blipFill>
        <p:spPr>
          <a:xfrm>
            <a:off x="4107026" y="2264981"/>
            <a:ext cx="3642651" cy="3174644"/>
          </a:xfrm>
          <a:prstGeom prst="rect">
            <a:avLst/>
          </a:prstGeom>
        </p:spPr>
      </p:pic>
      <p:sp>
        <p:nvSpPr>
          <p:cNvPr id="7" name="TextBox 6">
            <a:extLst>
              <a:ext uri="{FF2B5EF4-FFF2-40B4-BE49-F238E27FC236}">
                <a16:creationId xmlns:a16="http://schemas.microsoft.com/office/drawing/2014/main" id="{45A9B109-25C8-9B6F-FC03-DC08EF1E3517}"/>
              </a:ext>
            </a:extLst>
          </p:cNvPr>
          <p:cNvSpPr txBox="1"/>
          <p:nvPr/>
        </p:nvSpPr>
        <p:spPr>
          <a:xfrm>
            <a:off x="478972" y="1418375"/>
            <a:ext cx="10521855" cy="584775"/>
          </a:xfrm>
          <a:prstGeom prst="rect">
            <a:avLst/>
          </a:prstGeom>
          <a:noFill/>
        </p:spPr>
        <p:txBody>
          <a:bodyPr wrap="none" rtlCol="0">
            <a:spAutoFit/>
          </a:bodyPr>
          <a:lstStyle/>
          <a:p>
            <a:r>
              <a:rPr lang="en-US" sz="3200" dirty="0"/>
              <a:t>Moving the camera up is the same as moving the bunny down</a:t>
            </a:r>
            <a:endParaRPr lang="en-BE" sz="3200" dirty="0"/>
          </a:p>
        </p:txBody>
      </p:sp>
      <p:pic>
        <p:nvPicPr>
          <p:cNvPr id="8" name="Picture 7">
            <a:extLst>
              <a:ext uri="{FF2B5EF4-FFF2-40B4-BE49-F238E27FC236}">
                <a16:creationId xmlns:a16="http://schemas.microsoft.com/office/drawing/2014/main" id="{CF213D60-A6EA-5F85-C141-93A5F60F1E86}"/>
              </a:ext>
            </a:extLst>
          </p:cNvPr>
          <p:cNvPicPr>
            <a:picLocks noChangeAspect="1"/>
          </p:cNvPicPr>
          <p:nvPr/>
        </p:nvPicPr>
        <p:blipFill>
          <a:blip r:embed="rId4"/>
          <a:stretch>
            <a:fillRect/>
          </a:stretch>
        </p:blipFill>
        <p:spPr>
          <a:xfrm>
            <a:off x="8019359" y="3578831"/>
            <a:ext cx="3642651" cy="3174644"/>
          </a:xfrm>
          <a:prstGeom prst="rect">
            <a:avLst/>
          </a:prstGeom>
        </p:spPr>
      </p:pic>
      <p:cxnSp>
        <p:nvCxnSpPr>
          <p:cNvPr id="10" name="Straight Connector 9">
            <a:extLst>
              <a:ext uri="{FF2B5EF4-FFF2-40B4-BE49-F238E27FC236}">
                <a16:creationId xmlns:a16="http://schemas.microsoft.com/office/drawing/2014/main" id="{88D24665-DE75-4DD7-90E4-C41AC94E00D2}"/>
              </a:ext>
            </a:extLst>
          </p:cNvPr>
          <p:cNvCxnSpPr/>
          <p:nvPr/>
        </p:nvCxnSpPr>
        <p:spPr>
          <a:xfrm flipV="1">
            <a:off x="3956180" y="2693437"/>
            <a:ext cx="0" cy="3918857"/>
          </a:xfrm>
          <a:prstGeom prst="line">
            <a:avLst/>
          </a:prstGeom>
          <a:ln w="76200">
            <a:solidFill>
              <a:schemeClr val="tx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C9F0ED64-BF9D-DE78-4D35-9F64E6C77F9B}"/>
              </a:ext>
            </a:extLst>
          </p:cNvPr>
          <p:cNvCxnSpPr/>
          <p:nvPr/>
        </p:nvCxnSpPr>
        <p:spPr>
          <a:xfrm flipV="1">
            <a:off x="7735078" y="2572140"/>
            <a:ext cx="0" cy="3918857"/>
          </a:xfrm>
          <a:prstGeom prst="line">
            <a:avLst/>
          </a:prstGeom>
          <a:ln w="7620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343722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E4AD2-5572-9873-A7BA-DAE38856866C}"/>
              </a:ext>
            </a:extLst>
          </p:cNvPr>
          <p:cNvSpPr>
            <a:spLocks noGrp="1"/>
          </p:cNvSpPr>
          <p:nvPr>
            <p:ph type="title"/>
          </p:nvPr>
        </p:nvSpPr>
        <p:spPr/>
        <p:txBody>
          <a:bodyPr/>
          <a:lstStyle/>
          <a:p>
            <a:r>
              <a:rPr lang="en-US" dirty="0"/>
              <a:t>The camera has it’s own coordinate space</a:t>
            </a:r>
            <a:endParaRPr lang="en-BE" dirty="0"/>
          </a:p>
        </p:txBody>
      </p:sp>
      <p:sp>
        <p:nvSpPr>
          <p:cNvPr id="3" name="TextBox 2">
            <a:extLst>
              <a:ext uri="{FF2B5EF4-FFF2-40B4-BE49-F238E27FC236}">
                <a16:creationId xmlns:a16="http://schemas.microsoft.com/office/drawing/2014/main" id="{BD360457-706A-16C7-B67C-4F1C68E93EB4}"/>
              </a:ext>
            </a:extLst>
          </p:cNvPr>
          <p:cNvSpPr txBox="1"/>
          <p:nvPr/>
        </p:nvSpPr>
        <p:spPr>
          <a:xfrm>
            <a:off x="976604" y="1506022"/>
            <a:ext cx="5496698" cy="2677656"/>
          </a:xfrm>
          <a:prstGeom prst="rect">
            <a:avLst/>
          </a:prstGeom>
          <a:noFill/>
        </p:spPr>
        <p:txBody>
          <a:bodyPr wrap="none" rtlCol="0">
            <a:spAutoFit/>
          </a:bodyPr>
          <a:lstStyle/>
          <a:p>
            <a:pPr marL="285750" indent="-285750">
              <a:buFont typeface="Arial" panose="020B0604020202020204" pitchFamily="34" charset="0"/>
              <a:buChar char="•"/>
            </a:pPr>
            <a:r>
              <a:rPr lang="en-US" sz="2800" dirty="0"/>
              <a:t>Space = frame of reference</a:t>
            </a:r>
          </a:p>
          <a:p>
            <a:pPr marL="285750" indent="-285750">
              <a:buFont typeface="Arial" panose="020B0604020202020204" pitchFamily="34" charset="0"/>
              <a:buChar char="•"/>
            </a:pPr>
            <a:r>
              <a:rPr lang="en-US" sz="2800" dirty="0"/>
              <a:t>We call it view space</a:t>
            </a:r>
          </a:p>
          <a:p>
            <a:pPr marL="285750" indent="-285750">
              <a:buFont typeface="Arial" panose="020B0604020202020204" pitchFamily="34" charset="0"/>
              <a:buChar char="•"/>
            </a:pPr>
            <a:r>
              <a:rPr lang="en-US" sz="2800" dirty="0"/>
              <a:t>When only the camera moves,</a:t>
            </a:r>
            <a:br>
              <a:rPr lang="en-US" sz="2800" dirty="0"/>
            </a:br>
            <a:r>
              <a:rPr lang="en-US" sz="2800" dirty="0"/>
              <a:t>everything seems to move</a:t>
            </a:r>
          </a:p>
          <a:p>
            <a:pPr marL="285750" indent="-285750">
              <a:buFont typeface="Arial" panose="020B0604020202020204" pitchFamily="34" charset="0"/>
              <a:buChar char="•"/>
            </a:pPr>
            <a:r>
              <a:rPr lang="en-US" sz="2800" dirty="0"/>
              <a:t>It’s because the coordinate system</a:t>
            </a:r>
            <a:br>
              <a:rPr lang="en-US" sz="2800" dirty="0"/>
            </a:br>
            <a:r>
              <a:rPr lang="en-US" sz="2800" dirty="0"/>
              <a:t>moves</a:t>
            </a:r>
          </a:p>
        </p:txBody>
      </p:sp>
      <p:pic>
        <p:nvPicPr>
          <p:cNvPr id="5" name="Picture 4" descr="A cartoon of a rabbit and a camera&#10;&#10;Description automatically generated">
            <a:extLst>
              <a:ext uri="{FF2B5EF4-FFF2-40B4-BE49-F238E27FC236}">
                <a16:creationId xmlns:a16="http://schemas.microsoft.com/office/drawing/2014/main" id="{0B3DA23F-CC0D-25D7-313C-85039E9354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4204" y="515828"/>
            <a:ext cx="7630956" cy="7679560"/>
          </a:xfrm>
          <a:prstGeom prst="rect">
            <a:avLst/>
          </a:prstGeom>
        </p:spPr>
      </p:pic>
    </p:spTree>
    <p:extLst>
      <p:ext uri="{BB962C8B-B14F-4D97-AF65-F5344CB8AC3E}">
        <p14:creationId xmlns:p14="http://schemas.microsoft.com/office/powerpoint/2010/main" val="9191710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CE44E-FE33-0D3E-7510-99B8A88ED392}"/>
              </a:ext>
            </a:extLst>
          </p:cNvPr>
          <p:cNvSpPr>
            <a:spLocks noGrp="1"/>
          </p:cNvSpPr>
          <p:nvPr>
            <p:ph type="title"/>
          </p:nvPr>
        </p:nvSpPr>
        <p:spPr/>
        <p:txBody>
          <a:bodyPr/>
          <a:lstStyle/>
          <a:p>
            <a:r>
              <a:rPr lang="en-US" dirty="0"/>
              <a:t>The bunny has it’s own coordinate space</a:t>
            </a:r>
            <a:endParaRPr lang="en-BE" dirty="0"/>
          </a:p>
        </p:txBody>
      </p:sp>
      <p:pic>
        <p:nvPicPr>
          <p:cNvPr id="4" name="Picture 3" descr="A screen shot of a video game&#10;&#10;Description automatically generated">
            <a:extLst>
              <a:ext uri="{FF2B5EF4-FFF2-40B4-BE49-F238E27FC236}">
                <a16:creationId xmlns:a16="http://schemas.microsoft.com/office/drawing/2014/main" id="{DB5160B1-C447-9658-43FC-116F9534B4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2759" y="1144555"/>
            <a:ext cx="6814596" cy="6858000"/>
          </a:xfrm>
          <a:prstGeom prst="rect">
            <a:avLst/>
          </a:prstGeom>
        </p:spPr>
      </p:pic>
      <p:sp>
        <p:nvSpPr>
          <p:cNvPr id="5" name="TextBox 4">
            <a:extLst>
              <a:ext uri="{FF2B5EF4-FFF2-40B4-BE49-F238E27FC236}">
                <a16:creationId xmlns:a16="http://schemas.microsoft.com/office/drawing/2014/main" id="{94B4A0A6-0A67-E9D6-82AE-E21CE7111AC6}"/>
              </a:ext>
            </a:extLst>
          </p:cNvPr>
          <p:cNvSpPr txBox="1"/>
          <p:nvPr/>
        </p:nvSpPr>
        <p:spPr>
          <a:xfrm>
            <a:off x="391887" y="2220686"/>
            <a:ext cx="6841873" cy="1815882"/>
          </a:xfrm>
          <a:prstGeom prst="rect">
            <a:avLst/>
          </a:prstGeom>
          <a:noFill/>
        </p:spPr>
        <p:txBody>
          <a:bodyPr wrap="none" rtlCol="0">
            <a:spAutoFit/>
          </a:bodyPr>
          <a:lstStyle/>
          <a:p>
            <a:pPr marL="285750" indent="-285750">
              <a:buFont typeface="Arial" panose="020B0604020202020204" pitchFamily="34" charset="0"/>
              <a:buChar char="•"/>
            </a:pPr>
            <a:r>
              <a:rPr lang="en-US" sz="2800" dirty="0"/>
              <a:t>It’s called object or model space</a:t>
            </a:r>
          </a:p>
          <a:p>
            <a:pPr marL="285750" indent="-285750">
              <a:buFont typeface="Arial" panose="020B0604020202020204" pitchFamily="34" charset="0"/>
              <a:buChar char="•"/>
            </a:pPr>
            <a:r>
              <a:rPr lang="en-US" sz="2800" dirty="0"/>
              <a:t>All the triangles are defined in this space</a:t>
            </a:r>
          </a:p>
          <a:p>
            <a:pPr marL="285750" indent="-285750">
              <a:buFont typeface="Arial" panose="020B0604020202020204" pitchFamily="34" charset="0"/>
              <a:buChar char="•"/>
            </a:pPr>
            <a:r>
              <a:rPr lang="en-US" sz="2800" dirty="0"/>
              <a:t>They are static (never change)</a:t>
            </a:r>
          </a:p>
          <a:p>
            <a:pPr marL="285750" indent="-285750">
              <a:buFont typeface="Arial" panose="020B0604020202020204" pitchFamily="34" charset="0"/>
              <a:buChar char="•"/>
            </a:pPr>
            <a:r>
              <a:rPr lang="en-US" sz="2800" dirty="0"/>
              <a:t>We transform them to view space to render</a:t>
            </a:r>
            <a:endParaRPr lang="en-BE" sz="2800" dirty="0"/>
          </a:p>
        </p:txBody>
      </p:sp>
    </p:spTree>
    <p:extLst>
      <p:ext uri="{BB962C8B-B14F-4D97-AF65-F5344CB8AC3E}">
        <p14:creationId xmlns:p14="http://schemas.microsoft.com/office/powerpoint/2010/main" val="12434428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7D1A0-A5E3-1138-AAC0-67E29CA55E4A}"/>
              </a:ext>
            </a:extLst>
          </p:cNvPr>
          <p:cNvSpPr>
            <a:spLocks noGrp="1"/>
          </p:cNvSpPr>
          <p:nvPr>
            <p:ph type="title"/>
          </p:nvPr>
        </p:nvSpPr>
        <p:spPr/>
        <p:txBody>
          <a:bodyPr/>
          <a:lstStyle/>
          <a:p>
            <a:r>
              <a:rPr lang="en-US" dirty="0"/>
              <a:t>These all exist at the same time</a:t>
            </a:r>
            <a:endParaRPr lang="en-BE" dirty="0"/>
          </a:p>
        </p:txBody>
      </p:sp>
      <p:pic>
        <p:nvPicPr>
          <p:cNvPr id="3" name="Picture 2" descr="A screenshot of a video camera and a rabbit&#10;&#10;Description automatically generated">
            <a:extLst>
              <a:ext uri="{FF2B5EF4-FFF2-40B4-BE49-F238E27FC236}">
                <a16:creationId xmlns:a16="http://schemas.microsoft.com/office/drawing/2014/main" id="{1983B0F0-111C-ED7C-96B2-45F1FB109B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455" y="3429000"/>
            <a:ext cx="2990924" cy="3027668"/>
          </a:xfrm>
          <a:prstGeom prst="rect">
            <a:avLst/>
          </a:prstGeom>
        </p:spPr>
      </p:pic>
      <p:pic>
        <p:nvPicPr>
          <p:cNvPr id="4" name="Picture 3" descr="A cartoon of a rabbit and a camera&#10;&#10;Description automatically generated">
            <a:extLst>
              <a:ext uri="{FF2B5EF4-FFF2-40B4-BE49-F238E27FC236}">
                <a16:creationId xmlns:a16="http://schemas.microsoft.com/office/drawing/2014/main" id="{4E9B9811-816C-429C-5F31-7898A58737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15003" y="2537927"/>
            <a:ext cx="5751457" cy="5788090"/>
          </a:xfrm>
          <a:prstGeom prst="rect">
            <a:avLst/>
          </a:prstGeom>
        </p:spPr>
      </p:pic>
      <p:pic>
        <p:nvPicPr>
          <p:cNvPr id="5" name="Picture 4" descr="A screen shot of a video game&#10;&#10;Description automatically generated">
            <a:extLst>
              <a:ext uri="{FF2B5EF4-FFF2-40B4-BE49-F238E27FC236}">
                <a16:creationId xmlns:a16="http://schemas.microsoft.com/office/drawing/2014/main" id="{F6AD42B0-EBF4-7427-EF6E-A8C403AAC8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47787" y="3202609"/>
            <a:ext cx="4769567" cy="4799946"/>
          </a:xfrm>
          <a:prstGeom prst="rect">
            <a:avLst/>
          </a:prstGeom>
        </p:spPr>
      </p:pic>
      <p:sp>
        <p:nvSpPr>
          <p:cNvPr id="6" name="TextBox 5">
            <a:extLst>
              <a:ext uri="{FF2B5EF4-FFF2-40B4-BE49-F238E27FC236}">
                <a16:creationId xmlns:a16="http://schemas.microsoft.com/office/drawing/2014/main" id="{CFAC777F-F21C-22AD-8978-DBD7142FBCF2}"/>
              </a:ext>
            </a:extLst>
          </p:cNvPr>
          <p:cNvSpPr txBox="1"/>
          <p:nvPr/>
        </p:nvSpPr>
        <p:spPr>
          <a:xfrm>
            <a:off x="1468016" y="2537927"/>
            <a:ext cx="1987404" cy="523220"/>
          </a:xfrm>
          <a:prstGeom prst="rect">
            <a:avLst/>
          </a:prstGeom>
          <a:noFill/>
        </p:spPr>
        <p:txBody>
          <a:bodyPr wrap="none" rtlCol="0">
            <a:spAutoFit/>
          </a:bodyPr>
          <a:lstStyle/>
          <a:p>
            <a:r>
              <a:rPr lang="en-US" sz="2800" dirty="0"/>
              <a:t>World space</a:t>
            </a:r>
            <a:endParaRPr lang="en-BE" sz="2800" dirty="0"/>
          </a:p>
        </p:txBody>
      </p:sp>
      <p:sp>
        <p:nvSpPr>
          <p:cNvPr id="7" name="TextBox 6">
            <a:extLst>
              <a:ext uri="{FF2B5EF4-FFF2-40B4-BE49-F238E27FC236}">
                <a16:creationId xmlns:a16="http://schemas.microsoft.com/office/drawing/2014/main" id="{F472CCB0-129C-ED06-5543-54FD42168457}"/>
              </a:ext>
            </a:extLst>
          </p:cNvPr>
          <p:cNvSpPr txBox="1"/>
          <p:nvPr/>
        </p:nvSpPr>
        <p:spPr>
          <a:xfrm>
            <a:off x="5304780" y="2537927"/>
            <a:ext cx="1816395" cy="523220"/>
          </a:xfrm>
          <a:prstGeom prst="rect">
            <a:avLst/>
          </a:prstGeom>
          <a:noFill/>
        </p:spPr>
        <p:txBody>
          <a:bodyPr wrap="none" rtlCol="0">
            <a:spAutoFit/>
          </a:bodyPr>
          <a:lstStyle/>
          <a:p>
            <a:r>
              <a:rPr lang="en-US" sz="2800" dirty="0"/>
              <a:t>View space</a:t>
            </a:r>
            <a:endParaRPr lang="en-BE" sz="2800" dirty="0"/>
          </a:p>
        </p:txBody>
      </p:sp>
      <p:sp>
        <p:nvSpPr>
          <p:cNvPr id="8" name="TextBox 7">
            <a:extLst>
              <a:ext uri="{FF2B5EF4-FFF2-40B4-BE49-F238E27FC236}">
                <a16:creationId xmlns:a16="http://schemas.microsoft.com/office/drawing/2014/main" id="{7EA24E43-0E54-804A-204B-FF0DB26D00A2}"/>
              </a:ext>
            </a:extLst>
          </p:cNvPr>
          <p:cNvSpPr txBox="1"/>
          <p:nvPr/>
        </p:nvSpPr>
        <p:spPr>
          <a:xfrm>
            <a:off x="9501674" y="2537927"/>
            <a:ext cx="2061783" cy="523220"/>
          </a:xfrm>
          <a:prstGeom prst="rect">
            <a:avLst/>
          </a:prstGeom>
          <a:noFill/>
        </p:spPr>
        <p:txBody>
          <a:bodyPr wrap="none" rtlCol="0">
            <a:spAutoFit/>
          </a:bodyPr>
          <a:lstStyle/>
          <a:p>
            <a:r>
              <a:rPr lang="en-US" sz="2800" dirty="0"/>
              <a:t>Object space</a:t>
            </a:r>
            <a:endParaRPr lang="en-BE" sz="2800" dirty="0"/>
          </a:p>
        </p:txBody>
      </p:sp>
    </p:spTree>
    <p:extLst>
      <p:ext uri="{BB962C8B-B14F-4D97-AF65-F5344CB8AC3E}">
        <p14:creationId xmlns:p14="http://schemas.microsoft.com/office/powerpoint/2010/main" val="19902644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7438E-3219-B1F4-C3DA-C85236CEB206}"/>
              </a:ext>
            </a:extLst>
          </p:cNvPr>
          <p:cNvSpPr>
            <a:spLocks noGrp="1"/>
          </p:cNvSpPr>
          <p:nvPr>
            <p:ph type="title"/>
          </p:nvPr>
        </p:nvSpPr>
        <p:spPr>
          <a:xfrm>
            <a:off x="186612" y="365125"/>
            <a:ext cx="12092474" cy="1325563"/>
          </a:xfrm>
        </p:spPr>
        <p:txBody>
          <a:bodyPr>
            <a:normAutofit/>
          </a:bodyPr>
          <a:lstStyle/>
          <a:p>
            <a:r>
              <a:rPr lang="en-US" sz="4000" dirty="0"/>
              <a:t>We can transform point between spaces with  transforms</a:t>
            </a:r>
            <a:endParaRPr lang="en-BE" sz="4000" dirty="0"/>
          </a:p>
        </p:txBody>
      </p:sp>
      <p:sp>
        <p:nvSpPr>
          <p:cNvPr id="6" name="TextBox 5">
            <a:extLst>
              <a:ext uri="{FF2B5EF4-FFF2-40B4-BE49-F238E27FC236}">
                <a16:creationId xmlns:a16="http://schemas.microsoft.com/office/drawing/2014/main" id="{6A97DD0F-8850-FC7C-6147-C0D4C0DECD15}"/>
              </a:ext>
            </a:extLst>
          </p:cNvPr>
          <p:cNvSpPr txBox="1"/>
          <p:nvPr/>
        </p:nvSpPr>
        <p:spPr>
          <a:xfrm>
            <a:off x="415212" y="1690688"/>
            <a:ext cx="11136086" cy="2246769"/>
          </a:xfrm>
          <a:prstGeom prst="rect">
            <a:avLst/>
          </a:prstGeom>
          <a:noFill/>
        </p:spPr>
        <p:txBody>
          <a:bodyPr wrap="square">
            <a:spAutoFit/>
          </a:bodyPr>
          <a:lstStyle/>
          <a:p>
            <a:r>
              <a:rPr lang="en-US" sz="2800" dirty="0">
                <a:solidFill>
                  <a:srgbClr val="000000"/>
                </a:solidFill>
                <a:latin typeface="Cascadia Mono" panose="020B0609020000020004" pitchFamily="49" charset="0"/>
              </a:rPr>
              <a:t> </a:t>
            </a:r>
            <a:r>
              <a:rPr lang="en-US" sz="2800" i="1" dirty="0">
                <a:solidFill>
                  <a:srgbClr val="0000FF"/>
                </a:solidFill>
                <a:latin typeface="Cascadia Mono" panose="020B0609020000020004" pitchFamily="49" charset="0"/>
              </a:rPr>
              <a:t>Vector3</a:t>
            </a:r>
            <a:r>
              <a:rPr lang="en-US" sz="2800" i="0" dirty="0">
                <a:solidFill>
                  <a:srgbClr val="000000"/>
                </a:solidFill>
                <a:latin typeface="Cascadia Mono" panose="020B0609020000020004" pitchFamily="49" charset="0"/>
              </a:rPr>
              <a:t> </a:t>
            </a:r>
            <a:r>
              <a:rPr lang="en-US" sz="2800" i="0" dirty="0">
                <a:solidFill>
                  <a:srgbClr val="000080"/>
                </a:solidFill>
                <a:latin typeface="Cascadia Mono" panose="020B0609020000020004" pitchFamily="49" charset="0"/>
              </a:rPr>
              <a:t>position</a:t>
            </a:r>
            <a:r>
              <a:rPr lang="en-US" sz="2800" i="0" dirty="0">
                <a:solidFill>
                  <a:srgbClr val="000000"/>
                </a:solidFill>
                <a:latin typeface="Cascadia Mono" panose="020B0609020000020004" pitchFamily="49" charset="0"/>
              </a:rPr>
              <a:t> = </a:t>
            </a:r>
            <a:r>
              <a:rPr lang="en-US" sz="2800" i="0" dirty="0" err="1">
                <a:solidFill>
                  <a:srgbClr val="000080"/>
                </a:solidFill>
                <a:latin typeface="Cascadia Mono" panose="020B0609020000020004" pitchFamily="49" charset="0"/>
              </a:rPr>
              <a:t>bunnyGameObject</a:t>
            </a:r>
            <a:r>
              <a:rPr lang="en-US" sz="2800" i="0" dirty="0" err="1">
                <a:solidFill>
                  <a:srgbClr val="000000"/>
                </a:solidFill>
                <a:latin typeface="Cascadia Mono" panose="020B0609020000020004" pitchFamily="49" charset="0"/>
              </a:rPr>
              <a:t>.</a:t>
            </a:r>
            <a:r>
              <a:rPr lang="en-US" sz="2800" i="1" dirty="0" err="1">
                <a:solidFill>
                  <a:srgbClr val="000080"/>
                </a:solidFill>
                <a:latin typeface="Cascadia Mono" panose="020B0609020000020004" pitchFamily="49" charset="0"/>
              </a:rPr>
              <a:t>transform</a:t>
            </a:r>
            <a:r>
              <a:rPr lang="en-US" sz="2800" i="0" dirty="0" err="1">
                <a:solidFill>
                  <a:srgbClr val="000000"/>
                </a:solidFill>
                <a:latin typeface="Cascadia Mono" panose="020B0609020000020004" pitchFamily="49" charset="0"/>
              </a:rPr>
              <a:t>.</a:t>
            </a:r>
            <a:r>
              <a:rPr lang="en-US" sz="2800" i="1" dirty="0" err="1">
                <a:solidFill>
                  <a:srgbClr val="000080"/>
                </a:solidFill>
                <a:latin typeface="Cascadia Mono" panose="020B0609020000020004" pitchFamily="49" charset="0"/>
              </a:rPr>
              <a:t>position</a:t>
            </a:r>
            <a:r>
              <a:rPr lang="en-US" sz="2800" i="0" dirty="0">
                <a:solidFill>
                  <a:srgbClr val="000000"/>
                </a:solidFill>
                <a:latin typeface="Cascadia Mono" panose="020B0609020000020004" pitchFamily="49" charset="0"/>
              </a:rPr>
              <a:t>; </a:t>
            </a:r>
            <a:r>
              <a:rPr lang="en-US" sz="2800" i="0" dirty="0">
                <a:solidFill>
                  <a:srgbClr val="008000"/>
                </a:solidFill>
                <a:latin typeface="Cascadia Mono" panose="020B0609020000020004" pitchFamily="49" charset="0"/>
              </a:rPr>
              <a:t>// in </a:t>
            </a:r>
            <a:r>
              <a:rPr lang="en-US" sz="2800" i="0" dirty="0" err="1">
                <a:solidFill>
                  <a:srgbClr val="008000"/>
                </a:solidFill>
                <a:latin typeface="Cascadia Mono" panose="020B0609020000020004" pitchFamily="49" charset="0"/>
              </a:rPr>
              <a:t>WorldSpace</a:t>
            </a:r>
            <a:endParaRPr lang="en-US" sz="2800" i="0" dirty="0">
              <a:solidFill>
                <a:srgbClr val="008000"/>
              </a:solidFill>
              <a:latin typeface="Cascadia Mono" panose="020B0609020000020004" pitchFamily="49" charset="0"/>
            </a:endParaRPr>
          </a:p>
          <a:p>
            <a:r>
              <a:rPr lang="en-US" sz="2800" i="0" dirty="0">
                <a:solidFill>
                  <a:srgbClr val="000000"/>
                </a:solidFill>
                <a:latin typeface="Cascadia Mono" panose="020B0609020000020004" pitchFamily="49" charset="0"/>
              </a:rPr>
              <a:t> </a:t>
            </a:r>
            <a:r>
              <a:rPr lang="en-US" sz="2800" i="0" dirty="0" err="1">
                <a:solidFill>
                  <a:srgbClr val="000080"/>
                </a:solidFill>
                <a:latin typeface="Cascadia Mono" panose="020B0609020000020004" pitchFamily="49" charset="0"/>
              </a:rPr>
              <a:t>cameraGameObject</a:t>
            </a:r>
            <a:r>
              <a:rPr lang="en-US" sz="2800" i="0" dirty="0" err="1">
                <a:solidFill>
                  <a:srgbClr val="000000"/>
                </a:solidFill>
                <a:latin typeface="Cascadia Mono" panose="020B0609020000020004" pitchFamily="49" charset="0"/>
              </a:rPr>
              <a:t>.</a:t>
            </a:r>
            <a:r>
              <a:rPr lang="en-US" sz="2800" i="1" dirty="0" err="1">
                <a:solidFill>
                  <a:srgbClr val="000080"/>
                </a:solidFill>
                <a:latin typeface="Cascadia Mono" panose="020B0609020000020004" pitchFamily="49" charset="0"/>
              </a:rPr>
              <a:t>transform</a:t>
            </a:r>
            <a:r>
              <a:rPr lang="en-US" sz="2800" i="0" dirty="0" err="1">
                <a:solidFill>
                  <a:srgbClr val="000000"/>
                </a:solidFill>
                <a:latin typeface="Cascadia Mono" panose="020B0609020000020004" pitchFamily="49" charset="0"/>
              </a:rPr>
              <a:t>.</a:t>
            </a:r>
            <a:r>
              <a:rPr lang="en-US" sz="2800" i="1" dirty="0" err="1">
                <a:solidFill>
                  <a:srgbClr val="880000"/>
                </a:solidFill>
                <a:latin typeface="Cascadia Mono" panose="020B0609020000020004" pitchFamily="49" charset="0"/>
              </a:rPr>
              <a:t>InverseTransformPoint</a:t>
            </a:r>
            <a:r>
              <a:rPr lang="en-US" sz="2800" i="0" dirty="0">
                <a:solidFill>
                  <a:srgbClr val="000000"/>
                </a:solidFill>
                <a:latin typeface="Cascadia Mono" panose="020B0609020000020004" pitchFamily="49" charset="0"/>
              </a:rPr>
              <a:t>(</a:t>
            </a:r>
            <a:r>
              <a:rPr lang="en-US" sz="2800" i="0" dirty="0">
                <a:solidFill>
                  <a:srgbClr val="000080"/>
                </a:solidFill>
                <a:latin typeface="Cascadia Mono" panose="020B0609020000020004" pitchFamily="49" charset="0"/>
              </a:rPr>
              <a:t>position</a:t>
            </a:r>
            <a:r>
              <a:rPr lang="en-US" sz="2800" i="0" dirty="0">
                <a:solidFill>
                  <a:srgbClr val="000000"/>
                </a:solidFill>
                <a:latin typeface="Cascadia Mono" panose="020B0609020000020004" pitchFamily="49" charset="0"/>
              </a:rPr>
              <a:t>); </a:t>
            </a:r>
            <a:r>
              <a:rPr lang="en-US" sz="2800" i="0" dirty="0">
                <a:solidFill>
                  <a:srgbClr val="008000"/>
                </a:solidFill>
                <a:latin typeface="Cascadia Mono" panose="020B0609020000020004" pitchFamily="49" charset="0"/>
              </a:rPr>
              <a:t>// in </a:t>
            </a:r>
            <a:r>
              <a:rPr lang="en-US" sz="2800" i="0" dirty="0" err="1">
                <a:solidFill>
                  <a:srgbClr val="008000"/>
                </a:solidFill>
                <a:latin typeface="Cascadia Mono" panose="020B0609020000020004" pitchFamily="49" charset="0"/>
              </a:rPr>
              <a:t>CameraSpace</a:t>
            </a:r>
            <a:endParaRPr lang="en-BE" sz="2800" dirty="0"/>
          </a:p>
        </p:txBody>
      </p:sp>
      <p:sp>
        <p:nvSpPr>
          <p:cNvPr id="7" name="TextBox 6">
            <a:extLst>
              <a:ext uri="{FF2B5EF4-FFF2-40B4-BE49-F238E27FC236}">
                <a16:creationId xmlns:a16="http://schemas.microsoft.com/office/drawing/2014/main" id="{9EC6233E-47FF-660A-7A40-2985F1EF177F}"/>
              </a:ext>
            </a:extLst>
          </p:cNvPr>
          <p:cNvSpPr txBox="1"/>
          <p:nvPr/>
        </p:nvSpPr>
        <p:spPr>
          <a:xfrm>
            <a:off x="415212" y="4246106"/>
            <a:ext cx="11082586" cy="2246769"/>
          </a:xfrm>
          <a:prstGeom prst="rect">
            <a:avLst/>
          </a:prstGeom>
          <a:noFill/>
        </p:spPr>
        <p:txBody>
          <a:bodyPr wrap="none" rtlCol="0">
            <a:spAutoFit/>
          </a:bodyPr>
          <a:lstStyle/>
          <a:p>
            <a:r>
              <a:rPr lang="en-US" sz="2800" dirty="0"/>
              <a:t>position is in </a:t>
            </a:r>
            <a:r>
              <a:rPr lang="en-US" sz="2800" dirty="0" err="1"/>
              <a:t>WorldSpace</a:t>
            </a:r>
            <a:endParaRPr lang="en-US" sz="2800" dirty="0"/>
          </a:p>
          <a:p>
            <a:r>
              <a:rPr lang="en-US" sz="2800" dirty="0" err="1"/>
              <a:t>Transform.TransformPoint</a:t>
            </a:r>
            <a:r>
              <a:rPr lang="en-US" sz="2800" dirty="0"/>
              <a:t> transforms from </a:t>
            </a:r>
            <a:r>
              <a:rPr lang="en-US" sz="2800" dirty="0" err="1"/>
              <a:t>LocalSpace</a:t>
            </a:r>
            <a:r>
              <a:rPr lang="en-US" sz="2800" dirty="0"/>
              <a:t> to </a:t>
            </a:r>
            <a:r>
              <a:rPr lang="en-US" sz="2800" dirty="0" err="1"/>
              <a:t>WorldSpace</a:t>
            </a:r>
            <a:endParaRPr lang="en-US" sz="2800" dirty="0"/>
          </a:p>
          <a:p>
            <a:r>
              <a:rPr lang="en-US" sz="2800" dirty="0" err="1"/>
              <a:t>Transform.InverseTranformPoint</a:t>
            </a:r>
            <a:r>
              <a:rPr lang="en-US" sz="2800" dirty="0"/>
              <a:t> transform from </a:t>
            </a:r>
            <a:r>
              <a:rPr lang="en-US" sz="2800" dirty="0" err="1"/>
              <a:t>WorldSpace</a:t>
            </a:r>
            <a:r>
              <a:rPr lang="en-US" sz="2800" dirty="0"/>
              <a:t> to </a:t>
            </a:r>
            <a:r>
              <a:rPr lang="en-US" sz="2800" dirty="0" err="1"/>
              <a:t>LocalSpace</a:t>
            </a:r>
            <a:endParaRPr lang="en-US" sz="2800" dirty="0"/>
          </a:p>
          <a:p>
            <a:r>
              <a:rPr lang="en-US" sz="2800" dirty="0"/>
              <a:t>Every Matrix transforms form one space to another</a:t>
            </a:r>
          </a:p>
          <a:p>
            <a:r>
              <a:rPr lang="en-US" sz="2800" dirty="0"/>
              <a:t>Inverting the Matrix does it the other way around</a:t>
            </a:r>
            <a:endParaRPr lang="en-BE" sz="2800" dirty="0"/>
          </a:p>
        </p:txBody>
      </p:sp>
    </p:spTree>
    <p:extLst>
      <p:ext uri="{BB962C8B-B14F-4D97-AF65-F5344CB8AC3E}">
        <p14:creationId xmlns:p14="http://schemas.microsoft.com/office/powerpoint/2010/main" val="37736893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1C477-CD1C-9B84-ED5A-C475A18DF78B}"/>
              </a:ext>
            </a:extLst>
          </p:cNvPr>
          <p:cNvSpPr>
            <a:spLocks noGrp="1"/>
          </p:cNvSpPr>
          <p:nvPr>
            <p:ph type="title"/>
          </p:nvPr>
        </p:nvSpPr>
        <p:spPr>
          <a:xfrm>
            <a:off x="416767" y="365125"/>
            <a:ext cx="10937033" cy="1325563"/>
          </a:xfrm>
        </p:spPr>
        <p:txBody>
          <a:bodyPr/>
          <a:lstStyle/>
          <a:p>
            <a:r>
              <a:rPr lang="en-US" dirty="0"/>
              <a:t>Warning! Use different methods for directions</a:t>
            </a:r>
            <a:endParaRPr lang="en-BE" dirty="0"/>
          </a:p>
        </p:txBody>
      </p:sp>
      <p:sp>
        <p:nvSpPr>
          <p:cNvPr id="4" name="TextBox 3">
            <a:extLst>
              <a:ext uri="{FF2B5EF4-FFF2-40B4-BE49-F238E27FC236}">
                <a16:creationId xmlns:a16="http://schemas.microsoft.com/office/drawing/2014/main" id="{A37D87BF-D75D-5904-C2E6-B4AEBDDC8433}"/>
              </a:ext>
            </a:extLst>
          </p:cNvPr>
          <p:cNvSpPr txBox="1"/>
          <p:nvPr/>
        </p:nvSpPr>
        <p:spPr>
          <a:xfrm>
            <a:off x="528733" y="2074897"/>
            <a:ext cx="8839201" cy="1569660"/>
          </a:xfrm>
          <a:prstGeom prst="rect">
            <a:avLst/>
          </a:prstGeom>
          <a:noFill/>
        </p:spPr>
        <p:txBody>
          <a:bodyPr wrap="square">
            <a:spAutoFit/>
          </a:bodyPr>
          <a:lstStyle/>
          <a:p>
            <a:pPr marL="285750" indent="-285750">
              <a:buFont typeface="Arial" panose="020B0604020202020204" pitchFamily="34" charset="0"/>
              <a:buChar char="•"/>
            </a:pPr>
            <a:r>
              <a:rPr lang="en-US" sz="3200" dirty="0"/>
              <a:t>Direction = N or L</a:t>
            </a:r>
          </a:p>
          <a:p>
            <a:pPr marL="285750" indent="-285750">
              <a:buFont typeface="Arial" panose="020B0604020202020204" pitchFamily="34" charset="0"/>
              <a:buChar char="•"/>
            </a:pPr>
            <a:r>
              <a:rPr lang="en-US" sz="3200" dirty="0"/>
              <a:t>Use </a:t>
            </a:r>
            <a:r>
              <a:rPr lang="en-US" sz="3200" dirty="0" err="1"/>
              <a:t>TransformDirection</a:t>
            </a:r>
            <a:endParaRPr lang="en-US" sz="3200" dirty="0"/>
          </a:p>
          <a:p>
            <a:pPr marL="285750" indent="-285750">
              <a:buFont typeface="Arial" panose="020B0604020202020204" pitchFamily="34" charset="0"/>
              <a:buChar char="•"/>
            </a:pPr>
            <a:r>
              <a:rPr lang="en-US" sz="3200" dirty="0"/>
              <a:t>Not </a:t>
            </a:r>
            <a:r>
              <a:rPr lang="en-US" sz="3200" dirty="0" err="1"/>
              <a:t>TransformPoint</a:t>
            </a:r>
            <a:r>
              <a:rPr lang="en-US" sz="3200" dirty="0"/>
              <a:t>, your result will be incorrect</a:t>
            </a:r>
            <a:endParaRPr lang="en-BE" sz="3200" dirty="0"/>
          </a:p>
        </p:txBody>
      </p:sp>
      <p:pic>
        <p:nvPicPr>
          <p:cNvPr id="6" name="Picture 5" descr="A graph with arrows pointing to the same direction&#10;&#10;Description automatically generated">
            <a:extLst>
              <a:ext uri="{FF2B5EF4-FFF2-40B4-BE49-F238E27FC236}">
                <a16:creationId xmlns:a16="http://schemas.microsoft.com/office/drawing/2014/main" id="{B15D22F2-0512-95E9-A81E-6526A739B8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1659" y="3939954"/>
            <a:ext cx="7247248" cy="2552921"/>
          </a:xfrm>
          <a:prstGeom prst="rect">
            <a:avLst/>
          </a:prstGeom>
        </p:spPr>
      </p:pic>
    </p:spTree>
    <p:extLst>
      <p:ext uri="{BB962C8B-B14F-4D97-AF65-F5344CB8AC3E}">
        <p14:creationId xmlns:p14="http://schemas.microsoft.com/office/powerpoint/2010/main" val="24047263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6005E-C4A6-8178-C971-3008970B1FEB}"/>
              </a:ext>
            </a:extLst>
          </p:cNvPr>
          <p:cNvSpPr>
            <a:spLocks noGrp="1"/>
          </p:cNvSpPr>
          <p:nvPr>
            <p:ph type="title"/>
          </p:nvPr>
        </p:nvSpPr>
        <p:spPr/>
        <p:txBody>
          <a:bodyPr/>
          <a:lstStyle/>
          <a:p>
            <a:r>
              <a:rPr lang="en-US" dirty="0"/>
              <a:t>It’s a big hierarchy</a:t>
            </a:r>
            <a:endParaRPr lang="en-BE" dirty="0"/>
          </a:p>
        </p:txBody>
      </p:sp>
      <p:pic>
        <p:nvPicPr>
          <p:cNvPr id="4" name="Picture 3">
            <a:extLst>
              <a:ext uri="{FF2B5EF4-FFF2-40B4-BE49-F238E27FC236}">
                <a16:creationId xmlns:a16="http://schemas.microsoft.com/office/drawing/2014/main" id="{0ADC4E68-1F98-4E77-300D-174A7200DA9E}"/>
              </a:ext>
            </a:extLst>
          </p:cNvPr>
          <p:cNvPicPr>
            <a:picLocks noChangeAspect="1"/>
          </p:cNvPicPr>
          <p:nvPr/>
        </p:nvPicPr>
        <p:blipFill>
          <a:blip r:embed="rId3"/>
          <a:stretch>
            <a:fillRect/>
          </a:stretch>
        </p:blipFill>
        <p:spPr>
          <a:xfrm>
            <a:off x="6338596" y="1989671"/>
            <a:ext cx="5353042" cy="4824438"/>
          </a:xfrm>
          <a:prstGeom prst="rect">
            <a:avLst/>
          </a:prstGeom>
        </p:spPr>
      </p:pic>
      <p:pic>
        <p:nvPicPr>
          <p:cNvPr id="6" name="Picture 5">
            <a:extLst>
              <a:ext uri="{FF2B5EF4-FFF2-40B4-BE49-F238E27FC236}">
                <a16:creationId xmlns:a16="http://schemas.microsoft.com/office/drawing/2014/main" id="{55B09C9B-D142-F45D-C74C-494543CAD8A4}"/>
              </a:ext>
            </a:extLst>
          </p:cNvPr>
          <p:cNvPicPr>
            <a:picLocks noChangeAspect="1"/>
          </p:cNvPicPr>
          <p:nvPr/>
        </p:nvPicPr>
        <p:blipFill>
          <a:blip r:embed="rId4"/>
          <a:stretch>
            <a:fillRect/>
          </a:stretch>
        </p:blipFill>
        <p:spPr>
          <a:xfrm>
            <a:off x="238077" y="4963886"/>
            <a:ext cx="5220787" cy="1850223"/>
          </a:xfrm>
          <a:prstGeom prst="rect">
            <a:avLst/>
          </a:prstGeom>
        </p:spPr>
      </p:pic>
      <p:sp>
        <p:nvSpPr>
          <p:cNvPr id="7" name="TextBox 6">
            <a:extLst>
              <a:ext uri="{FF2B5EF4-FFF2-40B4-BE49-F238E27FC236}">
                <a16:creationId xmlns:a16="http://schemas.microsoft.com/office/drawing/2014/main" id="{BCB92895-AB13-AC14-BD94-14BBB737DD26}"/>
              </a:ext>
            </a:extLst>
          </p:cNvPr>
          <p:cNvSpPr txBox="1"/>
          <p:nvPr/>
        </p:nvSpPr>
        <p:spPr>
          <a:xfrm>
            <a:off x="179459" y="1468016"/>
            <a:ext cx="5353042" cy="2585323"/>
          </a:xfrm>
          <a:prstGeom prst="rect">
            <a:avLst/>
          </a:prstGeom>
          <a:noFill/>
        </p:spPr>
        <p:txBody>
          <a:bodyPr wrap="square" rtlCol="0">
            <a:spAutoFit/>
          </a:bodyPr>
          <a:lstStyle/>
          <a:p>
            <a:pPr marL="285750" indent="-285750">
              <a:buFont typeface="Arial" panose="020B0604020202020204" pitchFamily="34" charset="0"/>
              <a:buChar char="•"/>
            </a:pPr>
            <a:r>
              <a:rPr lang="en-US" dirty="0" err="1"/>
              <a:t>SmallBunny’s</a:t>
            </a:r>
            <a:r>
              <a:rPr lang="en-US" dirty="0"/>
              <a:t> transform is relative to </a:t>
            </a:r>
            <a:r>
              <a:rPr lang="en-US" dirty="0" err="1"/>
              <a:t>BigBunny</a:t>
            </a:r>
            <a:endParaRPr lang="en-US" dirty="0"/>
          </a:p>
          <a:p>
            <a:pPr marL="285750" indent="-285750">
              <a:buFont typeface="Arial" panose="020B0604020202020204" pitchFamily="34" charset="0"/>
              <a:buChar char="•"/>
            </a:pPr>
            <a:r>
              <a:rPr lang="en-US" dirty="0"/>
              <a:t>If I translate </a:t>
            </a:r>
            <a:r>
              <a:rPr lang="en-US" dirty="0" err="1"/>
              <a:t>BigBunny</a:t>
            </a:r>
            <a:r>
              <a:rPr lang="en-US" dirty="0"/>
              <a:t>, </a:t>
            </a:r>
            <a:r>
              <a:rPr lang="en-US" dirty="0" err="1"/>
              <a:t>SmallBunny</a:t>
            </a:r>
            <a:r>
              <a:rPr lang="en-US" dirty="0"/>
              <a:t> follows</a:t>
            </a:r>
          </a:p>
          <a:p>
            <a:pPr marL="285750" indent="-285750">
              <a:buFont typeface="Arial" panose="020B0604020202020204" pitchFamily="34" charset="0"/>
              <a:buChar char="•"/>
            </a:pPr>
            <a:r>
              <a:rPr lang="en-US" dirty="0"/>
              <a:t>It’s transform is in “</a:t>
            </a:r>
            <a:r>
              <a:rPr lang="en-US" dirty="0" err="1"/>
              <a:t>BigBunny</a:t>
            </a:r>
            <a:r>
              <a:rPr lang="en-US" dirty="0"/>
              <a:t> space”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All previous examples had no explicit parents</a:t>
            </a:r>
          </a:p>
          <a:p>
            <a:pPr marL="285750" indent="-285750">
              <a:buFont typeface="Arial" panose="020B0604020202020204" pitchFamily="34" charset="0"/>
              <a:buChar char="•"/>
            </a:pPr>
            <a:r>
              <a:rPr lang="en-US" dirty="0"/>
              <a:t>It had the root as parent</a:t>
            </a:r>
          </a:p>
          <a:p>
            <a:pPr marL="285750" indent="-285750">
              <a:buFont typeface="Arial" panose="020B0604020202020204" pitchFamily="34" charset="0"/>
              <a:buChar char="•"/>
            </a:pPr>
            <a:r>
              <a:rPr lang="en-US" dirty="0"/>
              <a:t>And that is world space</a:t>
            </a:r>
          </a:p>
          <a:p>
            <a:pPr marL="285750" indent="-285750">
              <a:buFont typeface="Arial" panose="020B0604020202020204" pitchFamily="34" charset="0"/>
              <a:buChar char="•"/>
            </a:pPr>
            <a:r>
              <a:rPr lang="en-US" dirty="0"/>
              <a:t>Same here for </a:t>
            </a:r>
            <a:r>
              <a:rPr lang="en-US" dirty="0" err="1"/>
              <a:t>BigBunny</a:t>
            </a:r>
            <a:endParaRPr lang="en-BE" dirty="0"/>
          </a:p>
        </p:txBody>
      </p:sp>
    </p:spTree>
    <p:extLst>
      <p:ext uri="{BB962C8B-B14F-4D97-AF65-F5344CB8AC3E}">
        <p14:creationId xmlns:p14="http://schemas.microsoft.com/office/powerpoint/2010/main" val="14070539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6E2EB-6D7E-22E5-55FF-C8AAE244CE7B}"/>
              </a:ext>
            </a:extLst>
          </p:cNvPr>
          <p:cNvSpPr>
            <a:spLocks noGrp="1"/>
          </p:cNvSpPr>
          <p:nvPr>
            <p:ph type="title"/>
          </p:nvPr>
        </p:nvSpPr>
        <p:spPr/>
        <p:txBody>
          <a:bodyPr/>
          <a:lstStyle/>
          <a:p>
            <a:r>
              <a:rPr lang="en-US" dirty="0"/>
              <a:t>Cool things we can do</a:t>
            </a:r>
            <a:endParaRPr lang="en-BE" dirty="0"/>
          </a:p>
        </p:txBody>
      </p:sp>
      <p:sp>
        <p:nvSpPr>
          <p:cNvPr id="3" name="TextBox 2">
            <a:extLst>
              <a:ext uri="{FF2B5EF4-FFF2-40B4-BE49-F238E27FC236}">
                <a16:creationId xmlns:a16="http://schemas.microsoft.com/office/drawing/2014/main" id="{BA9C6D9C-A599-30DE-ED7D-C8B6870065F0}"/>
              </a:ext>
            </a:extLst>
          </p:cNvPr>
          <p:cNvSpPr txBox="1"/>
          <p:nvPr/>
        </p:nvSpPr>
        <p:spPr>
          <a:xfrm>
            <a:off x="5638800" y="2973355"/>
            <a:ext cx="914400" cy="914400"/>
          </a:xfrm>
          <a:prstGeom prst="rect">
            <a:avLst/>
          </a:prstGeom>
          <a:noFill/>
        </p:spPr>
        <p:txBody>
          <a:bodyPr wrap="square" rtlCol="0">
            <a:spAutoFit/>
          </a:bodyPr>
          <a:lstStyle/>
          <a:p>
            <a:endParaRPr lang="en-BE" dirty="0"/>
          </a:p>
        </p:txBody>
      </p:sp>
      <p:sp>
        <p:nvSpPr>
          <p:cNvPr id="4" name="TextBox 3">
            <a:extLst>
              <a:ext uri="{FF2B5EF4-FFF2-40B4-BE49-F238E27FC236}">
                <a16:creationId xmlns:a16="http://schemas.microsoft.com/office/drawing/2014/main" id="{2F5DB93D-2D21-BB4C-3859-E98223296C01}"/>
              </a:ext>
            </a:extLst>
          </p:cNvPr>
          <p:cNvSpPr txBox="1"/>
          <p:nvPr/>
        </p:nvSpPr>
        <p:spPr>
          <a:xfrm>
            <a:off x="783772" y="1847461"/>
            <a:ext cx="9610323" cy="2185214"/>
          </a:xfrm>
          <a:prstGeom prst="rect">
            <a:avLst/>
          </a:prstGeom>
          <a:noFill/>
        </p:spPr>
        <p:txBody>
          <a:bodyPr wrap="none" rtlCol="0">
            <a:spAutoFit/>
          </a:bodyPr>
          <a:lstStyle/>
          <a:p>
            <a:r>
              <a:rPr lang="en-US" sz="2800" dirty="0"/>
              <a:t>Matrices multiply, and it </a:t>
            </a:r>
            <a:r>
              <a:rPr lang="en-US" sz="2800" dirty="0" err="1"/>
              <a:t>add’s</a:t>
            </a:r>
            <a:r>
              <a:rPr lang="en-US" sz="2800" dirty="0"/>
              <a:t> (concatenate) the transforms</a:t>
            </a:r>
            <a:br>
              <a:rPr lang="en-US" dirty="0"/>
            </a:br>
            <a:endParaRPr lang="en-US" dirty="0"/>
          </a:p>
          <a:p>
            <a:r>
              <a:rPr lang="en-US" sz="1800" i="1" dirty="0">
                <a:solidFill>
                  <a:srgbClr val="0000FF"/>
                </a:solidFill>
                <a:latin typeface="Cascadia Mono" panose="020B0609020000020004" pitchFamily="49" charset="0"/>
              </a:rPr>
              <a:t>Matrix4x4</a:t>
            </a:r>
            <a:r>
              <a:rPr lang="en-US" sz="1800" i="0" dirty="0">
                <a:solidFill>
                  <a:srgbClr val="000000"/>
                </a:solidFill>
                <a:latin typeface="Cascadia Mono" panose="020B0609020000020004" pitchFamily="49" charset="0"/>
              </a:rPr>
              <a:t> </a:t>
            </a:r>
            <a:r>
              <a:rPr lang="en-US" sz="1800" i="0" dirty="0" err="1">
                <a:solidFill>
                  <a:srgbClr val="000080"/>
                </a:solidFill>
                <a:latin typeface="Cascadia Mono" panose="020B0609020000020004" pitchFamily="49" charset="0"/>
              </a:rPr>
              <a:t>worldToView</a:t>
            </a:r>
            <a:r>
              <a:rPr lang="en-US" sz="1800" i="0" dirty="0">
                <a:solidFill>
                  <a:srgbClr val="000000"/>
                </a:solidFill>
                <a:latin typeface="Cascadia Mono" panose="020B0609020000020004" pitchFamily="49" charset="0"/>
              </a:rPr>
              <a:t> = </a:t>
            </a:r>
            <a:r>
              <a:rPr lang="en-US" sz="1800" i="0" dirty="0" err="1">
                <a:solidFill>
                  <a:srgbClr val="000080"/>
                </a:solidFill>
                <a:latin typeface="Cascadia Mono" panose="020B0609020000020004" pitchFamily="49" charset="0"/>
              </a:rPr>
              <a:t>cameraGameObject</a:t>
            </a:r>
            <a:r>
              <a:rPr lang="en-US" sz="1800" i="0" dirty="0" err="1">
                <a:solidFill>
                  <a:srgbClr val="000000"/>
                </a:solidFill>
                <a:latin typeface="Cascadia Mono" panose="020B0609020000020004" pitchFamily="49" charset="0"/>
              </a:rPr>
              <a:t>.</a:t>
            </a:r>
            <a:r>
              <a:rPr lang="en-US" sz="1800" i="1" dirty="0" err="1">
                <a:solidFill>
                  <a:srgbClr val="000080"/>
                </a:solidFill>
                <a:latin typeface="Cascadia Mono" panose="020B0609020000020004" pitchFamily="49" charset="0"/>
              </a:rPr>
              <a:t>transform</a:t>
            </a:r>
            <a:r>
              <a:rPr lang="en-US" sz="1800" i="0" dirty="0" err="1">
                <a:solidFill>
                  <a:srgbClr val="000000"/>
                </a:solidFill>
                <a:latin typeface="Cascadia Mono" panose="020B0609020000020004" pitchFamily="49" charset="0"/>
              </a:rPr>
              <a:t>.</a:t>
            </a:r>
            <a:r>
              <a:rPr lang="en-US" sz="1800" i="1" dirty="0" err="1">
                <a:solidFill>
                  <a:srgbClr val="000080"/>
                </a:solidFill>
                <a:latin typeface="Cascadia Mono" panose="020B0609020000020004" pitchFamily="49" charset="0"/>
              </a:rPr>
              <a:t>worldToLocalMatrix</a:t>
            </a:r>
            <a:r>
              <a:rPr lang="en-US" sz="1800" i="0" dirty="0">
                <a:solidFill>
                  <a:srgbClr val="000000"/>
                </a:solidFill>
                <a:latin typeface="Cascadia Mono" panose="020B0609020000020004" pitchFamily="49" charset="0"/>
              </a:rPr>
              <a:t>;</a:t>
            </a:r>
          </a:p>
          <a:p>
            <a:r>
              <a:rPr lang="en-US" sz="1800" i="1" dirty="0">
                <a:solidFill>
                  <a:srgbClr val="0000FF"/>
                </a:solidFill>
                <a:latin typeface="Cascadia Mono" panose="020B0609020000020004" pitchFamily="49" charset="0"/>
              </a:rPr>
              <a:t>Matrix4x4</a:t>
            </a:r>
            <a:r>
              <a:rPr lang="en-US" sz="1800" i="0" dirty="0">
                <a:solidFill>
                  <a:srgbClr val="000000"/>
                </a:solidFill>
                <a:latin typeface="Cascadia Mono" panose="020B0609020000020004" pitchFamily="49" charset="0"/>
              </a:rPr>
              <a:t> </a:t>
            </a:r>
            <a:r>
              <a:rPr lang="en-US" sz="1800" i="0" dirty="0" err="1">
                <a:solidFill>
                  <a:srgbClr val="000080"/>
                </a:solidFill>
                <a:latin typeface="Cascadia Mono" panose="020B0609020000020004" pitchFamily="49" charset="0"/>
              </a:rPr>
              <a:t>bunnyToWorld</a:t>
            </a:r>
            <a:r>
              <a:rPr lang="en-US" sz="1800" i="0" dirty="0">
                <a:solidFill>
                  <a:srgbClr val="000000"/>
                </a:solidFill>
                <a:latin typeface="Cascadia Mono" panose="020B0609020000020004" pitchFamily="49" charset="0"/>
              </a:rPr>
              <a:t> = </a:t>
            </a:r>
            <a:r>
              <a:rPr lang="en-US" sz="1800" i="0" dirty="0" err="1">
                <a:solidFill>
                  <a:srgbClr val="000080"/>
                </a:solidFill>
                <a:latin typeface="Cascadia Mono" panose="020B0609020000020004" pitchFamily="49" charset="0"/>
              </a:rPr>
              <a:t>bunnyGameObject</a:t>
            </a:r>
            <a:r>
              <a:rPr lang="en-US" sz="1800" i="0" dirty="0" err="1">
                <a:solidFill>
                  <a:srgbClr val="000000"/>
                </a:solidFill>
                <a:latin typeface="Cascadia Mono" panose="020B0609020000020004" pitchFamily="49" charset="0"/>
              </a:rPr>
              <a:t>.</a:t>
            </a:r>
            <a:r>
              <a:rPr lang="en-US" sz="1800" i="1" dirty="0" err="1">
                <a:solidFill>
                  <a:srgbClr val="000080"/>
                </a:solidFill>
                <a:latin typeface="Cascadia Mono" panose="020B0609020000020004" pitchFamily="49" charset="0"/>
              </a:rPr>
              <a:t>transform</a:t>
            </a:r>
            <a:r>
              <a:rPr lang="en-US" sz="1800" i="0" dirty="0" err="1">
                <a:solidFill>
                  <a:srgbClr val="000000"/>
                </a:solidFill>
                <a:latin typeface="Cascadia Mono" panose="020B0609020000020004" pitchFamily="49" charset="0"/>
              </a:rPr>
              <a:t>.</a:t>
            </a:r>
            <a:r>
              <a:rPr lang="en-US" sz="1800" i="1" dirty="0" err="1">
                <a:solidFill>
                  <a:srgbClr val="000080"/>
                </a:solidFill>
                <a:latin typeface="Cascadia Mono" panose="020B0609020000020004" pitchFamily="49" charset="0"/>
              </a:rPr>
              <a:t>localToWorldMatrix</a:t>
            </a:r>
            <a:r>
              <a:rPr lang="en-US" sz="1800" i="0" dirty="0">
                <a:solidFill>
                  <a:srgbClr val="000000"/>
                </a:solidFill>
                <a:latin typeface="Cascadia Mono" panose="020B0609020000020004" pitchFamily="49" charset="0"/>
              </a:rPr>
              <a:t>;</a:t>
            </a:r>
          </a:p>
          <a:p>
            <a:r>
              <a:rPr lang="en-US" sz="1800" i="1" dirty="0">
                <a:solidFill>
                  <a:srgbClr val="0000FF"/>
                </a:solidFill>
                <a:latin typeface="Cascadia Mono" panose="020B0609020000020004" pitchFamily="49" charset="0"/>
              </a:rPr>
              <a:t>Matrix4x4</a:t>
            </a:r>
            <a:r>
              <a:rPr lang="en-US" sz="1800" i="0" dirty="0">
                <a:solidFill>
                  <a:srgbClr val="000000"/>
                </a:solidFill>
                <a:latin typeface="Cascadia Mono" panose="020B0609020000020004" pitchFamily="49" charset="0"/>
              </a:rPr>
              <a:t> </a:t>
            </a:r>
            <a:r>
              <a:rPr lang="en-US" sz="1800" i="0" dirty="0" err="1">
                <a:solidFill>
                  <a:srgbClr val="000080"/>
                </a:solidFill>
                <a:latin typeface="Cascadia Mono" panose="020B0609020000020004" pitchFamily="49" charset="0"/>
              </a:rPr>
              <a:t>bunnyToView</a:t>
            </a:r>
            <a:r>
              <a:rPr lang="en-US" sz="1800" i="0" dirty="0">
                <a:solidFill>
                  <a:srgbClr val="000000"/>
                </a:solidFill>
                <a:latin typeface="Cascadia Mono" panose="020B0609020000020004" pitchFamily="49" charset="0"/>
              </a:rPr>
              <a:t> = </a:t>
            </a:r>
            <a:r>
              <a:rPr lang="en-US" sz="1800" i="0" dirty="0" err="1">
                <a:solidFill>
                  <a:srgbClr val="000080"/>
                </a:solidFill>
                <a:latin typeface="Cascadia Mono" panose="020B0609020000020004" pitchFamily="49" charset="0"/>
              </a:rPr>
              <a:t>bunnyToWorld</a:t>
            </a:r>
            <a:r>
              <a:rPr lang="en-US" sz="1800" i="0" dirty="0">
                <a:solidFill>
                  <a:srgbClr val="000000"/>
                </a:solidFill>
                <a:latin typeface="Cascadia Mono" panose="020B0609020000020004" pitchFamily="49" charset="0"/>
              </a:rPr>
              <a:t> * </a:t>
            </a:r>
            <a:r>
              <a:rPr lang="en-US" sz="1800" i="0" dirty="0" err="1">
                <a:solidFill>
                  <a:srgbClr val="000080"/>
                </a:solidFill>
                <a:latin typeface="Cascadia Mono" panose="020B0609020000020004" pitchFamily="49" charset="0"/>
              </a:rPr>
              <a:t>worldToView</a:t>
            </a:r>
            <a:r>
              <a:rPr lang="en-US" sz="1800" i="0" dirty="0">
                <a:solidFill>
                  <a:srgbClr val="000000"/>
                </a:solidFill>
                <a:latin typeface="Cascadia Mono" panose="020B0609020000020004" pitchFamily="49" charset="0"/>
              </a:rPr>
              <a:t>;</a:t>
            </a:r>
            <a:br>
              <a:rPr lang="en-US" sz="1800" i="0" dirty="0">
                <a:solidFill>
                  <a:srgbClr val="000000"/>
                </a:solidFill>
                <a:latin typeface="Cascadia Mono" panose="020B0609020000020004" pitchFamily="49" charset="0"/>
              </a:rPr>
            </a:br>
            <a:br>
              <a:rPr lang="en-US" sz="1800" i="0" dirty="0">
                <a:solidFill>
                  <a:srgbClr val="000000"/>
                </a:solidFill>
                <a:latin typeface="Cascadia Mono" panose="020B0609020000020004" pitchFamily="49" charset="0"/>
              </a:rPr>
            </a:br>
            <a:r>
              <a:rPr lang="en-US" sz="1800" i="0" dirty="0">
                <a:solidFill>
                  <a:srgbClr val="000000"/>
                </a:solidFill>
                <a:latin typeface="Cascadia Mono" panose="020B0609020000020004" pitchFamily="49" charset="0"/>
              </a:rPr>
              <a:t>If you name it like this, bugs are very obvious</a:t>
            </a:r>
            <a:endParaRPr lang="en-US" dirty="0"/>
          </a:p>
        </p:txBody>
      </p:sp>
    </p:spTree>
    <p:extLst>
      <p:ext uri="{BB962C8B-B14F-4D97-AF65-F5344CB8AC3E}">
        <p14:creationId xmlns:p14="http://schemas.microsoft.com/office/powerpoint/2010/main" val="19316435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6B254-C2EF-D70D-6E19-1FAC8E397A2A}"/>
              </a:ext>
            </a:extLst>
          </p:cNvPr>
          <p:cNvSpPr>
            <a:spLocks noGrp="1"/>
          </p:cNvSpPr>
          <p:nvPr>
            <p:ph type="title"/>
          </p:nvPr>
        </p:nvSpPr>
        <p:spPr/>
        <p:txBody>
          <a:bodyPr/>
          <a:lstStyle/>
          <a:p>
            <a:r>
              <a:rPr lang="en-US" dirty="0"/>
              <a:t>Does that make sense?</a:t>
            </a:r>
            <a:endParaRPr lang="en-BE" dirty="0"/>
          </a:p>
        </p:txBody>
      </p:sp>
    </p:spTree>
    <p:extLst>
      <p:ext uri="{BB962C8B-B14F-4D97-AF65-F5344CB8AC3E}">
        <p14:creationId xmlns:p14="http://schemas.microsoft.com/office/powerpoint/2010/main" val="3424907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9E04B-7666-D3E3-2AA5-1FE6A9616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719CCB-83B2-6F1D-B13F-D19A170488D4}"/>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F698B7FF-D216-6BD7-C540-B0421D5128A2}"/>
              </a:ext>
            </a:extLst>
          </p:cNvPr>
          <p:cNvSpPr txBox="1"/>
          <p:nvPr/>
        </p:nvSpPr>
        <p:spPr>
          <a:xfrm>
            <a:off x="989902" y="1690689"/>
            <a:ext cx="4925486"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t>3D coordinates</a:t>
            </a:r>
          </a:p>
          <a:p>
            <a:pPr marL="285750" indent="-285750">
              <a:buFont typeface="Arial" panose="020B0604020202020204" pitchFamily="34" charset="0"/>
              <a:buChar char="•"/>
            </a:pPr>
            <a:r>
              <a:rPr lang="en-US" sz="2800" dirty="0"/>
              <a:t>3D transforms</a:t>
            </a:r>
          </a:p>
          <a:p>
            <a:pPr marL="285750" indent="-285750">
              <a:buFont typeface="Arial" panose="020B0604020202020204" pitchFamily="34" charset="0"/>
              <a:buChar char="•"/>
            </a:pPr>
            <a:r>
              <a:rPr lang="en-US" sz="2800" dirty="0">
                <a:sym typeface="Wingdings" panose="05000000000000000000" pitchFamily="2" charset="2"/>
              </a:rPr>
              <a:t> </a:t>
            </a:r>
            <a:r>
              <a:rPr lang="en-US" sz="2800" dirty="0"/>
              <a:t>Why they are important </a:t>
            </a:r>
            <a:r>
              <a:rPr lang="en-US" sz="2800" dirty="0">
                <a:sym typeface="Wingdings" panose="05000000000000000000" pitchFamily="2" charset="2"/>
              </a:rPr>
              <a:t></a:t>
            </a:r>
            <a:endParaRPr lang="en-US" sz="2800" dirty="0"/>
          </a:p>
          <a:p>
            <a:pPr marL="285750" indent="-285750">
              <a:buFont typeface="Arial" panose="020B0604020202020204" pitchFamily="34" charset="0"/>
              <a:buChar char="•"/>
            </a:pPr>
            <a:r>
              <a:rPr lang="en-US" sz="2800" dirty="0"/>
              <a:t>Dot &amp; Cross product</a:t>
            </a:r>
          </a:p>
          <a:p>
            <a:pPr marL="285750" indent="-285750">
              <a:buFont typeface="Arial" panose="020B0604020202020204" pitchFamily="34" charset="0"/>
              <a:buChar char="•"/>
            </a:pPr>
            <a:r>
              <a:rPr lang="en-US" sz="2800" dirty="0"/>
              <a:t>Quaternions</a:t>
            </a:r>
          </a:p>
        </p:txBody>
      </p:sp>
    </p:spTree>
    <p:extLst>
      <p:ext uri="{BB962C8B-B14F-4D97-AF65-F5344CB8AC3E}">
        <p14:creationId xmlns:p14="http://schemas.microsoft.com/office/powerpoint/2010/main" val="25308749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80B94-1365-67BC-592A-550E5BB2E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1FF110-0970-2E2B-EB49-A15638993D41}"/>
              </a:ext>
            </a:extLst>
          </p:cNvPr>
          <p:cNvSpPr>
            <a:spLocks noGrp="1"/>
          </p:cNvSpPr>
          <p:nvPr>
            <p:ph type="title"/>
          </p:nvPr>
        </p:nvSpPr>
        <p:spPr>
          <a:xfrm>
            <a:off x="0" y="365125"/>
            <a:ext cx="12123575" cy="1325563"/>
          </a:xfrm>
        </p:spPr>
        <p:txBody>
          <a:bodyPr/>
          <a:lstStyle/>
          <a:p>
            <a:r>
              <a:rPr lang="en-US" dirty="0"/>
              <a:t>This is how we position  object in front of the camera </a:t>
            </a:r>
            <a:endParaRPr lang="en-BE" dirty="0"/>
          </a:p>
        </p:txBody>
      </p:sp>
      <p:pic>
        <p:nvPicPr>
          <p:cNvPr id="5" name="Picture 4" descr="A diagram of a diagram&#10;&#10;Description automatically generated">
            <a:extLst>
              <a:ext uri="{FF2B5EF4-FFF2-40B4-BE49-F238E27FC236}">
                <a16:creationId xmlns:a16="http://schemas.microsoft.com/office/drawing/2014/main" id="{3BCDCAD7-5D4E-4EE8-D06B-0BCEFDC629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458" y="2374364"/>
            <a:ext cx="10653056" cy="3358151"/>
          </a:xfrm>
          <a:prstGeom prst="rect">
            <a:avLst/>
          </a:prstGeom>
        </p:spPr>
      </p:pic>
    </p:spTree>
    <p:extLst>
      <p:ext uri="{BB962C8B-B14F-4D97-AF65-F5344CB8AC3E}">
        <p14:creationId xmlns:p14="http://schemas.microsoft.com/office/powerpoint/2010/main" val="12453765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87E84-42E7-FED9-6881-72C5C8D04F72}"/>
              </a:ext>
            </a:extLst>
          </p:cNvPr>
          <p:cNvSpPr>
            <a:spLocks noGrp="1"/>
          </p:cNvSpPr>
          <p:nvPr>
            <p:ph type="title"/>
          </p:nvPr>
        </p:nvSpPr>
        <p:spPr>
          <a:xfrm>
            <a:off x="0" y="365125"/>
            <a:ext cx="12123575" cy="1325563"/>
          </a:xfrm>
        </p:spPr>
        <p:txBody>
          <a:bodyPr/>
          <a:lstStyle/>
          <a:p>
            <a:r>
              <a:rPr lang="en-US" dirty="0"/>
              <a:t>This is how we position  object in front of the camera </a:t>
            </a:r>
            <a:endParaRPr lang="en-BE" dirty="0"/>
          </a:p>
        </p:txBody>
      </p:sp>
      <p:pic>
        <p:nvPicPr>
          <p:cNvPr id="4" name="Picture 3" descr="A close-up of a kite&#10;&#10;Description automatically generated">
            <a:extLst>
              <a:ext uri="{FF2B5EF4-FFF2-40B4-BE49-F238E27FC236}">
                <a16:creationId xmlns:a16="http://schemas.microsoft.com/office/drawing/2014/main" id="{1F441653-1489-1A22-C3A6-695EABBB8E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8273" y="3582955"/>
            <a:ext cx="10255302" cy="3208590"/>
          </a:xfrm>
          <a:prstGeom prst="rect">
            <a:avLst/>
          </a:prstGeom>
        </p:spPr>
      </p:pic>
      <p:sp>
        <p:nvSpPr>
          <p:cNvPr id="3" name="TextBox 2">
            <a:extLst>
              <a:ext uri="{FF2B5EF4-FFF2-40B4-BE49-F238E27FC236}">
                <a16:creationId xmlns:a16="http://schemas.microsoft.com/office/drawing/2014/main" id="{9D99C993-4D60-D997-4BDF-350AE6E2D1ED}"/>
              </a:ext>
            </a:extLst>
          </p:cNvPr>
          <p:cNvSpPr txBox="1"/>
          <p:nvPr/>
        </p:nvSpPr>
        <p:spPr>
          <a:xfrm>
            <a:off x="3993502" y="4627984"/>
            <a:ext cx="184731" cy="369332"/>
          </a:xfrm>
          <a:prstGeom prst="rect">
            <a:avLst/>
          </a:prstGeom>
          <a:noFill/>
        </p:spPr>
        <p:txBody>
          <a:bodyPr wrap="none" rtlCol="0">
            <a:spAutoFit/>
          </a:bodyPr>
          <a:lstStyle/>
          <a:p>
            <a:endParaRPr lang="en-BE" dirty="0"/>
          </a:p>
        </p:txBody>
      </p:sp>
      <p:sp>
        <p:nvSpPr>
          <p:cNvPr id="5" name="TextBox 4">
            <a:extLst>
              <a:ext uri="{FF2B5EF4-FFF2-40B4-BE49-F238E27FC236}">
                <a16:creationId xmlns:a16="http://schemas.microsoft.com/office/drawing/2014/main" id="{C15C20D7-C87F-771E-F04A-31F4574FAAA8}"/>
              </a:ext>
            </a:extLst>
          </p:cNvPr>
          <p:cNvSpPr txBox="1"/>
          <p:nvPr/>
        </p:nvSpPr>
        <p:spPr>
          <a:xfrm>
            <a:off x="460310" y="1690688"/>
            <a:ext cx="9117048" cy="1200329"/>
          </a:xfrm>
          <a:prstGeom prst="rect">
            <a:avLst/>
          </a:prstGeom>
          <a:noFill/>
        </p:spPr>
        <p:txBody>
          <a:bodyPr wrap="none" rtlCol="0">
            <a:spAutoFit/>
          </a:bodyPr>
          <a:lstStyle/>
          <a:p>
            <a:pPr marL="285750" indent="-285750">
              <a:buFont typeface="Arial" panose="020B0604020202020204" pitchFamily="34" charset="0"/>
              <a:buChar char="•"/>
            </a:pPr>
            <a:r>
              <a:rPr lang="en-US" dirty="0"/>
              <a:t>Transform the model into the world</a:t>
            </a:r>
          </a:p>
          <a:p>
            <a:pPr marL="285750" indent="-285750">
              <a:buFont typeface="Arial" panose="020B0604020202020204" pitchFamily="34" charset="0"/>
              <a:buChar char="•"/>
            </a:pPr>
            <a:r>
              <a:rPr lang="en-US" dirty="0"/>
              <a:t>Transform the model in the world to the camera viewpoint</a:t>
            </a:r>
          </a:p>
          <a:p>
            <a:pPr marL="285750" indent="-285750">
              <a:buFont typeface="Arial" panose="020B0604020202020204" pitchFamily="34" charset="0"/>
              <a:buChar char="•"/>
            </a:pPr>
            <a:r>
              <a:rPr lang="en-US" dirty="0"/>
              <a:t>Transform (project) the model onto the “film” of the camera</a:t>
            </a:r>
          </a:p>
          <a:p>
            <a:pPr marL="285750" indent="-285750">
              <a:buFont typeface="Arial" panose="020B0604020202020204" pitchFamily="34" charset="0"/>
              <a:buChar char="•"/>
            </a:pPr>
            <a:r>
              <a:rPr lang="en-US" dirty="0"/>
              <a:t>This is called the </a:t>
            </a:r>
            <a:r>
              <a:rPr lang="en-US" dirty="0" err="1"/>
              <a:t>ModelViewProjections</a:t>
            </a:r>
            <a:r>
              <a:rPr lang="en-US" dirty="0"/>
              <a:t> transform, and we’ll see it in one of the later classes</a:t>
            </a:r>
            <a:endParaRPr lang="en-BE" dirty="0"/>
          </a:p>
        </p:txBody>
      </p:sp>
    </p:spTree>
    <p:extLst>
      <p:ext uri="{BB962C8B-B14F-4D97-AF65-F5344CB8AC3E}">
        <p14:creationId xmlns:p14="http://schemas.microsoft.com/office/powerpoint/2010/main" val="1060144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C265C-A52D-C28D-431D-9A24262BA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74D4B-3652-A207-1566-07DE9DC90C31}"/>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17709B08-0BB5-E312-B5D3-99D71BAFD9BC}"/>
              </a:ext>
            </a:extLst>
          </p:cNvPr>
          <p:cNvSpPr txBox="1"/>
          <p:nvPr/>
        </p:nvSpPr>
        <p:spPr>
          <a:xfrm>
            <a:off x="958800" y="1690688"/>
            <a:ext cx="4925486"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t>3D coordinates</a:t>
            </a:r>
          </a:p>
          <a:p>
            <a:pPr marL="285750" indent="-285750">
              <a:buFont typeface="Arial" panose="020B0604020202020204" pitchFamily="34" charset="0"/>
              <a:buChar char="•"/>
            </a:pPr>
            <a:r>
              <a:rPr lang="en-US" sz="2800" dirty="0"/>
              <a:t>3D transforms</a:t>
            </a:r>
          </a:p>
          <a:p>
            <a:pPr marL="285750" indent="-285750">
              <a:buFont typeface="Arial" panose="020B0604020202020204" pitchFamily="34" charset="0"/>
              <a:buChar char="•"/>
            </a:pPr>
            <a:r>
              <a:rPr lang="en-US" sz="2800" dirty="0"/>
              <a:t>Why they are important</a:t>
            </a:r>
          </a:p>
          <a:p>
            <a:pPr marL="285750" indent="-285750">
              <a:buFont typeface="Arial" panose="020B0604020202020204" pitchFamily="34" charset="0"/>
              <a:buChar char="•"/>
            </a:pPr>
            <a:r>
              <a:rPr lang="en-US" sz="2800" dirty="0">
                <a:sym typeface="Wingdings" panose="05000000000000000000" pitchFamily="2" charset="2"/>
              </a:rPr>
              <a:t></a:t>
            </a:r>
            <a:r>
              <a:rPr lang="en-US" sz="2800" dirty="0"/>
              <a:t>Dot &amp; Cross product </a:t>
            </a:r>
            <a:r>
              <a:rPr lang="en-US" sz="2800" dirty="0">
                <a:sym typeface="Wingdings" panose="05000000000000000000" pitchFamily="2" charset="2"/>
              </a:rPr>
              <a:t></a:t>
            </a:r>
            <a:endParaRPr lang="en-US" sz="2800" dirty="0"/>
          </a:p>
          <a:p>
            <a:pPr marL="285750" indent="-285750">
              <a:buFont typeface="Arial" panose="020B0604020202020204" pitchFamily="34" charset="0"/>
              <a:buChar char="•"/>
            </a:pPr>
            <a:r>
              <a:rPr lang="en-US" sz="2800" dirty="0"/>
              <a:t>Quaternions</a:t>
            </a:r>
          </a:p>
        </p:txBody>
      </p:sp>
    </p:spTree>
    <p:extLst>
      <p:ext uri="{BB962C8B-B14F-4D97-AF65-F5344CB8AC3E}">
        <p14:creationId xmlns:p14="http://schemas.microsoft.com/office/powerpoint/2010/main" val="1698283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88C00-ACD9-BB3F-694D-F92861569E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FD8952-0F3F-E1D8-BEE6-051C5AFE8784}"/>
              </a:ext>
            </a:extLst>
          </p:cNvPr>
          <p:cNvSpPr>
            <a:spLocks noGrp="1"/>
          </p:cNvSpPr>
          <p:nvPr>
            <p:ph type="title"/>
          </p:nvPr>
        </p:nvSpPr>
        <p:spPr>
          <a:xfrm>
            <a:off x="534955" y="371345"/>
            <a:ext cx="12123575" cy="1325563"/>
          </a:xfrm>
        </p:spPr>
        <p:txBody>
          <a:bodyPr/>
          <a:lstStyle/>
          <a:p>
            <a:r>
              <a:rPr lang="en-US" dirty="0"/>
              <a:t>Dot product</a:t>
            </a:r>
            <a:endParaRPr lang="en-BE" dirty="0"/>
          </a:p>
        </p:txBody>
      </p:sp>
      <p:sp>
        <p:nvSpPr>
          <p:cNvPr id="3" name="TextBox 2">
            <a:extLst>
              <a:ext uri="{FF2B5EF4-FFF2-40B4-BE49-F238E27FC236}">
                <a16:creationId xmlns:a16="http://schemas.microsoft.com/office/drawing/2014/main" id="{1851DE02-48C2-DFFE-01EE-427819FA2A14}"/>
              </a:ext>
            </a:extLst>
          </p:cNvPr>
          <p:cNvSpPr txBox="1"/>
          <p:nvPr/>
        </p:nvSpPr>
        <p:spPr>
          <a:xfrm>
            <a:off x="326571" y="4460032"/>
            <a:ext cx="11538857" cy="2246769"/>
          </a:xfrm>
          <a:prstGeom prst="rect">
            <a:avLst/>
          </a:prstGeom>
          <a:noFill/>
        </p:spPr>
        <p:txBody>
          <a:bodyPr wrap="square" rtlCol="0">
            <a:spAutoFit/>
          </a:bodyPr>
          <a:lstStyle/>
          <a:p>
            <a:r>
              <a:rPr lang="en-US" sz="2800" dirty="0"/>
              <a:t>Definition 1 : Dot(A,B) = </a:t>
            </a:r>
            <a:r>
              <a:rPr lang="en-US" sz="2800" dirty="0" err="1"/>
              <a:t>A.length</a:t>
            </a:r>
            <a:r>
              <a:rPr lang="en-US" sz="2800" dirty="0"/>
              <a:t>() * </a:t>
            </a:r>
            <a:r>
              <a:rPr lang="en-US" sz="2800" dirty="0" err="1"/>
              <a:t>B.length</a:t>
            </a:r>
            <a:r>
              <a:rPr lang="en-US" sz="2800" dirty="0"/>
              <a:t>() * cos(angle) </a:t>
            </a:r>
          </a:p>
          <a:p>
            <a:r>
              <a:rPr lang="en-US" sz="2800" dirty="0"/>
              <a:t>Definition 2 : </a:t>
            </a:r>
            <a:r>
              <a:rPr lang="en-US" sz="2800" dirty="0" err="1"/>
              <a:t>A.x</a:t>
            </a:r>
            <a:r>
              <a:rPr lang="en-US" sz="2800" dirty="0"/>
              <a:t> * </a:t>
            </a:r>
            <a:r>
              <a:rPr lang="en-US" sz="2800" dirty="0" err="1"/>
              <a:t>B.x</a:t>
            </a:r>
            <a:r>
              <a:rPr lang="en-US" sz="2800" dirty="0"/>
              <a:t> + </a:t>
            </a:r>
            <a:r>
              <a:rPr lang="en-US" sz="2800" dirty="0" err="1"/>
              <a:t>A.y</a:t>
            </a:r>
            <a:r>
              <a:rPr lang="en-US" sz="2800" dirty="0"/>
              <a:t> * </a:t>
            </a:r>
            <a:r>
              <a:rPr lang="en-US" sz="2800" dirty="0" err="1"/>
              <a:t>B.y</a:t>
            </a:r>
            <a:r>
              <a:rPr lang="en-US" sz="2800" dirty="0"/>
              <a:t> + </a:t>
            </a:r>
            <a:r>
              <a:rPr lang="en-US" sz="2800" dirty="0" err="1"/>
              <a:t>A.z</a:t>
            </a:r>
            <a:r>
              <a:rPr lang="en-US" sz="2800" dirty="0"/>
              <a:t> * </a:t>
            </a:r>
            <a:r>
              <a:rPr lang="en-US" sz="2800" dirty="0" err="1"/>
              <a:t>B.z</a:t>
            </a:r>
            <a:endParaRPr lang="en-BE" sz="2800" dirty="0"/>
          </a:p>
          <a:p>
            <a:endParaRPr lang="en-US" sz="2800" dirty="0"/>
          </a:p>
          <a:p>
            <a:r>
              <a:rPr lang="en-US" sz="2800" dirty="0"/>
              <a:t>Unit vectors: Dot(A,B) =  cos(angle)</a:t>
            </a:r>
          </a:p>
          <a:p>
            <a:r>
              <a:rPr lang="en-US" sz="2800" b="1" dirty="0"/>
              <a:t>Measure of closeness</a:t>
            </a:r>
          </a:p>
        </p:txBody>
      </p:sp>
      <p:cxnSp>
        <p:nvCxnSpPr>
          <p:cNvPr id="6" name="Straight Connector 5">
            <a:extLst>
              <a:ext uri="{FF2B5EF4-FFF2-40B4-BE49-F238E27FC236}">
                <a16:creationId xmlns:a16="http://schemas.microsoft.com/office/drawing/2014/main" id="{B8E651D1-14F8-6D1F-BE9E-FD1DF6EA5087}"/>
              </a:ext>
            </a:extLst>
          </p:cNvPr>
          <p:cNvCxnSpPr/>
          <p:nvPr/>
        </p:nvCxnSpPr>
        <p:spPr>
          <a:xfrm flipV="1">
            <a:off x="4609323" y="1866122"/>
            <a:ext cx="1337388" cy="1517779"/>
          </a:xfrm>
          <a:prstGeom prst="line">
            <a:avLst/>
          </a:prstGeom>
          <a:ln w="76200">
            <a:solidFill>
              <a:schemeClr val="accent2">
                <a:lumMod val="75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90F47BF3-2AAB-85FD-7D70-7F7FEB2D34A3}"/>
              </a:ext>
            </a:extLst>
          </p:cNvPr>
          <p:cNvSpPr txBox="1"/>
          <p:nvPr/>
        </p:nvSpPr>
        <p:spPr>
          <a:xfrm>
            <a:off x="4307872" y="2142400"/>
            <a:ext cx="317716" cy="369332"/>
          </a:xfrm>
          <a:prstGeom prst="rect">
            <a:avLst/>
          </a:prstGeom>
          <a:noFill/>
        </p:spPr>
        <p:txBody>
          <a:bodyPr wrap="none" rtlCol="0">
            <a:spAutoFit/>
          </a:bodyPr>
          <a:lstStyle/>
          <a:p>
            <a:r>
              <a:rPr lang="en-US" dirty="0"/>
              <a:t>A</a:t>
            </a:r>
            <a:endParaRPr lang="en-BE" dirty="0"/>
          </a:p>
        </p:txBody>
      </p:sp>
      <p:cxnSp>
        <p:nvCxnSpPr>
          <p:cNvPr id="8" name="Straight Connector 7">
            <a:extLst>
              <a:ext uri="{FF2B5EF4-FFF2-40B4-BE49-F238E27FC236}">
                <a16:creationId xmlns:a16="http://schemas.microsoft.com/office/drawing/2014/main" id="{9B3F152F-7996-05C9-2024-0EC8C1E9A6C3}"/>
              </a:ext>
            </a:extLst>
          </p:cNvPr>
          <p:cNvCxnSpPr>
            <a:cxnSpLocks/>
          </p:cNvCxnSpPr>
          <p:nvPr/>
        </p:nvCxnSpPr>
        <p:spPr>
          <a:xfrm>
            <a:off x="4609323" y="3383901"/>
            <a:ext cx="2146040" cy="0"/>
          </a:xfrm>
          <a:prstGeom prst="line">
            <a:avLst/>
          </a:prstGeom>
          <a:ln w="76200">
            <a:solidFill>
              <a:srgbClr val="0070C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95FBCD85-8BEE-487E-B131-B4D3C12BB3CF}"/>
              </a:ext>
            </a:extLst>
          </p:cNvPr>
          <p:cNvSpPr txBox="1"/>
          <p:nvPr/>
        </p:nvSpPr>
        <p:spPr>
          <a:xfrm>
            <a:off x="6192417" y="3552635"/>
            <a:ext cx="309700" cy="369332"/>
          </a:xfrm>
          <a:prstGeom prst="rect">
            <a:avLst/>
          </a:prstGeom>
          <a:noFill/>
        </p:spPr>
        <p:txBody>
          <a:bodyPr wrap="none" rtlCol="0">
            <a:spAutoFit/>
          </a:bodyPr>
          <a:lstStyle/>
          <a:p>
            <a:r>
              <a:rPr lang="en-US" dirty="0"/>
              <a:t>B</a:t>
            </a:r>
            <a:endParaRPr lang="en-BE" dirty="0"/>
          </a:p>
        </p:txBody>
      </p:sp>
      <p:sp>
        <p:nvSpPr>
          <p:cNvPr id="12" name="Arc 11">
            <a:extLst>
              <a:ext uri="{FF2B5EF4-FFF2-40B4-BE49-F238E27FC236}">
                <a16:creationId xmlns:a16="http://schemas.microsoft.com/office/drawing/2014/main" id="{B48D35A8-B889-862C-95F0-B0DBB9FB3FF4}"/>
              </a:ext>
            </a:extLst>
          </p:cNvPr>
          <p:cNvSpPr/>
          <p:nvPr/>
        </p:nvSpPr>
        <p:spPr>
          <a:xfrm>
            <a:off x="4578208" y="2773038"/>
            <a:ext cx="1181886" cy="1158261"/>
          </a:xfrm>
          <a:prstGeom prst="arc">
            <a:avLst/>
          </a:prstGeom>
          <a:noFill/>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ln>
                <a:solidFill>
                  <a:schemeClr val="tx1">
                    <a:lumMod val="95000"/>
                    <a:lumOff val="5000"/>
                  </a:schemeClr>
                </a:solidFill>
              </a:ln>
            </a:endParaRPr>
          </a:p>
        </p:txBody>
      </p:sp>
      <p:sp>
        <p:nvSpPr>
          <p:cNvPr id="13" name="TextBox 12">
            <a:extLst>
              <a:ext uri="{FF2B5EF4-FFF2-40B4-BE49-F238E27FC236}">
                <a16:creationId xmlns:a16="http://schemas.microsoft.com/office/drawing/2014/main" id="{7F3A3D0D-F0ED-86B7-D27B-E8660C773DE0}"/>
              </a:ext>
            </a:extLst>
          </p:cNvPr>
          <p:cNvSpPr txBox="1"/>
          <p:nvPr/>
        </p:nvSpPr>
        <p:spPr>
          <a:xfrm>
            <a:off x="5552137" y="2625011"/>
            <a:ext cx="694421" cy="369332"/>
          </a:xfrm>
          <a:prstGeom prst="rect">
            <a:avLst/>
          </a:prstGeom>
          <a:noFill/>
        </p:spPr>
        <p:txBody>
          <a:bodyPr wrap="none" rtlCol="0">
            <a:spAutoFit/>
          </a:bodyPr>
          <a:lstStyle/>
          <a:p>
            <a:r>
              <a:rPr lang="en-US" dirty="0"/>
              <a:t>angle</a:t>
            </a:r>
            <a:endParaRPr lang="en-BE" dirty="0"/>
          </a:p>
        </p:txBody>
      </p:sp>
    </p:spTree>
    <p:extLst>
      <p:ext uri="{BB962C8B-B14F-4D97-AF65-F5344CB8AC3E}">
        <p14:creationId xmlns:p14="http://schemas.microsoft.com/office/powerpoint/2010/main" val="28041583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C9699-AB74-7C51-97FC-5CBABCA04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E74A7-184C-E194-7AC6-D35DD54C779E}"/>
              </a:ext>
            </a:extLst>
          </p:cNvPr>
          <p:cNvSpPr>
            <a:spLocks noGrp="1"/>
          </p:cNvSpPr>
          <p:nvPr>
            <p:ph type="title"/>
          </p:nvPr>
        </p:nvSpPr>
        <p:spPr>
          <a:xfrm>
            <a:off x="534955" y="371345"/>
            <a:ext cx="12123575" cy="1325563"/>
          </a:xfrm>
        </p:spPr>
        <p:txBody>
          <a:bodyPr/>
          <a:lstStyle/>
          <a:p>
            <a:r>
              <a:rPr lang="en-US" dirty="0"/>
              <a:t>Unit vectors </a:t>
            </a:r>
            <a:r>
              <a:rPr lang="en-US" dirty="0">
                <a:sym typeface="Wingdings" panose="05000000000000000000" pitchFamily="2" charset="2"/>
              </a:rPr>
              <a:t> just the cosine</a:t>
            </a:r>
            <a:endParaRPr lang="en-BE" dirty="0"/>
          </a:p>
        </p:txBody>
      </p:sp>
      <p:cxnSp>
        <p:nvCxnSpPr>
          <p:cNvPr id="4" name="Straight Arrow Connector 3">
            <a:extLst>
              <a:ext uri="{FF2B5EF4-FFF2-40B4-BE49-F238E27FC236}">
                <a16:creationId xmlns:a16="http://schemas.microsoft.com/office/drawing/2014/main" id="{4327155C-3D14-F4D4-0A75-23CB3C9C638B}"/>
              </a:ext>
            </a:extLst>
          </p:cNvPr>
          <p:cNvCxnSpPr/>
          <p:nvPr/>
        </p:nvCxnSpPr>
        <p:spPr>
          <a:xfrm>
            <a:off x="547769" y="3471081"/>
            <a:ext cx="2228461" cy="0"/>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68567D28-2147-0FC7-F55B-128ACACF6847}"/>
              </a:ext>
            </a:extLst>
          </p:cNvPr>
          <p:cNvCxnSpPr/>
          <p:nvPr/>
        </p:nvCxnSpPr>
        <p:spPr>
          <a:xfrm>
            <a:off x="600642" y="3573718"/>
            <a:ext cx="2228461" cy="0"/>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CB43F11-1101-EE48-2BEA-F480A09B0430}"/>
              </a:ext>
            </a:extLst>
          </p:cNvPr>
          <p:cNvCxnSpPr>
            <a:cxnSpLocks/>
          </p:cNvCxnSpPr>
          <p:nvPr/>
        </p:nvCxnSpPr>
        <p:spPr>
          <a:xfrm>
            <a:off x="7878520" y="3573718"/>
            <a:ext cx="2228461" cy="0"/>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C9B567F-86F4-992C-3CC5-8D5D12C07907}"/>
              </a:ext>
            </a:extLst>
          </p:cNvPr>
          <p:cNvCxnSpPr>
            <a:cxnSpLocks/>
          </p:cNvCxnSpPr>
          <p:nvPr/>
        </p:nvCxnSpPr>
        <p:spPr>
          <a:xfrm flipH="1">
            <a:off x="5979740" y="3573718"/>
            <a:ext cx="1765041" cy="0"/>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0F98F25-601D-88BB-8B5F-3507697252E4}"/>
              </a:ext>
            </a:extLst>
          </p:cNvPr>
          <p:cNvCxnSpPr>
            <a:cxnSpLocks/>
          </p:cNvCxnSpPr>
          <p:nvPr/>
        </p:nvCxnSpPr>
        <p:spPr>
          <a:xfrm flipV="1">
            <a:off x="650405" y="4556542"/>
            <a:ext cx="0" cy="1782147"/>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8A58CA8-2566-5906-39B0-8C61797C8345}"/>
              </a:ext>
            </a:extLst>
          </p:cNvPr>
          <p:cNvCxnSpPr>
            <a:cxnSpLocks/>
          </p:cNvCxnSpPr>
          <p:nvPr/>
        </p:nvCxnSpPr>
        <p:spPr>
          <a:xfrm>
            <a:off x="650405" y="6338689"/>
            <a:ext cx="2228461" cy="0"/>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29D7EBC-3FE9-129A-CB03-28F334E4EA4A}"/>
              </a:ext>
            </a:extLst>
          </p:cNvPr>
          <p:cNvCxnSpPr>
            <a:cxnSpLocks/>
          </p:cNvCxnSpPr>
          <p:nvPr/>
        </p:nvCxnSpPr>
        <p:spPr>
          <a:xfrm flipV="1">
            <a:off x="6939238" y="4677840"/>
            <a:ext cx="1391817" cy="1455575"/>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EC95C9-0E62-206E-C347-CB7ACBEA03B2}"/>
              </a:ext>
            </a:extLst>
          </p:cNvPr>
          <p:cNvCxnSpPr>
            <a:cxnSpLocks/>
          </p:cNvCxnSpPr>
          <p:nvPr/>
        </p:nvCxnSpPr>
        <p:spPr>
          <a:xfrm>
            <a:off x="6992111" y="6236052"/>
            <a:ext cx="2228461" cy="0"/>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8">
            <a:extLst>
              <a:ext uri="{FF2B5EF4-FFF2-40B4-BE49-F238E27FC236}">
                <a16:creationId xmlns:a16="http://schemas.microsoft.com/office/drawing/2014/main" id="{69B7927F-5E9B-2A54-98F8-E146BD9D0367}"/>
              </a:ext>
            </a:extLst>
          </p:cNvPr>
          <p:cNvSpPr txBox="1"/>
          <p:nvPr/>
        </p:nvSpPr>
        <p:spPr>
          <a:xfrm>
            <a:off x="3454254" y="3360875"/>
            <a:ext cx="1039067" cy="369332"/>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Dot = 1.0</a:t>
            </a:r>
            <a:endParaRPr lang="en-BE" dirty="0"/>
          </a:p>
        </p:txBody>
      </p:sp>
      <p:sp>
        <p:nvSpPr>
          <p:cNvPr id="19" name="TextBox 19">
            <a:extLst>
              <a:ext uri="{FF2B5EF4-FFF2-40B4-BE49-F238E27FC236}">
                <a16:creationId xmlns:a16="http://schemas.microsoft.com/office/drawing/2014/main" id="{CE61523E-BE64-444B-A809-FAF6877D2BC0}"/>
              </a:ext>
            </a:extLst>
          </p:cNvPr>
          <p:cNvSpPr txBox="1"/>
          <p:nvPr/>
        </p:nvSpPr>
        <p:spPr>
          <a:xfrm>
            <a:off x="3454253" y="6051386"/>
            <a:ext cx="1039067" cy="369332"/>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Dot = 0.0</a:t>
            </a:r>
            <a:endParaRPr lang="en-BE" dirty="0"/>
          </a:p>
        </p:txBody>
      </p:sp>
      <p:sp>
        <p:nvSpPr>
          <p:cNvPr id="20" name="TextBox 20">
            <a:extLst>
              <a:ext uri="{FF2B5EF4-FFF2-40B4-BE49-F238E27FC236}">
                <a16:creationId xmlns:a16="http://schemas.microsoft.com/office/drawing/2014/main" id="{D0EFC46B-80F6-78EE-A112-A5ADC63B43C5}"/>
              </a:ext>
            </a:extLst>
          </p:cNvPr>
          <p:cNvSpPr txBox="1"/>
          <p:nvPr/>
        </p:nvSpPr>
        <p:spPr>
          <a:xfrm>
            <a:off x="10240720" y="3389052"/>
            <a:ext cx="1109599" cy="369332"/>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Dot = -1.0</a:t>
            </a:r>
            <a:endParaRPr lang="en-BE" dirty="0"/>
          </a:p>
        </p:txBody>
      </p:sp>
      <p:sp>
        <p:nvSpPr>
          <p:cNvPr id="21" name="TextBox 21">
            <a:extLst>
              <a:ext uri="{FF2B5EF4-FFF2-40B4-BE49-F238E27FC236}">
                <a16:creationId xmlns:a16="http://schemas.microsoft.com/office/drawing/2014/main" id="{354155E9-9295-6D20-F997-D35D66E624AC}"/>
              </a:ext>
            </a:extLst>
          </p:cNvPr>
          <p:cNvSpPr txBox="1"/>
          <p:nvPr/>
        </p:nvSpPr>
        <p:spPr>
          <a:xfrm>
            <a:off x="10142015" y="6051386"/>
            <a:ext cx="1039067" cy="369332"/>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Dot = 0.7</a:t>
            </a:r>
            <a:endParaRPr lang="en-BE" dirty="0"/>
          </a:p>
        </p:txBody>
      </p:sp>
    </p:spTree>
    <p:extLst>
      <p:ext uri="{BB962C8B-B14F-4D97-AF65-F5344CB8AC3E}">
        <p14:creationId xmlns:p14="http://schemas.microsoft.com/office/powerpoint/2010/main" val="7632338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1FC36-C8C3-9BA3-8577-7AD9E10336C1}"/>
              </a:ext>
            </a:extLst>
          </p:cNvPr>
          <p:cNvSpPr>
            <a:spLocks noGrp="1"/>
          </p:cNvSpPr>
          <p:nvPr>
            <p:ph type="title"/>
          </p:nvPr>
        </p:nvSpPr>
        <p:spPr/>
        <p:txBody>
          <a:bodyPr/>
          <a:lstStyle/>
          <a:p>
            <a:r>
              <a:rPr lang="en-US" dirty="0"/>
              <a:t>Dot product uses: shading </a:t>
            </a:r>
            <a:endParaRPr lang="en-BE" dirty="0"/>
          </a:p>
        </p:txBody>
      </p:sp>
      <p:pic>
        <p:nvPicPr>
          <p:cNvPr id="4" name="Picture 3">
            <a:extLst>
              <a:ext uri="{FF2B5EF4-FFF2-40B4-BE49-F238E27FC236}">
                <a16:creationId xmlns:a16="http://schemas.microsoft.com/office/drawing/2014/main" id="{F05D0EA0-AC63-C47E-A497-8343B53235CA}"/>
              </a:ext>
            </a:extLst>
          </p:cNvPr>
          <p:cNvPicPr>
            <a:picLocks noChangeAspect="1"/>
          </p:cNvPicPr>
          <p:nvPr/>
        </p:nvPicPr>
        <p:blipFill>
          <a:blip r:embed="rId3"/>
          <a:stretch>
            <a:fillRect/>
          </a:stretch>
        </p:blipFill>
        <p:spPr>
          <a:xfrm>
            <a:off x="3608420" y="2541257"/>
            <a:ext cx="4745587" cy="4062222"/>
          </a:xfrm>
          <a:prstGeom prst="rect">
            <a:avLst/>
          </a:prstGeom>
        </p:spPr>
      </p:pic>
      <p:cxnSp>
        <p:nvCxnSpPr>
          <p:cNvPr id="5" name="Straight Arrow Connector 4">
            <a:extLst>
              <a:ext uri="{FF2B5EF4-FFF2-40B4-BE49-F238E27FC236}">
                <a16:creationId xmlns:a16="http://schemas.microsoft.com/office/drawing/2014/main" id="{C4AA3C29-6ADF-A3E8-0D62-20E7E69376F2}"/>
              </a:ext>
            </a:extLst>
          </p:cNvPr>
          <p:cNvCxnSpPr>
            <a:cxnSpLocks/>
          </p:cNvCxnSpPr>
          <p:nvPr/>
        </p:nvCxnSpPr>
        <p:spPr>
          <a:xfrm flipH="1" flipV="1">
            <a:off x="3608420" y="1924174"/>
            <a:ext cx="1517197" cy="1441928"/>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831897D7-84CF-CF1F-9379-D0E73504E25D}"/>
              </a:ext>
            </a:extLst>
          </p:cNvPr>
          <p:cNvCxnSpPr>
            <a:cxnSpLocks/>
          </p:cNvCxnSpPr>
          <p:nvPr/>
        </p:nvCxnSpPr>
        <p:spPr>
          <a:xfrm flipV="1">
            <a:off x="7145463" y="2307771"/>
            <a:ext cx="1618861" cy="1334278"/>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BA2B819-BC51-AABE-0CEF-8BA978231A3D}"/>
              </a:ext>
            </a:extLst>
          </p:cNvPr>
          <p:cNvCxnSpPr>
            <a:cxnSpLocks/>
          </p:cNvCxnSpPr>
          <p:nvPr/>
        </p:nvCxnSpPr>
        <p:spPr>
          <a:xfrm flipH="1" flipV="1">
            <a:off x="3788229" y="1735494"/>
            <a:ext cx="1511559" cy="1449817"/>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17D8359-D049-8A54-286E-3365E1A87CDD}"/>
              </a:ext>
            </a:extLst>
          </p:cNvPr>
          <p:cNvCxnSpPr>
            <a:cxnSpLocks/>
          </p:cNvCxnSpPr>
          <p:nvPr/>
        </p:nvCxnSpPr>
        <p:spPr>
          <a:xfrm flipH="1" flipV="1">
            <a:off x="5610498" y="2202628"/>
            <a:ext cx="1517197" cy="1441928"/>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2844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48649-ADF2-F7E3-220A-EA084FB419D1}"/>
              </a:ext>
            </a:extLst>
          </p:cNvPr>
          <p:cNvSpPr>
            <a:spLocks noGrp="1"/>
          </p:cNvSpPr>
          <p:nvPr>
            <p:ph type="title"/>
          </p:nvPr>
        </p:nvSpPr>
        <p:spPr/>
        <p:txBody>
          <a:bodyPr/>
          <a:lstStyle/>
          <a:p>
            <a:r>
              <a:rPr lang="en-US" dirty="0"/>
              <a:t>Cross product</a:t>
            </a:r>
            <a:endParaRPr lang="en-BE" dirty="0"/>
          </a:p>
        </p:txBody>
      </p:sp>
      <p:pic>
        <p:nvPicPr>
          <p:cNvPr id="4" name="Picture 3" descr="A hand with a hand raised and a hand with a hand raised&#10;&#10;Description automatically generated">
            <a:extLst>
              <a:ext uri="{FF2B5EF4-FFF2-40B4-BE49-F238E27FC236}">
                <a16:creationId xmlns:a16="http://schemas.microsoft.com/office/drawing/2014/main" id="{A10C9703-CC92-BE02-19C8-AADF003161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8551" y="2541979"/>
            <a:ext cx="7608243" cy="4316021"/>
          </a:xfrm>
          <a:prstGeom prst="rect">
            <a:avLst/>
          </a:prstGeom>
        </p:spPr>
      </p:pic>
      <p:sp>
        <p:nvSpPr>
          <p:cNvPr id="5" name="TextBox 4">
            <a:extLst>
              <a:ext uri="{FF2B5EF4-FFF2-40B4-BE49-F238E27FC236}">
                <a16:creationId xmlns:a16="http://schemas.microsoft.com/office/drawing/2014/main" id="{DE79C42A-7751-ADD7-C73D-8636A4575A88}"/>
              </a:ext>
            </a:extLst>
          </p:cNvPr>
          <p:cNvSpPr txBox="1"/>
          <p:nvPr/>
        </p:nvSpPr>
        <p:spPr>
          <a:xfrm>
            <a:off x="298579" y="1365826"/>
            <a:ext cx="8459945" cy="1815882"/>
          </a:xfrm>
          <a:prstGeom prst="rect">
            <a:avLst/>
          </a:prstGeom>
          <a:noFill/>
        </p:spPr>
        <p:txBody>
          <a:bodyPr wrap="none" rtlCol="0">
            <a:spAutoFit/>
          </a:bodyPr>
          <a:lstStyle/>
          <a:p>
            <a:r>
              <a:rPr lang="en-US" sz="2800" dirty="0"/>
              <a:t>Creates a third vector perpendicular to two given vectors</a:t>
            </a:r>
          </a:p>
          <a:p>
            <a:r>
              <a:rPr lang="en-US" sz="2800" dirty="0"/>
              <a:t>Order matters! </a:t>
            </a:r>
            <a:r>
              <a:rPr lang="en-US" sz="2800" dirty="0" err="1"/>
              <a:t>AxB</a:t>
            </a:r>
            <a:r>
              <a:rPr lang="en-US" sz="2800" dirty="0"/>
              <a:t> = -</a:t>
            </a:r>
            <a:r>
              <a:rPr lang="en-US" sz="2800" dirty="0" err="1"/>
              <a:t>BxA</a:t>
            </a:r>
            <a:r>
              <a:rPr lang="en-US" sz="2800" dirty="0"/>
              <a:t> (result is flipped)</a:t>
            </a:r>
          </a:p>
          <a:p>
            <a:r>
              <a:rPr lang="en-US" sz="2800" dirty="0"/>
              <a:t>Length depends on angle, length of A and B</a:t>
            </a:r>
          </a:p>
          <a:p>
            <a:r>
              <a:rPr lang="en-US" sz="2800" dirty="0"/>
              <a:t>Perpendicular A and B, A and B are unit vectors : length 1</a:t>
            </a:r>
            <a:endParaRPr lang="en-BE" sz="2800" dirty="0"/>
          </a:p>
        </p:txBody>
      </p:sp>
    </p:spTree>
    <p:extLst>
      <p:ext uri="{BB962C8B-B14F-4D97-AF65-F5344CB8AC3E}">
        <p14:creationId xmlns:p14="http://schemas.microsoft.com/office/powerpoint/2010/main" val="13629528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BC7E9-B18A-62B8-D16E-7C2D2F0805C7}"/>
              </a:ext>
            </a:extLst>
          </p:cNvPr>
          <p:cNvSpPr>
            <a:spLocks noGrp="1"/>
          </p:cNvSpPr>
          <p:nvPr>
            <p:ph type="title"/>
          </p:nvPr>
        </p:nvSpPr>
        <p:spPr/>
        <p:txBody>
          <a:bodyPr/>
          <a:lstStyle/>
          <a:p>
            <a:r>
              <a:rPr lang="en-US" dirty="0"/>
              <a:t>Cross product uses : calculate normal </a:t>
            </a:r>
            <a:endParaRPr lang="en-BE" dirty="0"/>
          </a:p>
        </p:txBody>
      </p:sp>
      <p:pic>
        <p:nvPicPr>
          <p:cNvPr id="4" name="Picture 3" descr="A diagram of a triangle with a line and a line&#10;&#10;Description automatically generated">
            <a:extLst>
              <a:ext uri="{FF2B5EF4-FFF2-40B4-BE49-F238E27FC236}">
                <a16:creationId xmlns:a16="http://schemas.microsoft.com/office/drawing/2014/main" id="{6CAFDAB8-B98A-C915-799E-5F9CFAAC52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427" y="1635968"/>
            <a:ext cx="7862482" cy="5171297"/>
          </a:xfrm>
          <a:prstGeom prst="rect">
            <a:avLst/>
          </a:prstGeom>
        </p:spPr>
      </p:pic>
    </p:spTree>
    <p:extLst>
      <p:ext uri="{BB962C8B-B14F-4D97-AF65-F5344CB8AC3E}">
        <p14:creationId xmlns:p14="http://schemas.microsoft.com/office/powerpoint/2010/main" val="41141262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B0096-195F-1EC6-EF87-273E1BBB7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2A7B8C-1436-2934-9344-1B13C62D98FC}"/>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263D4162-3E7E-B15B-6F6D-B6F1B9C6FDFA}"/>
              </a:ext>
            </a:extLst>
          </p:cNvPr>
          <p:cNvSpPr txBox="1"/>
          <p:nvPr/>
        </p:nvSpPr>
        <p:spPr>
          <a:xfrm>
            <a:off x="958800" y="1690688"/>
            <a:ext cx="4925486"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t>3D coordinates</a:t>
            </a:r>
          </a:p>
          <a:p>
            <a:pPr marL="285750" indent="-285750">
              <a:buFont typeface="Arial" panose="020B0604020202020204" pitchFamily="34" charset="0"/>
              <a:buChar char="•"/>
            </a:pPr>
            <a:r>
              <a:rPr lang="en-US" sz="2800" dirty="0"/>
              <a:t>3D transforms</a:t>
            </a:r>
          </a:p>
          <a:p>
            <a:pPr marL="285750" indent="-285750">
              <a:buFont typeface="Arial" panose="020B0604020202020204" pitchFamily="34" charset="0"/>
              <a:buChar char="•"/>
            </a:pPr>
            <a:r>
              <a:rPr lang="en-US" sz="2800" dirty="0"/>
              <a:t>Why they are important</a:t>
            </a:r>
          </a:p>
          <a:p>
            <a:pPr marL="285750" indent="-285750">
              <a:buFont typeface="Arial" panose="020B0604020202020204" pitchFamily="34" charset="0"/>
              <a:buChar char="•"/>
            </a:pPr>
            <a:r>
              <a:rPr lang="en-US" sz="2800" dirty="0"/>
              <a:t>Dot &amp; Cross product</a:t>
            </a:r>
          </a:p>
          <a:p>
            <a:pPr marL="285750" indent="-285750">
              <a:buFont typeface="Arial" panose="020B0604020202020204" pitchFamily="34" charset="0"/>
              <a:buChar char="•"/>
            </a:pPr>
            <a:r>
              <a:rPr lang="en-US" sz="2800" dirty="0">
                <a:sym typeface="Wingdings" panose="05000000000000000000" pitchFamily="2" charset="2"/>
              </a:rPr>
              <a:t> </a:t>
            </a:r>
            <a:r>
              <a:rPr lang="en-US" sz="2800" dirty="0"/>
              <a:t>Quaternions</a:t>
            </a:r>
            <a:r>
              <a:rPr lang="en-US" sz="2800" dirty="0">
                <a:sym typeface="Wingdings" panose="05000000000000000000" pitchFamily="2" charset="2"/>
              </a:rPr>
              <a:t></a:t>
            </a:r>
            <a:endParaRPr lang="en-US" sz="2800" dirty="0"/>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15190213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B8820-797B-BF21-94EC-5C4F8BFF3EAA}"/>
              </a:ext>
            </a:extLst>
          </p:cNvPr>
          <p:cNvSpPr>
            <a:spLocks noGrp="1"/>
          </p:cNvSpPr>
          <p:nvPr>
            <p:ph type="title"/>
          </p:nvPr>
        </p:nvSpPr>
        <p:spPr/>
        <p:txBody>
          <a:bodyPr/>
          <a:lstStyle/>
          <a:p>
            <a:r>
              <a:rPr lang="en-US" dirty="0"/>
              <a:t>Quaternion: better rotations</a:t>
            </a:r>
            <a:endParaRPr lang="en-BE" dirty="0"/>
          </a:p>
        </p:txBody>
      </p:sp>
      <p:sp>
        <p:nvSpPr>
          <p:cNvPr id="3" name="TextBox 2">
            <a:extLst>
              <a:ext uri="{FF2B5EF4-FFF2-40B4-BE49-F238E27FC236}">
                <a16:creationId xmlns:a16="http://schemas.microsoft.com/office/drawing/2014/main" id="{C417730E-45BE-98F9-2C60-6D71FD2507E9}"/>
              </a:ext>
            </a:extLst>
          </p:cNvPr>
          <p:cNvSpPr txBox="1"/>
          <p:nvPr/>
        </p:nvSpPr>
        <p:spPr>
          <a:xfrm>
            <a:off x="286139" y="1617306"/>
            <a:ext cx="7244997"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Used by unity to represent rotations</a:t>
            </a:r>
          </a:p>
          <a:p>
            <a:pPr marL="285750" indent="-285750">
              <a:buFont typeface="Arial" panose="020B0604020202020204" pitchFamily="34" charset="0"/>
              <a:buChar char="•"/>
            </a:pPr>
            <a:r>
              <a:rPr lang="en-US" sz="2400" dirty="0"/>
              <a:t>Based on complex numbers (we treat it as a black box)</a:t>
            </a:r>
          </a:p>
          <a:p>
            <a:pPr marL="285750" indent="-285750">
              <a:buFont typeface="Arial" panose="020B0604020202020204" pitchFamily="34" charset="0"/>
              <a:buChar char="•"/>
            </a:pPr>
            <a:r>
              <a:rPr lang="en-US" sz="2400" dirty="0"/>
              <a:t>Implemented as a Vector4</a:t>
            </a:r>
            <a:endParaRPr lang="en-BE" sz="2400" dirty="0"/>
          </a:p>
        </p:txBody>
      </p:sp>
    </p:spTree>
    <p:extLst>
      <p:ext uri="{BB962C8B-B14F-4D97-AF65-F5344CB8AC3E}">
        <p14:creationId xmlns:p14="http://schemas.microsoft.com/office/powerpoint/2010/main" val="30715037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FFE33-FDFE-C515-7D4F-76CBD351A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279F98-F270-FDAD-C48D-03FB69F7C1A9}"/>
              </a:ext>
            </a:extLst>
          </p:cNvPr>
          <p:cNvSpPr>
            <a:spLocks noGrp="1"/>
          </p:cNvSpPr>
          <p:nvPr>
            <p:ph type="title"/>
          </p:nvPr>
        </p:nvSpPr>
        <p:spPr/>
        <p:txBody>
          <a:bodyPr/>
          <a:lstStyle/>
          <a:p>
            <a:r>
              <a:rPr lang="en-US" dirty="0"/>
              <a:t>Quaternion: advantages</a:t>
            </a:r>
            <a:endParaRPr lang="en-BE" dirty="0"/>
          </a:p>
        </p:txBody>
      </p:sp>
      <p:sp>
        <p:nvSpPr>
          <p:cNvPr id="4" name="TextBox 3">
            <a:extLst>
              <a:ext uri="{FF2B5EF4-FFF2-40B4-BE49-F238E27FC236}">
                <a16:creationId xmlns:a16="http://schemas.microsoft.com/office/drawing/2014/main" id="{898D9F10-4F1E-42DB-A4B6-7C5B0CFDA61A}"/>
              </a:ext>
            </a:extLst>
          </p:cNvPr>
          <p:cNvSpPr txBox="1"/>
          <p:nvPr/>
        </p:nvSpPr>
        <p:spPr>
          <a:xfrm>
            <a:off x="578497" y="1690688"/>
            <a:ext cx="11203708" cy="1384995"/>
          </a:xfrm>
          <a:prstGeom prst="rect">
            <a:avLst/>
          </a:prstGeom>
          <a:noFill/>
        </p:spPr>
        <p:txBody>
          <a:bodyPr wrap="none" rtlCol="0">
            <a:spAutoFit/>
          </a:bodyPr>
          <a:lstStyle/>
          <a:p>
            <a:r>
              <a:rPr lang="en-US" sz="2800" dirty="0"/>
              <a:t>Brings us too far</a:t>
            </a:r>
          </a:p>
          <a:p>
            <a:r>
              <a:rPr lang="en-US" sz="2800" dirty="0"/>
              <a:t>Feel free to check </a:t>
            </a:r>
            <a:r>
              <a:rPr lang="en-US" sz="2800" dirty="0">
                <a:hlinkClick r:id="rId3"/>
              </a:rPr>
              <a:t>https://www.youtube.com/watch?v=zjMuIxRvygQ</a:t>
            </a:r>
            <a:endParaRPr lang="en-US" sz="2800" dirty="0"/>
          </a:p>
          <a:p>
            <a:r>
              <a:rPr lang="en-US" sz="2800" dirty="0"/>
              <a:t>TLDW Quaternions do not have some problems separate XYZ rotations have</a:t>
            </a:r>
            <a:endParaRPr lang="en-BE" sz="2800" dirty="0"/>
          </a:p>
        </p:txBody>
      </p:sp>
    </p:spTree>
    <p:extLst>
      <p:ext uri="{BB962C8B-B14F-4D97-AF65-F5344CB8AC3E}">
        <p14:creationId xmlns:p14="http://schemas.microsoft.com/office/powerpoint/2010/main" val="28727459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02F32-3AFD-7465-C083-1E7654DD6F21}"/>
              </a:ext>
            </a:extLst>
          </p:cNvPr>
          <p:cNvSpPr>
            <a:spLocks noGrp="1"/>
          </p:cNvSpPr>
          <p:nvPr>
            <p:ph type="title"/>
          </p:nvPr>
        </p:nvSpPr>
        <p:spPr/>
        <p:txBody>
          <a:bodyPr/>
          <a:lstStyle/>
          <a:p>
            <a:r>
              <a:rPr lang="en-US" dirty="0"/>
              <a:t>Quaternion : uses</a:t>
            </a:r>
            <a:endParaRPr lang="en-BE" dirty="0"/>
          </a:p>
        </p:txBody>
      </p:sp>
      <p:sp>
        <p:nvSpPr>
          <p:cNvPr id="3" name="TextBox 2">
            <a:extLst>
              <a:ext uri="{FF2B5EF4-FFF2-40B4-BE49-F238E27FC236}">
                <a16:creationId xmlns:a16="http://schemas.microsoft.com/office/drawing/2014/main" id="{5BCDD809-D167-9824-580E-D20064D1423B}"/>
              </a:ext>
            </a:extLst>
          </p:cNvPr>
          <p:cNvSpPr txBox="1"/>
          <p:nvPr/>
        </p:nvSpPr>
        <p:spPr>
          <a:xfrm>
            <a:off x="984957" y="1553839"/>
            <a:ext cx="10399001" cy="1477328"/>
          </a:xfrm>
          <a:prstGeom prst="rect">
            <a:avLst/>
          </a:prstGeom>
          <a:noFill/>
        </p:spPr>
        <p:txBody>
          <a:bodyPr wrap="none" rtlCol="0">
            <a:spAutoFit/>
          </a:bodyPr>
          <a:lstStyle/>
          <a:p>
            <a:r>
              <a:rPr lang="en-US" sz="1800" dirty="0">
                <a:solidFill>
                  <a:srgbClr val="008000"/>
                </a:solidFill>
                <a:latin typeface="Cascadia Mono" panose="020B0609020000020004" pitchFamily="49" charset="0"/>
              </a:rPr>
              <a:t>// rotation to bunny</a:t>
            </a:r>
          </a:p>
          <a:p>
            <a:r>
              <a:rPr lang="en-US" sz="1800" i="1" dirty="0">
                <a:solidFill>
                  <a:srgbClr val="0000FF"/>
                </a:solidFill>
                <a:latin typeface="Cascadia Mono" panose="020B0609020000020004" pitchFamily="49" charset="0"/>
              </a:rPr>
              <a:t>Quaternion</a:t>
            </a:r>
            <a:r>
              <a:rPr lang="en-US" sz="1800" i="0" dirty="0">
                <a:solidFill>
                  <a:srgbClr val="000000"/>
                </a:solidFill>
                <a:latin typeface="Cascadia Mono" panose="020B0609020000020004" pitchFamily="49" charset="0"/>
              </a:rPr>
              <a:t> </a:t>
            </a:r>
            <a:r>
              <a:rPr lang="en-US" sz="1800" i="0" dirty="0">
                <a:solidFill>
                  <a:srgbClr val="000080"/>
                </a:solidFill>
                <a:latin typeface="Cascadia Mono" panose="020B0609020000020004" pitchFamily="49" charset="0"/>
              </a:rPr>
              <a:t>rotation</a:t>
            </a:r>
            <a:r>
              <a:rPr lang="en-US" sz="1800" i="0" dirty="0">
                <a:solidFill>
                  <a:srgbClr val="000000"/>
                </a:solidFill>
                <a:latin typeface="Cascadia Mono" panose="020B0609020000020004" pitchFamily="49" charset="0"/>
              </a:rPr>
              <a:t> = </a:t>
            </a:r>
            <a:r>
              <a:rPr lang="en-US" sz="1800" i="1" dirty="0" err="1">
                <a:solidFill>
                  <a:srgbClr val="0000FF"/>
                </a:solidFill>
                <a:latin typeface="Cascadia Mono" panose="020B0609020000020004" pitchFamily="49" charset="0"/>
              </a:rPr>
              <a:t>Quaternion</a:t>
            </a:r>
            <a:r>
              <a:rPr lang="en-US" sz="1800" i="0" dirty="0" err="1">
                <a:solidFill>
                  <a:srgbClr val="000000"/>
                </a:solidFill>
                <a:latin typeface="Cascadia Mono" panose="020B0609020000020004" pitchFamily="49" charset="0"/>
              </a:rPr>
              <a:t>.</a:t>
            </a:r>
            <a:r>
              <a:rPr lang="en-US" sz="1800" i="1" dirty="0" err="1">
                <a:solidFill>
                  <a:srgbClr val="880000"/>
                </a:solidFill>
                <a:latin typeface="Cascadia Mono" panose="020B0609020000020004" pitchFamily="49" charset="0"/>
              </a:rPr>
              <a:t>LookRotation</a:t>
            </a:r>
            <a:r>
              <a:rPr lang="en-US" sz="1800" i="0" dirty="0">
                <a:solidFill>
                  <a:srgbClr val="000000"/>
                </a:solidFill>
                <a:latin typeface="Cascadia Mono" panose="020B0609020000020004" pitchFamily="49" charset="0"/>
              </a:rPr>
              <a:t>(</a:t>
            </a:r>
          </a:p>
          <a:p>
            <a:r>
              <a:rPr lang="en-US" sz="1800" i="0" dirty="0">
                <a:solidFill>
                  <a:srgbClr val="000000"/>
                </a:solidFill>
                <a:latin typeface="Cascadia Mono" panose="020B0609020000020004" pitchFamily="49" charset="0"/>
              </a:rPr>
              <a:t>    	</a:t>
            </a:r>
            <a:r>
              <a:rPr lang="en-US" sz="1800" i="0" dirty="0" err="1">
                <a:solidFill>
                  <a:srgbClr val="000080"/>
                </a:solidFill>
                <a:latin typeface="Cascadia Mono" panose="020B0609020000020004" pitchFamily="49" charset="0"/>
              </a:rPr>
              <a:t>bunnyGameObject</a:t>
            </a:r>
            <a:r>
              <a:rPr lang="en-US" sz="1800" i="0" dirty="0" err="1">
                <a:solidFill>
                  <a:srgbClr val="000000"/>
                </a:solidFill>
                <a:latin typeface="Cascadia Mono" panose="020B0609020000020004" pitchFamily="49" charset="0"/>
              </a:rPr>
              <a:t>.</a:t>
            </a:r>
            <a:r>
              <a:rPr lang="en-US" sz="1800" i="1" dirty="0" err="1">
                <a:solidFill>
                  <a:srgbClr val="000080"/>
                </a:solidFill>
                <a:latin typeface="Cascadia Mono" panose="020B0609020000020004" pitchFamily="49" charset="0"/>
              </a:rPr>
              <a:t>transform</a:t>
            </a:r>
            <a:r>
              <a:rPr lang="en-US" sz="1800" i="0" dirty="0" err="1">
                <a:solidFill>
                  <a:srgbClr val="000000"/>
                </a:solidFill>
                <a:latin typeface="Cascadia Mono" panose="020B0609020000020004" pitchFamily="49" charset="0"/>
              </a:rPr>
              <a:t>.</a:t>
            </a:r>
            <a:r>
              <a:rPr lang="en-US" sz="1800" i="1" dirty="0" err="1">
                <a:solidFill>
                  <a:srgbClr val="000080"/>
                </a:solidFill>
                <a:latin typeface="Cascadia Mono" panose="020B0609020000020004" pitchFamily="49" charset="0"/>
              </a:rPr>
              <a:t>position</a:t>
            </a:r>
            <a:r>
              <a:rPr lang="en-US" sz="1800" i="0" dirty="0">
                <a:solidFill>
                  <a:srgbClr val="000000"/>
                </a:solidFill>
                <a:latin typeface="Cascadia Mono" panose="020B0609020000020004" pitchFamily="49" charset="0"/>
              </a:rPr>
              <a:t> - </a:t>
            </a:r>
            <a:r>
              <a:rPr lang="en-US" sz="1800" i="0" dirty="0" err="1">
                <a:solidFill>
                  <a:srgbClr val="000080"/>
                </a:solidFill>
                <a:latin typeface="Cascadia Mono" panose="020B0609020000020004" pitchFamily="49" charset="0"/>
              </a:rPr>
              <a:t>transform</a:t>
            </a:r>
            <a:r>
              <a:rPr lang="en-US" sz="1800" i="0" dirty="0" err="1">
                <a:solidFill>
                  <a:srgbClr val="000000"/>
                </a:solidFill>
                <a:latin typeface="Cascadia Mono" panose="020B0609020000020004" pitchFamily="49" charset="0"/>
              </a:rPr>
              <a:t>.</a:t>
            </a:r>
            <a:r>
              <a:rPr lang="en-US" sz="1800" i="1" dirty="0" err="1">
                <a:solidFill>
                  <a:srgbClr val="000080"/>
                </a:solidFill>
                <a:latin typeface="Cascadia Mono" panose="020B0609020000020004" pitchFamily="49" charset="0"/>
              </a:rPr>
              <a:t>position</a:t>
            </a:r>
            <a:r>
              <a:rPr lang="en-US" sz="1800" i="0" dirty="0">
                <a:solidFill>
                  <a:srgbClr val="000000"/>
                </a:solidFill>
                <a:latin typeface="Cascadia Mono" panose="020B0609020000020004" pitchFamily="49" charset="0"/>
              </a:rPr>
              <a:t>, </a:t>
            </a:r>
            <a:r>
              <a:rPr lang="en-US" sz="1800" i="1" dirty="0">
                <a:solidFill>
                  <a:srgbClr val="0000FF"/>
                </a:solidFill>
                <a:latin typeface="Cascadia Mono" panose="020B0609020000020004" pitchFamily="49" charset="0"/>
              </a:rPr>
              <a:t>Vector3</a:t>
            </a:r>
            <a:r>
              <a:rPr lang="en-US" sz="1800" i="0" dirty="0">
                <a:solidFill>
                  <a:srgbClr val="000000"/>
                </a:solidFill>
                <a:latin typeface="Cascadia Mono" panose="020B0609020000020004" pitchFamily="49" charset="0"/>
              </a:rPr>
              <a:t>.</a:t>
            </a:r>
            <a:r>
              <a:rPr lang="en-US" sz="1800" i="1" dirty="0">
                <a:solidFill>
                  <a:srgbClr val="880000"/>
                </a:solidFill>
                <a:latin typeface="Cascadia Mono" panose="020B0609020000020004" pitchFamily="49" charset="0"/>
              </a:rPr>
              <a:t>up</a:t>
            </a:r>
            <a:r>
              <a:rPr lang="en-US" sz="1800" i="0" dirty="0">
                <a:solidFill>
                  <a:srgbClr val="000000"/>
                </a:solidFill>
                <a:latin typeface="Cascadia Mono" panose="020B0609020000020004" pitchFamily="49" charset="0"/>
              </a:rPr>
              <a:t>);</a:t>
            </a:r>
          </a:p>
          <a:p>
            <a:endParaRPr lang="en-US" dirty="0">
              <a:solidFill>
                <a:srgbClr val="000000"/>
              </a:solidFill>
              <a:latin typeface="Cascadia Mono" panose="020B0609020000020004" pitchFamily="49" charset="0"/>
            </a:endParaRPr>
          </a:p>
          <a:p>
            <a:endParaRPr lang="en-BE" dirty="0"/>
          </a:p>
        </p:txBody>
      </p:sp>
      <p:sp>
        <p:nvSpPr>
          <p:cNvPr id="4" name="TextBox 3">
            <a:extLst>
              <a:ext uri="{FF2B5EF4-FFF2-40B4-BE49-F238E27FC236}">
                <a16:creationId xmlns:a16="http://schemas.microsoft.com/office/drawing/2014/main" id="{1391E5CC-0866-257A-BE3F-819562A7C4FD}"/>
              </a:ext>
            </a:extLst>
          </p:cNvPr>
          <p:cNvSpPr txBox="1"/>
          <p:nvPr/>
        </p:nvSpPr>
        <p:spPr>
          <a:xfrm>
            <a:off x="391886" y="3706982"/>
            <a:ext cx="9668031" cy="923330"/>
          </a:xfrm>
          <a:prstGeom prst="rect">
            <a:avLst/>
          </a:prstGeom>
          <a:noFill/>
        </p:spPr>
        <p:txBody>
          <a:bodyPr wrap="none" rtlCol="0">
            <a:spAutoFit/>
          </a:bodyPr>
          <a:lstStyle/>
          <a:p>
            <a:pPr lvl="1"/>
            <a:r>
              <a:rPr lang="en-US" dirty="0">
                <a:solidFill>
                  <a:srgbClr val="008000"/>
                </a:solidFill>
                <a:latin typeface="Cascadia Mono" panose="020B0609020000020004" pitchFamily="49" charset="0"/>
              </a:rPr>
              <a:t>// rotate around up</a:t>
            </a:r>
            <a:endParaRPr lang="en-US" dirty="0">
              <a:solidFill>
                <a:srgbClr val="000000"/>
              </a:solidFill>
              <a:latin typeface="Cascadia Mono" panose="020B0609020000020004" pitchFamily="49" charset="0"/>
            </a:endParaRPr>
          </a:p>
          <a:p>
            <a:pPr lvl="1"/>
            <a:r>
              <a:rPr lang="en-US" dirty="0">
                <a:solidFill>
                  <a:srgbClr val="000000"/>
                </a:solidFill>
                <a:latin typeface="Cascadia Mono" panose="020B0609020000020004" pitchFamily="49" charset="0"/>
              </a:rPr>
              <a:t>        </a:t>
            </a:r>
            <a:r>
              <a:rPr lang="en-US" i="1" dirty="0">
                <a:solidFill>
                  <a:srgbClr val="0000FF"/>
                </a:solidFill>
                <a:latin typeface="Cascadia Mono" panose="020B0609020000020004" pitchFamily="49" charset="0"/>
              </a:rPr>
              <a:t>Quaternion</a:t>
            </a:r>
            <a:r>
              <a:rPr lang="en-US" i="0" dirty="0">
                <a:solidFill>
                  <a:srgbClr val="000000"/>
                </a:solidFill>
                <a:latin typeface="Cascadia Mono" panose="020B0609020000020004" pitchFamily="49" charset="0"/>
              </a:rPr>
              <a:t> </a:t>
            </a:r>
            <a:r>
              <a:rPr lang="en-US" i="0" dirty="0">
                <a:solidFill>
                  <a:srgbClr val="000080"/>
                </a:solidFill>
                <a:latin typeface="Cascadia Mono" panose="020B0609020000020004" pitchFamily="49" charset="0"/>
              </a:rPr>
              <a:t>rotation</a:t>
            </a:r>
            <a:r>
              <a:rPr lang="en-US" i="0" dirty="0">
                <a:solidFill>
                  <a:srgbClr val="000000"/>
                </a:solidFill>
                <a:latin typeface="Cascadia Mono" panose="020B0609020000020004" pitchFamily="49" charset="0"/>
              </a:rPr>
              <a:t> = </a:t>
            </a:r>
            <a:r>
              <a:rPr lang="en-US" i="1" dirty="0" err="1">
                <a:solidFill>
                  <a:srgbClr val="0000FF"/>
                </a:solidFill>
                <a:latin typeface="Cascadia Mono" panose="020B0609020000020004" pitchFamily="49" charset="0"/>
              </a:rPr>
              <a:t>Quaternion</a:t>
            </a:r>
            <a:r>
              <a:rPr lang="en-US" i="0" dirty="0" err="1">
                <a:solidFill>
                  <a:srgbClr val="000000"/>
                </a:solidFill>
                <a:latin typeface="Cascadia Mono" panose="020B0609020000020004" pitchFamily="49" charset="0"/>
              </a:rPr>
              <a:t>.</a:t>
            </a:r>
            <a:r>
              <a:rPr lang="en-US" i="1" dirty="0" err="1">
                <a:solidFill>
                  <a:srgbClr val="880000"/>
                </a:solidFill>
                <a:latin typeface="Cascadia Mono" panose="020B0609020000020004" pitchFamily="49" charset="0"/>
              </a:rPr>
              <a:t>AngleAxis</a:t>
            </a:r>
            <a:r>
              <a:rPr lang="en-US" i="0" dirty="0">
                <a:solidFill>
                  <a:srgbClr val="000000"/>
                </a:solidFill>
                <a:latin typeface="Cascadia Mono" panose="020B0609020000020004" pitchFamily="49" charset="0"/>
              </a:rPr>
              <a:t>(30, </a:t>
            </a:r>
            <a:r>
              <a:rPr lang="en-US" i="1" dirty="0">
                <a:solidFill>
                  <a:srgbClr val="0000FF"/>
                </a:solidFill>
                <a:latin typeface="Cascadia Mono" panose="020B0609020000020004" pitchFamily="49" charset="0"/>
              </a:rPr>
              <a:t>Vector3</a:t>
            </a:r>
            <a:r>
              <a:rPr lang="en-US" i="0" dirty="0">
                <a:solidFill>
                  <a:srgbClr val="000000"/>
                </a:solidFill>
                <a:latin typeface="Cascadia Mono" panose="020B0609020000020004" pitchFamily="49" charset="0"/>
              </a:rPr>
              <a:t>.</a:t>
            </a:r>
            <a:r>
              <a:rPr lang="en-US" i="1" dirty="0">
                <a:solidFill>
                  <a:srgbClr val="880000"/>
                </a:solidFill>
                <a:latin typeface="Cascadia Mono" panose="020B0609020000020004" pitchFamily="49" charset="0"/>
              </a:rPr>
              <a:t>up</a:t>
            </a:r>
            <a:r>
              <a:rPr lang="en-US" i="0" dirty="0">
                <a:solidFill>
                  <a:srgbClr val="000000"/>
                </a:solidFill>
                <a:latin typeface="Cascadia Mono" panose="020B0609020000020004" pitchFamily="49" charset="0"/>
              </a:rPr>
              <a:t>);</a:t>
            </a:r>
            <a:endParaRPr lang="en-BE" dirty="0"/>
          </a:p>
          <a:p>
            <a:endParaRPr lang="en-BE" dirty="0"/>
          </a:p>
        </p:txBody>
      </p:sp>
    </p:spTree>
    <p:extLst>
      <p:ext uri="{BB962C8B-B14F-4D97-AF65-F5344CB8AC3E}">
        <p14:creationId xmlns:p14="http://schemas.microsoft.com/office/powerpoint/2010/main" val="9858538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009A1-50C6-D89A-A7AD-8A280DB723DB}"/>
              </a:ext>
            </a:extLst>
          </p:cNvPr>
          <p:cNvSpPr>
            <a:spLocks noGrp="1"/>
          </p:cNvSpPr>
          <p:nvPr>
            <p:ph type="title"/>
          </p:nvPr>
        </p:nvSpPr>
        <p:spPr/>
        <p:txBody>
          <a:bodyPr/>
          <a:lstStyle/>
          <a:p>
            <a:r>
              <a:rPr lang="en-US" dirty="0"/>
              <a:t>Recap</a:t>
            </a:r>
            <a:endParaRPr lang="en-BE" dirty="0"/>
          </a:p>
        </p:txBody>
      </p:sp>
      <p:sp>
        <p:nvSpPr>
          <p:cNvPr id="3" name="TextBox 2">
            <a:extLst>
              <a:ext uri="{FF2B5EF4-FFF2-40B4-BE49-F238E27FC236}">
                <a16:creationId xmlns:a16="http://schemas.microsoft.com/office/drawing/2014/main" id="{C872CEE4-CFA6-3993-A498-428414F86FD8}"/>
              </a:ext>
            </a:extLst>
          </p:cNvPr>
          <p:cNvSpPr txBox="1"/>
          <p:nvPr/>
        </p:nvSpPr>
        <p:spPr>
          <a:xfrm>
            <a:off x="281908" y="1922106"/>
            <a:ext cx="11628183" cy="2554545"/>
          </a:xfrm>
          <a:prstGeom prst="rect">
            <a:avLst/>
          </a:prstGeom>
          <a:noFill/>
        </p:spPr>
        <p:txBody>
          <a:bodyPr wrap="none" rtlCol="0">
            <a:spAutoFit/>
          </a:bodyPr>
          <a:lstStyle/>
          <a:p>
            <a:pPr marL="285750" indent="-285750">
              <a:buFont typeface="Arial" panose="020B0604020202020204" pitchFamily="34" charset="0"/>
              <a:buChar char="•"/>
            </a:pPr>
            <a:r>
              <a:rPr lang="en-US" sz="3200" dirty="0"/>
              <a:t>Transformations move positions and directions between spaces</a:t>
            </a:r>
          </a:p>
          <a:p>
            <a:pPr marL="285750" indent="-285750">
              <a:buFont typeface="Arial" panose="020B0604020202020204" pitchFamily="34" charset="0"/>
              <a:buChar char="•"/>
            </a:pPr>
            <a:r>
              <a:rPr lang="en-US" sz="3200" dirty="0"/>
              <a:t>Unity transform is relative to the parent</a:t>
            </a:r>
          </a:p>
          <a:p>
            <a:pPr marL="285750" indent="-285750">
              <a:buFont typeface="Arial" panose="020B0604020202020204" pitchFamily="34" charset="0"/>
              <a:buChar char="•"/>
            </a:pPr>
            <a:r>
              <a:rPr lang="en-US" sz="3200" dirty="0"/>
              <a:t>We can use Matrix4x4 to transform between any 2 spaces</a:t>
            </a:r>
          </a:p>
          <a:p>
            <a:pPr marL="285750" indent="-285750">
              <a:buFont typeface="Arial" panose="020B0604020202020204" pitchFamily="34" charset="0"/>
              <a:buChar char="•"/>
            </a:pPr>
            <a:r>
              <a:rPr lang="en-US" sz="3200" dirty="0"/>
              <a:t>A dot product gives us a measure of similarity between 2 vectors</a:t>
            </a:r>
          </a:p>
          <a:p>
            <a:pPr marL="285750" indent="-285750">
              <a:buFont typeface="Arial" panose="020B0604020202020204" pitchFamily="34" charset="0"/>
              <a:buChar char="•"/>
            </a:pPr>
            <a:r>
              <a:rPr lang="en-US" sz="3200" dirty="0"/>
              <a:t>A cross product construct a vector perpendicular to 2 other vectors</a:t>
            </a:r>
            <a:endParaRPr lang="en-BE" sz="3200" dirty="0"/>
          </a:p>
        </p:txBody>
      </p:sp>
    </p:spTree>
    <p:extLst>
      <p:ext uri="{BB962C8B-B14F-4D97-AF65-F5344CB8AC3E}">
        <p14:creationId xmlns:p14="http://schemas.microsoft.com/office/powerpoint/2010/main" val="5785658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CFE4D-097A-AA8E-A705-26D3A281E13D}"/>
              </a:ext>
            </a:extLst>
          </p:cNvPr>
          <p:cNvSpPr>
            <a:spLocks noGrp="1"/>
          </p:cNvSpPr>
          <p:nvPr>
            <p:ph type="title"/>
          </p:nvPr>
        </p:nvSpPr>
        <p:spPr/>
        <p:txBody>
          <a:bodyPr/>
          <a:lstStyle/>
          <a:p>
            <a:r>
              <a:rPr lang="en-US" dirty="0"/>
              <a:t>After class</a:t>
            </a:r>
            <a:endParaRPr lang="en-BE" dirty="0"/>
          </a:p>
        </p:txBody>
      </p:sp>
      <p:sp>
        <p:nvSpPr>
          <p:cNvPr id="3" name="TextBox 2">
            <a:extLst>
              <a:ext uri="{FF2B5EF4-FFF2-40B4-BE49-F238E27FC236}">
                <a16:creationId xmlns:a16="http://schemas.microsoft.com/office/drawing/2014/main" id="{8E3502D7-2DE9-CE2C-1FE0-023C72DAEF92}"/>
              </a:ext>
            </a:extLst>
          </p:cNvPr>
          <p:cNvSpPr txBox="1"/>
          <p:nvPr/>
        </p:nvSpPr>
        <p:spPr>
          <a:xfrm>
            <a:off x="1088571" y="2413518"/>
            <a:ext cx="10714536" cy="2308324"/>
          </a:xfrm>
          <a:prstGeom prst="rect">
            <a:avLst/>
          </a:prstGeom>
          <a:noFill/>
        </p:spPr>
        <p:txBody>
          <a:bodyPr wrap="none" rtlCol="0">
            <a:spAutoFit/>
          </a:bodyPr>
          <a:lstStyle/>
          <a:p>
            <a:pPr marL="285750" indent="-285750">
              <a:buFont typeface="Arial" panose="020B0604020202020204" pitchFamily="34" charset="0"/>
              <a:buChar char="•"/>
            </a:pPr>
            <a:r>
              <a:rPr lang="en-US" sz="2400" dirty="0"/>
              <a:t>Will post external content going over these topics</a:t>
            </a:r>
            <a:br>
              <a:rPr lang="en-US" sz="2400" dirty="0"/>
            </a:br>
            <a:endParaRPr lang="en-US" sz="2400" dirty="0"/>
          </a:p>
          <a:p>
            <a:pPr marL="285750" indent="-285750">
              <a:buFont typeface="Arial" panose="020B0604020202020204" pitchFamily="34" charset="0"/>
              <a:buChar char="•"/>
            </a:pPr>
            <a:r>
              <a:rPr lang="en-US" sz="2400" dirty="0"/>
              <a:t>Will post project specifics. </a:t>
            </a:r>
            <a:br>
              <a:rPr lang="en-US" sz="2400" dirty="0"/>
            </a:br>
            <a:r>
              <a:rPr lang="en-US" sz="2400" dirty="0"/>
              <a:t>You’ll make a unity project with a flat plane</a:t>
            </a:r>
            <a:br>
              <a:rPr lang="en-US" sz="2400" dirty="0"/>
            </a:br>
            <a:r>
              <a:rPr lang="en-US" sz="2400" dirty="0"/>
              <a:t>Add controls to control a cube in 1</a:t>
            </a:r>
            <a:r>
              <a:rPr lang="en-US" sz="2400" baseline="30000" dirty="0"/>
              <a:t>st</a:t>
            </a:r>
            <a:r>
              <a:rPr lang="en-US" sz="2400" dirty="0"/>
              <a:t> and 2</a:t>
            </a:r>
            <a:r>
              <a:rPr lang="en-US" sz="2400" baseline="30000" dirty="0"/>
              <a:t>nd</a:t>
            </a:r>
            <a:r>
              <a:rPr lang="en-US" sz="2400" dirty="0"/>
              <a:t> person</a:t>
            </a:r>
            <a:br>
              <a:rPr lang="en-US" sz="2400" dirty="0"/>
            </a:br>
            <a:r>
              <a:rPr lang="en-US" sz="2400" dirty="0"/>
              <a:t>Bonus: build a character out of cubes and make it  move like a Minecraft character</a:t>
            </a:r>
            <a:endParaRPr lang="en-BE" sz="2400" dirty="0"/>
          </a:p>
        </p:txBody>
      </p:sp>
    </p:spTree>
    <p:extLst>
      <p:ext uri="{BB962C8B-B14F-4D97-AF65-F5344CB8AC3E}">
        <p14:creationId xmlns:p14="http://schemas.microsoft.com/office/powerpoint/2010/main" val="5002911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08C6C-E8D4-50C6-A81F-020D33D88A90}"/>
              </a:ext>
            </a:extLst>
          </p:cNvPr>
          <p:cNvSpPr>
            <a:spLocks noGrp="1"/>
          </p:cNvSpPr>
          <p:nvPr>
            <p:ph type="title"/>
          </p:nvPr>
        </p:nvSpPr>
        <p:spPr/>
        <p:txBody>
          <a:bodyPr/>
          <a:lstStyle/>
          <a:p>
            <a:r>
              <a:rPr lang="en-US" dirty="0"/>
              <a:t>Next Class</a:t>
            </a:r>
            <a:endParaRPr lang="en-BE" dirty="0"/>
          </a:p>
        </p:txBody>
      </p:sp>
      <p:sp>
        <p:nvSpPr>
          <p:cNvPr id="3" name="TextBox 2">
            <a:extLst>
              <a:ext uri="{FF2B5EF4-FFF2-40B4-BE49-F238E27FC236}">
                <a16:creationId xmlns:a16="http://schemas.microsoft.com/office/drawing/2014/main" id="{68087C50-5436-CFD7-05CD-B098D5AEE61A}"/>
              </a:ext>
            </a:extLst>
          </p:cNvPr>
          <p:cNvSpPr txBox="1"/>
          <p:nvPr/>
        </p:nvSpPr>
        <p:spPr>
          <a:xfrm>
            <a:off x="771331" y="1946988"/>
            <a:ext cx="6220806" cy="830997"/>
          </a:xfrm>
          <a:prstGeom prst="rect">
            <a:avLst/>
          </a:prstGeom>
          <a:noFill/>
        </p:spPr>
        <p:txBody>
          <a:bodyPr wrap="none" rtlCol="0">
            <a:spAutoFit/>
          </a:bodyPr>
          <a:lstStyle/>
          <a:p>
            <a:pPr marL="285750" indent="-285750">
              <a:buFont typeface="Arial" panose="020B0604020202020204" pitchFamily="34" charset="0"/>
              <a:buChar char="•"/>
            </a:pPr>
            <a:r>
              <a:rPr lang="en-US" sz="2400" dirty="0"/>
              <a:t>Going to look at geometry</a:t>
            </a:r>
          </a:p>
          <a:p>
            <a:pPr marL="285750" indent="-285750">
              <a:buFont typeface="Arial" panose="020B0604020202020204" pitchFamily="34" charset="0"/>
              <a:buChar char="•"/>
            </a:pPr>
            <a:r>
              <a:rPr lang="en-US" sz="2400" dirty="0"/>
              <a:t>You’re getting your hands dirty making chunks</a:t>
            </a:r>
            <a:endParaRPr lang="en-BE" sz="2400" dirty="0"/>
          </a:p>
        </p:txBody>
      </p:sp>
    </p:spTree>
    <p:extLst>
      <p:ext uri="{BB962C8B-B14F-4D97-AF65-F5344CB8AC3E}">
        <p14:creationId xmlns:p14="http://schemas.microsoft.com/office/powerpoint/2010/main" val="383420721"/>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1" id="{6849F4D6-1FB7-4CEB-8CC6-E456C34ADDA4}" vid="{0A04E370-2E7A-4A97-A218-FEC8E52F4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slides_theme</Template>
  <TotalTime>20520</TotalTime>
  <Words>3260</Words>
  <Application>Microsoft Office PowerPoint</Application>
  <PresentationFormat>Widescreen</PresentationFormat>
  <Paragraphs>548</Paragraphs>
  <Slides>74</Slides>
  <Notes>74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Arial</vt:lpstr>
      <vt:lpstr>Calibri</vt:lpstr>
      <vt:lpstr>Calibri Light</vt:lpstr>
      <vt:lpstr>Cascadia Mono</vt:lpstr>
      <vt:lpstr>Courier New</vt:lpstr>
      <vt:lpstr>Tahoma</vt:lpstr>
      <vt:lpstr>Wingdings</vt:lpstr>
      <vt:lpstr>Kantoorthema</vt:lpstr>
      <vt:lpstr>PowerPoint Presentation</vt:lpstr>
      <vt:lpstr>Last class</vt:lpstr>
      <vt:lpstr>Course schedule</vt:lpstr>
      <vt:lpstr>This class</vt:lpstr>
      <vt:lpstr>Unity external architecture</vt:lpstr>
      <vt:lpstr>Unity internal architecture : Scene</vt:lpstr>
      <vt:lpstr>GameObjects are containers of Components</vt:lpstr>
      <vt:lpstr>Why do it this way? </vt:lpstr>
      <vt:lpstr>Unity internal architecture</vt:lpstr>
      <vt:lpstr>Script Components</vt:lpstr>
      <vt:lpstr>This class</vt:lpstr>
      <vt:lpstr>Coordinate system</vt:lpstr>
      <vt:lpstr>Did you succeed?</vt:lpstr>
      <vt:lpstr>Y is up</vt:lpstr>
      <vt:lpstr>It’s a mess out there</vt:lpstr>
      <vt:lpstr>Vectors</vt:lpstr>
      <vt:lpstr>Unity</vt:lpstr>
      <vt:lpstr>Each element of a vector is called a component</vt:lpstr>
      <vt:lpstr>Positions</vt:lpstr>
      <vt:lpstr>Origin</vt:lpstr>
      <vt:lpstr>We can do calculations with vectors</vt:lpstr>
      <vt:lpstr>Addition</vt:lpstr>
      <vt:lpstr>Addition</vt:lpstr>
      <vt:lpstr>Addition is communicative </vt:lpstr>
      <vt:lpstr>Subtraction</vt:lpstr>
      <vt:lpstr>Multiplication / division</vt:lpstr>
      <vt:lpstr>Multiplication / division changes length</vt:lpstr>
      <vt:lpstr>We can subtract / divide vectors</vt:lpstr>
      <vt:lpstr>Normalization</vt:lpstr>
      <vt:lpstr>Special and import case : normalization</vt:lpstr>
      <vt:lpstr>TransformComponent has a vector for position</vt:lpstr>
      <vt:lpstr>Rotations are stored as Vectors too</vt:lpstr>
      <vt:lpstr>Framerate independence</vt:lpstr>
      <vt:lpstr>Say we translate 1 cm each frame</vt:lpstr>
      <vt:lpstr>Solution: multiply by frame duration</vt:lpstr>
      <vt:lpstr>Unity</vt:lpstr>
      <vt:lpstr>This class</vt:lpstr>
      <vt:lpstr>So, why did we learn all of this?</vt:lpstr>
      <vt:lpstr>Transform.position</vt:lpstr>
      <vt:lpstr>Transform.translate()</vt:lpstr>
      <vt:lpstr>Transform.rotation</vt:lpstr>
      <vt:lpstr>Transform.scale</vt:lpstr>
      <vt:lpstr>What are your questions?</vt:lpstr>
      <vt:lpstr>Transforms are represented by a Matrix</vt:lpstr>
      <vt:lpstr>Let’s learn about space(s)</vt:lpstr>
      <vt:lpstr>Example</vt:lpstr>
      <vt:lpstr>Camera is looking down +X</vt:lpstr>
      <vt:lpstr>We move the camera up (+Y) by one unit</vt:lpstr>
      <vt:lpstr>The bunny moved down</vt:lpstr>
      <vt:lpstr>Rendering is done from a camera’s point of view</vt:lpstr>
      <vt:lpstr>The camera has it’s own coordinate space</vt:lpstr>
      <vt:lpstr>The bunny has it’s own coordinate space</vt:lpstr>
      <vt:lpstr>These all exist at the same time</vt:lpstr>
      <vt:lpstr>We can transform point between spaces with  transforms</vt:lpstr>
      <vt:lpstr>Warning! Use different methods for directions</vt:lpstr>
      <vt:lpstr>It’s a big hierarchy</vt:lpstr>
      <vt:lpstr>Cool things we can do</vt:lpstr>
      <vt:lpstr>Does that make sense?</vt:lpstr>
      <vt:lpstr>This class</vt:lpstr>
      <vt:lpstr>This is how we position  object in front of the camera </vt:lpstr>
      <vt:lpstr>This is how we position  object in front of the camera </vt:lpstr>
      <vt:lpstr>This class</vt:lpstr>
      <vt:lpstr>Dot product</vt:lpstr>
      <vt:lpstr>Unit vectors  just the cosine</vt:lpstr>
      <vt:lpstr>Dot product uses: shading </vt:lpstr>
      <vt:lpstr>Cross product</vt:lpstr>
      <vt:lpstr>Cross product uses : calculate normal </vt:lpstr>
      <vt:lpstr>This class</vt:lpstr>
      <vt:lpstr>Quaternion: better rotations</vt:lpstr>
      <vt:lpstr>Quaternion: advantages</vt:lpstr>
      <vt:lpstr>Quaternion : uses</vt:lpstr>
      <vt:lpstr>Recap</vt:lpstr>
      <vt:lpstr>After class</vt:lpstr>
      <vt:lpstr>Next Class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Daan Nijs</dc:creator>
  <cp:lastModifiedBy>Daan Nijs</cp:lastModifiedBy>
  <cp:revision>56</cp:revision>
  <dcterms:created xsi:type="dcterms:W3CDTF">2024-01-29T23:06:06Z</dcterms:created>
  <dcterms:modified xsi:type="dcterms:W3CDTF">2025-05-30T18:35:19Z</dcterms:modified>
</cp:coreProperties>
</file>