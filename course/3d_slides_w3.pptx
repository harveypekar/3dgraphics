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362" r:id="rId3"/>
    <p:sldId id="505" r:id="rId4"/>
    <p:sldId id="503" r:id="rId5"/>
    <p:sldId id="338" r:id="rId6"/>
    <p:sldId id="502" r:id="rId7"/>
    <p:sldId id="435" r:id="rId8"/>
    <p:sldId id="436" r:id="rId9"/>
    <p:sldId id="544" r:id="rId10"/>
    <p:sldId id="446" r:id="rId11"/>
    <p:sldId id="543" r:id="rId12"/>
    <p:sldId id="567" r:id="rId13"/>
    <p:sldId id="566" r:id="rId14"/>
    <p:sldId id="570" r:id="rId15"/>
    <p:sldId id="569" r:id="rId16"/>
    <p:sldId id="571" r:id="rId17"/>
    <p:sldId id="572" r:id="rId18"/>
    <p:sldId id="573" r:id="rId19"/>
    <p:sldId id="574" r:id="rId20"/>
    <p:sldId id="603" r:id="rId21"/>
    <p:sldId id="604" r:id="rId22"/>
    <p:sldId id="577" r:id="rId23"/>
    <p:sldId id="595" r:id="rId24"/>
    <p:sldId id="596" r:id="rId25"/>
    <p:sldId id="597" r:id="rId26"/>
    <p:sldId id="598" r:id="rId27"/>
    <p:sldId id="599" r:id="rId28"/>
    <p:sldId id="600" r:id="rId29"/>
    <p:sldId id="575" r:id="rId30"/>
    <p:sldId id="602" r:id="rId31"/>
    <p:sldId id="606" r:id="rId32"/>
    <p:sldId id="607" r:id="rId33"/>
    <p:sldId id="608" r:id="rId34"/>
    <p:sldId id="609" r:id="rId35"/>
    <p:sldId id="610" r:id="rId36"/>
    <p:sldId id="611" r:id="rId37"/>
    <p:sldId id="612" r:id="rId38"/>
    <p:sldId id="613" r:id="rId39"/>
    <p:sldId id="614" r:id="rId40"/>
    <p:sldId id="605" r:id="rId41"/>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0" autoAdjust="0"/>
    <p:restoredTop sz="94660"/>
  </p:normalViewPr>
  <p:slideViewPr>
    <p:cSldViewPr snapToGrid="0">
      <p:cViewPr varScale="1">
        <p:scale>
          <a:sx n="88" d="100"/>
          <a:sy n="88" d="100"/>
        </p:scale>
        <p:origin x="114" y="1800"/>
      </p:cViewPr>
      <p:guideLst/>
    </p:cSldViewPr>
  </p:slideViewPr>
  <p:notesTextViewPr>
    <p:cViewPr>
      <p:scale>
        <a:sx n="1" d="1"/>
        <a:sy n="1" d="1"/>
      </p:scale>
      <p:origin x="0" y="0"/>
    </p:cViewPr>
  </p:notesTextViewPr>
  <p:notesViewPr>
    <p:cSldViewPr snapToGrid="0">
      <p:cViewPr varScale="1">
        <p:scale>
          <a:sx n="125" d="100"/>
          <a:sy n="125" d="100"/>
        </p:scale>
        <p:origin x="1566"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27/02/2025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388670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catch up on last week’s class by last weeks slides, or by the </a:t>
            </a:r>
            <a:r>
              <a:rPr lang="en-US" dirty="0" err="1"/>
              <a:t>the</a:t>
            </a:r>
            <a:r>
              <a:rPr lang="en-US" dirty="0"/>
              <a:t> video’s posted in the announcement</a:t>
            </a:r>
          </a:p>
          <a:p>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3418113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someone asked me if all these transformation spaces increase the memory requirement of the application. The good news is that they don’t.</a:t>
            </a:r>
          </a:p>
          <a:p>
            <a:endParaRPr lang="en-US" dirty="0"/>
          </a:p>
          <a:p>
            <a:r>
              <a:rPr lang="en-US" dirty="0"/>
              <a:t>The main idea is that you only store </a:t>
            </a:r>
            <a:r>
              <a:rPr lang="en-US" b="1" dirty="0"/>
              <a:t>one</a:t>
            </a:r>
            <a:r>
              <a:rPr lang="en-US" dirty="0"/>
              <a:t> set of coordinates. You can transform these coordinates into a set of coordinates in another space that you need, but there’s no need to store them. You can just forget about the transformed coordinate when you’re done with it, and transform it again when you need it again.</a:t>
            </a:r>
          </a:p>
          <a:p>
            <a:endParaRPr lang="en-US" dirty="0"/>
          </a:p>
          <a:p>
            <a:r>
              <a:rPr lang="en-US" dirty="0"/>
              <a:t>The analogy here is temperature. Image we have a temperate (20 degrees Celsius), and sometimes we want it in Fahrenheit, and maybe in Kelvin. We can easily calculate these 2 from Celsius. Will we store 3 temperatures in different units? No, it takes more memory, and the duplication is a prime target for bugs.</a:t>
            </a:r>
          </a:p>
          <a:p>
            <a:endParaRPr lang="en-US" dirty="0"/>
          </a:p>
          <a:p>
            <a:r>
              <a:rPr lang="en-US" dirty="0"/>
              <a:t>Fun fact: CPU’s (and GPU compute) speed is increasing faster than memory speed. Twenty years ago, you would store things in memory so you wouldn’t need to recompute them. Nowadays, the trend is towards recomputing things so you don’t have to fetch them from memory.</a:t>
            </a:r>
          </a:p>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3920757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message here, is that you really should be getting started on your this week</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584171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471112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341250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vast majority of all real-time rendering is done with triangles. It’s a feedback loop, as GPU’s specialized towards triangles, making it even more attractive for applications to choose triangles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4215461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Not that the triangle is defined only by it’s points/vertices. The lines (called edges) between the points only exist conceptually: we don’t store anything for them, we have enough with just the points.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665719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vertex isn’t just a position, although it always has some. It often has additional data. This data is arbitrary: you, as a graphics programmer, decide what you need. </a:t>
            </a:r>
            <a:br>
              <a:rPr lang="en-US" dirty="0"/>
            </a:br>
            <a:br>
              <a:rPr lang="en-US" dirty="0"/>
            </a:br>
            <a:r>
              <a:rPr lang="en-US" dirty="0"/>
              <a:t>Common ones include </a:t>
            </a:r>
          </a:p>
          <a:p>
            <a:r>
              <a:rPr lang="en-US" dirty="0"/>
              <a:t>Normal (direction perpendicular to the surface)</a:t>
            </a:r>
          </a:p>
          <a:p>
            <a:r>
              <a:rPr lang="en-US" dirty="0"/>
              <a:t>Texture coordinates (or ‘UV coordinates’. We’ll see what these are in another class)</a:t>
            </a:r>
          </a:p>
          <a:p>
            <a:r>
              <a:rPr lang="en-US" dirty="0"/>
              <a:t>Color (when not using textures)</a:t>
            </a:r>
          </a:p>
          <a:p>
            <a:endParaRPr lang="en-US" dirty="0"/>
          </a:p>
          <a:p>
            <a:r>
              <a:rPr lang="en-US" dirty="0"/>
              <a:t>Less common ones include</a:t>
            </a:r>
          </a:p>
          <a:p>
            <a:r>
              <a:rPr lang="en-US" dirty="0"/>
              <a:t>Animation data </a:t>
            </a:r>
          </a:p>
          <a:p>
            <a:r>
              <a:rPr lang="en-US" dirty="0"/>
              <a:t>Multiple texture coordinates</a:t>
            </a:r>
          </a:p>
          <a:p>
            <a:r>
              <a:rPr lang="en-US" dirty="0"/>
              <a:t>Many more…..</a:t>
            </a:r>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3250550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need a value from the vertex, and we’re not exactly at a vertex, the value is interpolated: it takes values from all three vertices </a:t>
            </a:r>
          </a:p>
          <a:p>
            <a:endParaRPr lang="en-US" dirty="0"/>
          </a:p>
          <a:p>
            <a:r>
              <a:rPr lang="en-US" dirty="0"/>
              <a:t>Don’t worry, this slide just illustrates that we can have other things in vertices than positions.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816193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mesh with 2 triangles</a:t>
            </a:r>
          </a:p>
          <a:p>
            <a:endParaRPr lang="en-US" dirty="0"/>
          </a:p>
          <a:p>
            <a:r>
              <a:rPr lang="en-US" dirty="0"/>
              <a:t>One triangle = 3 vertices</a:t>
            </a:r>
          </a:p>
          <a:p>
            <a:r>
              <a:rPr lang="en-US" dirty="0"/>
              <a:t>Two triangles = 3*2 vertices</a:t>
            </a:r>
          </a:p>
          <a:p>
            <a:endParaRPr lang="en-US" dirty="0"/>
          </a:p>
          <a:p>
            <a:r>
              <a:rPr lang="en-US" dirty="0"/>
              <a:t>We put this in a vertex buffer, where each vertex is put </a:t>
            </a:r>
            <a:r>
              <a:rPr lang="en-US" b="1" dirty="0"/>
              <a:t>in sequence</a:t>
            </a:r>
            <a:r>
              <a:rPr lang="en-US" dirty="0"/>
              <a:t>. In this example, the first 3 vertices in the buffer are the first triangle, the second group of 3 are the second triangle</a:t>
            </a:r>
          </a:p>
          <a:p>
            <a:endParaRPr lang="en-US" dirty="0"/>
          </a:p>
          <a:p>
            <a:r>
              <a:rPr lang="en-US" dirty="0"/>
              <a:t>Not that 2 of the positions (the diagonal) occur twice. We have four corners, but six vertices. Two positions occur twice, which is a wasteful. We’re going to fix that in a later slide</a:t>
            </a:r>
          </a:p>
          <a:p>
            <a:endParaRPr lang="en-US" dirty="0"/>
          </a:p>
          <a:p>
            <a:r>
              <a:rPr lang="en-US" dirty="0"/>
              <a:t>Also note the rotating arrows on the triangle. These come from the order of the 3 vertices making each triangle. We’ll come back to that in the next slide.</a:t>
            </a:r>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3468631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an object on your desk. Roughly speaking, you only see half of an object, the other half is on the backside. Ideally, we don’t want to render it, as it will take time, and we won’t see it anyway.</a:t>
            </a:r>
          </a:p>
          <a:p>
            <a:endParaRPr lang="en-US" dirty="0"/>
          </a:p>
          <a:p>
            <a:r>
              <a:rPr lang="en-US" dirty="0"/>
              <a:t>Above is an example of the results of </a:t>
            </a:r>
            <a:r>
              <a:rPr lang="en-US" b="1" dirty="0" err="1"/>
              <a:t>backface</a:t>
            </a:r>
            <a:r>
              <a:rPr lang="en-US" b="1" dirty="0"/>
              <a:t> culling</a:t>
            </a:r>
            <a:r>
              <a:rPr lang="en-US" dirty="0"/>
              <a:t>, a simple but effective algorithm for getting rid of all those non-visible triangle.</a:t>
            </a:r>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2256283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Backface</a:t>
            </a:r>
            <a:r>
              <a:rPr lang="en-US" b="1" dirty="0"/>
              <a:t> culling </a:t>
            </a:r>
            <a:r>
              <a:rPr lang="en-US" dirty="0"/>
              <a:t>looks at the </a:t>
            </a:r>
            <a:r>
              <a:rPr lang="en-US" b="1" dirty="0"/>
              <a:t>winding</a:t>
            </a:r>
            <a:r>
              <a:rPr lang="en-US" dirty="0"/>
              <a:t> of triangles. </a:t>
            </a:r>
            <a:r>
              <a:rPr lang="en-US" b="1" dirty="0"/>
              <a:t>Winding</a:t>
            </a:r>
            <a:r>
              <a:rPr lang="en-US" dirty="0"/>
              <a:t> is whether the sequence of the vertices of a triangle goes clockwise, of counterclockwise. </a:t>
            </a:r>
          </a:p>
          <a:p>
            <a:endParaRPr lang="en-US" b="1" dirty="0"/>
          </a:p>
          <a:p>
            <a:r>
              <a:rPr lang="en-US" dirty="0"/>
              <a:t>In unity (by default, it’s configurable), any triangle with a counterclockwise winding will be skipped when rendering, as they will be on the backside of the object.</a:t>
            </a:r>
          </a:p>
          <a:p>
            <a:endParaRPr lang="en-US" dirty="0"/>
          </a:p>
          <a:p>
            <a:r>
              <a:rPr lang="en-US" dirty="0"/>
              <a:t>Why is this important? You need to get this right when you create your meshes. If you don’t you will not see some (or all) of your triangles. How I get it right is, </a:t>
            </a:r>
            <a:r>
              <a:rPr lang="en-US" dirty="0" err="1"/>
              <a:t>tbh</a:t>
            </a:r>
            <a:r>
              <a:rPr lang="en-US" dirty="0"/>
              <a:t>, just visualizing it as I type it. Create one triangle at  a time. Visualize their positions in your head. Check the winding.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3815726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for yourself!</a:t>
            </a:r>
            <a:br>
              <a:rPr lang="en-US" dirty="0"/>
            </a:br>
            <a:br>
              <a:rPr lang="en-US" dirty="0"/>
            </a:br>
            <a:r>
              <a:rPr lang="en-US" dirty="0"/>
              <a:t>Remember, a float is 4 bytes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2268428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do waste a handful of bytes, as 33% of our information is redundant. </a:t>
            </a:r>
          </a:p>
          <a:p>
            <a:endParaRPr lang="en-US" dirty="0"/>
          </a:p>
          <a:p>
            <a:r>
              <a:rPr lang="en-US" dirty="0"/>
              <a:t>Instead of duplicating a vertex that is used twice, we can use another trick. Instead of triangle being composed of 3 vertices, a triangle is composed of 3 indices.  These indices are an index into the vertex </a:t>
            </a:r>
            <a:r>
              <a:rPr lang="en-US" dirty="0" err="1"/>
              <a:t>ufferThat</a:t>
            </a:r>
            <a:r>
              <a:rPr lang="en-US" dirty="0"/>
              <a:t> means we just have 3 int’s per triangle, and all the vertices we store will still be unique. </a:t>
            </a:r>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3415457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the size of the index buffer and the vertex buffer. Remember, and int is 4 bytes, and so is a float.</a:t>
            </a:r>
          </a:p>
          <a:p>
            <a:endParaRPr lang="en-US" dirty="0"/>
          </a:p>
          <a:p>
            <a:r>
              <a:rPr lang="en-US" dirty="0"/>
              <a:t>How much do we win?</a:t>
            </a:r>
          </a:p>
          <a:p>
            <a:r>
              <a:rPr lang="en-US" dirty="0"/>
              <a:t>In reality (meshes with 10’s of thousands of triangles, if not more), vertices are often shared between 4-6 triangles ,  giving us even more saving with this scheme.</a:t>
            </a:r>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1909234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create a mesh in unity?</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3070209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44719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2297373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yet in the assignment at the time of writing, but it definitely will be, as we need it to add water to our world</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150667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2191908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3326666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3832034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392092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1260675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4207285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2990306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957476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38881237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934261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is defined on top a face (we used triangle, but a face can be any polygon that is ‘flat’). </a:t>
            </a:r>
          </a:p>
          <a:p>
            <a:r>
              <a:rPr lang="en-US" dirty="0"/>
              <a:t>Unfortunately, we need normal at our vertex. There are ways to calculate them, but it’s always a heuristic (there’s no ‘correct’ answer, only something we can come up with that seems ok).</a:t>
            </a:r>
          </a:p>
          <a:p>
            <a:r>
              <a:rPr lang="en-US" dirty="0"/>
              <a:t>Once we have our vertex normal (we’ll see one way of calculating in later slides), we’re still faced with the problem of what a normal is on a surface. The answer is that we </a:t>
            </a:r>
            <a:r>
              <a:rPr lang="en-US" b="1" dirty="0"/>
              <a:t>interpolate </a:t>
            </a:r>
            <a:r>
              <a:rPr lang="en-US" dirty="0"/>
              <a:t>between all 3 normal vertices of that triangles, depending on where we are in the triangle.</a:t>
            </a:r>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7522461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use the face normal. It’s constant across the entire face, so we get these really solid colored polygons</a:t>
            </a:r>
          </a:p>
          <a:p>
            <a:r>
              <a:rPr lang="en-US" dirty="0"/>
              <a:t>Right is the result when we interpolate our vertex. We see a smooth shading.</a:t>
            </a:r>
          </a:p>
          <a:p>
            <a:endParaRPr lang="en-US" dirty="0"/>
          </a:p>
          <a:p>
            <a:r>
              <a:rPr lang="en-US" dirty="0"/>
              <a:t>Note, both these sphere have the same amount of triangles. The one on the left more accurately shows the geometry. The one on the right gives the impression of a more smooth mesh than is actually present.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4218332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recap anyway </a:t>
            </a:r>
            <a:r>
              <a:rPr lang="en-US" dirty="0">
                <a:sym typeface="Wingdings" panose="05000000000000000000" pitchFamily="2" charset="2"/>
              </a:rPr>
              <a:t></a:t>
            </a:r>
          </a:p>
          <a:p>
            <a:endParaRPr lang="en-US" dirty="0">
              <a:sym typeface="Wingdings" panose="05000000000000000000" pitchFamily="2" charset="2"/>
            </a:endParaRPr>
          </a:p>
          <a:p>
            <a:r>
              <a:rPr lang="en-US" dirty="0">
                <a:sym typeface="Wingdings" panose="05000000000000000000" pitchFamily="2" charset="2"/>
              </a:rPr>
              <a:t>The normal is the direction perpendicular to the surface</a:t>
            </a:r>
          </a:p>
          <a:p>
            <a:r>
              <a:rPr lang="en-US" dirty="0">
                <a:sym typeface="Wingdings" panose="05000000000000000000" pitchFamily="2" charset="2"/>
              </a:rPr>
              <a:t>The cross product creates a vector perpendicular to two other vectors</a:t>
            </a:r>
          </a:p>
          <a:p>
            <a:r>
              <a:rPr lang="en-US" dirty="0">
                <a:sym typeface="Wingdings" panose="05000000000000000000" pitchFamily="2" charset="2"/>
              </a:rPr>
              <a:t>Those two other vectors? We can take any two edges of the triangle. </a:t>
            </a:r>
            <a:r>
              <a:rPr lang="en-US" dirty="0" err="1">
                <a:sym typeface="Wingdings" panose="05000000000000000000" pitchFamily="2" charset="2"/>
              </a:rPr>
              <a:t>Eg</a:t>
            </a:r>
            <a:r>
              <a:rPr lang="en-US" dirty="0">
                <a:sym typeface="Wingdings" panose="05000000000000000000" pitchFamily="2" charset="2"/>
              </a:rPr>
              <a:t> (B-A) and (C-A)</a:t>
            </a:r>
          </a:p>
          <a:p>
            <a:r>
              <a:rPr lang="en-US" dirty="0">
                <a:sym typeface="Wingdings" panose="05000000000000000000" pitchFamily="2" charset="2"/>
              </a:rPr>
              <a:t>Gotchas: get them in the right order (check your left hand) or your normal will point in the wrong way. Also, normalize your result!</a:t>
            </a:r>
          </a:p>
          <a:p>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3123630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are the sequence of the vertices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19623885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13006222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each triangle ‘contributes’ it’s normal to each vertex which is part of it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1142061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391083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account for the angle -&gt; multiply the normal with the angle before adding</a:t>
            </a:r>
          </a:p>
          <a:p>
            <a:r>
              <a:rPr lang="en-US" dirty="0"/>
              <a:t>We can also account for the size of the triangle -&gt; multiply the area</a:t>
            </a:r>
          </a:p>
          <a:p>
            <a:endParaRPr lang="en-US" dirty="0"/>
          </a:p>
          <a:p>
            <a:r>
              <a:rPr lang="en-US" dirty="0"/>
              <a:t>Experiment!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2136474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drew a couple of combinations of cube to see that normal generation isn’t trivial</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39</a:t>
            </a:fld>
            <a:endParaRPr lang="en-BE"/>
          </a:p>
        </p:txBody>
      </p:sp>
    </p:spTree>
    <p:extLst>
      <p:ext uri="{BB962C8B-B14F-4D97-AF65-F5344CB8AC3E}">
        <p14:creationId xmlns:p14="http://schemas.microsoft.com/office/powerpoint/2010/main" val="2083307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40</a:t>
            </a:fld>
            <a:endParaRPr lang="en-BE"/>
          </a:p>
        </p:txBody>
      </p:sp>
    </p:spTree>
    <p:extLst>
      <p:ext uri="{BB962C8B-B14F-4D97-AF65-F5344CB8AC3E}">
        <p14:creationId xmlns:p14="http://schemas.microsoft.com/office/powerpoint/2010/main" val="25573426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27/02/2025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27/02/2025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3: Geometry</a:t>
            </a:r>
          </a:p>
          <a:p>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r>
              <a:rPr lang="en-US" dirty="0"/>
              <a:t>2024</a:t>
            </a:r>
            <a:endParaRPr lang="en-BE" dirty="0"/>
          </a:p>
        </p:txBody>
      </p:sp>
      <p:pic>
        <p:nvPicPr>
          <p:cNvPr id="8" name="Picture 7">
            <a:extLst>
              <a:ext uri="{FF2B5EF4-FFF2-40B4-BE49-F238E27FC236}">
                <a16:creationId xmlns:a16="http://schemas.microsoft.com/office/drawing/2014/main" id="{53227C92-CD6F-16BB-F596-29A3C84D31CC}"/>
              </a:ext>
            </a:extLst>
          </p:cNvPr>
          <p:cNvPicPr>
            <a:picLocks noChangeAspect="1"/>
          </p:cNvPicPr>
          <p:nvPr/>
        </p:nvPicPr>
        <p:blipFill>
          <a:blip r:embed="rId3"/>
          <a:stretch>
            <a:fillRect/>
          </a:stretch>
        </p:blipFill>
        <p:spPr>
          <a:xfrm>
            <a:off x="-120513" y="2163944"/>
            <a:ext cx="4115934" cy="2661688"/>
          </a:xfrm>
          <a:prstGeom prst="rect">
            <a:avLst/>
          </a:prstGeom>
        </p:spPr>
      </p:pic>
      <p:pic>
        <p:nvPicPr>
          <p:cNvPr id="10" name="Picture 9">
            <a:extLst>
              <a:ext uri="{FF2B5EF4-FFF2-40B4-BE49-F238E27FC236}">
                <a16:creationId xmlns:a16="http://schemas.microsoft.com/office/drawing/2014/main" id="{9B7AE52B-8132-C338-D78A-32D9B4337761}"/>
              </a:ext>
            </a:extLst>
          </p:cNvPr>
          <p:cNvPicPr>
            <a:picLocks noChangeAspect="1"/>
          </p:cNvPicPr>
          <p:nvPr/>
        </p:nvPicPr>
        <p:blipFill>
          <a:blip r:embed="rId4"/>
          <a:stretch>
            <a:fillRect/>
          </a:stretch>
        </p:blipFill>
        <p:spPr>
          <a:xfrm>
            <a:off x="2422724" y="0"/>
            <a:ext cx="5334000" cy="2124448"/>
          </a:xfrm>
          <a:prstGeom prst="rect">
            <a:avLst/>
          </a:prstGeom>
        </p:spPr>
      </p:pic>
      <p:sp>
        <p:nvSpPr>
          <p:cNvPr id="11" name="TextBox 10">
            <a:extLst>
              <a:ext uri="{FF2B5EF4-FFF2-40B4-BE49-F238E27FC236}">
                <a16:creationId xmlns:a16="http://schemas.microsoft.com/office/drawing/2014/main" id="{C08A0CE9-A69B-BB0D-A52B-7F0FDA7918F4}"/>
              </a:ext>
            </a:extLst>
          </p:cNvPr>
          <p:cNvSpPr txBox="1"/>
          <p:nvPr/>
        </p:nvSpPr>
        <p:spPr>
          <a:xfrm>
            <a:off x="4114800" y="2247372"/>
            <a:ext cx="2792944" cy="369332"/>
          </a:xfrm>
          <a:prstGeom prst="rect">
            <a:avLst/>
          </a:prstGeom>
          <a:noFill/>
        </p:spPr>
        <p:txBody>
          <a:bodyPr wrap="none" rtlCol="0">
            <a:spAutoFit/>
          </a:bodyPr>
          <a:lstStyle/>
          <a:p>
            <a:r>
              <a:rPr lang="en-US" dirty="0" err="1"/>
              <a:t>Doechii</a:t>
            </a:r>
            <a:r>
              <a:rPr lang="en-US" dirty="0"/>
              <a:t> / Tiny Desk concert </a:t>
            </a:r>
            <a:endParaRPr lang="en-BE" dirty="0"/>
          </a:p>
        </p:txBody>
      </p:sp>
    </p:spTree>
    <p:extLst>
      <p:ext uri="{BB962C8B-B14F-4D97-AF65-F5344CB8AC3E}">
        <p14:creationId xmlns:p14="http://schemas.microsoft.com/office/powerpoint/2010/main" val="1905507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B585-AF26-A989-C2E4-B97495A784E4}"/>
              </a:ext>
            </a:extLst>
          </p:cNvPr>
          <p:cNvSpPr>
            <a:spLocks noGrp="1"/>
          </p:cNvSpPr>
          <p:nvPr>
            <p:ph type="title"/>
          </p:nvPr>
        </p:nvSpPr>
        <p:spPr/>
        <p:txBody>
          <a:bodyPr/>
          <a:lstStyle/>
          <a:p>
            <a:r>
              <a:rPr lang="en-US" dirty="0"/>
              <a:t>Last class</a:t>
            </a:r>
            <a:endParaRPr lang="en-BE" dirty="0"/>
          </a:p>
        </p:txBody>
      </p:sp>
      <p:sp>
        <p:nvSpPr>
          <p:cNvPr id="9" name="TextBox 8">
            <a:extLst>
              <a:ext uri="{FF2B5EF4-FFF2-40B4-BE49-F238E27FC236}">
                <a16:creationId xmlns:a16="http://schemas.microsoft.com/office/drawing/2014/main" id="{F0CBD0A1-4820-ED04-A5B0-2D1A763FE81B}"/>
              </a:ext>
            </a:extLst>
          </p:cNvPr>
          <p:cNvSpPr txBox="1"/>
          <p:nvPr/>
        </p:nvSpPr>
        <p:spPr>
          <a:xfrm>
            <a:off x="976605" y="1690688"/>
            <a:ext cx="6911187" cy="3539430"/>
          </a:xfrm>
          <a:prstGeom prst="rect">
            <a:avLst/>
          </a:prstGeom>
          <a:noFill/>
        </p:spPr>
        <p:txBody>
          <a:bodyPr wrap="none" rtlCol="0">
            <a:spAutoFit/>
          </a:bodyPr>
          <a:lstStyle/>
          <a:p>
            <a:pPr marL="285750" indent="-285750">
              <a:buFont typeface="Arial" panose="020B0604020202020204" pitchFamily="34" charset="0"/>
              <a:buChar char="•"/>
            </a:pPr>
            <a:r>
              <a:rPr lang="en-US" sz="2800" dirty="0"/>
              <a:t>3D coordinate system</a:t>
            </a:r>
          </a:p>
          <a:p>
            <a:pPr marL="285750" indent="-285750">
              <a:buFont typeface="Arial" panose="020B0604020202020204" pitchFamily="34" charset="0"/>
              <a:buChar char="•"/>
            </a:pPr>
            <a:r>
              <a:rPr lang="en-US" sz="2800" dirty="0"/>
              <a:t>Points &amp; Vectors</a:t>
            </a:r>
          </a:p>
          <a:p>
            <a:pPr marL="285750" indent="-285750">
              <a:buFont typeface="Arial" panose="020B0604020202020204" pitchFamily="34" charset="0"/>
              <a:buChar char="•"/>
            </a:pPr>
            <a:r>
              <a:rPr lang="en-US" sz="2800" dirty="0"/>
              <a:t>Translate</a:t>
            </a:r>
          </a:p>
          <a:p>
            <a:pPr marL="285750" indent="-285750">
              <a:buFont typeface="Arial" panose="020B0604020202020204" pitchFamily="34" charset="0"/>
              <a:buChar char="•"/>
            </a:pPr>
            <a:r>
              <a:rPr lang="en-US" sz="2800" dirty="0"/>
              <a:t>Rotate</a:t>
            </a:r>
          </a:p>
          <a:p>
            <a:pPr marL="285750" indent="-285750">
              <a:buFont typeface="Arial" panose="020B0604020202020204" pitchFamily="34" charset="0"/>
              <a:buChar char="•"/>
            </a:pPr>
            <a:r>
              <a:rPr lang="en-US" sz="2800" dirty="0"/>
              <a:t>Scale</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Need to respond to question about memory</a:t>
            </a:r>
          </a:p>
        </p:txBody>
      </p:sp>
    </p:spTree>
    <p:extLst>
      <p:ext uri="{BB962C8B-B14F-4D97-AF65-F5344CB8AC3E}">
        <p14:creationId xmlns:p14="http://schemas.microsoft.com/office/powerpoint/2010/main" val="1021368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D6132-F0CE-4A5B-938C-8EA82283D23F}"/>
              </a:ext>
            </a:extLst>
          </p:cNvPr>
          <p:cNvSpPr>
            <a:spLocks noGrp="1"/>
          </p:cNvSpPr>
          <p:nvPr>
            <p:ph type="title"/>
          </p:nvPr>
        </p:nvSpPr>
        <p:spPr/>
        <p:txBody>
          <a:bodyPr/>
          <a:lstStyle/>
          <a:p>
            <a:r>
              <a:rPr lang="en-US" dirty="0"/>
              <a:t>Do these questions increase memory?</a:t>
            </a:r>
            <a:endParaRPr lang="en-BE" dirty="0"/>
          </a:p>
        </p:txBody>
      </p:sp>
      <p:sp>
        <p:nvSpPr>
          <p:cNvPr id="3" name="TextBox 2">
            <a:extLst>
              <a:ext uri="{FF2B5EF4-FFF2-40B4-BE49-F238E27FC236}">
                <a16:creationId xmlns:a16="http://schemas.microsoft.com/office/drawing/2014/main" id="{1CF1FB4B-313E-7C95-A679-77041F067F5F}"/>
              </a:ext>
            </a:extLst>
          </p:cNvPr>
          <p:cNvSpPr txBox="1"/>
          <p:nvPr/>
        </p:nvSpPr>
        <p:spPr>
          <a:xfrm>
            <a:off x="1219200" y="1930400"/>
            <a:ext cx="9495100" cy="4524315"/>
          </a:xfrm>
          <a:prstGeom prst="rect">
            <a:avLst/>
          </a:prstGeom>
          <a:noFill/>
        </p:spPr>
        <p:txBody>
          <a:bodyPr wrap="none" rtlCol="0">
            <a:spAutoFit/>
          </a:bodyPr>
          <a:lstStyle/>
          <a:p>
            <a:pPr marL="285750" indent="-285750">
              <a:buFont typeface="Arial" panose="020B0604020202020204" pitchFamily="34" charset="0"/>
              <a:buChar char="•"/>
            </a:pPr>
            <a:r>
              <a:rPr lang="en-US" sz="3200" dirty="0"/>
              <a:t>No, these spaces are conceptual</a:t>
            </a:r>
          </a:p>
          <a:p>
            <a:pPr marL="285750" indent="-285750">
              <a:buFont typeface="Arial" panose="020B0604020202020204" pitchFamily="34" charset="0"/>
              <a:buChar char="•"/>
            </a:pPr>
            <a:r>
              <a:rPr lang="en-US" sz="3200" dirty="0"/>
              <a:t>You always have single coordinate for a point</a:t>
            </a:r>
          </a:p>
          <a:p>
            <a:pPr marL="285750" indent="-285750">
              <a:buFont typeface="Arial" panose="020B0604020202020204" pitchFamily="34" charset="0"/>
              <a:buChar char="•"/>
            </a:pPr>
            <a:r>
              <a:rPr lang="en-US" sz="3200" dirty="0"/>
              <a:t>Which you can transform into another </a:t>
            </a:r>
            <a:r>
              <a:rPr lang="en-US" sz="3200" dirty="0" err="1"/>
              <a:t>spce</a:t>
            </a:r>
            <a:endParaRPr lang="en-US" sz="3200" dirty="0"/>
          </a:p>
          <a:p>
            <a:pPr marL="285750" indent="-285750">
              <a:buFont typeface="Arial" panose="020B0604020202020204" pitchFamily="34" charset="0"/>
              <a:buChar char="•"/>
            </a:pPr>
            <a:r>
              <a:rPr lang="en-US" sz="3200" dirty="0"/>
              <a:t>But you don’t need to store it</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dirty="0"/>
              <a:t>Analogy: units</a:t>
            </a:r>
          </a:p>
          <a:p>
            <a:pPr marL="285750" indent="-285750">
              <a:buFont typeface="Arial" panose="020B0604020202020204" pitchFamily="34" charset="0"/>
              <a:buChar char="•"/>
            </a:pPr>
            <a:r>
              <a:rPr lang="en-US" sz="3200" dirty="0"/>
              <a:t>50 meters</a:t>
            </a:r>
          </a:p>
          <a:p>
            <a:pPr marL="285750" indent="-285750">
              <a:buFont typeface="Arial" panose="020B0604020202020204" pitchFamily="34" charset="0"/>
              <a:buChar char="•"/>
            </a:pPr>
            <a:r>
              <a:rPr lang="en-US" sz="3200" dirty="0"/>
              <a:t>We can express it in feet</a:t>
            </a:r>
          </a:p>
          <a:p>
            <a:pPr marL="285750" indent="-285750">
              <a:buFont typeface="Arial" panose="020B0604020202020204" pitchFamily="34" charset="0"/>
              <a:buChar char="•"/>
            </a:pPr>
            <a:r>
              <a:rPr lang="en-US" sz="3200" dirty="0"/>
              <a:t>Don’t need to store that, can convert when we need it</a:t>
            </a:r>
            <a:endParaRPr lang="en-BE" sz="3200" dirty="0"/>
          </a:p>
        </p:txBody>
      </p:sp>
    </p:spTree>
    <p:extLst>
      <p:ext uri="{BB962C8B-B14F-4D97-AF65-F5344CB8AC3E}">
        <p14:creationId xmlns:p14="http://schemas.microsoft.com/office/powerpoint/2010/main" val="201931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DC9C-A829-10A7-6128-DF6DFB94DB4A}"/>
              </a:ext>
            </a:extLst>
          </p:cNvPr>
          <p:cNvSpPr>
            <a:spLocks noGrp="1"/>
          </p:cNvSpPr>
          <p:nvPr>
            <p:ph type="title"/>
          </p:nvPr>
        </p:nvSpPr>
        <p:spPr/>
        <p:txBody>
          <a:bodyPr/>
          <a:lstStyle/>
          <a:p>
            <a:r>
              <a:rPr lang="en-US" dirty="0"/>
              <a:t>Part of the project is available</a:t>
            </a:r>
            <a:endParaRPr lang="en-BE" dirty="0"/>
          </a:p>
        </p:txBody>
      </p:sp>
      <p:sp>
        <p:nvSpPr>
          <p:cNvPr id="3" name="TextBox 2">
            <a:extLst>
              <a:ext uri="{FF2B5EF4-FFF2-40B4-BE49-F238E27FC236}">
                <a16:creationId xmlns:a16="http://schemas.microsoft.com/office/drawing/2014/main" id="{6A4FE438-147F-846F-E3E7-8F5E60D4E2E5}"/>
              </a:ext>
            </a:extLst>
          </p:cNvPr>
          <p:cNvSpPr txBox="1"/>
          <p:nvPr/>
        </p:nvSpPr>
        <p:spPr>
          <a:xfrm>
            <a:off x="1104900" y="2057400"/>
            <a:ext cx="10277429" cy="3139321"/>
          </a:xfrm>
          <a:prstGeom prst="rect">
            <a:avLst/>
          </a:prstGeom>
          <a:noFill/>
        </p:spPr>
        <p:txBody>
          <a:bodyPr wrap="none" rtlCol="0">
            <a:spAutoFit/>
          </a:bodyPr>
          <a:lstStyle/>
          <a:p>
            <a:pPr marL="285750" indent="-285750">
              <a:buFont typeface="Arial" panose="020B0604020202020204" pitchFamily="34" charset="0"/>
              <a:buChar char="•"/>
            </a:pPr>
            <a:r>
              <a:rPr lang="en-US" sz="3600" dirty="0"/>
              <a:t>Please accept it right now and submit on Toledo</a:t>
            </a:r>
          </a:p>
          <a:p>
            <a:pPr marL="285750" indent="-285750">
              <a:buFont typeface="Arial" panose="020B0604020202020204" pitchFamily="34" charset="0"/>
              <a:buChar char="•"/>
            </a:pPr>
            <a:r>
              <a:rPr lang="en-US" sz="3600" dirty="0"/>
              <a:t>Missing the 3</a:t>
            </a:r>
            <a:r>
              <a:rPr lang="en-US" sz="3600" baseline="30000" dirty="0"/>
              <a:t>rd</a:t>
            </a:r>
            <a:r>
              <a:rPr lang="en-US" sz="3600" dirty="0"/>
              <a:t> person part of the camera exercise</a:t>
            </a:r>
          </a:p>
          <a:p>
            <a:pPr marL="285750" indent="-285750">
              <a:buFont typeface="Arial" panose="020B0604020202020204" pitchFamily="34" charset="0"/>
              <a:buChar char="•"/>
            </a:pPr>
            <a:r>
              <a:rPr lang="en-US" sz="3600" dirty="0"/>
              <a:t>Also uploaded the Minecraft terrain </a:t>
            </a:r>
          </a:p>
          <a:p>
            <a:pPr marL="285750" indent="-285750">
              <a:buFont typeface="Arial" panose="020B0604020202020204" pitchFamily="34" charset="0"/>
              <a:buChar char="•"/>
            </a:pPr>
            <a:r>
              <a:rPr lang="en-US" sz="3600" dirty="0"/>
              <a:t>Missing the introduction for that (it used to be a lab)</a:t>
            </a:r>
          </a:p>
          <a:p>
            <a:pPr marL="285750" indent="-285750">
              <a:buFont typeface="Arial" panose="020B0604020202020204" pitchFamily="34" charset="0"/>
              <a:buChar char="•"/>
            </a:pPr>
            <a:r>
              <a:rPr lang="en-US" sz="3600" dirty="0"/>
              <a:t>Hoping to update by Fri</a:t>
            </a:r>
          </a:p>
          <a:p>
            <a:pPr marL="285750" indent="-285750">
              <a:buFont typeface="Arial" panose="020B0604020202020204" pitchFamily="34" charset="0"/>
              <a:buChar char="•"/>
            </a:pPr>
            <a:endParaRPr lang="en-BE" dirty="0"/>
          </a:p>
        </p:txBody>
      </p:sp>
    </p:spTree>
    <p:extLst>
      <p:ext uri="{BB962C8B-B14F-4D97-AF65-F5344CB8AC3E}">
        <p14:creationId xmlns:p14="http://schemas.microsoft.com/office/powerpoint/2010/main" val="2868215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564-CA9E-3D87-8903-3909F7D4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F79E-D81D-C0B7-2D18-4AECB866817D}"/>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44AD8DA9-97E3-0B9A-E8CC-21F1C6CD170F}"/>
              </a:ext>
            </a:extLst>
          </p:cNvPr>
          <p:cNvPicPr>
            <a:picLocks noChangeAspect="1"/>
          </p:cNvPicPr>
          <p:nvPr/>
        </p:nvPicPr>
        <p:blipFill>
          <a:blip r:embed="rId3"/>
          <a:stretch>
            <a:fillRect/>
          </a:stretch>
        </p:blipFill>
        <p:spPr>
          <a:xfrm>
            <a:off x="0" y="4223671"/>
            <a:ext cx="4032180" cy="2639927"/>
          </a:xfrm>
          <a:prstGeom prst="rect">
            <a:avLst/>
          </a:prstGeom>
        </p:spPr>
      </p:pic>
      <p:graphicFrame>
        <p:nvGraphicFramePr>
          <p:cNvPr id="8" name="Table 7">
            <a:extLst>
              <a:ext uri="{FF2B5EF4-FFF2-40B4-BE49-F238E27FC236}">
                <a16:creationId xmlns:a16="http://schemas.microsoft.com/office/drawing/2014/main" id="{26D5C226-4920-1470-4E26-725EDC46B091}"/>
              </a:ext>
            </a:extLst>
          </p:cNvPr>
          <p:cNvGraphicFramePr>
            <a:graphicFrameLocks noGrp="1"/>
          </p:cNvGraphicFramePr>
          <p:nvPr>
            <p:extLst>
              <p:ext uri="{D42A27DB-BD31-4B8C-83A1-F6EECF244321}">
                <p14:modId xmlns:p14="http://schemas.microsoft.com/office/powerpoint/2010/main" val="1364176893"/>
              </p:ext>
            </p:extLst>
          </p:nvPr>
        </p:nvGraphicFramePr>
        <p:xfrm>
          <a:off x="5124734" y="1"/>
          <a:ext cx="4326341" cy="6929835"/>
        </p:xfrm>
        <a:graphic>
          <a:graphicData uri="http://schemas.openxmlformats.org/drawingml/2006/table">
            <a:tbl>
              <a:tblPr firstRow="1" bandRow="1">
                <a:tableStyleId>{5C22544A-7EE6-4342-B048-85BDC9FD1C3A}</a:tableStyleId>
              </a:tblPr>
              <a:tblGrid>
                <a:gridCol w="2026693">
                  <a:extLst>
                    <a:ext uri="{9D8B030D-6E8A-4147-A177-3AD203B41FA5}">
                      <a16:colId xmlns:a16="http://schemas.microsoft.com/office/drawing/2014/main" val="4215952977"/>
                    </a:ext>
                  </a:extLst>
                </a:gridCol>
                <a:gridCol w="2299648">
                  <a:extLst>
                    <a:ext uri="{9D8B030D-6E8A-4147-A177-3AD203B41FA5}">
                      <a16:colId xmlns:a16="http://schemas.microsoft.com/office/drawing/2014/main" val="1545778933"/>
                    </a:ext>
                  </a:extLst>
                </a:gridCol>
              </a:tblGrid>
              <a:tr h="522129">
                <a:tc>
                  <a:txBody>
                    <a:bodyPr/>
                    <a:lstStyle/>
                    <a:p>
                      <a:endParaRPr lang="en-BE"/>
                    </a:p>
                  </a:txBody>
                  <a:tcPr/>
                </a:tc>
                <a:tc>
                  <a:txBody>
                    <a:bodyPr/>
                    <a:lstStyle/>
                    <a:p>
                      <a:endParaRPr lang="en-BE" dirty="0"/>
                    </a:p>
                  </a:txBody>
                  <a:tcPr/>
                </a:tc>
                <a:extLst>
                  <a:ext uri="{0D108BD9-81ED-4DB2-BD59-A6C34878D82A}">
                    <a16:rowId xmlns:a16="http://schemas.microsoft.com/office/drawing/2014/main" val="2767273685"/>
                  </a:ext>
                </a:extLst>
              </a:tr>
              <a:tr h="522129">
                <a:tc>
                  <a:txBody>
                    <a:bodyPr/>
                    <a:lstStyle/>
                    <a:p>
                      <a:r>
                        <a:rPr lang="en-US" dirty="0"/>
                        <a:t>Week 1</a:t>
                      </a:r>
                      <a:endParaRPr lang="en-BE" dirty="0"/>
                    </a:p>
                  </a:txBody>
                  <a:tcPr/>
                </a:tc>
                <a:tc>
                  <a:txBody>
                    <a:bodyPr/>
                    <a:lstStyle/>
                    <a:p>
                      <a:r>
                        <a:rPr lang="en-US" dirty="0"/>
                        <a:t>Introduction</a:t>
                      </a:r>
                      <a:endParaRPr lang="en-BE" dirty="0"/>
                    </a:p>
                  </a:txBody>
                  <a:tcPr/>
                </a:tc>
                <a:extLst>
                  <a:ext uri="{0D108BD9-81ED-4DB2-BD59-A6C34878D82A}">
                    <a16:rowId xmlns:a16="http://schemas.microsoft.com/office/drawing/2014/main" val="3121121218"/>
                  </a:ext>
                </a:extLst>
              </a:tr>
              <a:tr h="522129">
                <a:tc>
                  <a:txBody>
                    <a:bodyPr/>
                    <a:lstStyle/>
                    <a:p>
                      <a:r>
                        <a:rPr lang="en-US" dirty="0"/>
                        <a:t>Week 2</a:t>
                      </a:r>
                      <a:endParaRPr lang="en-BE" dirty="0"/>
                    </a:p>
                  </a:txBody>
                  <a:tcPr/>
                </a:tc>
                <a:tc>
                  <a:txBody>
                    <a:bodyPr/>
                    <a:lstStyle/>
                    <a:p>
                      <a:r>
                        <a:rPr lang="en-US" dirty="0"/>
                        <a:t>3D reasoning</a:t>
                      </a:r>
                      <a:endParaRPr lang="en-BE" dirty="0"/>
                    </a:p>
                  </a:txBody>
                  <a:tcPr/>
                </a:tc>
                <a:extLst>
                  <a:ext uri="{0D108BD9-81ED-4DB2-BD59-A6C34878D82A}">
                    <a16:rowId xmlns:a16="http://schemas.microsoft.com/office/drawing/2014/main" val="1569727011"/>
                  </a:ext>
                </a:extLst>
              </a:tr>
              <a:tr h="522129">
                <a:tc>
                  <a:txBody>
                    <a:bodyPr/>
                    <a:lstStyle/>
                    <a:p>
                      <a:r>
                        <a:rPr lang="en-US" dirty="0"/>
                        <a:t>Week 3</a:t>
                      </a:r>
                      <a:endParaRPr lang="en-BE" dirty="0"/>
                    </a:p>
                  </a:txBody>
                  <a:tcPr/>
                </a:tc>
                <a:tc>
                  <a:txBody>
                    <a:bodyPr/>
                    <a:lstStyle/>
                    <a:p>
                      <a:r>
                        <a:rPr lang="en-US" dirty="0"/>
                        <a:t>Geometry</a:t>
                      </a:r>
                    </a:p>
                    <a:p>
                      <a:endParaRPr lang="en-BE" dirty="0"/>
                    </a:p>
                  </a:txBody>
                  <a:tcPr/>
                </a:tc>
                <a:extLst>
                  <a:ext uri="{0D108BD9-81ED-4DB2-BD59-A6C34878D82A}">
                    <a16:rowId xmlns:a16="http://schemas.microsoft.com/office/drawing/2014/main" val="3180221313"/>
                  </a:ext>
                </a:extLst>
              </a:tr>
              <a:tr h="625607">
                <a:tc>
                  <a:txBody>
                    <a:bodyPr/>
                    <a:lstStyle/>
                    <a:p>
                      <a:r>
                        <a:rPr lang="en-US" dirty="0"/>
                        <a:t>Week 4</a:t>
                      </a:r>
                      <a:endParaRPr lang="en-BE" dirty="0"/>
                    </a:p>
                  </a:txBody>
                  <a:tcPr/>
                </a:tc>
                <a:tc>
                  <a:txBody>
                    <a:bodyPr/>
                    <a:lstStyle/>
                    <a:p>
                      <a:r>
                        <a:rPr lang="en-US" dirty="0"/>
                        <a:t>Pipeline &amp; Materials</a:t>
                      </a:r>
                      <a:endParaRPr lang="en-BE" dirty="0"/>
                    </a:p>
                  </a:txBody>
                  <a:tcPr/>
                </a:tc>
                <a:extLst>
                  <a:ext uri="{0D108BD9-81ED-4DB2-BD59-A6C34878D82A}">
                    <a16:rowId xmlns:a16="http://schemas.microsoft.com/office/drawing/2014/main" val="3441918310"/>
                  </a:ext>
                </a:extLst>
              </a:tr>
              <a:tr h="625607">
                <a:tc>
                  <a:txBody>
                    <a:bodyPr/>
                    <a:lstStyle/>
                    <a:p>
                      <a:r>
                        <a:rPr lang="en-US" dirty="0"/>
                        <a:t>Week 5</a:t>
                      </a:r>
                      <a:endParaRPr lang="en-BE" dirty="0"/>
                    </a:p>
                  </a:txBody>
                  <a:tcPr/>
                </a:tc>
                <a:tc>
                  <a:txBody>
                    <a:bodyPr/>
                    <a:lstStyle/>
                    <a:p>
                      <a:r>
                        <a:rPr lang="en-US" dirty="0"/>
                        <a:t>Textures &amp; Normal maps</a:t>
                      </a:r>
                      <a:endParaRPr lang="en-BE" dirty="0"/>
                    </a:p>
                  </a:txBody>
                  <a:tcPr/>
                </a:tc>
                <a:extLst>
                  <a:ext uri="{0D108BD9-81ED-4DB2-BD59-A6C34878D82A}">
                    <a16:rowId xmlns:a16="http://schemas.microsoft.com/office/drawing/2014/main" val="591078510"/>
                  </a:ext>
                </a:extLst>
              </a:tr>
              <a:tr h="522129">
                <a:tc>
                  <a:txBody>
                    <a:bodyPr/>
                    <a:lstStyle/>
                    <a:p>
                      <a:r>
                        <a:rPr lang="en-US" dirty="0"/>
                        <a:t>Week 6</a:t>
                      </a:r>
                      <a:endParaRPr lang="en-BE" dirty="0"/>
                    </a:p>
                  </a:txBody>
                  <a:tcPr/>
                </a:tc>
                <a:tc>
                  <a:txBody>
                    <a:bodyPr/>
                    <a:lstStyle/>
                    <a:p>
                      <a:r>
                        <a:rPr lang="en-US" dirty="0"/>
                        <a:t>Proceduralism</a:t>
                      </a:r>
                      <a:endParaRPr lang="en-BE" dirty="0"/>
                    </a:p>
                  </a:txBody>
                  <a:tcPr/>
                </a:tc>
                <a:extLst>
                  <a:ext uri="{0D108BD9-81ED-4DB2-BD59-A6C34878D82A}">
                    <a16:rowId xmlns:a16="http://schemas.microsoft.com/office/drawing/2014/main" val="1977941231"/>
                  </a:ext>
                </a:extLst>
              </a:tr>
              <a:tr h="625607">
                <a:tc>
                  <a:txBody>
                    <a:bodyPr/>
                    <a:lstStyle/>
                    <a:p>
                      <a:r>
                        <a:rPr lang="en-US" dirty="0"/>
                        <a:t>Week 7</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 Processing</a:t>
                      </a:r>
                      <a:endParaRPr lang="en-BE" dirty="0"/>
                    </a:p>
                    <a:p>
                      <a:endParaRPr lang="en-BE" dirty="0"/>
                    </a:p>
                  </a:txBody>
                  <a:tcPr/>
                </a:tc>
                <a:extLst>
                  <a:ext uri="{0D108BD9-81ED-4DB2-BD59-A6C34878D82A}">
                    <a16:rowId xmlns:a16="http://schemas.microsoft.com/office/drawing/2014/main" val="4124929814"/>
                  </a:ext>
                </a:extLst>
              </a:tr>
              <a:tr h="625607">
                <a:tc>
                  <a:txBody>
                    <a:bodyPr/>
                    <a:lstStyle/>
                    <a:p>
                      <a:r>
                        <a:rPr lang="en-US" dirty="0"/>
                        <a:t>Week 8</a:t>
                      </a:r>
                      <a:endParaRPr lang="en-BE" dirty="0"/>
                    </a:p>
                  </a:txBody>
                  <a:tcPr/>
                </a:tc>
                <a:tc>
                  <a:txBody>
                    <a:bodyPr/>
                    <a:lstStyle/>
                    <a:p>
                      <a:r>
                        <a:rPr lang="en-US" dirty="0"/>
                        <a:t>Advanced pipeline</a:t>
                      </a:r>
                      <a:endParaRPr lang="en-BE" dirty="0"/>
                    </a:p>
                  </a:txBody>
                  <a:tcPr/>
                </a:tc>
                <a:extLst>
                  <a:ext uri="{0D108BD9-81ED-4DB2-BD59-A6C34878D82A}">
                    <a16:rowId xmlns:a16="http://schemas.microsoft.com/office/drawing/2014/main" val="3765942271"/>
                  </a:ext>
                </a:extLst>
              </a:tr>
              <a:tr h="522129">
                <a:tc>
                  <a:txBody>
                    <a:bodyPr/>
                    <a:lstStyle/>
                    <a:p>
                      <a:r>
                        <a:rPr lang="en-US" dirty="0"/>
                        <a:t>Week 9</a:t>
                      </a:r>
                      <a:endParaRPr lang="en-BE" dirty="0"/>
                    </a:p>
                  </a:txBody>
                  <a:tcPr/>
                </a:tc>
                <a:tc>
                  <a:txBody>
                    <a:bodyPr/>
                    <a:lstStyle/>
                    <a:p>
                      <a:endParaRPr lang="en-BE" dirty="0"/>
                    </a:p>
                  </a:txBody>
                  <a:tcPr/>
                </a:tc>
                <a:extLst>
                  <a:ext uri="{0D108BD9-81ED-4DB2-BD59-A6C34878D82A}">
                    <a16:rowId xmlns:a16="http://schemas.microsoft.com/office/drawing/2014/main" val="3316500834"/>
                  </a:ext>
                </a:extLst>
              </a:tr>
              <a:tr h="625607">
                <a:tc>
                  <a:txBody>
                    <a:bodyPr/>
                    <a:lstStyle/>
                    <a:p>
                      <a:r>
                        <a:rPr lang="en-US" dirty="0"/>
                        <a:t>Week 10 :</a:t>
                      </a:r>
                      <a:endParaRPr lang="en-BE" dirty="0"/>
                    </a:p>
                  </a:txBody>
                  <a:tcPr/>
                </a:tc>
                <a:tc>
                  <a:txBody>
                    <a:bodyPr/>
                    <a:lstStyle/>
                    <a:p>
                      <a:endParaRPr lang="en-BE" dirty="0"/>
                    </a:p>
                  </a:txBody>
                  <a:tcPr/>
                </a:tc>
                <a:extLst>
                  <a:ext uri="{0D108BD9-81ED-4DB2-BD59-A6C34878D82A}">
                    <a16:rowId xmlns:a16="http://schemas.microsoft.com/office/drawing/2014/main" val="2746961463"/>
                  </a:ext>
                </a:extLst>
              </a:tr>
              <a:tr h="522129">
                <a:tc>
                  <a:txBody>
                    <a:bodyPr/>
                    <a:lstStyle/>
                    <a:p>
                      <a:r>
                        <a:rPr lang="en-US" dirty="0"/>
                        <a:t>Week 11 : </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5" name="Rectangle 4">
            <a:extLst>
              <a:ext uri="{FF2B5EF4-FFF2-40B4-BE49-F238E27FC236}">
                <a16:creationId xmlns:a16="http://schemas.microsoft.com/office/drawing/2014/main" id="{B351D17D-F165-A405-4C90-69417290D645}"/>
              </a:ext>
            </a:extLst>
          </p:cNvPr>
          <p:cNvSpPr/>
          <p:nvPr/>
        </p:nvSpPr>
        <p:spPr>
          <a:xfrm>
            <a:off x="7149524" y="1565912"/>
            <a:ext cx="2301551" cy="49459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763300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FD23-D77C-70B3-2CC3-3B963972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DA8D2-CA6D-2610-89CE-68DEF02CC0F7}"/>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D033C93-BDDA-E53E-45B8-D25FB21FD02C}"/>
              </a:ext>
            </a:extLst>
          </p:cNvPr>
          <p:cNvSpPr txBox="1"/>
          <p:nvPr/>
        </p:nvSpPr>
        <p:spPr>
          <a:xfrm>
            <a:off x="989901" y="1690689"/>
            <a:ext cx="8522399"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 </a:t>
            </a:r>
            <a:r>
              <a:rPr lang="en-US" sz="2800" dirty="0"/>
              <a:t>3D geometry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Generating </a:t>
            </a:r>
            <a:r>
              <a:rPr lang="en-US" sz="2800" dirty="0" err="1"/>
              <a:t>normals</a:t>
            </a:r>
            <a:endParaRPr lang="en-US" sz="2800" dirty="0"/>
          </a:p>
        </p:txBody>
      </p:sp>
    </p:spTree>
    <p:extLst>
      <p:ext uri="{BB962C8B-B14F-4D97-AF65-F5344CB8AC3E}">
        <p14:creationId xmlns:p14="http://schemas.microsoft.com/office/powerpoint/2010/main" val="410939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FD31-DF4E-5684-039E-07FE5C6F3F9D}"/>
              </a:ext>
            </a:extLst>
          </p:cNvPr>
          <p:cNvSpPr>
            <a:spLocks noGrp="1"/>
          </p:cNvSpPr>
          <p:nvPr>
            <p:ph type="title"/>
          </p:nvPr>
        </p:nvSpPr>
        <p:spPr/>
        <p:txBody>
          <a:bodyPr/>
          <a:lstStyle/>
          <a:p>
            <a:r>
              <a:rPr lang="en-US" dirty="0"/>
              <a:t>GPU’s draw meshes</a:t>
            </a:r>
            <a:endParaRPr lang="en-BE" dirty="0"/>
          </a:p>
        </p:txBody>
      </p:sp>
      <p:pic>
        <p:nvPicPr>
          <p:cNvPr id="5" name="Picture 4" descr="A screenshot of a computer generated image&#10;&#10;Description automatically generated">
            <a:extLst>
              <a:ext uri="{FF2B5EF4-FFF2-40B4-BE49-F238E27FC236}">
                <a16:creationId xmlns:a16="http://schemas.microsoft.com/office/drawing/2014/main" id="{1A18BECD-A173-43B8-947E-42213009E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1674" y="2432180"/>
            <a:ext cx="7567101" cy="4425820"/>
          </a:xfrm>
          <a:prstGeom prst="rect">
            <a:avLst/>
          </a:prstGeom>
        </p:spPr>
      </p:pic>
      <p:sp>
        <p:nvSpPr>
          <p:cNvPr id="6" name="TextBox 5">
            <a:extLst>
              <a:ext uri="{FF2B5EF4-FFF2-40B4-BE49-F238E27FC236}">
                <a16:creationId xmlns:a16="http://schemas.microsoft.com/office/drawing/2014/main" id="{C3E24E27-D304-1372-50FF-8C6EB2A62678}"/>
              </a:ext>
            </a:extLst>
          </p:cNvPr>
          <p:cNvSpPr txBox="1"/>
          <p:nvPr/>
        </p:nvSpPr>
        <p:spPr>
          <a:xfrm>
            <a:off x="329682" y="1507436"/>
            <a:ext cx="7041502"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A mesh is a surface made of triangles</a:t>
            </a:r>
          </a:p>
        </p:txBody>
      </p:sp>
    </p:spTree>
    <p:extLst>
      <p:ext uri="{BB962C8B-B14F-4D97-AF65-F5344CB8AC3E}">
        <p14:creationId xmlns:p14="http://schemas.microsoft.com/office/powerpoint/2010/main" val="92088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6391-557A-4D67-2015-2AD05CE25508}"/>
              </a:ext>
            </a:extLst>
          </p:cNvPr>
          <p:cNvSpPr>
            <a:spLocks noGrp="1"/>
          </p:cNvSpPr>
          <p:nvPr>
            <p:ph type="title"/>
          </p:nvPr>
        </p:nvSpPr>
        <p:spPr/>
        <p:txBody>
          <a:bodyPr/>
          <a:lstStyle/>
          <a:p>
            <a:r>
              <a:rPr lang="en-US" dirty="0"/>
              <a:t>GPU’s draw meshes</a:t>
            </a:r>
            <a:endParaRPr lang="en-BE" dirty="0"/>
          </a:p>
        </p:txBody>
      </p:sp>
      <p:sp>
        <p:nvSpPr>
          <p:cNvPr id="3" name="TextBox 2">
            <a:extLst>
              <a:ext uri="{FF2B5EF4-FFF2-40B4-BE49-F238E27FC236}">
                <a16:creationId xmlns:a16="http://schemas.microsoft.com/office/drawing/2014/main" id="{8063F209-EA1D-B003-007E-44A576767324}"/>
              </a:ext>
            </a:extLst>
          </p:cNvPr>
          <p:cNvSpPr txBox="1"/>
          <p:nvPr/>
        </p:nvSpPr>
        <p:spPr>
          <a:xfrm>
            <a:off x="721568" y="1916937"/>
            <a:ext cx="4848443"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Meshes are a list of vertices</a:t>
            </a:r>
          </a:p>
          <a:p>
            <a:pPr marL="285750" indent="-285750">
              <a:buFont typeface="Arial" panose="020B0604020202020204" pitchFamily="34" charset="0"/>
              <a:buChar char="•"/>
            </a:pPr>
            <a:r>
              <a:rPr lang="en-US" sz="2800" dirty="0"/>
              <a:t>A vertex is (at least) a position</a:t>
            </a:r>
          </a:p>
          <a:p>
            <a:pPr marL="285750" indent="-285750">
              <a:buFont typeface="Arial" panose="020B0604020202020204" pitchFamily="34" charset="0"/>
              <a:buChar char="•"/>
            </a:pPr>
            <a:r>
              <a:rPr lang="en-US" sz="2800" dirty="0"/>
              <a:t>3 vertices make a triangle</a:t>
            </a:r>
            <a:endParaRPr lang="en-BE" sz="2800" dirty="0"/>
          </a:p>
        </p:txBody>
      </p:sp>
      <p:sp>
        <p:nvSpPr>
          <p:cNvPr id="4" name="Oval 3">
            <a:extLst>
              <a:ext uri="{FF2B5EF4-FFF2-40B4-BE49-F238E27FC236}">
                <a16:creationId xmlns:a16="http://schemas.microsoft.com/office/drawing/2014/main" id="{2479B1E2-6CF1-0EEC-AB1D-FD0A3F531A9D}"/>
              </a:ext>
            </a:extLst>
          </p:cNvPr>
          <p:cNvSpPr/>
          <p:nvPr/>
        </p:nvSpPr>
        <p:spPr>
          <a:xfrm>
            <a:off x="6914050" y="3745526"/>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Oval 5">
            <a:extLst>
              <a:ext uri="{FF2B5EF4-FFF2-40B4-BE49-F238E27FC236}">
                <a16:creationId xmlns:a16="http://schemas.microsoft.com/office/drawing/2014/main" id="{E2FE2314-B8B3-82A1-5DB1-ED5F808960AF}"/>
              </a:ext>
            </a:extLst>
          </p:cNvPr>
          <p:cNvSpPr/>
          <p:nvPr/>
        </p:nvSpPr>
        <p:spPr>
          <a:xfrm>
            <a:off x="6345724" y="5160669"/>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0F128171-E1B0-C826-5033-72BF8A270FC2}"/>
              </a:ext>
            </a:extLst>
          </p:cNvPr>
          <p:cNvSpPr/>
          <p:nvPr/>
        </p:nvSpPr>
        <p:spPr>
          <a:xfrm>
            <a:off x="4581397" y="4305363"/>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06760C10-752C-36C4-3FCC-59535DC45C3B}"/>
              </a:ext>
            </a:extLst>
          </p:cNvPr>
          <p:cNvSpPr/>
          <p:nvPr/>
        </p:nvSpPr>
        <p:spPr>
          <a:xfrm>
            <a:off x="10698650" y="3745526"/>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Oval 17">
            <a:extLst>
              <a:ext uri="{FF2B5EF4-FFF2-40B4-BE49-F238E27FC236}">
                <a16:creationId xmlns:a16="http://schemas.microsoft.com/office/drawing/2014/main" id="{ABAA7ADE-C5E3-221C-C936-B1384438A7B0}"/>
              </a:ext>
            </a:extLst>
          </p:cNvPr>
          <p:cNvSpPr/>
          <p:nvPr/>
        </p:nvSpPr>
        <p:spPr>
          <a:xfrm>
            <a:off x="10130324" y="5160669"/>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Oval 18">
            <a:extLst>
              <a:ext uri="{FF2B5EF4-FFF2-40B4-BE49-F238E27FC236}">
                <a16:creationId xmlns:a16="http://schemas.microsoft.com/office/drawing/2014/main" id="{2C206A15-3E09-70E8-5F4D-C31046D538E9}"/>
              </a:ext>
            </a:extLst>
          </p:cNvPr>
          <p:cNvSpPr/>
          <p:nvPr/>
        </p:nvSpPr>
        <p:spPr>
          <a:xfrm>
            <a:off x="8365997" y="4305363"/>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1" name="Straight Connector 20">
            <a:extLst>
              <a:ext uri="{FF2B5EF4-FFF2-40B4-BE49-F238E27FC236}">
                <a16:creationId xmlns:a16="http://schemas.microsoft.com/office/drawing/2014/main" id="{8615F7AD-B07B-585E-5FD3-B47FE6DE1FE6}"/>
              </a:ext>
            </a:extLst>
          </p:cNvPr>
          <p:cNvCxnSpPr/>
          <p:nvPr/>
        </p:nvCxnSpPr>
        <p:spPr>
          <a:xfrm flipV="1">
            <a:off x="8585200" y="3975100"/>
            <a:ext cx="2476500" cy="6223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A7D6A74-7554-EE1C-7990-8185F48278D3}"/>
              </a:ext>
            </a:extLst>
          </p:cNvPr>
          <p:cNvCxnSpPr>
            <a:cxnSpLocks/>
          </p:cNvCxnSpPr>
          <p:nvPr/>
        </p:nvCxnSpPr>
        <p:spPr>
          <a:xfrm flipV="1">
            <a:off x="10477500" y="4080816"/>
            <a:ext cx="584200" cy="128855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A533098-F44D-59F6-C43D-C9494BF79D3F}"/>
              </a:ext>
            </a:extLst>
          </p:cNvPr>
          <p:cNvCxnSpPr>
            <a:cxnSpLocks/>
          </p:cNvCxnSpPr>
          <p:nvPr/>
        </p:nvCxnSpPr>
        <p:spPr>
          <a:xfrm>
            <a:off x="8585200" y="4567885"/>
            <a:ext cx="1892300" cy="80149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816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FDEB-A2BE-F9DC-FBBB-AD90276FE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5370F-05BA-84F8-6DDA-BCB051B704D0}"/>
              </a:ext>
            </a:extLst>
          </p:cNvPr>
          <p:cNvSpPr>
            <a:spLocks noGrp="1"/>
          </p:cNvSpPr>
          <p:nvPr>
            <p:ph type="title"/>
          </p:nvPr>
        </p:nvSpPr>
        <p:spPr/>
        <p:txBody>
          <a:bodyPr/>
          <a:lstStyle/>
          <a:p>
            <a:r>
              <a:rPr lang="en-US" dirty="0"/>
              <a:t>Meshes are lists of vertices</a:t>
            </a:r>
            <a:endParaRPr lang="en-BE" dirty="0"/>
          </a:p>
        </p:txBody>
      </p:sp>
      <p:sp>
        <p:nvSpPr>
          <p:cNvPr id="4" name="Oval 3">
            <a:extLst>
              <a:ext uri="{FF2B5EF4-FFF2-40B4-BE49-F238E27FC236}">
                <a16:creationId xmlns:a16="http://schemas.microsoft.com/office/drawing/2014/main" id="{FC8E04A0-638F-4EED-AE6A-41128C3073FB}"/>
              </a:ext>
            </a:extLst>
          </p:cNvPr>
          <p:cNvSpPr/>
          <p:nvPr/>
        </p:nvSpPr>
        <p:spPr>
          <a:xfrm>
            <a:off x="5397307" y="4827964"/>
            <a:ext cx="500743" cy="5007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rgbClr val="FF0000"/>
              </a:solidFill>
            </a:endParaRPr>
          </a:p>
        </p:txBody>
      </p:sp>
      <p:sp>
        <p:nvSpPr>
          <p:cNvPr id="6" name="Oval 5">
            <a:extLst>
              <a:ext uri="{FF2B5EF4-FFF2-40B4-BE49-F238E27FC236}">
                <a16:creationId xmlns:a16="http://schemas.microsoft.com/office/drawing/2014/main" id="{6B196BFD-E59D-C7C5-66C7-86D78EFD0BBB}"/>
              </a:ext>
            </a:extLst>
          </p:cNvPr>
          <p:cNvSpPr/>
          <p:nvPr/>
        </p:nvSpPr>
        <p:spPr>
          <a:xfrm>
            <a:off x="6739424" y="5992132"/>
            <a:ext cx="500743" cy="50074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6B79AA6F-BDF9-0911-6962-F3DCEF97F995}"/>
              </a:ext>
            </a:extLst>
          </p:cNvPr>
          <p:cNvSpPr/>
          <p:nvPr/>
        </p:nvSpPr>
        <p:spPr>
          <a:xfrm>
            <a:off x="4196207" y="6338660"/>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0" name="Picture 9" descr="A colorful triangle on a grid&#10;&#10;Description automatically generated">
            <a:extLst>
              <a:ext uri="{FF2B5EF4-FFF2-40B4-BE49-F238E27FC236}">
                <a16:creationId xmlns:a16="http://schemas.microsoft.com/office/drawing/2014/main" id="{B9C0868F-C668-71A0-F56C-17160FE1E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5051" y="3923326"/>
            <a:ext cx="4696949" cy="2934674"/>
          </a:xfrm>
          <a:prstGeom prst="rect">
            <a:avLst/>
          </a:prstGeom>
        </p:spPr>
      </p:pic>
      <p:sp>
        <p:nvSpPr>
          <p:cNvPr id="11" name="TextBox 10">
            <a:extLst>
              <a:ext uri="{FF2B5EF4-FFF2-40B4-BE49-F238E27FC236}">
                <a16:creationId xmlns:a16="http://schemas.microsoft.com/office/drawing/2014/main" id="{8842871A-9954-68C4-D62A-2585D16CE054}"/>
              </a:ext>
            </a:extLst>
          </p:cNvPr>
          <p:cNvSpPr txBox="1"/>
          <p:nvPr/>
        </p:nvSpPr>
        <p:spPr>
          <a:xfrm>
            <a:off x="537569" y="1529293"/>
            <a:ext cx="6077946"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t>A vertex (singular) is at least a position</a:t>
            </a:r>
          </a:p>
          <a:p>
            <a:pPr marL="285750" indent="-285750">
              <a:buFont typeface="Arial" panose="020B0604020202020204" pitchFamily="34" charset="0"/>
              <a:buChar char="•"/>
            </a:pPr>
            <a:r>
              <a:rPr lang="en-US" sz="2800" dirty="0"/>
              <a:t>Can have other arbitrary data</a:t>
            </a:r>
          </a:p>
          <a:p>
            <a:pPr marL="285750" indent="-285750">
              <a:buFont typeface="Arial" panose="020B0604020202020204" pitchFamily="34" charset="0"/>
              <a:buChar char="•"/>
            </a:pPr>
            <a:r>
              <a:rPr lang="en-US" sz="2800" dirty="0" err="1"/>
              <a:t>Eg</a:t>
            </a:r>
            <a:r>
              <a:rPr lang="en-US" sz="2800" dirty="0"/>
              <a:t> color, normal, ….</a:t>
            </a:r>
          </a:p>
          <a:p>
            <a:pPr marL="285750" indent="-285750">
              <a:buFont typeface="Arial" panose="020B0604020202020204" pitchFamily="34" charset="0"/>
              <a:buChar char="•"/>
            </a:pPr>
            <a:r>
              <a:rPr lang="en-US" sz="2800" dirty="0"/>
              <a:t>A vertex is a struct </a:t>
            </a:r>
            <a:endParaRPr lang="en-BE" sz="2800" dirty="0"/>
          </a:p>
        </p:txBody>
      </p:sp>
      <p:graphicFrame>
        <p:nvGraphicFramePr>
          <p:cNvPr id="14" name="Table 13">
            <a:extLst>
              <a:ext uri="{FF2B5EF4-FFF2-40B4-BE49-F238E27FC236}">
                <a16:creationId xmlns:a16="http://schemas.microsoft.com/office/drawing/2014/main" id="{92279304-6857-0E36-AEC1-C791E1558AB3}"/>
              </a:ext>
            </a:extLst>
          </p:cNvPr>
          <p:cNvGraphicFramePr>
            <a:graphicFrameLocks noGrp="1"/>
          </p:cNvGraphicFramePr>
          <p:nvPr>
            <p:extLst>
              <p:ext uri="{D42A27DB-BD31-4B8C-83A1-F6EECF244321}">
                <p14:modId xmlns:p14="http://schemas.microsoft.com/office/powerpoint/2010/main" val="1152783325"/>
              </p:ext>
            </p:extLst>
          </p:nvPr>
        </p:nvGraphicFramePr>
        <p:xfrm>
          <a:off x="132207" y="3923326"/>
          <a:ext cx="3880994" cy="2916078"/>
        </p:xfrm>
        <a:graphic>
          <a:graphicData uri="http://schemas.openxmlformats.org/drawingml/2006/table">
            <a:tbl>
              <a:tblPr firstRow="1" bandRow="1">
                <a:tableStyleId>{5C22544A-7EE6-4342-B048-85BDC9FD1C3A}</a:tableStyleId>
              </a:tblPr>
              <a:tblGrid>
                <a:gridCol w="2001393">
                  <a:extLst>
                    <a:ext uri="{9D8B030D-6E8A-4147-A177-3AD203B41FA5}">
                      <a16:colId xmlns:a16="http://schemas.microsoft.com/office/drawing/2014/main" val="2355909616"/>
                    </a:ext>
                  </a:extLst>
                </a:gridCol>
                <a:gridCol w="1879601">
                  <a:extLst>
                    <a:ext uri="{9D8B030D-6E8A-4147-A177-3AD203B41FA5}">
                      <a16:colId xmlns:a16="http://schemas.microsoft.com/office/drawing/2014/main" val="2074034428"/>
                    </a:ext>
                  </a:extLst>
                </a:gridCol>
              </a:tblGrid>
              <a:tr h="972026">
                <a:tc>
                  <a:txBody>
                    <a:bodyPr/>
                    <a:lstStyle/>
                    <a:p>
                      <a:r>
                        <a:rPr lang="en-US" dirty="0"/>
                        <a:t>(0, 0)</a:t>
                      </a:r>
                      <a:endParaRPr lang="en-BE" dirty="0"/>
                    </a:p>
                  </a:txBody>
                  <a:tcPr/>
                </a:tc>
                <a:tc>
                  <a:txBody>
                    <a:bodyPr/>
                    <a:lstStyle/>
                    <a:p>
                      <a:r>
                        <a:rPr lang="en-US" dirty="0"/>
                        <a:t>(1, 0, 0)</a:t>
                      </a:r>
                      <a:endParaRPr lang="en-BE" dirty="0"/>
                    </a:p>
                  </a:txBody>
                  <a:tcPr/>
                </a:tc>
                <a:extLst>
                  <a:ext uri="{0D108BD9-81ED-4DB2-BD59-A6C34878D82A}">
                    <a16:rowId xmlns:a16="http://schemas.microsoft.com/office/drawing/2014/main" val="4077941295"/>
                  </a:ext>
                </a:extLst>
              </a:tr>
              <a:tr h="972026">
                <a:tc>
                  <a:txBody>
                    <a:bodyPr/>
                    <a:lstStyle/>
                    <a:p>
                      <a:r>
                        <a:rPr lang="en-US" dirty="0"/>
                        <a:t>(0.3, 0.9)</a:t>
                      </a:r>
                      <a:endParaRPr lang="en-BE" dirty="0"/>
                    </a:p>
                  </a:txBody>
                  <a:tcPr/>
                </a:tc>
                <a:tc>
                  <a:txBody>
                    <a:bodyPr/>
                    <a:lstStyle/>
                    <a:p>
                      <a:r>
                        <a:rPr lang="en-US" dirty="0"/>
                        <a:t>(0, 0, 1)</a:t>
                      </a:r>
                      <a:endParaRPr lang="en-BE" dirty="0"/>
                    </a:p>
                  </a:txBody>
                  <a:tcPr/>
                </a:tc>
                <a:extLst>
                  <a:ext uri="{0D108BD9-81ED-4DB2-BD59-A6C34878D82A}">
                    <a16:rowId xmlns:a16="http://schemas.microsoft.com/office/drawing/2014/main" val="2180505996"/>
                  </a:ext>
                </a:extLst>
              </a:tr>
              <a:tr h="972026">
                <a:tc>
                  <a:txBody>
                    <a:bodyPr/>
                    <a:lstStyle/>
                    <a:p>
                      <a:r>
                        <a:rPr lang="en-US" dirty="0"/>
                        <a:t>(0.9, 0.2)</a:t>
                      </a:r>
                      <a:endParaRPr lang="en-BE" dirty="0"/>
                    </a:p>
                  </a:txBody>
                  <a:tcPr/>
                </a:tc>
                <a:tc>
                  <a:txBody>
                    <a:bodyPr/>
                    <a:lstStyle/>
                    <a:p>
                      <a:r>
                        <a:rPr lang="en-US" dirty="0"/>
                        <a:t>(0, 1, 0)</a:t>
                      </a:r>
                      <a:endParaRPr lang="en-BE" dirty="0"/>
                    </a:p>
                  </a:txBody>
                  <a:tcPr/>
                </a:tc>
                <a:extLst>
                  <a:ext uri="{0D108BD9-81ED-4DB2-BD59-A6C34878D82A}">
                    <a16:rowId xmlns:a16="http://schemas.microsoft.com/office/drawing/2014/main" val="1897064295"/>
                  </a:ext>
                </a:extLst>
              </a:tr>
            </a:tbl>
          </a:graphicData>
        </a:graphic>
      </p:graphicFrame>
    </p:spTree>
    <p:extLst>
      <p:ext uri="{BB962C8B-B14F-4D97-AF65-F5344CB8AC3E}">
        <p14:creationId xmlns:p14="http://schemas.microsoft.com/office/powerpoint/2010/main" val="146041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9FA07-91FA-0A8F-FC31-9EEBA3341F12}"/>
              </a:ext>
            </a:extLst>
          </p:cNvPr>
          <p:cNvSpPr>
            <a:spLocks noGrp="1"/>
          </p:cNvSpPr>
          <p:nvPr>
            <p:ph type="title"/>
          </p:nvPr>
        </p:nvSpPr>
        <p:spPr/>
        <p:txBody>
          <a:bodyPr/>
          <a:lstStyle/>
          <a:p>
            <a:r>
              <a:rPr lang="en-US" dirty="0"/>
              <a:t>Interpolation (linear)</a:t>
            </a:r>
            <a:endParaRPr lang="en-BE" dirty="0"/>
          </a:p>
        </p:txBody>
      </p:sp>
      <p:cxnSp>
        <p:nvCxnSpPr>
          <p:cNvPr id="6" name="Straight Arrow Connector 5">
            <a:extLst>
              <a:ext uri="{FF2B5EF4-FFF2-40B4-BE49-F238E27FC236}">
                <a16:creationId xmlns:a16="http://schemas.microsoft.com/office/drawing/2014/main" id="{FE047C04-9CAC-0640-725C-90902DC37D7E}"/>
              </a:ext>
            </a:extLst>
          </p:cNvPr>
          <p:cNvCxnSpPr/>
          <p:nvPr/>
        </p:nvCxnSpPr>
        <p:spPr>
          <a:xfrm flipV="1">
            <a:off x="1138335" y="2366865"/>
            <a:ext cx="0" cy="4018383"/>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FE6BAE-A04F-382B-3E6D-C3A3180C4435}"/>
              </a:ext>
            </a:extLst>
          </p:cNvPr>
          <p:cNvCxnSpPr>
            <a:cxnSpLocks/>
          </p:cNvCxnSpPr>
          <p:nvPr/>
        </p:nvCxnSpPr>
        <p:spPr>
          <a:xfrm>
            <a:off x="1138335" y="6385248"/>
            <a:ext cx="3632718"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C21286A-BE32-57E9-C566-0824744E302C}"/>
              </a:ext>
            </a:extLst>
          </p:cNvPr>
          <p:cNvCxnSpPr>
            <a:cxnSpLocks/>
          </p:cNvCxnSpPr>
          <p:nvPr/>
        </p:nvCxnSpPr>
        <p:spPr>
          <a:xfrm flipV="1">
            <a:off x="1138334" y="3405673"/>
            <a:ext cx="3032449" cy="2979575"/>
          </a:xfrm>
          <a:prstGeom prst="straightConnector1">
            <a:avLst/>
          </a:prstGeom>
          <a:ln w="76200">
            <a:solidFill>
              <a:schemeClr val="tx1">
                <a:lumMod val="95000"/>
                <a:lumOff val="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F17AE3-E807-143D-3A9D-AACABA54CEEB}"/>
              </a:ext>
            </a:extLst>
          </p:cNvPr>
          <p:cNvCxnSpPr>
            <a:cxnSpLocks/>
          </p:cNvCxnSpPr>
          <p:nvPr/>
        </p:nvCxnSpPr>
        <p:spPr>
          <a:xfrm>
            <a:off x="1138335" y="3405673"/>
            <a:ext cx="3632718" cy="0"/>
          </a:xfrm>
          <a:prstGeom prst="straightConnector1">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4F2E3DF-A3E5-2272-E2CA-D4FDA13FE512}"/>
              </a:ext>
            </a:extLst>
          </p:cNvPr>
          <p:cNvCxnSpPr>
            <a:cxnSpLocks/>
          </p:cNvCxnSpPr>
          <p:nvPr/>
        </p:nvCxnSpPr>
        <p:spPr>
          <a:xfrm flipV="1">
            <a:off x="4136571" y="3004457"/>
            <a:ext cx="34212" cy="3334138"/>
          </a:xfrm>
          <a:prstGeom prst="straightConnector1">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A17433-8B75-8CC2-8C61-50FB09C857C2}"/>
              </a:ext>
            </a:extLst>
          </p:cNvPr>
          <p:cNvSpPr txBox="1"/>
          <p:nvPr/>
        </p:nvSpPr>
        <p:spPr>
          <a:xfrm>
            <a:off x="4379167" y="2917371"/>
            <a:ext cx="670376" cy="369332"/>
          </a:xfrm>
          <a:prstGeom prst="rect">
            <a:avLst/>
          </a:prstGeom>
          <a:noFill/>
        </p:spPr>
        <p:txBody>
          <a:bodyPr wrap="none" rtlCol="0">
            <a:spAutoFit/>
          </a:bodyPr>
          <a:lstStyle/>
          <a:p>
            <a:r>
              <a:rPr lang="en-US" dirty="0"/>
              <a:t>(1, 1)</a:t>
            </a:r>
            <a:endParaRPr lang="en-BE" dirty="0"/>
          </a:p>
        </p:txBody>
      </p:sp>
      <p:sp>
        <p:nvSpPr>
          <p:cNvPr id="18" name="TextBox 17">
            <a:extLst>
              <a:ext uri="{FF2B5EF4-FFF2-40B4-BE49-F238E27FC236}">
                <a16:creationId xmlns:a16="http://schemas.microsoft.com/office/drawing/2014/main" id="{CC4EF531-3D42-C8FD-0F63-81EA622AAEC7}"/>
              </a:ext>
            </a:extLst>
          </p:cNvPr>
          <p:cNvSpPr txBox="1"/>
          <p:nvPr/>
        </p:nvSpPr>
        <p:spPr>
          <a:xfrm>
            <a:off x="606489" y="6407801"/>
            <a:ext cx="670376" cy="369332"/>
          </a:xfrm>
          <a:prstGeom prst="rect">
            <a:avLst/>
          </a:prstGeom>
          <a:noFill/>
        </p:spPr>
        <p:txBody>
          <a:bodyPr wrap="none" rtlCol="0">
            <a:spAutoFit/>
          </a:bodyPr>
          <a:lstStyle/>
          <a:p>
            <a:r>
              <a:rPr lang="en-US" dirty="0"/>
              <a:t>(0, 0)</a:t>
            </a:r>
            <a:endParaRPr lang="en-BE" dirty="0"/>
          </a:p>
        </p:txBody>
      </p:sp>
      <p:pic>
        <p:nvPicPr>
          <p:cNvPr id="20" name="Picture 19" descr="A colorful triangle on a grid&#10;&#10;Description automatically generated">
            <a:extLst>
              <a:ext uri="{FF2B5EF4-FFF2-40B4-BE49-F238E27FC236}">
                <a16:creationId xmlns:a16="http://schemas.microsoft.com/office/drawing/2014/main" id="{7603BBB1-AC8D-F395-05B5-6A5B24DA5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6767" y="3008663"/>
            <a:ext cx="5576485" cy="3484212"/>
          </a:xfrm>
          <a:prstGeom prst="rect">
            <a:avLst/>
          </a:prstGeom>
        </p:spPr>
      </p:pic>
    </p:spTree>
    <p:extLst>
      <p:ext uri="{BB962C8B-B14F-4D97-AF65-F5344CB8AC3E}">
        <p14:creationId xmlns:p14="http://schemas.microsoft.com/office/powerpoint/2010/main" val="426872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BE9EC-7A18-24EE-5ABD-4E493D3A389E}"/>
              </a:ext>
            </a:extLst>
          </p:cNvPr>
          <p:cNvSpPr>
            <a:spLocks noGrp="1"/>
          </p:cNvSpPr>
          <p:nvPr>
            <p:ph type="title"/>
          </p:nvPr>
        </p:nvSpPr>
        <p:spPr>
          <a:xfrm>
            <a:off x="635000" y="129430"/>
            <a:ext cx="10515600" cy="1325563"/>
          </a:xfrm>
        </p:spPr>
        <p:txBody>
          <a:bodyPr/>
          <a:lstStyle/>
          <a:p>
            <a:r>
              <a:rPr lang="en-US" dirty="0"/>
              <a:t>Meshes</a:t>
            </a:r>
            <a:endParaRPr lang="en-BE" dirty="0"/>
          </a:p>
        </p:txBody>
      </p:sp>
      <p:sp>
        <p:nvSpPr>
          <p:cNvPr id="3" name="TextBox 2">
            <a:extLst>
              <a:ext uri="{FF2B5EF4-FFF2-40B4-BE49-F238E27FC236}">
                <a16:creationId xmlns:a16="http://schemas.microsoft.com/office/drawing/2014/main" id="{E8680831-3733-C0A4-71C2-F864FD200557}"/>
              </a:ext>
            </a:extLst>
          </p:cNvPr>
          <p:cNvSpPr txBox="1"/>
          <p:nvPr/>
        </p:nvSpPr>
        <p:spPr>
          <a:xfrm>
            <a:off x="478971" y="1492897"/>
            <a:ext cx="4170501" cy="1569660"/>
          </a:xfrm>
          <a:prstGeom prst="rect">
            <a:avLst/>
          </a:prstGeom>
          <a:noFill/>
        </p:spPr>
        <p:txBody>
          <a:bodyPr wrap="none" rtlCol="0">
            <a:spAutoFit/>
          </a:bodyPr>
          <a:lstStyle/>
          <a:p>
            <a:pPr marL="285750" indent="-285750">
              <a:buFont typeface="Arial" panose="020B0604020202020204" pitchFamily="34" charset="0"/>
              <a:buChar char="•"/>
            </a:pPr>
            <a:r>
              <a:rPr lang="en-US" sz="3200" dirty="0"/>
              <a:t>Array of vertices</a:t>
            </a:r>
          </a:p>
          <a:p>
            <a:pPr marL="285750" indent="-285750">
              <a:buFont typeface="Arial" panose="020B0604020202020204" pitchFamily="34" charset="0"/>
              <a:buChar char="•"/>
            </a:pPr>
            <a:r>
              <a:rPr lang="en-US" sz="3200" dirty="0"/>
              <a:t>Called “vertex buffer”</a:t>
            </a:r>
          </a:p>
          <a:p>
            <a:pPr marL="285750" indent="-285750">
              <a:buFont typeface="Arial" panose="020B0604020202020204" pitchFamily="34" charset="0"/>
              <a:buChar char="•"/>
            </a:pPr>
            <a:r>
              <a:rPr lang="en-US" sz="3200" dirty="0"/>
              <a:t>3 vertices -&gt; 1 triangle</a:t>
            </a:r>
          </a:p>
        </p:txBody>
      </p:sp>
      <p:pic>
        <p:nvPicPr>
          <p:cNvPr id="5" name="Picture 4" descr="A diagram of a square with blue dots&#10;&#10;Description automatically generated">
            <a:extLst>
              <a:ext uri="{FF2B5EF4-FFF2-40B4-BE49-F238E27FC236}">
                <a16:creationId xmlns:a16="http://schemas.microsoft.com/office/drawing/2014/main" id="{0C9B5312-FFC8-3368-887F-98A2714A18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003" y="3270552"/>
            <a:ext cx="3533192" cy="3458018"/>
          </a:xfrm>
          <a:prstGeom prst="rect">
            <a:avLst/>
          </a:prstGeom>
        </p:spPr>
      </p:pic>
      <p:pic>
        <p:nvPicPr>
          <p:cNvPr id="7" name="Picture 6" descr="A diagram of a triangle with numbers and a triangle&#10;&#10;Description automatically generated">
            <a:extLst>
              <a:ext uri="{FF2B5EF4-FFF2-40B4-BE49-F238E27FC236}">
                <a16:creationId xmlns:a16="http://schemas.microsoft.com/office/drawing/2014/main" id="{4F2E852A-8546-A5CC-78F2-655C1D0A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8195" y="816430"/>
            <a:ext cx="6783805" cy="4784368"/>
          </a:xfrm>
          <a:prstGeom prst="rect">
            <a:avLst/>
          </a:prstGeom>
        </p:spPr>
      </p:pic>
    </p:spTree>
    <p:extLst>
      <p:ext uri="{BB962C8B-B14F-4D97-AF65-F5344CB8AC3E}">
        <p14:creationId xmlns:p14="http://schemas.microsoft.com/office/powerpoint/2010/main" val="1740061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D033-2DDF-65B2-01A7-DA2D192C6619}"/>
              </a:ext>
            </a:extLst>
          </p:cNvPr>
          <p:cNvSpPr>
            <a:spLocks noGrp="1"/>
          </p:cNvSpPr>
          <p:nvPr>
            <p:ph type="title"/>
          </p:nvPr>
        </p:nvSpPr>
        <p:spPr/>
        <p:txBody>
          <a:bodyPr/>
          <a:lstStyle/>
          <a:p>
            <a:r>
              <a:rPr lang="en-US" dirty="0"/>
              <a:t>Why are the arrows important? </a:t>
            </a:r>
            <a:endParaRPr lang="en-BE" dirty="0"/>
          </a:p>
        </p:txBody>
      </p:sp>
      <p:pic>
        <p:nvPicPr>
          <p:cNvPr id="6" name="Picture 5" descr="A cartoon of a broken egg&#10;&#10;AI-generated content may be incorrect.">
            <a:extLst>
              <a:ext uri="{FF2B5EF4-FFF2-40B4-BE49-F238E27FC236}">
                <a16:creationId xmlns:a16="http://schemas.microsoft.com/office/drawing/2014/main" id="{312C29FB-C5E3-0321-77BC-300EC6D57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2543175"/>
            <a:ext cx="4610100" cy="4314825"/>
          </a:xfrm>
          <a:prstGeom prst="rect">
            <a:avLst/>
          </a:prstGeom>
        </p:spPr>
      </p:pic>
      <p:sp>
        <p:nvSpPr>
          <p:cNvPr id="7" name="TextBox 6">
            <a:extLst>
              <a:ext uri="{FF2B5EF4-FFF2-40B4-BE49-F238E27FC236}">
                <a16:creationId xmlns:a16="http://schemas.microsoft.com/office/drawing/2014/main" id="{BF799FF2-BED6-9B98-9869-C6904ED17218}"/>
              </a:ext>
            </a:extLst>
          </p:cNvPr>
          <p:cNvSpPr txBox="1"/>
          <p:nvPr/>
        </p:nvSpPr>
        <p:spPr>
          <a:xfrm>
            <a:off x="1085850" y="1876425"/>
            <a:ext cx="184731" cy="369332"/>
          </a:xfrm>
          <a:prstGeom prst="rect">
            <a:avLst/>
          </a:prstGeom>
          <a:noFill/>
        </p:spPr>
        <p:txBody>
          <a:bodyPr wrap="none" rtlCol="0">
            <a:spAutoFit/>
          </a:bodyPr>
          <a:lstStyle/>
          <a:p>
            <a:endParaRPr lang="en-BE" dirty="0"/>
          </a:p>
        </p:txBody>
      </p:sp>
      <p:sp>
        <p:nvSpPr>
          <p:cNvPr id="8" name="TextBox 7">
            <a:extLst>
              <a:ext uri="{FF2B5EF4-FFF2-40B4-BE49-F238E27FC236}">
                <a16:creationId xmlns:a16="http://schemas.microsoft.com/office/drawing/2014/main" id="{0F970532-4A8C-FFA1-51A0-87095DB6B952}"/>
              </a:ext>
            </a:extLst>
          </p:cNvPr>
          <p:cNvSpPr txBox="1"/>
          <p:nvPr/>
        </p:nvSpPr>
        <p:spPr>
          <a:xfrm>
            <a:off x="838200" y="1962150"/>
            <a:ext cx="5897320"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A triangle has only one side</a:t>
            </a:r>
          </a:p>
          <a:p>
            <a:pPr marL="285750" indent="-285750">
              <a:buFont typeface="Arial" panose="020B0604020202020204" pitchFamily="34" charset="0"/>
              <a:buChar char="•"/>
            </a:pPr>
            <a:r>
              <a:rPr lang="en-US" sz="2800" dirty="0"/>
              <a:t>Either it faces us, or it doesn’t</a:t>
            </a:r>
          </a:p>
          <a:p>
            <a:pPr marL="285750" indent="-285750">
              <a:buFont typeface="Arial" panose="020B0604020202020204" pitchFamily="34" charset="0"/>
              <a:buChar char="•"/>
            </a:pPr>
            <a:r>
              <a:rPr lang="en-US" sz="2800" dirty="0"/>
              <a:t>If it doesn’t, we don’t need to draw it</a:t>
            </a:r>
            <a:endParaRPr lang="en-BE" sz="2800" dirty="0"/>
          </a:p>
        </p:txBody>
      </p:sp>
    </p:spTree>
    <p:extLst>
      <p:ext uri="{BB962C8B-B14F-4D97-AF65-F5344CB8AC3E}">
        <p14:creationId xmlns:p14="http://schemas.microsoft.com/office/powerpoint/2010/main" val="2353106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2D2F-9981-2CBF-C8D5-71F764441C16}"/>
              </a:ext>
            </a:extLst>
          </p:cNvPr>
          <p:cNvSpPr>
            <a:spLocks noGrp="1"/>
          </p:cNvSpPr>
          <p:nvPr>
            <p:ph type="title"/>
          </p:nvPr>
        </p:nvSpPr>
        <p:spPr>
          <a:xfrm>
            <a:off x="931506" y="128749"/>
            <a:ext cx="10515600" cy="1325563"/>
          </a:xfrm>
        </p:spPr>
        <p:txBody>
          <a:bodyPr/>
          <a:lstStyle/>
          <a:p>
            <a:r>
              <a:rPr lang="en-US" dirty="0"/>
              <a:t>Mesh winding</a:t>
            </a:r>
            <a:endParaRPr lang="en-BE" dirty="0"/>
          </a:p>
        </p:txBody>
      </p:sp>
      <p:sp>
        <p:nvSpPr>
          <p:cNvPr id="3" name="TextBox 2">
            <a:extLst>
              <a:ext uri="{FF2B5EF4-FFF2-40B4-BE49-F238E27FC236}">
                <a16:creationId xmlns:a16="http://schemas.microsoft.com/office/drawing/2014/main" id="{15B7E468-C3AF-A172-CD3B-07BB242AC53B}"/>
              </a:ext>
            </a:extLst>
          </p:cNvPr>
          <p:cNvSpPr txBox="1"/>
          <p:nvPr/>
        </p:nvSpPr>
        <p:spPr>
          <a:xfrm>
            <a:off x="323461" y="1420308"/>
            <a:ext cx="6674071"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Triangles can be clockwise or counterclockwise</a:t>
            </a:r>
          </a:p>
          <a:p>
            <a:pPr marL="285750" indent="-285750">
              <a:buFont typeface="Arial" panose="020B0604020202020204" pitchFamily="34" charset="0"/>
              <a:buChar char="•"/>
            </a:pPr>
            <a:r>
              <a:rPr lang="en-US" sz="2400" dirty="0"/>
              <a:t>Depends on your viewpoint</a:t>
            </a:r>
          </a:p>
          <a:p>
            <a:pPr marL="285750" indent="-285750">
              <a:buFont typeface="Arial" panose="020B0604020202020204" pitchFamily="34" charset="0"/>
              <a:buChar char="•"/>
            </a:pPr>
            <a:r>
              <a:rPr lang="en-US" sz="2400" dirty="0"/>
              <a:t>One direction : front of triangle</a:t>
            </a:r>
          </a:p>
          <a:p>
            <a:pPr marL="285750" indent="-285750">
              <a:buFont typeface="Arial" panose="020B0604020202020204" pitchFamily="34" charset="0"/>
              <a:buChar char="•"/>
            </a:pPr>
            <a:r>
              <a:rPr lang="en-US" sz="2400" dirty="0"/>
              <a:t>Other : back. We can skip (cull) it for performance</a:t>
            </a:r>
          </a:p>
          <a:p>
            <a:pPr marL="285750" indent="-285750">
              <a:buFont typeface="Arial" panose="020B0604020202020204" pitchFamily="34" charset="0"/>
              <a:buChar char="•"/>
            </a:pPr>
            <a:r>
              <a:rPr lang="en-US" sz="2400" dirty="0"/>
              <a:t>Unity uses clockwise</a:t>
            </a:r>
            <a:endParaRPr lang="en-BE" sz="2400" dirty="0"/>
          </a:p>
        </p:txBody>
      </p:sp>
      <p:pic>
        <p:nvPicPr>
          <p:cNvPr id="7" name="Picture 6" descr="A diagram of a triangle with arrows and lines&#10;&#10;Description automatically generated">
            <a:extLst>
              <a:ext uri="{FF2B5EF4-FFF2-40B4-BE49-F238E27FC236}">
                <a16:creationId xmlns:a16="http://schemas.microsoft.com/office/drawing/2014/main" id="{07E6EDEE-1311-CF81-7F36-8A0E79A1F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039" y="3359300"/>
            <a:ext cx="6114700" cy="3498700"/>
          </a:xfrm>
          <a:prstGeom prst="rect">
            <a:avLst/>
          </a:prstGeom>
        </p:spPr>
      </p:pic>
    </p:spTree>
    <p:extLst>
      <p:ext uri="{BB962C8B-B14F-4D97-AF65-F5344CB8AC3E}">
        <p14:creationId xmlns:p14="http://schemas.microsoft.com/office/powerpoint/2010/main" val="1784890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0E18-D4D9-D73E-E60E-3CC15CE109A4}"/>
              </a:ext>
            </a:extLst>
          </p:cNvPr>
          <p:cNvSpPr>
            <a:spLocks noGrp="1"/>
          </p:cNvSpPr>
          <p:nvPr>
            <p:ph type="title"/>
          </p:nvPr>
        </p:nvSpPr>
        <p:spPr/>
        <p:txBody>
          <a:bodyPr/>
          <a:lstStyle/>
          <a:p>
            <a:r>
              <a:rPr lang="en-US" dirty="0"/>
              <a:t>We’re being sloppy in this rectangle</a:t>
            </a:r>
            <a:endParaRPr lang="en-BE" dirty="0"/>
          </a:p>
        </p:txBody>
      </p:sp>
      <p:pic>
        <p:nvPicPr>
          <p:cNvPr id="3" name="Picture 2" descr="A diagram of a triangle with numbers and a triangle&#10;&#10;Description automatically generated">
            <a:extLst>
              <a:ext uri="{FF2B5EF4-FFF2-40B4-BE49-F238E27FC236}">
                <a16:creationId xmlns:a16="http://schemas.microsoft.com/office/drawing/2014/main" id="{4477D9E8-6D73-168A-FF27-CD4DF7593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9322" y="2784035"/>
            <a:ext cx="5258803" cy="3708840"/>
          </a:xfrm>
          <a:prstGeom prst="rect">
            <a:avLst/>
          </a:prstGeom>
        </p:spPr>
      </p:pic>
      <p:sp>
        <p:nvSpPr>
          <p:cNvPr id="4" name="TextBox 3">
            <a:extLst>
              <a:ext uri="{FF2B5EF4-FFF2-40B4-BE49-F238E27FC236}">
                <a16:creationId xmlns:a16="http://schemas.microsoft.com/office/drawing/2014/main" id="{79DA4143-5267-DBAF-0F9D-694180264F69}"/>
              </a:ext>
            </a:extLst>
          </p:cNvPr>
          <p:cNvSpPr txBox="1"/>
          <p:nvPr/>
        </p:nvSpPr>
        <p:spPr>
          <a:xfrm>
            <a:off x="590550" y="1760308"/>
            <a:ext cx="5955028"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We have 2 floats per vertex</a:t>
            </a:r>
          </a:p>
          <a:p>
            <a:pPr marL="285750" indent="-285750">
              <a:buFont typeface="Arial" panose="020B0604020202020204" pitchFamily="34" charset="0"/>
              <a:buChar char="•"/>
            </a:pPr>
            <a:r>
              <a:rPr lang="en-US" sz="2800" dirty="0"/>
              <a:t>How big is our vertex buffer, in bytes?</a:t>
            </a:r>
            <a:endParaRPr lang="en-BE" sz="2800" dirty="0"/>
          </a:p>
        </p:txBody>
      </p:sp>
    </p:spTree>
    <p:extLst>
      <p:ext uri="{BB962C8B-B14F-4D97-AF65-F5344CB8AC3E}">
        <p14:creationId xmlns:p14="http://schemas.microsoft.com/office/powerpoint/2010/main" val="1656651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9F1B2-86AB-A1E4-3CB6-9ED7AFFD8EF8}"/>
              </a:ext>
            </a:extLst>
          </p:cNvPr>
          <p:cNvSpPr>
            <a:spLocks noGrp="1"/>
          </p:cNvSpPr>
          <p:nvPr>
            <p:ph type="title"/>
          </p:nvPr>
        </p:nvSpPr>
        <p:spPr/>
        <p:txBody>
          <a:bodyPr/>
          <a:lstStyle/>
          <a:p>
            <a:r>
              <a:rPr lang="en-US" dirty="0"/>
              <a:t>Index buffer</a:t>
            </a:r>
            <a:endParaRPr lang="en-BE" dirty="0"/>
          </a:p>
        </p:txBody>
      </p:sp>
      <p:pic>
        <p:nvPicPr>
          <p:cNvPr id="3" name="Picture 2" descr="A diagram of a triangle with numbers and a triangle&#10;&#10;Description automatically generated">
            <a:extLst>
              <a:ext uri="{FF2B5EF4-FFF2-40B4-BE49-F238E27FC236}">
                <a16:creationId xmlns:a16="http://schemas.microsoft.com/office/drawing/2014/main" id="{41495315-D6FF-809D-95BF-716F21B86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805" y="2792962"/>
            <a:ext cx="5416711" cy="3820207"/>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9CFFCD6-0D92-BFBE-CC19-77A0182AA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6332" y="2648421"/>
            <a:ext cx="4947346" cy="2880924"/>
          </a:xfrm>
          <a:prstGeom prst="rect">
            <a:avLst/>
          </a:prstGeom>
        </p:spPr>
      </p:pic>
      <p:sp>
        <p:nvSpPr>
          <p:cNvPr id="4" name="TextBox 3">
            <a:extLst>
              <a:ext uri="{FF2B5EF4-FFF2-40B4-BE49-F238E27FC236}">
                <a16:creationId xmlns:a16="http://schemas.microsoft.com/office/drawing/2014/main" id="{512E850B-1ED7-5CB5-A2DA-24F4F1B02153}"/>
              </a:ext>
            </a:extLst>
          </p:cNvPr>
          <p:cNvSpPr txBox="1"/>
          <p:nvPr/>
        </p:nvSpPr>
        <p:spPr>
          <a:xfrm>
            <a:off x="472750" y="1448092"/>
            <a:ext cx="3749040"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Remove duplicate vertices</a:t>
            </a:r>
          </a:p>
          <a:p>
            <a:pPr marL="285750" indent="-285750">
              <a:buFont typeface="Arial" panose="020B0604020202020204" pitchFamily="34" charset="0"/>
              <a:buChar char="•"/>
            </a:pPr>
            <a:r>
              <a:rPr lang="en-US" sz="2400" dirty="0"/>
              <a:t>Add an indirection buffer</a:t>
            </a:r>
          </a:p>
          <a:p>
            <a:pPr marL="285750" indent="-285750">
              <a:buFont typeface="Arial" panose="020B0604020202020204" pitchFamily="34" charset="0"/>
              <a:buChar char="•"/>
            </a:pPr>
            <a:r>
              <a:rPr lang="en-US" sz="2400" dirty="0"/>
              <a:t>Smaller in total</a:t>
            </a:r>
          </a:p>
        </p:txBody>
      </p:sp>
      <p:sp>
        <p:nvSpPr>
          <p:cNvPr id="6" name="Arrow: Right 5">
            <a:extLst>
              <a:ext uri="{FF2B5EF4-FFF2-40B4-BE49-F238E27FC236}">
                <a16:creationId xmlns:a16="http://schemas.microsoft.com/office/drawing/2014/main" id="{D4A7280A-D1E0-9964-69BA-7A697635E619}"/>
              </a:ext>
            </a:extLst>
          </p:cNvPr>
          <p:cNvSpPr/>
          <p:nvPr/>
        </p:nvSpPr>
        <p:spPr>
          <a:xfrm>
            <a:off x="5884506" y="4298302"/>
            <a:ext cx="1343608" cy="111967"/>
          </a:xfrm>
          <a:prstGeom prst="rightArrow">
            <a:avLst/>
          </a:prstGeom>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420638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0FBF-D080-0AA7-8581-8AEF61510164}"/>
              </a:ext>
            </a:extLst>
          </p:cNvPr>
          <p:cNvSpPr>
            <a:spLocks noGrp="1"/>
          </p:cNvSpPr>
          <p:nvPr>
            <p:ph type="title"/>
          </p:nvPr>
        </p:nvSpPr>
        <p:spPr/>
        <p:txBody>
          <a:bodyPr/>
          <a:lstStyle/>
          <a:p>
            <a:r>
              <a:rPr lang="en-US" dirty="0"/>
              <a:t>How many bytes now?</a:t>
            </a:r>
            <a:endParaRPr lang="en-BE" dirty="0"/>
          </a:p>
        </p:txBody>
      </p:sp>
      <p:pic>
        <p:nvPicPr>
          <p:cNvPr id="4" name="Picture 3">
            <a:extLst>
              <a:ext uri="{FF2B5EF4-FFF2-40B4-BE49-F238E27FC236}">
                <a16:creationId xmlns:a16="http://schemas.microsoft.com/office/drawing/2014/main" id="{226DD9F8-6403-A4B1-63A4-5EE41DFDB2E5}"/>
              </a:ext>
            </a:extLst>
          </p:cNvPr>
          <p:cNvPicPr>
            <a:picLocks noChangeAspect="1"/>
          </p:cNvPicPr>
          <p:nvPr/>
        </p:nvPicPr>
        <p:blipFill>
          <a:blip r:embed="rId3"/>
          <a:stretch>
            <a:fillRect/>
          </a:stretch>
        </p:blipFill>
        <p:spPr>
          <a:xfrm>
            <a:off x="1233120" y="1834908"/>
            <a:ext cx="7076526" cy="4657967"/>
          </a:xfrm>
          <a:prstGeom prst="rect">
            <a:avLst/>
          </a:prstGeom>
        </p:spPr>
      </p:pic>
    </p:spTree>
    <p:extLst>
      <p:ext uri="{BB962C8B-B14F-4D97-AF65-F5344CB8AC3E}">
        <p14:creationId xmlns:p14="http://schemas.microsoft.com/office/powerpoint/2010/main" val="2416423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D2CF-7F3A-B86E-3E1E-B0C6F68DA55A}"/>
              </a:ext>
            </a:extLst>
          </p:cNvPr>
          <p:cNvSpPr>
            <a:spLocks noGrp="1"/>
          </p:cNvSpPr>
          <p:nvPr>
            <p:ph type="title"/>
          </p:nvPr>
        </p:nvSpPr>
        <p:spPr/>
        <p:txBody>
          <a:bodyPr/>
          <a:lstStyle/>
          <a:p>
            <a:r>
              <a:rPr lang="en-US" dirty="0"/>
              <a:t>Creating a quad : setup</a:t>
            </a:r>
            <a:endParaRPr lang="en-BE" dirty="0"/>
          </a:p>
        </p:txBody>
      </p:sp>
      <p:pic>
        <p:nvPicPr>
          <p:cNvPr id="4" name="Picture 3">
            <a:extLst>
              <a:ext uri="{FF2B5EF4-FFF2-40B4-BE49-F238E27FC236}">
                <a16:creationId xmlns:a16="http://schemas.microsoft.com/office/drawing/2014/main" id="{916E7A2F-3052-2A0A-6C6E-0F1A29163861}"/>
              </a:ext>
            </a:extLst>
          </p:cNvPr>
          <p:cNvPicPr>
            <a:picLocks noChangeAspect="1"/>
          </p:cNvPicPr>
          <p:nvPr/>
        </p:nvPicPr>
        <p:blipFill>
          <a:blip r:embed="rId3"/>
          <a:stretch>
            <a:fillRect/>
          </a:stretch>
        </p:blipFill>
        <p:spPr>
          <a:xfrm>
            <a:off x="137281" y="1905885"/>
            <a:ext cx="9697184" cy="4805958"/>
          </a:xfrm>
          <a:prstGeom prst="rect">
            <a:avLst/>
          </a:prstGeom>
        </p:spPr>
      </p:pic>
    </p:spTree>
    <p:extLst>
      <p:ext uri="{BB962C8B-B14F-4D97-AF65-F5344CB8AC3E}">
        <p14:creationId xmlns:p14="http://schemas.microsoft.com/office/powerpoint/2010/main" val="2139083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740E-868C-A3AC-3562-F706C7AA793A}"/>
              </a:ext>
            </a:extLst>
          </p:cNvPr>
          <p:cNvSpPr>
            <a:spLocks noGrp="1"/>
          </p:cNvSpPr>
          <p:nvPr>
            <p:ph type="title"/>
          </p:nvPr>
        </p:nvSpPr>
        <p:spPr/>
        <p:txBody>
          <a:bodyPr/>
          <a:lstStyle/>
          <a:p>
            <a:r>
              <a:rPr lang="en-US" dirty="0"/>
              <a:t>Creating a quad  : vertices &amp; indices </a:t>
            </a:r>
            <a:endParaRPr lang="en-BE" dirty="0"/>
          </a:p>
        </p:txBody>
      </p:sp>
      <p:pic>
        <p:nvPicPr>
          <p:cNvPr id="4" name="Picture 3">
            <a:extLst>
              <a:ext uri="{FF2B5EF4-FFF2-40B4-BE49-F238E27FC236}">
                <a16:creationId xmlns:a16="http://schemas.microsoft.com/office/drawing/2014/main" id="{C603599C-142E-2F52-794F-E750063A75D1}"/>
              </a:ext>
            </a:extLst>
          </p:cNvPr>
          <p:cNvPicPr>
            <a:picLocks noChangeAspect="1"/>
          </p:cNvPicPr>
          <p:nvPr/>
        </p:nvPicPr>
        <p:blipFill>
          <a:blip r:embed="rId3"/>
          <a:stretch>
            <a:fillRect/>
          </a:stretch>
        </p:blipFill>
        <p:spPr>
          <a:xfrm>
            <a:off x="570894" y="1403594"/>
            <a:ext cx="4774537" cy="5454406"/>
          </a:xfrm>
          <a:prstGeom prst="rect">
            <a:avLst/>
          </a:prstGeom>
        </p:spPr>
      </p:pic>
    </p:spTree>
    <p:extLst>
      <p:ext uri="{BB962C8B-B14F-4D97-AF65-F5344CB8AC3E}">
        <p14:creationId xmlns:p14="http://schemas.microsoft.com/office/powerpoint/2010/main" val="4161324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D552-B1E8-A083-384E-3C04EE778350}"/>
              </a:ext>
            </a:extLst>
          </p:cNvPr>
          <p:cNvSpPr>
            <a:spLocks noGrp="1"/>
          </p:cNvSpPr>
          <p:nvPr>
            <p:ph type="title"/>
          </p:nvPr>
        </p:nvSpPr>
        <p:spPr/>
        <p:txBody>
          <a:bodyPr/>
          <a:lstStyle/>
          <a:p>
            <a:r>
              <a:rPr lang="en-US" dirty="0"/>
              <a:t>Creating a quad : </a:t>
            </a:r>
            <a:r>
              <a:rPr lang="en-US" dirty="0" err="1"/>
              <a:t>normals</a:t>
            </a:r>
            <a:r>
              <a:rPr lang="en-US" dirty="0"/>
              <a:t> &amp; </a:t>
            </a:r>
            <a:r>
              <a:rPr lang="en-US" dirty="0" err="1"/>
              <a:t>uv</a:t>
            </a:r>
            <a:endParaRPr lang="en-BE" dirty="0"/>
          </a:p>
        </p:txBody>
      </p:sp>
      <p:pic>
        <p:nvPicPr>
          <p:cNvPr id="5" name="Picture 4">
            <a:extLst>
              <a:ext uri="{FF2B5EF4-FFF2-40B4-BE49-F238E27FC236}">
                <a16:creationId xmlns:a16="http://schemas.microsoft.com/office/drawing/2014/main" id="{6D957B5D-B7DC-BAB5-7176-75FAA8810256}"/>
              </a:ext>
            </a:extLst>
          </p:cNvPr>
          <p:cNvPicPr>
            <a:picLocks noChangeAspect="1"/>
          </p:cNvPicPr>
          <p:nvPr/>
        </p:nvPicPr>
        <p:blipFill>
          <a:blip r:embed="rId3"/>
          <a:stretch>
            <a:fillRect/>
          </a:stretch>
        </p:blipFill>
        <p:spPr>
          <a:xfrm>
            <a:off x="583270" y="1648980"/>
            <a:ext cx="4242123" cy="4843895"/>
          </a:xfrm>
          <a:prstGeom prst="rect">
            <a:avLst/>
          </a:prstGeom>
        </p:spPr>
      </p:pic>
    </p:spTree>
    <p:extLst>
      <p:ext uri="{BB962C8B-B14F-4D97-AF65-F5344CB8AC3E}">
        <p14:creationId xmlns:p14="http://schemas.microsoft.com/office/powerpoint/2010/main" val="230140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5991-6A5E-D242-481B-8EF9C2816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E0889-DFF9-B3DB-D018-A6AC9DF66CC4}"/>
              </a:ext>
            </a:extLst>
          </p:cNvPr>
          <p:cNvSpPr>
            <a:spLocks noGrp="1"/>
          </p:cNvSpPr>
          <p:nvPr>
            <p:ph type="title"/>
          </p:nvPr>
        </p:nvSpPr>
        <p:spPr/>
        <p:txBody>
          <a:bodyPr/>
          <a:lstStyle/>
          <a:p>
            <a:r>
              <a:rPr lang="en-US" dirty="0"/>
              <a:t>Future assignment: tessellated plane</a:t>
            </a:r>
            <a:endParaRPr lang="en-BE" dirty="0"/>
          </a:p>
        </p:txBody>
      </p:sp>
      <p:pic>
        <p:nvPicPr>
          <p:cNvPr id="7" name="Picture 6">
            <a:extLst>
              <a:ext uri="{FF2B5EF4-FFF2-40B4-BE49-F238E27FC236}">
                <a16:creationId xmlns:a16="http://schemas.microsoft.com/office/drawing/2014/main" id="{4537D3BA-5FFB-6100-D2F4-DEF7C3611AED}"/>
              </a:ext>
            </a:extLst>
          </p:cNvPr>
          <p:cNvPicPr>
            <a:picLocks noChangeAspect="1"/>
          </p:cNvPicPr>
          <p:nvPr/>
        </p:nvPicPr>
        <p:blipFill>
          <a:blip r:embed="rId3"/>
          <a:stretch>
            <a:fillRect/>
          </a:stretch>
        </p:blipFill>
        <p:spPr>
          <a:xfrm>
            <a:off x="26878" y="1828800"/>
            <a:ext cx="10251246" cy="5129637"/>
          </a:xfrm>
          <a:prstGeom prst="rect">
            <a:avLst/>
          </a:prstGeom>
        </p:spPr>
      </p:pic>
    </p:spTree>
    <p:extLst>
      <p:ext uri="{BB962C8B-B14F-4D97-AF65-F5344CB8AC3E}">
        <p14:creationId xmlns:p14="http://schemas.microsoft.com/office/powerpoint/2010/main" val="1407794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6044-4DD1-B85D-1036-B78646B65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3B6B4-6A9E-2E1F-C3AE-F44C95960D41}"/>
              </a:ext>
            </a:extLst>
          </p:cNvPr>
          <p:cNvSpPr>
            <a:spLocks noGrp="1"/>
          </p:cNvSpPr>
          <p:nvPr>
            <p:ph type="title"/>
          </p:nvPr>
        </p:nvSpPr>
        <p:spPr>
          <a:xfrm>
            <a:off x="542925" y="-263525"/>
            <a:ext cx="10515600" cy="1325563"/>
          </a:xfrm>
        </p:spPr>
        <p:txBody>
          <a:bodyPr/>
          <a:lstStyle/>
          <a:p>
            <a:r>
              <a:rPr lang="en-US" dirty="0"/>
              <a:t>Future assignment: tessellated plane</a:t>
            </a:r>
            <a:endParaRPr lang="en-BE" dirty="0"/>
          </a:p>
        </p:txBody>
      </p:sp>
      <p:pic>
        <p:nvPicPr>
          <p:cNvPr id="4" name="Picture 3">
            <a:extLst>
              <a:ext uri="{FF2B5EF4-FFF2-40B4-BE49-F238E27FC236}">
                <a16:creationId xmlns:a16="http://schemas.microsoft.com/office/drawing/2014/main" id="{84007C2F-4CE9-40AE-16D8-8A88E74010CB}"/>
              </a:ext>
            </a:extLst>
          </p:cNvPr>
          <p:cNvPicPr>
            <a:picLocks noChangeAspect="1"/>
          </p:cNvPicPr>
          <p:nvPr/>
        </p:nvPicPr>
        <p:blipFill>
          <a:blip r:embed="rId3"/>
          <a:stretch>
            <a:fillRect/>
          </a:stretch>
        </p:blipFill>
        <p:spPr>
          <a:xfrm>
            <a:off x="3486150" y="2940790"/>
            <a:ext cx="8705850" cy="3917210"/>
          </a:xfrm>
          <a:prstGeom prst="rect">
            <a:avLst/>
          </a:prstGeom>
        </p:spPr>
      </p:pic>
      <p:sp>
        <p:nvSpPr>
          <p:cNvPr id="5" name="TextBox 4">
            <a:extLst>
              <a:ext uri="{FF2B5EF4-FFF2-40B4-BE49-F238E27FC236}">
                <a16:creationId xmlns:a16="http://schemas.microsoft.com/office/drawing/2014/main" id="{6A51BBFA-A4B6-FF68-9B1F-05361ADD3399}"/>
              </a:ext>
            </a:extLst>
          </p:cNvPr>
          <p:cNvSpPr txBox="1"/>
          <p:nvPr/>
        </p:nvSpPr>
        <p:spPr>
          <a:xfrm>
            <a:off x="666750" y="1221106"/>
            <a:ext cx="710565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Write a function that creates a plane</a:t>
            </a:r>
          </a:p>
          <a:p>
            <a:pPr marL="285750" indent="-285750">
              <a:buFont typeface="Arial" panose="020B0604020202020204" pitchFamily="34" charset="0"/>
              <a:buChar char="•"/>
            </a:pPr>
            <a:r>
              <a:rPr lang="en-US" sz="2400" dirty="0"/>
              <a:t>Takes width and height parameters</a:t>
            </a:r>
          </a:p>
          <a:p>
            <a:pPr marL="285750" indent="-285750">
              <a:buFont typeface="Arial" panose="020B0604020202020204" pitchFamily="34" charset="0"/>
              <a:buChar char="•"/>
            </a:pPr>
            <a:r>
              <a:rPr lang="en-US" sz="2400" dirty="0"/>
              <a:t>Takes parameter for number of quads in x and y</a:t>
            </a:r>
          </a:p>
          <a:p>
            <a:pPr marL="285750" indent="-285750">
              <a:buFont typeface="Arial" panose="020B0604020202020204" pitchFamily="34" charset="0"/>
              <a:buChar char="•"/>
            </a:pPr>
            <a:r>
              <a:rPr lang="en-US" sz="2400" dirty="0"/>
              <a:t>We’ll use this for water</a:t>
            </a:r>
            <a:endParaRPr lang="en-BE" sz="2400" dirty="0"/>
          </a:p>
        </p:txBody>
      </p:sp>
    </p:spTree>
    <p:extLst>
      <p:ext uri="{BB962C8B-B14F-4D97-AF65-F5344CB8AC3E}">
        <p14:creationId xmlns:p14="http://schemas.microsoft.com/office/powerpoint/2010/main" val="3118964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76B9-41CB-0F44-DBE2-2E8A0C83F878}"/>
              </a:ext>
            </a:extLst>
          </p:cNvPr>
          <p:cNvSpPr>
            <a:spLocks noGrp="1"/>
          </p:cNvSpPr>
          <p:nvPr>
            <p:ph type="title"/>
          </p:nvPr>
        </p:nvSpPr>
        <p:spPr/>
        <p:txBody>
          <a:bodyPr/>
          <a:lstStyle/>
          <a:p>
            <a:r>
              <a:rPr lang="en-US" dirty="0"/>
              <a:t>Future assignment: make a cube</a:t>
            </a:r>
            <a:endParaRPr lang="en-BE" dirty="0"/>
          </a:p>
        </p:txBody>
      </p:sp>
      <p:sp>
        <p:nvSpPr>
          <p:cNvPr id="3" name="TextBox 2">
            <a:extLst>
              <a:ext uri="{FF2B5EF4-FFF2-40B4-BE49-F238E27FC236}">
                <a16:creationId xmlns:a16="http://schemas.microsoft.com/office/drawing/2014/main" id="{893968BE-E888-A5EE-21F9-8E787D6AF221}"/>
              </a:ext>
            </a:extLst>
          </p:cNvPr>
          <p:cNvSpPr txBox="1"/>
          <p:nvPr/>
        </p:nvSpPr>
        <p:spPr>
          <a:xfrm>
            <a:off x="590550" y="1771650"/>
            <a:ext cx="6207982"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Let’s see what ChatGPT makes out of it </a:t>
            </a:r>
            <a:endParaRPr lang="en-BE" sz="2800" dirty="0"/>
          </a:p>
        </p:txBody>
      </p:sp>
      <p:pic>
        <p:nvPicPr>
          <p:cNvPr id="5" name="Picture 4" descr="A pixelated square object with green grass&#10;&#10;AI-generated content may be incorrect.">
            <a:extLst>
              <a:ext uri="{FF2B5EF4-FFF2-40B4-BE49-F238E27FC236}">
                <a16:creationId xmlns:a16="http://schemas.microsoft.com/office/drawing/2014/main" id="{94ECD178-25FB-6E70-A207-D1BB26011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8004" y="1919833"/>
            <a:ext cx="4573042" cy="4573042"/>
          </a:xfrm>
          <a:prstGeom prst="rect">
            <a:avLst/>
          </a:prstGeom>
        </p:spPr>
      </p:pic>
    </p:spTree>
    <p:extLst>
      <p:ext uri="{BB962C8B-B14F-4D97-AF65-F5344CB8AC3E}">
        <p14:creationId xmlns:p14="http://schemas.microsoft.com/office/powerpoint/2010/main" val="783036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Ghost writer (ChatGPT)</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2128461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Does it look good?</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978777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C08E-E2EC-32D3-8D3D-F099D164A07C}"/>
              </a:ext>
            </a:extLst>
          </p:cNvPr>
          <p:cNvSpPr>
            <a:spLocks noGrp="1"/>
          </p:cNvSpPr>
          <p:nvPr>
            <p:ph type="title"/>
          </p:nvPr>
        </p:nvSpPr>
        <p:spPr/>
        <p:txBody>
          <a:bodyPr/>
          <a:lstStyle/>
          <a:p>
            <a:r>
              <a:rPr lang="en-US" dirty="0"/>
              <a:t>Result</a:t>
            </a:r>
            <a:endParaRPr lang="en-BE" dirty="0"/>
          </a:p>
        </p:txBody>
      </p:sp>
      <p:pic>
        <p:nvPicPr>
          <p:cNvPr id="4" name="Picture 3" descr="A square in the sky&#10;&#10;Description automatically generated">
            <a:extLst>
              <a:ext uri="{FF2B5EF4-FFF2-40B4-BE49-F238E27FC236}">
                <a16:creationId xmlns:a16="http://schemas.microsoft.com/office/drawing/2014/main" id="{6B8CB21D-CAF3-EB1F-6079-184641FDAB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039" y="1287625"/>
            <a:ext cx="6480974" cy="5024575"/>
          </a:xfrm>
          <a:prstGeom prst="rect">
            <a:avLst/>
          </a:prstGeom>
        </p:spPr>
      </p:pic>
      <p:sp>
        <p:nvSpPr>
          <p:cNvPr id="5" name="TextBox 4">
            <a:extLst>
              <a:ext uri="{FF2B5EF4-FFF2-40B4-BE49-F238E27FC236}">
                <a16:creationId xmlns:a16="http://schemas.microsoft.com/office/drawing/2014/main" id="{8C300C2C-7129-DD34-9F15-6101FEE8AEF0}"/>
              </a:ext>
            </a:extLst>
          </p:cNvPr>
          <p:cNvSpPr txBox="1"/>
          <p:nvPr/>
        </p:nvSpPr>
        <p:spPr>
          <a:xfrm>
            <a:off x="709127" y="2245567"/>
            <a:ext cx="2648867"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Any problems?</a:t>
            </a:r>
            <a:endParaRPr lang="en-BE" sz="2800" dirty="0"/>
          </a:p>
        </p:txBody>
      </p:sp>
    </p:spTree>
    <p:extLst>
      <p:ext uri="{BB962C8B-B14F-4D97-AF65-F5344CB8AC3E}">
        <p14:creationId xmlns:p14="http://schemas.microsoft.com/office/powerpoint/2010/main" val="2656884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Do you see the problem?</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1176470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B039-117D-D6EB-77FC-170340BE0648}"/>
              </a:ext>
            </a:extLst>
          </p:cNvPr>
          <p:cNvSpPr>
            <a:spLocks noGrp="1"/>
          </p:cNvSpPr>
          <p:nvPr>
            <p:ph type="title"/>
          </p:nvPr>
        </p:nvSpPr>
        <p:spPr/>
        <p:txBody>
          <a:bodyPr/>
          <a:lstStyle/>
          <a:p>
            <a:r>
              <a:rPr lang="en-US" dirty="0"/>
              <a:t>It’s right here</a:t>
            </a:r>
            <a:endParaRPr lang="en-BE" dirty="0"/>
          </a:p>
        </p:txBody>
      </p:sp>
      <p:pic>
        <p:nvPicPr>
          <p:cNvPr id="3" name="Picture 2" descr="A screenshot of a computer&#10;&#10;Description automatically generated">
            <a:extLst>
              <a:ext uri="{FF2B5EF4-FFF2-40B4-BE49-F238E27FC236}">
                <a16:creationId xmlns:a16="http://schemas.microsoft.com/office/drawing/2014/main" id="{2E62259C-A61F-C6C2-C6F8-3111E7154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cxnSp>
        <p:nvCxnSpPr>
          <p:cNvPr id="5" name="Straight Arrow Connector 4">
            <a:extLst>
              <a:ext uri="{FF2B5EF4-FFF2-40B4-BE49-F238E27FC236}">
                <a16:creationId xmlns:a16="http://schemas.microsoft.com/office/drawing/2014/main" id="{49C051CE-F45D-361A-80D3-68B5D4ECC39F}"/>
              </a:ext>
            </a:extLst>
          </p:cNvPr>
          <p:cNvCxnSpPr/>
          <p:nvPr/>
        </p:nvCxnSpPr>
        <p:spPr>
          <a:xfrm>
            <a:off x="1007706" y="4939004"/>
            <a:ext cx="3738465" cy="895739"/>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974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B039-117D-D6EB-77FC-170340BE0648}"/>
              </a:ext>
            </a:extLst>
          </p:cNvPr>
          <p:cNvSpPr>
            <a:spLocks noGrp="1"/>
          </p:cNvSpPr>
          <p:nvPr>
            <p:ph type="title"/>
          </p:nvPr>
        </p:nvSpPr>
        <p:spPr/>
        <p:txBody>
          <a:bodyPr/>
          <a:lstStyle/>
          <a:p>
            <a:r>
              <a:rPr lang="en-US" dirty="0"/>
              <a:t>How you could have known : symmetry</a:t>
            </a:r>
            <a:endParaRPr lang="en-BE" dirty="0"/>
          </a:p>
        </p:txBody>
      </p:sp>
      <p:pic>
        <p:nvPicPr>
          <p:cNvPr id="3" name="Picture 2" descr="A screenshot of a computer&#10;&#10;Description automatically generated">
            <a:extLst>
              <a:ext uri="{FF2B5EF4-FFF2-40B4-BE49-F238E27FC236}">
                <a16:creationId xmlns:a16="http://schemas.microsoft.com/office/drawing/2014/main" id="{2E62259C-A61F-C6C2-C6F8-3111E7154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904" y="1827383"/>
            <a:ext cx="5191850" cy="4982270"/>
          </a:xfrm>
          <a:prstGeom prst="rect">
            <a:avLst/>
          </a:prstGeom>
        </p:spPr>
      </p:pic>
      <p:cxnSp>
        <p:nvCxnSpPr>
          <p:cNvPr id="5" name="Straight Arrow Connector 4">
            <a:extLst>
              <a:ext uri="{FF2B5EF4-FFF2-40B4-BE49-F238E27FC236}">
                <a16:creationId xmlns:a16="http://schemas.microsoft.com/office/drawing/2014/main" id="{49C051CE-F45D-361A-80D3-68B5D4ECC39F}"/>
              </a:ext>
            </a:extLst>
          </p:cNvPr>
          <p:cNvCxnSpPr>
            <a:cxnSpLocks/>
          </p:cNvCxnSpPr>
          <p:nvPr/>
        </p:nvCxnSpPr>
        <p:spPr>
          <a:xfrm flipH="1">
            <a:off x="8969829" y="4186335"/>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69547320-AB28-7EF6-145A-942B301C77B4}"/>
              </a:ext>
            </a:extLst>
          </p:cNvPr>
          <p:cNvCxnSpPr>
            <a:cxnSpLocks/>
          </p:cNvCxnSpPr>
          <p:nvPr/>
        </p:nvCxnSpPr>
        <p:spPr>
          <a:xfrm flipH="1">
            <a:off x="8969828" y="4550229"/>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F835FA16-79DB-64BB-96C0-1F07CBDF438B}"/>
              </a:ext>
            </a:extLst>
          </p:cNvPr>
          <p:cNvCxnSpPr>
            <a:cxnSpLocks/>
          </p:cNvCxnSpPr>
          <p:nvPr/>
        </p:nvCxnSpPr>
        <p:spPr>
          <a:xfrm flipH="1">
            <a:off x="8969827" y="4935894"/>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0D18D1FF-A9D4-A1AE-4271-C55E32026474}"/>
              </a:ext>
            </a:extLst>
          </p:cNvPr>
          <p:cNvCxnSpPr>
            <a:cxnSpLocks/>
          </p:cNvCxnSpPr>
          <p:nvPr/>
        </p:nvCxnSpPr>
        <p:spPr>
          <a:xfrm flipH="1">
            <a:off x="8969827" y="5327780"/>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76CFBE2D-5FFC-7C55-83A0-96AAC7BBF39C}"/>
              </a:ext>
            </a:extLst>
          </p:cNvPr>
          <p:cNvCxnSpPr>
            <a:cxnSpLocks/>
          </p:cNvCxnSpPr>
          <p:nvPr/>
        </p:nvCxnSpPr>
        <p:spPr>
          <a:xfrm flipH="1">
            <a:off x="8916955" y="5694784"/>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566FA15C-33BF-E1EE-2483-4FB0769D5AFC}"/>
              </a:ext>
            </a:extLst>
          </p:cNvPr>
          <p:cNvSpPr txBox="1"/>
          <p:nvPr/>
        </p:nvSpPr>
        <p:spPr>
          <a:xfrm>
            <a:off x="404786" y="1458051"/>
            <a:ext cx="5996000"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Code that looks “wrong” </a:t>
            </a:r>
            <a:br>
              <a:rPr lang="en-US" sz="2400" dirty="0"/>
            </a:br>
            <a:r>
              <a:rPr lang="en-US" sz="2400" dirty="0"/>
              <a:t>has a high chance of being wrong</a:t>
            </a:r>
          </a:p>
          <a:p>
            <a:pPr marL="285750" indent="-285750">
              <a:buFont typeface="Arial" panose="020B0604020202020204" pitchFamily="34" charset="0"/>
              <a:buChar char="•"/>
            </a:pPr>
            <a:r>
              <a:rPr lang="en-US" sz="2400" dirty="0"/>
              <a:t>Usually, thing come in 3’s or a multiple of 2’s</a:t>
            </a:r>
          </a:p>
          <a:p>
            <a:pPr marL="285750" indent="-285750">
              <a:buFont typeface="Arial" panose="020B0604020202020204" pitchFamily="34" charset="0"/>
              <a:buChar char="•"/>
            </a:pPr>
            <a:r>
              <a:rPr lang="en-US" sz="2400" dirty="0"/>
              <a:t>This is how I find code to talk about</a:t>
            </a:r>
          </a:p>
          <a:p>
            <a:pPr marL="285750" indent="-285750">
              <a:buFont typeface="Arial" panose="020B0604020202020204" pitchFamily="34" charset="0"/>
              <a:buChar char="•"/>
            </a:pPr>
            <a:r>
              <a:rPr lang="en-US" sz="2400" dirty="0"/>
              <a:t>Reminder for self : look at vertices / indices</a:t>
            </a:r>
            <a:endParaRPr lang="en-BE" sz="2400" dirty="0"/>
          </a:p>
        </p:txBody>
      </p:sp>
    </p:spTree>
    <p:extLst>
      <p:ext uri="{BB962C8B-B14F-4D97-AF65-F5344CB8AC3E}">
        <p14:creationId xmlns:p14="http://schemas.microsoft.com/office/powerpoint/2010/main" val="3967246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AB3D-9196-51CA-65BB-19A4451DCC7F}"/>
              </a:ext>
            </a:extLst>
          </p:cNvPr>
          <p:cNvSpPr>
            <a:spLocks noGrp="1"/>
          </p:cNvSpPr>
          <p:nvPr>
            <p:ph type="title"/>
          </p:nvPr>
        </p:nvSpPr>
        <p:spPr/>
        <p:txBody>
          <a:bodyPr/>
          <a:lstStyle/>
          <a:p>
            <a:r>
              <a:rPr lang="en-US" dirty="0"/>
              <a:t>Questions?</a:t>
            </a:r>
            <a:endParaRPr lang="en-BE" dirty="0"/>
          </a:p>
        </p:txBody>
      </p:sp>
    </p:spTree>
    <p:extLst>
      <p:ext uri="{BB962C8B-B14F-4D97-AF65-F5344CB8AC3E}">
        <p14:creationId xmlns:p14="http://schemas.microsoft.com/office/powerpoint/2010/main" val="241762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61B8-CB8C-BF43-15F3-22B3893A4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FA262-2CA5-05A8-25FE-3930C495B2F8}"/>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295F1A08-EA50-7E3C-121E-FA98717856AE}"/>
              </a:ext>
            </a:extLst>
          </p:cNvPr>
          <p:cNvSpPr txBox="1"/>
          <p:nvPr/>
        </p:nvSpPr>
        <p:spPr>
          <a:xfrm>
            <a:off x="989901" y="1690689"/>
            <a:ext cx="8522399"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3D geometry </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Generating </a:t>
            </a:r>
            <a:r>
              <a:rPr lang="en-US" sz="2800" dirty="0" err="1"/>
              <a:t>normals</a:t>
            </a:r>
            <a:r>
              <a:rPr lang="en-US" sz="2800" dirty="0"/>
              <a:t> </a:t>
            </a:r>
            <a:r>
              <a:rPr lang="en-US" sz="2800" dirty="0">
                <a:sym typeface="Wingdings" panose="05000000000000000000" pitchFamily="2" charset="2"/>
              </a:rPr>
              <a:t></a:t>
            </a:r>
            <a:endParaRPr lang="en-US" sz="2800" dirty="0"/>
          </a:p>
        </p:txBody>
      </p:sp>
    </p:spTree>
    <p:extLst>
      <p:ext uri="{BB962C8B-B14F-4D97-AF65-F5344CB8AC3E}">
        <p14:creationId xmlns:p14="http://schemas.microsoft.com/office/powerpoint/2010/main" val="3363955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AD89-7B09-BE57-62FF-A2CAE4F53C19}"/>
              </a:ext>
            </a:extLst>
          </p:cNvPr>
          <p:cNvSpPr>
            <a:spLocks noGrp="1"/>
          </p:cNvSpPr>
          <p:nvPr>
            <p:ph type="title"/>
          </p:nvPr>
        </p:nvSpPr>
        <p:spPr/>
        <p:txBody>
          <a:bodyPr/>
          <a:lstStyle/>
          <a:p>
            <a:r>
              <a:rPr lang="en-US" dirty="0"/>
              <a:t>We defined normal on the surface, but they’re stored per-vertex</a:t>
            </a:r>
            <a:endParaRPr lang="en-BE" dirty="0"/>
          </a:p>
        </p:txBody>
      </p:sp>
      <p:pic>
        <p:nvPicPr>
          <p:cNvPr id="4" name="Picture 3" descr="A diagram of a curved line&#10;&#10;AI-generated content may be incorrect.">
            <a:extLst>
              <a:ext uri="{FF2B5EF4-FFF2-40B4-BE49-F238E27FC236}">
                <a16:creationId xmlns:a16="http://schemas.microsoft.com/office/drawing/2014/main" id="{264AC44B-8A43-7B0F-4708-3E64311F6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90934"/>
            <a:ext cx="11940487" cy="4401941"/>
          </a:xfrm>
          <a:prstGeom prst="rect">
            <a:avLst/>
          </a:prstGeom>
        </p:spPr>
      </p:pic>
    </p:spTree>
    <p:extLst>
      <p:ext uri="{BB962C8B-B14F-4D97-AF65-F5344CB8AC3E}">
        <p14:creationId xmlns:p14="http://schemas.microsoft.com/office/powerpoint/2010/main" val="1964053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A88B7-E11A-877F-9BE8-F0591D12B45F}"/>
              </a:ext>
            </a:extLst>
          </p:cNvPr>
          <p:cNvSpPr>
            <a:spLocks noGrp="1"/>
          </p:cNvSpPr>
          <p:nvPr>
            <p:ph type="title"/>
          </p:nvPr>
        </p:nvSpPr>
        <p:spPr/>
        <p:txBody>
          <a:bodyPr/>
          <a:lstStyle/>
          <a:p>
            <a:r>
              <a:rPr lang="en-US" dirty="0"/>
              <a:t>Why interpolation?</a:t>
            </a:r>
            <a:endParaRPr lang="en-BE" dirty="0"/>
          </a:p>
        </p:txBody>
      </p:sp>
      <p:pic>
        <p:nvPicPr>
          <p:cNvPr id="6" name="Picture 5" descr="A white and grey sphere&#10;&#10;AI-generated content may be incorrect.">
            <a:extLst>
              <a:ext uri="{FF2B5EF4-FFF2-40B4-BE49-F238E27FC236}">
                <a16:creationId xmlns:a16="http://schemas.microsoft.com/office/drawing/2014/main" id="{FCF2E5C5-3DCC-1889-B712-468E3DC9A4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3007" y="1822732"/>
            <a:ext cx="8507936" cy="4507936"/>
          </a:xfrm>
          <a:prstGeom prst="rect">
            <a:avLst/>
          </a:prstGeom>
        </p:spPr>
      </p:pic>
    </p:spTree>
    <p:extLst>
      <p:ext uri="{BB962C8B-B14F-4D97-AF65-F5344CB8AC3E}">
        <p14:creationId xmlns:p14="http://schemas.microsoft.com/office/powerpoint/2010/main" val="3389692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46F3-4B59-2D21-A04D-1CBAFB386B5F}"/>
              </a:ext>
            </a:extLst>
          </p:cNvPr>
          <p:cNvSpPr>
            <a:spLocks noGrp="1"/>
          </p:cNvSpPr>
          <p:nvPr>
            <p:ph type="title"/>
          </p:nvPr>
        </p:nvSpPr>
        <p:spPr>
          <a:xfrm>
            <a:off x="350520" y="365125"/>
            <a:ext cx="11841480" cy="1325563"/>
          </a:xfrm>
        </p:spPr>
        <p:txBody>
          <a:bodyPr/>
          <a:lstStyle/>
          <a:p>
            <a:r>
              <a:rPr lang="en-US" dirty="0"/>
              <a:t>We know how to generate face (triangle) </a:t>
            </a:r>
            <a:r>
              <a:rPr lang="en-US" dirty="0" err="1"/>
              <a:t>normals</a:t>
            </a:r>
            <a:endParaRPr lang="en-BE" dirty="0"/>
          </a:p>
        </p:txBody>
      </p:sp>
      <p:pic>
        <p:nvPicPr>
          <p:cNvPr id="3" name="Picture 2" descr="A diagram of a triangle with a line and a line&#10;&#10;Description automatically generated">
            <a:extLst>
              <a:ext uri="{FF2B5EF4-FFF2-40B4-BE49-F238E27FC236}">
                <a16:creationId xmlns:a16="http://schemas.microsoft.com/office/drawing/2014/main" id="{36C493FA-A41D-78EA-4C03-3BD93BE41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527" y="1686703"/>
            <a:ext cx="7862482" cy="5171297"/>
          </a:xfrm>
          <a:prstGeom prst="rect">
            <a:avLst/>
          </a:prstGeom>
        </p:spPr>
      </p:pic>
    </p:spTree>
    <p:extLst>
      <p:ext uri="{BB962C8B-B14F-4D97-AF65-F5344CB8AC3E}">
        <p14:creationId xmlns:p14="http://schemas.microsoft.com/office/powerpoint/2010/main" val="1536018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02AF-43A4-BF81-AAB0-05F63FFA8A11}"/>
              </a:ext>
            </a:extLst>
          </p:cNvPr>
          <p:cNvSpPr>
            <a:spLocks noGrp="1"/>
          </p:cNvSpPr>
          <p:nvPr>
            <p:ph type="title"/>
          </p:nvPr>
        </p:nvSpPr>
        <p:spPr>
          <a:xfrm>
            <a:off x="289560" y="365125"/>
            <a:ext cx="11544300" cy="1325563"/>
          </a:xfrm>
        </p:spPr>
        <p:txBody>
          <a:bodyPr/>
          <a:lstStyle/>
          <a:p>
            <a:r>
              <a:rPr lang="en-US" dirty="0"/>
              <a:t>Let’s try to generate vertex </a:t>
            </a:r>
            <a:r>
              <a:rPr lang="en-US" dirty="0" err="1"/>
              <a:t>normals</a:t>
            </a:r>
            <a:r>
              <a:rPr lang="en-US" dirty="0"/>
              <a:t> for this mesh</a:t>
            </a:r>
            <a:endParaRPr lang="en-BE" dirty="0"/>
          </a:p>
        </p:txBody>
      </p:sp>
      <p:cxnSp>
        <p:nvCxnSpPr>
          <p:cNvPr id="4" name="Straight Connector 3">
            <a:extLst>
              <a:ext uri="{FF2B5EF4-FFF2-40B4-BE49-F238E27FC236}">
                <a16:creationId xmlns:a16="http://schemas.microsoft.com/office/drawing/2014/main" id="{49E0BDA6-DFEF-2DF6-47FA-6F2D92DF0098}"/>
              </a:ext>
            </a:extLst>
          </p:cNvPr>
          <p:cNvCxnSpPr>
            <a:cxnSpLocks/>
          </p:cNvCxnSpPr>
          <p:nvPr/>
        </p:nvCxnSpPr>
        <p:spPr>
          <a:xfrm flipV="1">
            <a:off x="2499360" y="29194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0F4FD91-C6D5-01EF-9430-79B7D7C04130}"/>
              </a:ext>
            </a:extLst>
          </p:cNvPr>
          <p:cNvCxnSpPr>
            <a:cxnSpLocks/>
          </p:cNvCxnSpPr>
          <p:nvPr/>
        </p:nvCxnSpPr>
        <p:spPr>
          <a:xfrm flipV="1">
            <a:off x="4076700" y="29337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B25A41-B654-3622-91DD-1FEBCB4E8537}"/>
              </a:ext>
            </a:extLst>
          </p:cNvPr>
          <p:cNvCxnSpPr>
            <a:cxnSpLocks/>
          </p:cNvCxnSpPr>
          <p:nvPr/>
        </p:nvCxnSpPr>
        <p:spPr>
          <a:xfrm flipV="1">
            <a:off x="4076700" y="33223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521DB8-A198-3767-F0E6-2AF94B6F1B83}"/>
              </a:ext>
            </a:extLst>
          </p:cNvPr>
          <p:cNvCxnSpPr>
            <a:cxnSpLocks/>
          </p:cNvCxnSpPr>
          <p:nvPr/>
        </p:nvCxnSpPr>
        <p:spPr>
          <a:xfrm>
            <a:off x="4076700" y="29337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EE5137B-58D5-0FD6-724C-BA3FE62E85FA}"/>
              </a:ext>
            </a:extLst>
          </p:cNvPr>
          <p:cNvCxnSpPr>
            <a:cxnSpLocks/>
          </p:cNvCxnSpPr>
          <p:nvPr/>
        </p:nvCxnSpPr>
        <p:spPr>
          <a:xfrm>
            <a:off x="2499360" y="40909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3B1D04D-EB9D-F31F-9D4F-AEBE07EFA0F2}"/>
              </a:ext>
            </a:extLst>
          </p:cNvPr>
          <p:cNvSpPr txBox="1"/>
          <p:nvPr/>
        </p:nvSpPr>
        <p:spPr>
          <a:xfrm>
            <a:off x="5435377" y="4937760"/>
            <a:ext cx="6398483" cy="584775"/>
          </a:xfrm>
          <a:prstGeom prst="rect">
            <a:avLst/>
          </a:prstGeom>
          <a:noFill/>
        </p:spPr>
        <p:txBody>
          <a:bodyPr wrap="none" rtlCol="0">
            <a:spAutoFit/>
          </a:bodyPr>
          <a:lstStyle/>
          <a:p>
            <a:r>
              <a:rPr lang="en-US" sz="3200" dirty="0"/>
              <a:t>Hard to see depth, half of a </a:t>
            </a:r>
            <a:r>
              <a:rPr lang="en-US" sz="3200" dirty="0" err="1"/>
              <a:t>pyramide</a:t>
            </a:r>
            <a:endParaRPr lang="en-BE" sz="3200" dirty="0"/>
          </a:p>
        </p:txBody>
      </p:sp>
      <p:sp>
        <p:nvSpPr>
          <p:cNvPr id="17" name="TextBox 16">
            <a:extLst>
              <a:ext uri="{FF2B5EF4-FFF2-40B4-BE49-F238E27FC236}">
                <a16:creationId xmlns:a16="http://schemas.microsoft.com/office/drawing/2014/main" id="{04012F66-379D-9249-2979-25E40B50D0D8}"/>
              </a:ext>
            </a:extLst>
          </p:cNvPr>
          <p:cNvSpPr txBox="1"/>
          <p:nvPr/>
        </p:nvSpPr>
        <p:spPr>
          <a:xfrm>
            <a:off x="2138567" y="3860155"/>
            <a:ext cx="45719" cy="461665"/>
          </a:xfrm>
          <a:prstGeom prst="rect">
            <a:avLst/>
          </a:prstGeom>
          <a:noFill/>
        </p:spPr>
        <p:txBody>
          <a:bodyPr wrap="square" rtlCol="0">
            <a:spAutoFit/>
          </a:bodyPr>
          <a:lstStyle/>
          <a:p>
            <a:r>
              <a:rPr lang="en-US" sz="2400" dirty="0"/>
              <a:t>1</a:t>
            </a:r>
            <a:endParaRPr lang="en-BE" dirty="0"/>
          </a:p>
        </p:txBody>
      </p:sp>
      <p:sp>
        <p:nvSpPr>
          <p:cNvPr id="18" name="TextBox 17">
            <a:extLst>
              <a:ext uri="{FF2B5EF4-FFF2-40B4-BE49-F238E27FC236}">
                <a16:creationId xmlns:a16="http://schemas.microsoft.com/office/drawing/2014/main" id="{0421DD04-F9E1-6469-3121-9B4108A09D60}"/>
              </a:ext>
            </a:extLst>
          </p:cNvPr>
          <p:cNvSpPr txBox="1"/>
          <p:nvPr/>
        </p:nvSpPr>
        <p:spPr>
          <a:xfrm>
            <a:off x="3979955" y="5005388"/>
            <a:ext cx="782542" cy="369332"/>
          </a:xfrm>
          <a:prstGeom prst="rect">
            <a:avLst/>
          </a:prstGeom>
          <a:noFill/>
        </p:spPr>
        <p:txBody>
          <a:bodyPr wrap="square" rtlCol="0">
            <a:spAutoFit/>
          </a:bodyPr>
          <a:lstStyle/>
          <a:p>
            <a:r>
              <a:rPr lang="en-US" dirty="0"/>
              <a:t>2,5</a:t>
            </a:r>
            <a:endParaRPr lang="en-BE" dirty="0"/>
          </a:p>
        </p:txBody>
      </p:sp>
      <p:sp>
        <p:nvSpPr>
          <p:cNvPr id="19" name="TextBox 18">
            <a:extLst>
              <a:ext uri="{FF2B5EF4-FFF2-40B4-BE49-F238E27FC236}">
                <a16:creationId xmlns:a16="http://schemas.microsoft.com/office/drawing/2014/main" id="{8E6FFF5B-9964-374E-9E50-EE66B5274EA6}"/>
              </a:ext>
            </a:extLst>
          </p:cNvPr>
          <p:cNvSpPr txBox="1"/>
          <p:nvPr/>
        </p:nvSpPr>
        <p:spPr>
          <a:xfrm>
            <a:off x="4053839" y="2313756"/>
            <a:ext cx="845821" cy="461665"/>
          </a:xfrm>
          <a:prstGeom prst="rect">
            <a:avLst/>
          </a:prstGeom>
          <a:noFill/>
        </p:spPr>
        <p:txBody>
          <a:bodyPr wrap="square" rtlCol="0">
            <a:spAutoFit/>
          </a:bodyPr>
          <a:lstStyle/>
          <a:p>
            <a:r>
              <a:rPr lang="en-US" sz="2400" dirty="0"/>
              <a:t>0, 4</a:t>
            </a:r>
            <a:endParaRPr lang="en-BE" dirty="0"/>
          </a:p>
        </p:txBody>
      </p:sp>
      <p:sp>
        <p:nvSpPr>
          <p:cNvPr id="20" name="TextBox 19">
            <a:extLst>
              <a:ext uri="{FF2B5EF4-FFF2-40B4-BE49-F238E27FC236}">
                <a16:creationId xmlns:a16="http://schemas.microsoft.com/office/drawing/2014/main" id="{785D4729-3C13-8F47-A2FF-AE1A6A792D0A}"/>
              </a:ext>
            </a:extLst>
          </p:cNvPr>
          <p:cNvSpPr txBox="1"/>
          <p:nvPr/>
        </p:nvSpPr>
        <p:spPr>
          <a:xfrm>
            <a:off x="5514227" y="2967335"/>
            <a:ext cx="45719" cy="461665"/>
          </a:xfrm>
          <a:prstGeom prst="rect">
            <a:avLst/>
          </a:prstGeom>
          <a:noFill/>
        </p:spPr>
        <p:txBody>
          <a:bodyPr wrap="square" rtlCol="0">
            <a:spAutoFit/>
          </a:bodyPr>
          <a:lstStyle/>
          <a:p>
            <a:r>
              <a:rPr lang="en-US" sz="2400" dirty="0"/>
              <a:t>3</a:t>
            </a:r>
          </a:p>
        </p:txBody>
      </p:sp>
    </p:spTree>
    <p:extLst>
      <p:ext uri="{BB962C8B-B14F-4D97-AF65-F5344CB8AC3E}">
        <p14:creationId xmlns:p14="http://schemas.microsoft.com/office/powerpoint/2010/main" val="4178771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388D-74A6-A0BD-AF35-67850AA50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04CB6-057E-1F8E-1AD2-3435DAC72420}"/>
              </a:ext>
            </a:extLst>
          </p:cNvPr>
          <p:cNvSpPr>
            <a:spLocks noGrp="1"/>
          </p:cNvSpPr>
          <p:nvPr>
            <p:ph type="title"/>
          </p:nvPr>
        </p:nvSpPr>
        <p:spPr>
          <a:xfrm>
            <a:off x="323850" y="376714"/>
            <a:ext cx="11544300" cy="1325563"/>
          </a:xfrm>
        </p:spPr>
        <p:txBody>
          <a:bodyPr/>
          <a:lstStyle/>
          <a:p>
            <a:r>
              <a:rPr lang="en-US" dirty="0"/>
              <a:t>Let’s try to generate vertex </a:t>
            </a:r>
            <a:r>
              <a:rPr lang="en-US" dirty="0" err="1"/>
              <a:t>normals</a:t>
            </a:r>
            <a:r>
              <a:rPr lang="en-US" dirty="0"/>
              <a:t> for this mesh</a:t>
            </a:r>
            <a:endParaRPr lang="en-BE" dirty="0"/>
          </a:p>
        </p:txBody>
      </p:sp>
      <p:cxnSp>
        <p:nvCxnSpPr>
          <p:cNvPr id="4" name="Straight Connector 3">
            <a:extLst>
              <a:ext uri="{FF2B5EF4-FFF2-40B4-BE49-F238E27FC236}">
                <a16:creationId xmlns:a16="http://schemas.microsoft.com/office/drawing/2014/main" id="{695693DE-A0F7-1480-44F2-BE600485C5AE}"/>
              </a:ext>
            </a:extLst>
          </p:cNvPr>
          <p:cNvCxnSpPr>
            <a:cxnSpLocks/>
          </p:cNvCxnSpPr>
          <p:nvPr/>
        </p:nvCxnSpPr>
        <p:spPr>
          <a:xfrm flipV="1">
            <a:off x="640080" y="21193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D465D2E-05B4-7643-9B89-6F005FFCE13D}"/>
              </a:ext>
            </a:extLst>
          </p:cNvPr>
          <p:cNvCxnSpPr>
            <a:cxnSpLocks/>
          </p:cNvCxnSpPr>
          <p:nvPr/>
        </p:nvCxnSpPr>
        <p:spPr>
          <a:xfrm flipV="1">
            <a:off x="2217420" y="21336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2F0B853-D266-EAE0-69E4-61B0002ADD41}"/>
              </a:ext>
            </a:extLst>
          </p:cNvPr>
          <p:cNvCxnSpPr>
            <a:cxnSpLocks/>
          </p:cNvCxnSpPr>
          <p:nvPr/>
        </p:nvCxnSpPr>
        <p:spPr>
          <a:xfrm flipV="1">
            <a:off x="2217420" y="25222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17FD799-D69A-B8D3-BA55-33E6E91A99B2}"/>
              </a:ext>
            </a:extLst>
          </p:cNvPr>
          <p:cNvCxnSpPr>
            <a:cxnSpLocks/>
          </p:cNvCxnSpPr>
          <p:nvPr/>
        </p:nvCxnSpPr>
        <p:spPr>
          <a:xfrm>
            <a:off x="2217420" y="21336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2007AE8-6F1B-3BA4-DD07-6AEEF5754F98}"/>
              </a:ext>
            </a:extLst>
          </p:cNvPr>
          <p:cNvCxnSpPr>
            <a:cxnSpLocks/>
          </p:cNvCxnSpPr>
          <p:nvPr/>
        </p:nvCxnSpPr>
        <p:spPr>
          <a:xfrm>
            <a:off x="640080" y="32908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81BA344-449F-EA42-F1E8-1B925900C4B7}"/>
              </a:ext>
            </a:extLst>
          </p:cNvPr>
          <p:cNvSpPr txBox="1"/>
          <p:nvPr/>
        </p:nvSpPr>
        <p:spPr>
          <a:xfrm>
            <a:off x="4719097" y="5491192"/>
            <a:ext cx="6690678" cy="1077218"/>
          </a:xfrm>
          <a:prstGeom prst="rect">
            <a:avLst/>
          </a:prstGeom>
          <a:noFill/>
        </p:spPr>
        <p:txBody>
          <a:bodyPr wrap="none" rtlCol="0">
            <a:spAutoFit/>
          </a:bodyPr>
          <a:lstStyle/>
          <a:p>
            <a:r>
              <a:rPr lang="en-US" sz="3200" dirty="0"/>
              <a:t>We use the cross product for that</a:t>
            </a:r>
            <a:br>
              <a:rPr lang="en-US" sz="3200" dirty="0"/>
            </a:br>
            <a:r>
              <a:rPr lang="en-US" sz="3200" dirty="0"/>
              <a:t>We don’t forget to normalize the result</a:t>
            </a:r>
            <a:endParaRPr lang="en-BE" sz="3200" dirty="0"/>
          </a:p>
        </p:txBody>
      </p:sp>
      <p:cxnSp>
        <p:nvCxnSpPr>
          <p:cNvPr id="6" name="Straight Arrow Connector 5">
            <a:extLst>
              <a:ext uri="{FF2B5EF4-FFF2-40B4-BE49-F238E27FC236}">
                <a16:creationId xmlns:a16="http://schemas.microsoft.com/office/drawing/2014/main" id="{590F18CE-B4D0-1652-047D-F92311502B24}"/>
              </a:ext>
            </a:extLst>
          </p:cNvPr>
          <p:cNvCxnSpPr/>
          <p:nvPr/>
        </p:nvCxnSpPr>
        <p:spPr>
          <a:xfrm flipV="1">
            <a:off x="4381500" y="2674620"/>
            <a:ext cx="1356360" cy="105156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A107E3A-AC90-3EDE-9A1D-8486E1304A30}"/>
              </a:ext>
            </a:extLst>
          </p:cNvPr>
          <p:cNvCxnSpPr>
            <a:cxnSpLocks/>
          </p:cNvCxnSpPr>
          <p:nvPr/>
        </p:nvCxnSpPr>
        <p:spPr>
          <a:xfrm>
            <a:off x="4381500" y="3748088"/>
            <a:ext cx="1680210" cy="709612"/>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33F232-E195-752D-4375-6F77787C0830}"/>
              </a:ext>
            </a:extLst>
          </p:cNvPr>
          <p:cNvCxnSpPr>
            <a:cxnSpLocks/>
          </p:cNvCxnSpPr>
          <p:nvPr/>
        </p:nvCxnSpPr>
        <p:spPr>
          <a:xfrm flipH="1">
            <a:off x="6096000" y="3489960"/>
            <a:ext cx="1188720" cy="9677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E60D1FA-3749-D3BB-D1FC-46C119A200CA}"/>
              </a:ext>
            </a:extLst>
          </p:cNvPr>
          <p:cNvCxnSpPr>
            <a:cxnSpLocks/>
          </p:cNvCxnSpPr>
          <p:nvPr/>
        </p:nvCxnSpPr>
        <p:spPr>
          <a:xfrm flipH="1" flipV="1">
            <a:off x="5737860" y="2674620"/>
            <a:ext cx="1478280" cy="79868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0DC42E2-ED33-114E-CA41-4A11FCDEC0E6}"/>
              </a:ext>
            </a:extLst>
          </p:cNvPr>
          <p:cNvCxnSpPr>
            <a:cxnSpLocks/>
          </p:cNvCxnSpPr>
          <p:nvPr/>
        </p:nvCxnSpPr>
        <p:spPr>
          <a:xfrm flipV="1">
            <a:off x="7242810" y="2354580"/>
            <a:ext cx="910590" cy="1074420"/>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7F62107-A24E-4CD9-73A9-8E06066FB815}"/>
              </a:ext>
            </a:extLst>
          </p:cNvPr>
          <p:cNvCxnSpPr>
            <a:cxnSpLocks/>
          </p:cNvCxnSpPr>
          <p:nvPr/>
        </p:nvCxnSpPr>
        <p:spPr>
          <a:xfrm flipH="1" flipV="1">
            <a:off x="3474720" y="2895600"/>
            <a:ext cx="914775" cy="883458"/>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04A062-53A4-BC66-5E2D-528949CA4C53}"/>
              </a:ext>
            </a:extLst>
          </p:cNvPr>
          <p:cNvCxnSpPr>
            <a:cxnSpLocks/>
          </p:cNvCxnSpPr>
          <p:nvPr/>
        </p:nvCxnSpPr>
        <p:spPr>
          <a:xfrm flipV="1">
            <a:off x="8570595" y="269416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7C6BD0F-3D77-7C75-AF3E-79702BB33DC2}"/>
              </a:ext>
            </a:extLst>
          </p:cNvPr>
          <p:cNvCxnSpPr>
            <a:cxnSpLocks/>
          </p:cNvCxnSpPr>
          <p:nvPr/>
        </p:nvCxnSpPr>
        <p:spPr>
          <a:xfrm flipV="1">
            <a:off x="10147935" y="270844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3DC179E-2A33-141B-67BA-CFCDE885053C}"/>
              </a:ext>
            </a:extLst>
          </p:cNvPr>
          <p:cNvCxnSpPr>
            <a:cxnSpLocks/>
          </p:cNvCxnSpPr>
          <p:nvPr/>
        </p:nvCxnSpPr>
        <p:spPr>
          <a:xfrm flipV="1">
            <a:off x="10147935" y="309706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33D12B2-3605-EC16-4F17-65C3E510B2A7}"/>
              </a:ext>
            </a:extLst>
          </p:cNvPr>
          <p:cNvCxnSpPr>
            <a:cxnSpLocks/>
          </p:cNvCxnSpPr>
          <p:nvPr/>
        </p:nvCxnSpPr>
        <p:spPr>
          <a:xfrm>
            <a:off x="10147935" y="270844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8C907A3-A286-50FA-0F04-261735C4E4FF}"/>
              </a:ext>
            </a:extLst>
          </p:cNvPr>
          <p:cNvCxnSpPr>
            <a:cxnSpLocks/>
          </p:cNvCxnSpPr>
          <p:nvPr/>
        </p:nvCxnSpPr>
        <p:spPr>
          <a:xfrm>
            <a:off x="8570595" y="386573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83C5548-9F49-1283-1C32-96B9AC6D0E04}"/>
              </a:ext>
            </a:extLst>
          </p:cNvPr>
          <p:cNvCxnSpPr>
            <a:cxnSpLocks/>
          </p:cNvCxnSpPr>
          <p:nvPr/>
        </p:nvCxnSpPr>
        <p:spPr>
          <a:xfrm flipV="1">
            <a:off x="10524170" y="3082780"/>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344897E-D3FB-0E07-EB6F-F646953DA388}"/>
              </a:ext>
            </a:extLst>
          </p:cNvPr>
          <p:cNvCxnSpPr>
            <a:cxnSpLocks/>
          </p:cNvCxnSpPr>
          <p:nvPr/>
        </p:nvCxnSpPr>
        <p:spPr>
          <a:xfrm flipH="1" flipV="1">
            <a:off x="9058275" y="3132145"/>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78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5A76-FDD7-7BFC-90A8-E213028016AF}"/>
              </a:ext>
            </a:extLst>
          </p:cNvPr>
          <p:cNvSpPr>
            <a:spLocks noGrp="1"/>
          </p:cNvSpPr>
          <p:nvPr>
            <p:ph type="title"/>
          </p:nvPr>
        </p:nvSpPr>
        <p:spPr/>
        <p:txBody>
          <a:bodyPr/>
          <a:lstStyle/>
          <a:p>
            <a:r>
              <a:rPr lang="en-US" dirty="0"/>
              <a:t>We add each face normal to each vertex of the face (we first initialize to zero)</a:t>
            </a:r>
            <a:endParaRPr lang="en-BE" dirty="0"/>
          </a:p>
        </p:txBody>
      </p:sp>
      <p:cxnSp>
        <p:nvCxnSpPr>
          <p:cNvPr id="3" name="Straight Connector 2">
            <a:extLst>
              <a:ext uri="{FF2B5EF4-FFF2-40B4-BE49-F238E27FC236}">
                <a16:creationId xmlns:a16="http://schemas.microsoft.com/office/drawing/2014/main" id="{11A7B311-AF26-0708-0E6A-408F90B6A8D7}"/>
              </a:ext>
            </a:extLst>
          </p:cNvPr>
          <p:cNvCxnSpPr>
            <a:cxnSpLocks/>
          </p:cNvCxnSpPr>
          <p:nvPr/>
        </p:nvCxnSpPr>
        <p:spPr>
          <a:xfrm flipV="1">
            <a:off x="508635" y="270940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8643B35-86FB-4121-7466-8C39338F6834}"/>
              </a:ext>
            </a:extLst>
          </p:cNvPr>
          <p:cNvCxnSpPr>
            <a:cxnSpLocks/>
          </p:cNvCxnSpPr>
          <p:nvPr/>
        </p:nvCxnSpPr>
        <p:spPr>
          <a:xfrm flipV="1">
            <a:off x="2085975" y="272368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6984B62-2D92-A3EF-660D-E2E52966507A}"/>
              </a:ext>
            </a:extLst>
          </p:cNvPr>
          <p:cNvCxnSpPr>
            <a:cxnSpLocks/>
          </p:cNvCxnSpPr>
          <p:nvPr/>
        </p:nvCxnSpPr>
        <p:spPr>
          <a:xfrm flipV="1">
            <a:off x="2085975" y="311230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1662C05-498A-826C-C380-F32316A297D6}"/>
              </a:ext>
            </a:extLst>
          </p:cNvPr>
          <p:cNvCxnSpPr>
            <a:cxnSpLocks/>
          </p:cNvCxnSpPr>
          <p:nvPr/>
        </p:nvCxnSpPr>
        <p:spPr>
          <a:xfrm>
            <a:off x="2085975" y="272368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85434DA-E466-0E4A-41D8-ECB399F35C1A}"/>
              </a:ext>
            </a:extLst>
          </p:cNvPr>
          <p:cNvCxnSpPr>
            <a:cxnSpLocks/>
          </p:cNvCxnSpPr>
          <p:nvPr/>
        </p:nvCxnSpPr>
        <p:spPr>
          <a:xfrm>
            <a:off x="508635" y="388097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08A1156-540C-9853-85E2-B5A749571B01}"/>
              </a:ext>
            </a:extLst>
          </p:cNvPr>
          <p:cNvCxnSpPr>
            <a:cxnSpLocks/>
          </p:cNvCxnSpPr>
          <p:nvPr/>
        </p:nvCxnSpPr>
        <p:spPr>
          <a:xfrm flipV="1">
            <a:off x="2462210" y="3098020"/>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93D09EE-8ECA-12A4-BB18-2230875E200F}"/>
              </a:ext>
            </a:extLst>
          </p:cNvPr>
          <p:cNvCxnSpPr>
            <a:cxnSpLocks/>
          </p:cNvCxnSpPr>
          <p:nvPr/>
        </p:nvCxnSpPr>
        <p:spPr>
          <a:xfrm flipH="1" flipV="1">
            <a:off x="996315" y="3147385"/>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E44DF7F-2185-DB43-ABBE-B7CDFF34D575}"/>
              </a:ext>
            </a:extLst>
          </p:cNvPr>
          <p:cNvCxnSpPr>
            <a:cxnSpLocks/>
          </p:cNvCxnSpPr>
          <p:nvPr/>
        </p:nvCxnSpPr>
        <p:spPr>
          <a:xfrm flipV="1">
            <a:off x="7991475" y="283132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1DB52F4-113A-7031-75E3-ED5052F7C8C0}"/>
              </a:ext>
            </a:extLst>
          </p:cNvPr>
          <p:cNvCxnSpPr>
            <a:cxnSpLocks/>
          </p:cNvCxnSpPr>
          <p:nvPr/>
        </p:nvCxnSpPr>
        <p:spPr>
          <a:xfrm flipV="1">
            <a:off x="9568815" y="284560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61C3FC3-73D5-4C56-5B79-BAB19ECAAD83}"/>
              </a:ext>
            </a:extLst>
          </p:cNvPr>
          <p:cNvCxnSpPr>
            <a:cxnSpLocks/>
          </p:cNvCxnSpPr>
          <p:nvPr/>
        </p:nvCxnSpPr>
        <p:spPr>
          <a:xfrm flipV="1">
            <a:off x="9568815" y="323422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7B6C3C5-1D28-8D42-2D4C-DD31071D5745}"/>
              </a:ext>
            </a:extLst>
          </p:cNvPr>
          <p:cNvCxnSpPr>
            <a:cxnSpLocks/>
          </p:cNvCxnSpPr>
          <p:nvPr/>
        </p:nvCxnSpPr>
        <p:spPr>
          <a:xfrm>
            <a:off x="9568815" y="284560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4D90E8-BDDE-BB0B-05EA-D54D8E139DAE}"/>
              </a:ext>
            </a:extLst>
          </p:cNvPr>
          <p:cNvCxnSpPr>
            <a:cxnSpLocks/>
          </p:cNvCxnSpPr>
          <p:nvPr/>
        </p:nvCxnSpPr>
        <p:spPr>
          <a:xfrm>
            <a:off x="7991475" y="400289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D743B8E-58A3-B9A7-80FC-C2CAD0DBF68F}"/>
              </a:ext>
            </a:extLst>
          </p:cNvPr>
          <p:cNvCxnSpPr>
            <a:cxnSpLocks/>
          </p:cNvCxnSpPr>
          <p:nvPr/>
        </p:nvCxnSpPr>
        <p:spPr>
          <a:xfrm flipV="1">
            <a:off x="10826115" y="2942961"/>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AF9FFE-F429-EB7C-66CA-D461D04DDC86}"/>
              </a:ext>
            </a:extLst>
          </p:cNvPr>
          <p:cNvCxnSpPr>
            <a:cxnSpLocks/>
          </p:cNvCxnSpPr>
          <p:nvPr/>
        </p:nvCxnSpPr>
        <p:spPr>
          <a:xfrm flipH="1" flipV="1">
            <a:off x="7291762" y="3402466"/>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C0ED805-C24A-73BF-8F5A-F17AF10F936C}"/>
              </a:ext>
            </a:extLst>
          </p:cNvPr>
          <p:cNvCxnSpPr>
            <a:cxnSpLocks/>
          </p:cNvCxnSpPr>
          <p:nvPr/>
        </p:nvCxnSpPr>
        <p:spPr>
          <a:xfrm flipH="1" flipV="1">
            <a:off x="8826429" y="2326930"/>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CAC8E14-4E34-135F-AC25-5EA443392747}"/>
              </a:ext>
            </a:extLst>
          </p:cNvPr>
          <p:cNvCxnSpPr>
            <a:cxnSpLocks/>
          </p:cNvCxnSpPr>
          <p:nvPr/>
        </p:nvCxnSpPr>
        <p:spPr>
          <a:xfrm flipH="1" flipV="1">
            <a:off x="8881773" y="4324024"/>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DDBF534-7A4C-7140-4C8A-FCAEBE21AC0C}"/>
              </a:ext>
            </a:extLst>
          </p:cNvPr>
          <p:cNvCxnSpPr>
            <a:cxnSpLocks/>
          </p:cNvCxnSpPr>
          <p:nvPr/>
        </p:nvCxnSpPr>
        <p:spPr>
          <a:xfrm flipV="1">
            <a:off x="8826429" y="1939196"/>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A5EB54-6D30-E84B-9F22-61C8F2FFA727}"/>
              </a:ext>
            </a:extLst>
          </p:cNvPr>
          <p:cNvCxnSpPr>
            <a:cxnSpLocks/>
          </p:cNvCxnSpPr>
          <p:nvPr/>
        </p:nvCxnSpPr>
        <p:spPr>
          <a:xfrm flipV="1">
            <a:off x="8902204" y="3994113"/>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028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387A-293E-1374-ADD1-0D28C56CC873}"/>
              </a:ext>
            </a:extLst>
          </p:cNvPr>
          <p:cNvSpPr>
            <a:spLocks noGrp="1"/>
          </p:cNvSpPr>
          <p:nvPr>
            <p:ph type="title"/>
          </p:nvPr>
        </p:nvSpPr>
        <p:spPr/>
        <p:txBody>
          <a:bodyPr/>
          <a:lstStyle/>
          <a:p>
            <a:r>
              <a:rPr lang="en-US" dirty="0"/>
              <a:t>And normalize the result</a:t>
            </a:r>
            <a:endParaRPr lang="en-BE" dirty="0"/>
          </a:p>
        </p:txBody>
      </p:sp>
      <p:cxnSp>
        <p:nvCxnSpPr>
          <p:cNvPr id="3" name="Straight Connector 2">
            <a:extLst>
              <a:ext uri="{FF2B5EF4-FFF2-40B4-BE49-F238E27FC236}">
                <a16:creationId xmlns:a16="http://schemas.microsoft.com/office/drawing/2014/main" id="{122A412D-0517-DDE2-3D79-1D307A60FCBA}"/>
              </a:ext>
            </a:extLst>
          </p:cNvPr>
          <p:cNvCxnSpPr>
            <a:cxnSpLocks/>
          </p:cNvCxnSpPr>
          <p:nvPr/>
        </p:nvCxnSpPr>
        <p:spPr>
          <a:xfrm flipV="1">
            <a:off x="1445895" y="34147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26DF198-5A1D-3A14-6E04-B964CF7248F7}"/>
              </a:ext>
            </a:extLst>
          </p:cNvPr>
          <p:cNvCxnSpPr>
            <a:cxnSpLocks/>
          </p:cNvCxnSpPr>
          <p:nvPr/>
        </p:nvCxnSpPr>
        <p:spPr>
          <a:xfrm flipV="1">
            <a:off x="3023235" y="34290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6CACE63-2035-0FBC-3827-323164A6C50A}"/>
              </a:ext>
            </a:extLst>
          </p:cNvPr>
          <p:cNvCxnSpPr>
            <a:cxnSpLocks/>
          </p:cNvCxnSpPr>
          <p:nvPr/>
        </p:nvCxnSpPr>
        <p:spPr>
          <a:xfrm flipV="1">
            <a:off x="3023235" y="38176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4DE7AC8-06F2-7417-39E6-32A8CDCE03A8}"/>
              </a:ext>
            </a:extLst>
          </p:cNvPr>
          <p:cNvCxnSpPr>
            <a:cxnSpLocks/>
          </p:cNvCxnSpPr>
          <p:nvPr/>
        </p:nvCxnSpPr>
        <p:spPr>
          <a:xfrm>
            <a:off x="3023235" y="34290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3092628-0AB6-3C8C-7E71-B1AC6D6D6734}"/>
              </a:ext>
            </a:extLst>
          </p:cNvPr>
          <p:cNvCxnSpPr>
            <a:cxnSpLocks/>
          </p:cNvCxnSpPr>
          <p:nvPr/>
        </p:nvCxnSpPr>
        <p:spPr>
          <a:xfrm>
            <a:off x="1445895" y="45862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C41865-68C7-3295-DD62-19ABAC78EC62}"/>
              </a:ext>
            </a:extLst>
          </p:cNvPr>
          <p:cNvCxnSpPr>
            <a:cxnSpLocks/>
          </p:cNvCxnSpPr>
          <p:nvPr/>
        </p:nvCxnSpPr>
        <p:spPr>
          <a:xfrm flipV="1">
            <a:off x="4280535" y="3526353"/>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E459EEC-6837-646A-66C6-D33D97E8CDBE}"/>
              </a:ext>
            </a:extLst>
          </p:cNvPr>
          <p:cNvCxnSpPr>
            <a:cxnSpLocks/>
          </p:cNvCxnSpPr>
          <p:nvPr/>
        </p:nvCxnSpPr>
        <p:spPr>
          <a:xfrm flipH="1" flipV="1">
            <a:off x="746182" y="3985858"/>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1EFCE20-B23C-4BE2-0C47-7FC1DCDB75D2}"/>
              </a:ext>
            </a:extLst>
          </p:cNvPr>
          <p:cNvCxnSpPr>
            <a:cxnSpLocks/>
          </p:cNvCxnSpPr>
          <p:nvPr/>
        </p:nvCxnSpPr>
        <p:spPr>
          <a:xfrm flipH="1" flipV="1">
            <a:off x="2280849" y="2856891"/>
            <a:ext cx="734002" cy="597663"/>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DE6125-9B10-75D3-FF27-471A7498F43C}"/>
              </a:ext>
            </a:extLst>
          </p:cNvPr>
          <p:cNvCxnSpPr>
            <a:cxnSpLocks/>
          </p:cNvCxnSpPr>
          <p:nvPr/>
        </p:nvCxnSpPr>
        <p:spPr>
          <a:xfrm flipH="1" flipV="1">
            <a:off x="2336193" y="4907416"/>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F0F2222-E5E4-98F9-EF64-F196001DC43F}"/>
              </a:ext>
            </a:extLst>
          </p:cNvPr>
          <p:cNvCxnSpPr>
            <a:cxnSpLocks/>
          </p:cNvCxnSpPr>
          <p:nvPr/>
        </p:nvCxnSpPr>
        <p:spPr>
          <a:xfrm flipV="1">
            <a:off x="2280849" y="2522588"/>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B1258F0-8634-EEF9-A02F-54DF53C2CC57}"/>
              </a:ext>
            </a:extLst>
          </p:cNvPr>
          <p:cNvCxnSpPr>
            <a:cxnSpLocks/>
          </p:cNvCxnSpPr>
          <p:nvPr/>
        </p:nvCxnSpPr>
        <p:spPr>
          <a:xfrm flipV="1">
            <a:off x="2356624" y="4577505"/>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A819F3-5A66-04C0-5894-94EFA9CA2055}"/>
              </a:ext>
            </a:extLst>
          </p:cNvPr>
          <p:cNvCxnSpPr>
            <a:cxnSpLocks/>
          </p:cNvCxnSpPr>
          <p:nvPr/>
        </p:nvCxnSpPr>
        <p:spPr>
          <a:xfrm flipV="1">
            <a:off x="6795713" y="3123445"/>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32F965-6C68-A5A8-F7D5-8E0228CDDB74}"/>
              </a:ext>
            </a:extLst>
          </p:cNvPr>
          <p:cNvCxnSpPr>
            <a:cxnSpLocks/>
          </p:cNvCxnSpPr>
          <p:nvPr/>
        </p:nvCxnSpPr>
        <p:spPr>
          <a:xfrm flipV="1">
            <a:off x="8373053" y="3137733"/>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7C83C5-86B2-CA79-1D9C-73E0D2E43876}"/>
              </a:ext>
            </a:extLst>
          </p:cNvPr>
          <p:cNvCxnSpPr>
            <a:cxnSpLocks/>
          </p:cNvCxnSpPr>
          <p:nvPr/>
        </p:nvCxnSpPr>
        <p:spPr>
          <a:xfrm flipV="1">
            <a:off x="8373053" y="3526353"/>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7D61FF-3870-5BDA-02C1-92DA3A0563D3}"/>
              </a:ext>
            </a:extLst>
          </p:cNvPr>
          <p:cNvCxnSpPr>
            <a:cxnSpLocks/>
          </p:cNvCxnSpPr>
          <p:nvPr/>
        </p:nvCxnSpPr>
        <p:spPr>
          <a:xfrm>
            <a:off x="8373053" y="3137733"/>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17E2742-D978-59D8-72EB-5DDC5996ABF3}"/>
              </a:ext>
            </a:extLst>
          </p:cNvPr>
          <p:cNvCxnSpPr>
            <a:cxnSpLocks/>
          </p:cNvCxnSpPr>
          <p:nvPr/>
        </p:nvCxnSpPr>
        <p:spPr>
          <a:xfrm>
            <a:off x="6795713" y="4295021"/>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115E1A2-B1EF-C30E-0D79-5BE3BA21732D}"/>
              </a:ext>
            </a:extLst>
          </p:cNvPr>
          <p:cNvCxnSpPr>
            <a:cxnSpLocks/>
          </p:cNvCxnSpPr>
          <p:nvPr/>
        </p:nvCxnSpPr>
        <p:spPr>
          <a:xfrm flipV="1">
            <a:off x="9630353" y="3235086"/>
            <a:ext cx="460060" cy="338694"/>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922FC2B-D6D4-B4B4-6544-8531680A83C6}"/>
              </a:ext>
            </a:extLst>
          </p:cNvPr>
          <p:cNvCxnSpPr>
            <a:cxnSpLocks/>
          </p:cNvCxnSpPr>
          <p:nvPr/>
        </p:nvCxnSpPr>
        <p:spPr>
          <a:xfrm flipH="1" flipV="1">
            <a:off x="6096000" y="3694591"/>
            <a:ext cx="734002" cy="544232"/>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5EC0E42-2B5B-4B38-043D-ED5D28538C5D}"/>
              </a:ext>
            </a:extLst>
          </p:cNvPr>
          <p:cNvCxnSpPr>
            <a:cxnSpLocks/>
          </p:cNvCxnSpPr>
          <p:nvPr/>
        </p:nvCxnSpPr>
        <p:spPr>
          <a:xfrm flipH="1" flipV="1">
            <a:off x="8090727" y="2231321"/>
            <a:ext cx="273942" cy="888873"/>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D0A580-5A45-110A-7027-50BCABD33C85}"/>
              </a:ext>
            </a:extLst>
          </p:cNvPr>
          <p:cNvCxnSpPr>
            <a:cxnSpLocks/>
          </p:cNvCxnSpPr>
          <p:nvPr/>
        </p:nvCxnSpPr>
        <p:spPr>
          <a:xfrm flipH="1" flipV="1">
            <a:off x="8166502" y="4300861"/>
            <a:ext cx="253511" cy="859520"/>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867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D02E-326D-82AB-841E-E681071E95B4}"/>
              </a:ext>
            </a:extLst>
          </p:cNvPr>
          <p:cNvSpPr>
            <a:spLocks noGrp="1"/>
          </p:cNvSpPr>
          <p:nvPr>
            <p:ph type="title"/>
          </p:nvPr>
        </p:nvSpPr>
        <p:spPr/>
        <p:txBody>
          <a:bodyPr/>
          <a:lstStyle/>
          <a:p>
            <a:r>
              <a:rPr lang="en-US" dirty="0"/>
              <a:t>We can do better, right now each triangle contributes equally</a:t>
            </a:r>
            <a:endParaRPr lang="en-BE" dirty="0"/>
          </a:p>
        </p:txBody>
      </p:sp>
      <p:cxnSp>
        <p:nvCxnSpPr>
          <p:cNvPr id="3" name="Straight Connector 2">
            <a:extLst>
              <a:ext uri="{FF2B5EF4-FFF2-40B4-BE49-F238E27FC236}">
                <a16:creationId xmlns:a16="http://schemas.microsoft.com/office/drawing/2014/main" id="{2E4F2BDE-415C-018D-EAF7-7F50715987D3}"/>
              </a:ext>
            </a:extLst>
          </p:cNvPr>
          <p:cNvCxnSpPr>
            <a:cxnSpLocks/>
          </p:cNvCxnSpPr>
          <p:nvPr/>
        </p:nvCxnSpPr>
        <p:spPr>
          <a:xfrm flipV="1">
            <a:off x="746760" y="224123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D8F97C4-FDC3-89BF-29C2-CF419791F7D9}"/>
              </a:ext>
            </a:extLst>
          </p:cNvPr>
          <p:cNvCxnSpPr>
            <a:cxnSpLocks/>
          </p:cNvCxnSpPr>
          <p:nvPr/>
        </p:nvCxnSpPr>
        <p:spPr>
          <a:xfrm flipV="1">
            <a:off x="2324100" y="225552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D09BCAA-3599-4D5E-BBFA-EB7F964AC0BA}"/>
              </a:ext>
            </a:extLst>
          </p:cNvPr>
          <p:cNvCxnSpPr>
            <a:cxnSpLocks/>
          </p:cNvCxnSpPr>
          <p:nvPr/>
        </p:nvCxnSpPr>
        <p:spPr>
          <a:xfrm flipV="1">
            <a:off x="2324100" y="4130040"/>
            <a:ext cx="182880" cy="1828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7D0FF32-FA0C-EC8C-F9D7-FE174661A22F}"/>
              </a:ext>
            </a:extLst>
          </p:cNvPr>
          <p:cNvCxnSpPr>
            <a:cxnSpLocks/>
          </p:cNvCxnSpPr>
          <p:nvPr/>
        </p:nvCxnSpPr>
        <p:spPr>
          <a:xfrm>
            <a:off x="2324100" y="2255520"/>
            <a:ext cx="167640" cy="18973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E590083-D15D-2C3E-1B97-E64BA1ECB58A}"/>
              </a:ext>
            </a:extLst>
          </p:cNvPr>
          <p:cNvCxnSpPr>
            <a:cxnSpLocks/>
          </p:cNvCxnSpPr>
          <p:nvPr/>
        </p:nvCxnSpPr>
        <p:spPr>
          <a:xfrm>
            <a:off x="746760" y="341280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DA5299E-41C4-DA27-6EE2-2249D2651F48}"/>
              </a:ext>
            </a:extLst>
          </p:cNvPr>
          <p:cNvSpPr txBox="1"/>
          <p:nvPr/>
        </p:nvSpPr>
        <p:spPr>
          <a:xfrm>
            <a:off x="4526280" y="2929711"/>
            <a:ext cx="6553200"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We can take into account the actual angle</a:t>
            </a:r>
          </a:p>
          <a:p>
            <a:pPr marL="285750" indent="-285750">
              <a:buFont typeface="Arial" panose="020B0604020202020204" pitchFamily="34" charset="0"/>
              <a:buChar char="•"/>
            </a:pPr>
            <a:r>
              <a:rPr lang="en-US" sz="2400" dirty="0"/>
              <a:t>Vertex </a:t>
            </a:r>
            <a:r>
              <a:rPr lang="en-US" sz="2400" dirty="0" err="1"/>
              <a:t>normals</a:t>
            </a:r>
            <a:r>
              <a:rPr lang="en-US" sz="2400" dirty="0"/>
              <a:t> are a dark art</a:t>
            </a:r>
          </a:p>
        </p:txBody>
      </p:sp>
    </p:spTree>
    <p:extLst>
      <p:ext uri="{BB962C8B-B14F-4D97-AF65-F5344CB8AC3E}">
        <p14:creationId xmlns:p14="http://schemas.microsoft.com/office/powerpoint/2010/main" val="607229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30B8-C917-030B-CAD1-CB53976F8AEF}"/>
              </a:ext>
            </a:extLst>
          </p:cNvPr>
          <p:cNvSpPr>
            <a:spLocks noGrp="1"/>
          </p:cNvSpPr>
          <p:nvPr>
            <p:ph type="title"/>
          </p:nvPr>
        </p:nvSpPr>
        <p:spPr/>
        <p:txBody>
          <a:bodyPr/>
          <a:lstStyle/>
          <a:p>
            <a:r>
              <a:rPr lang="en-US" dirty="0"/>
              <a:t>Minecraft normal blues</a:t>
            </a:r>
            <a:endParaRPr lang="en-BE" dirty="0"/>
          </a:p>
        </p:txBody>
      </p:sp>
    </p:spTree>
    <p:extLst>
      <p:ext uri="{BB962C8B-B14F-4D97-AF65-F5344CB8AC3E}">
        <p14:creationId xmlns:p14="http://schemas.microsoft.com/office/powerpoint/2010/main" val="2193888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D013-FC88-490E-DD21-5624171B53CD}"/>
            </a:ext>
          </a:extLst>
        </p:cNvPr>
        <p:cNvGrpSpPr/>
        <p:nvPr/>
      </p:nvGrpSpPr>
      <p:grpSpPr>
        <a:xfrm>
          <a:off x="0" y="0"/>
          <a:ext cx="0" cy="0"/>
          <a:chOff x="0" y="0"/>
          <a:chExt cx="0" cy="0"/>
        </a:xfrm>
      </p:grpSpPr>
      <p:pic>
        <p:nvPicPr>
          <p:cNvPr id="6" name="Picture 5" descr="A black background with a black square&#10;&#10;AI-generated content may be incorrect.">
            <a:extLst>
              <a:ext uri="{FF2B5EF4-FFF2-40B4-BE49-F238E27FC236}">
                <a16:creationId xmlns:a16="http://schemas.microsoft.com/office/drawing/2014/main" id="{3D527A26-A5AF-35E9-C192-CB4AE1BEF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0918" y="1970314"/>
            <a:ext cx="776557" cy="1649173"/>
          </a:xfrm>
          <a:prstGeom prst="rect">
            <a:avLst/>
          </a:prstGeom>
        </p:spPr>
      </p:pic>
      <p:pic>
        <p:nvPicPr>
          <p:cNvPr id="8" name="Picture 7" descr="A black and white camera&#10;&#10;AI-generated content may be incorrect.">
            <a:extLst>
              <a:ext uri="{FF2B5EF4-FFF2-40B4-BE49-F238E27FC236}">
                <a16:creationId xmlns:a16="http://schemas.microsoft.com/office/drawing/2014/main" id="{6D3E70D5-DB48-B3DB-0263-2C7759071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5841" y="1970314"/>
            <a:ext cx="1458686" cy="1458686"/>
          </a:xfrm>
          <a:prstGeom prst="rect">
            <a:avLst/>
          </a:prstGeom>
        </p:spPr>
      </p:pic>
      <p:sp>
        <p:nvSpPr>
          <p:cNvPr id="9" name="Arrow: Curved Right 8">
            <a:extLst>
              <a:ext uri="{FF2B5EF4-FFF2-40B4-BE49-F238E27FC236}">
                <a16:creationId xmlns:a16="http://schemas.microsoft.com/office/drawing/2014/main" id="{88606CAE-F0A3-EF7F-119D-818952D7D722}"/>
              </a:ext>
            </a:extLst>
          </p:cNvPr>
          <p:cNvSpPr/>
          <p:nvPr/>
        </p:nvSpPr>
        <p:spPr>
          <a:xfrm rot="16200000">
            <a:off x="5862843" y="913946"/>
            <a:ext cx="3124200" cy="8109857"/>
          </a:xfrm>
          <a:prstGeom prst="curved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11" name="Title 10">
            <a:extLst>
              <a:ext uri="{FF2B5EF4-FFF2-40B4-BE49-F238E27FC236}">
                <a16:creationId xmlns:a16="http://schemas.microsoft.com/office/drawing/2014/main" id="{2E1DA884-FA2F-45A8-F921-0E91A8560404}"/>
              </a:ext>
            </a:extLst>
          </p:cNvPr>
          <p:cNvSpPr>
            <a:spLocks noGrp="1"/>
          </p:cNvSpPr>
          <p:nvPr>
            <p:ph type="title"/>
          </p:nvPr>
        </p:nvSpPr>
        <p:spPr/>
        <p:txBody>
          <a:bodyPr/>
          <a:lstStyle/>
          <a:p>
            <a:endParaRPr lang="en-BE"/>
          </a:p>
        </p:txBody>
      </p:sp>
      <p:pic>
        <p:nvPicPr>
          <p:cNvPr id="12" name="Picture 11" descr="A black and white camera&#10;&#10;AI-generated content may be incorrect.">
            <a:extLst>
              <a:ext uri="{FF2B5EF4-FFF2-40B4-BE49-F238E27FC236}">
                <a16:creationId xmlns:a16="http://schemas.microsoft.com/office/drawing/2014/main" id="{4BB8C457-DECE-C9ED-8B3F-63AE54C89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4296679">
            <a:off x="7421677" y="4772591"/>
            <a:ext cx="1447801" cy="1447801"/>
          </a:xfrm>
          <a:prstGeom prst="rect">
            <a:avLst/>
          </a:prstGeom>
        </p:spPr>
      </p:pic>
    </p:spTree>
    <p:extLst>
      <p:ext uri="{BB962C8B-B14F-4D97-AF65-F5344CB8AC3E}">
        <p14:creationId xmlns:p14="http://schemas.microsoft.com/office/powerpoint/2010/main" val="2575714111"/>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30099</TotalTime>
  <Words>2061</Words>
  <Application>Microsoft Office PowerPoint</Application>
  <PresentationFormat>Widescreen</PresentationFormat>
  <Paragraphs>250</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Tahoma</vt:lpstr>
      <vt:lpstr>Wingdings</vt:lpstr>
      <vt:lpstr>Kantoorthema</vt:lpstr>
      <vt:lpstr>PowerPoint Presentation</vt:lpstr>
      <vt:lpstr>Last class</vt:lpstr>
      <vt:lpstr>Do these questions increase memory?</vt:lpstr>
      <vt:lpstr>Part of the project is available</vt:lpstr>
      <vt:lpstr>Course schedule</vt:lpstr>
      <vt:lpstr>This class</vt:lpstr>
      <vt:lpstr>GPU’s draw meshes</vt:lpstr>
      <vt:lpstr>GPU’s draw meshes</vt:lpstr>
      <vt:lpstr>Meshes are lists of vertices</vt:lpstr>
      <vt:lpstr>Interpolation (linear)</vt:lpstr>
      <vt:lpstr>Meshes</vt:lpstr>
      <vt:lpstr>Why are the arrows important? </vt:lpstr>
      <vt:lpstr>Mesh winding</vt:lpstr>
      <vt:lpstr>We’re being sloppy in this rectangle</vt:lpstr>
      <vt:lpstr>Index buffer</vt:lpstr>
      <vt:lpstr>How many bytes now?</vt:lpstr>
      <vt:lpstr>Creating a quad : setup</vt:lpstr>
      <vt:lpstr>Creating a quad  : vertices &amp; indices </vt:lpstr>
      <vt:lpstr>Creating a quad : normals &amp; uv</vt:lpstr>
      <vt:lpstr>Future assignment: tessellated plane</vt:lpstr>
      <vt:lpstr>Future assignment: tessellated plane</vt:lpstr>
      <vt:lpstr>Future assignment: make a cube</vt:lpstr>
      <vt:lpstr>Ghost writer (ChatGPT)</vt:lpstr>
      <vt:lpstr>Does it look good?</vt:lpstr>
      <vt:lpstr>Result</vt:lpstr>
      <vt:lpstr>Do you see the problem?</vt:lpstr>
      <vt:lpstr>It’s right here</vt:lpstr>
      <vt:lpstr>How you could have known : symmetry</vt:lpstr>
      <vt:lpstr>Questions?</vt:lpstr>
      <vt:lpstr>This class</vt:lpstr>
      <vt:lpstr>We defined normal on the surface, but they’re stored per-vertex</vt:lpstr>
      <vt:lpstr>Why interpolation?</vt:lpstr>
      <vt:lpstr>We know how to generate face (triangle) normals</vt:lpstr>
      <vt:lpstr>Let’s try to generate vertex normals for this mesh</vt:lpstr>
      <vt:lpstr>Let’s try to generate vertex normals for this mesh</vt:lpstr>
      <vt:lpstr>We add each face normal to each vertex of the face (we first initialize to zero)</vt:lpstr>
      <vt:lpstr>And normalize the result</vt:lpstr>
      <vt:lpstr>We can do better, right now each triangle contributes equally</vt:lpstr>
      <vt:lpstr>Minecraft normal blues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Nijs, Daan (246888)</cp:lastModifiedBy>
  <cp:revision>60</cp:revision>
  <dcterms:created xsi:type="dcterms:W3CDTF">2024-01-29T23:06:06Z</dcterms:created>
  <dcterms:modified xsi:type="dcterms:W3CDTF">2025-03-03T10:16:04Z</dcterms:modified>
</cp:coreProperties>
</file>