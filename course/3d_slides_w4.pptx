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502" r:id="rId3"/>
    <p:sldId id="544" r:id="rId4"/>
    <p:sldId id="543" r:id="rId5"/>
    <p:sldId id="604" r:id="rId6"/>
    <p:sldId id="364" r:id="rId7"/>
    <p:sldId id="545" r:id="rId8"/>
    <p:sldId id="439" r:id="rId9"/>
    <p:sldId id="546" r:id="rId10"/>
    <p:sldId id="547" r:id="rId11"/>
    <p:sldId id="601" r:id="rId12"/>
    <p:sldId id="548" r:id="rId13"/>
    <p:sldId id="550" r:id="rId14"/>
    <p:sldId id="549" r:id="rId15"/>
    <p:sldId id="551" r:id="rId16"/>
    <p:sldId id="552" r:id="rId17"/>
    <p:sldId id="553" r:id="rId18"/>
    <p:sldId id="554" r:id="rId19"/>
    <p:sldId id="555" r:id="rId20"/>
    <p:sldId id="556" r:id="rId21"/>
    <p:sldId id="557" r:id="rId22"/>
    <p:sldId id="558" r:id="rId23"/>
    <p:sldId id="602" r:id="rId24"/>
    <p:sldId id="582" r:id="rId25"/>
    <p:sldId id="584" r:id="rId26"/>
    <p:sldId id="583" r:id="rId27"/>
    <p:sldId id="585" r:id="rId28"/>
    <p:sldId id="586" r:id="rId29"/>
    <p:sldId id="590" r:id="rId30"/>
    <p:sldId id="591" r:id="rId31"/>
    <p:sldId id="587" r:id="rId32"/>
    <p:sldId id="588" r:id="rId33"/>
    <p:sldId id="589" r:id="rId34"/>
    <p:sldId id="592" r:id="rId35"/>
    <p:sldId id="593" r:id="rId36"/>
    <p:sldId id="599" r:id="rId37"/>
    <p:sldId id="594" r:id="rId38"/>
    <p:sldId id="595" r:id="rId39"/>
    <p:sldId id="596" r:id="rId40"/>
    <p:sldId id="597" r:id="rId41"/>
    <p:sldId id="598" r:id="rId42"/>
    <p:sldId id="603" r:id="rId43"/>
    <p:sldId id="600" r:id="rId44"/>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8010" autoAdjust="0"/>
    <p:restoredTop sz="94660"/>
  </p:normalViewPr>
  <p:slideViewPr>
    <p:cSldViewPr snapToGrid="0">
      <p:cViewPr varScale="1">
        <p:scale>
          <a:sx n="154" d="100"/>
          <a:sy n="154" d="100"/>
        </p:scale>
        <p:origin x="174" y="390"/>
      </p:cViewPr>
      <p:guideLst/>
    </p:cSldViewPr>
  </p:slideViewPr>
  <p:notesTextViewPr>
    <p:cViewPr>
      <p:scale>
        <a:sx n="1" d="1"/>
        <a:sy n="1" d="1"/>
      </p:scale>
      <p:origin x="0" y="0"/>
    </p:cViewPr>
  </p:notesTextViewPr>
  <p:notesViewPr>
    <p:cSldViewPr snapToGrid="0">
      <p:cViewPr varScale="1">
        <p:scale>
          <a:sx n="125" d="100"/>
          <a:sy n="125" d="100"/>
        </p:scale>
        <p:origin x="4716"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84BD-A9A3-4CBB-88D6-39267B7F5B46}" type="datetimeFigureOut">
              <a:rPr lang="en-BE" smtClean="0"/>
              <a:t>30/05/2025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F9D2B-EF00-4575-9013-113DEEFD58FD}" type="slidenum">
              <a:rPr lang="en-BE" smtClean="0"/>
              <a:t>‹#›</a:t>
            </a:fld>
            <a:endParaRPr lang="en-BE"/>
          </a:p>
        </p:txBody>
      </p:sp>
    </p:spTree>
    <p:extLst>
      <p:ext uri="{BB962C8B-B14F-4D97-AF65-F5344CB8AC3E}">
        <p14:creationId xmlns:p14="http://schemas.microsoft.com/office/powerpoint/2010/main" val="3208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a:t>
            </a:fld>
            <a:endParaRPr lang="en-BE"/>
          </a:p>
        </p:txBody>
      </p:sp>
    </p:spTree>
    <p:extLst>
      <p:ext uri="{BB962C8B-B14F-4D97-AF65-F5344CB8AC3E}">
        <p14:creationId xmlns:p14="http://schemas.microsoft.com/office/powerpoint/2010/main" val="1545144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a:t>
            </a:fld>
            <a:endParaRPr lang="en-BE"/>
          </a:p>
        </p:txBody>
      </p:sp>
    </p:spTree>
    <p:extLst>
      <p:ext uri="{BB962C8B-B14F-4D97-AF65-F5344CB8AC3E}">
        <p14:creationId xmlns:p14="http://schemas.microsoft.com/office/powerpoint/2010/main" val="945676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057275"/>
            <a:ext cx="5486400" cy="3086100"/>
          </a:xfrm>
        </p:spPr>
      </p:sp>
      <p:sp>
        <p:nvSpPr>
          <p:cNvPr id="3" name="Notes Placeholder 2"/>
          <p:cNvSpPr>
            <a:spLocks noGrp="1"/>
          </p:cNvSpPr>
          <p:nvPr>
            <p:ph type="body" idx="1"/>
          </p:nvPr>
        </p:nvSpPr>
        <p:spPr/>
        <p:txBody>
          <a:bodyPr/>
          <a:lstStyle/>
          <a:p>
            <a:r>
              <a:rPr lang="en-US" sz="1200" dirty="0"/>
              <a:t>What is a vertex? How many bytes is a vertex?</a:t>
            </a:r>
          </a:p>
          <a:p>
            <a:r>
              <a:rPr lang="en-US" dirty="0"/>
              <a:t>A vertex is a point in space, that can hold several different attributes, such as a position, normal, color, animation information. They are commonly used to define the corners of a triangle. Because it can have different attributes, it doesn’t have a specific size</a:t>
            </a:r>
          </a:p>
          <a:p>
            <a:endParaRPr lang="en-US" dirty="0"/>
          </a:p>
          <a:p>
            <a:r>
              <a:rPr lang="en-US" dirty="0"/>
              <a:t>What is an index buffer?</a:t>
            </a:r>
          </a:p>
          <a:p>
            <a:r>
              <a:rPr lang="en-US" dirty="0"/>
              <a:t>An index buffer holds indices of vertices in the vertex buffer. Three indices make a triangle. The idea is to use the index buffer to avoid duplicating vertices in the vertex buffer. </a:t>
            </a:r>
          </a:p>
          <a:p>
            <a:endParaRPr lang="en-US" dirty="0"/>
          </a:p>
          <a:p>
            <a:r>
              <a:rPr lang="en-US" dirty="0"/>
              <a:t>What is a normal? How long is it?</a:t>
            </a:r>
          </a:p>
          <a:p>
            <a:r>
              <a:rPr lang="en-US" dirty="0"/>
              <a:t>A normal is a vector of length one, perpendicular to a surface</a:t>
            </a:r>
          </a:p>
          <a:p>
            <a:endParaRPr lang="en-US" dirty="0"/>
          </a:p>
          <a:p>
            <a:r>
              <a:rPr lang="en-US" dirty="0"/>
              <a:t>How do you create a face normal?</a:t>
            </a:r>
            <a:br>
              <a:rPr lang="en-US" dirty="0"/>
            </a:br>
            <a:r>
              <a:rPr lang="en-US" dirty="0"/>
              <a:t>We take the cross product of two of the edges, and normalize the result</a:t>
            </a:r>
          </a:p>
          <a:p>
            <a:endParaRPr lang="en-US" dirty="0"/>
          </a:p>
          <a:p>
            <a:r>
              <a:rPr lang="en-US" dirty="0"/>
              <a:t>How could you create a vertex normal?</a:t>
            </a:r>
            <a:br>
              <a:rPr lang="en-US" dirty="0"/>
            </a:br>
            <a:r>
              <a:rPr lang="en-US" dirty="0"/>
              <a:t>Add all the face </a:t>
            </a:r>
            <a:r>
              <a:rPr lang="en-US" dirty="0" err="1"/>
              <a:t>normal’s</a:t>
            </a:r>
            <a:r>
              <a:rPr lang="en-US" dirty="0"/>
              <a:t> of faces that include the vertex, and normalize the result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a:t>
            </a:fld>
            <a:endParaRPr lang="en-BE"/>
          </a:p>
        </p:txBody>
      </p:sp>
    </p:spTree>
    <p:extLst>
      <p:ext uri="{BB962C8B-B14F-4D97-AF65-F5344CB8AC3E}">
        <p14:creationId xmlns:p14="http://schemas.microsoft.com/office/powerpoint/2010/main" val="783986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a:t>
            </a:fld>
            <a:endParaRPr lang="en-BE"/>
          </a:p>
        </p:txBody>
      </p:sp>
    </p:spTree>
    <p:extLst>
      <p:ext uri="{BB962C8B-B14F-4D97-AF65-F5344CB8AC3E}">
        <p14:creationId xmlns:p14="http://schemas.microsoft.com/office/powerpoint/2010/main" val="471112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a:t>
            </a:fld>
            <a:endParaRPr lang="en-BE"/>
          </a:p>
        </p:txBody>
      </p:sp>
    </p:spTree>
    <p:extLst>
      <p:ext uri="{BB962C8B-B14F-4D97-AF65-F5344CB8AC3E}">
        <p14:creationId xmlns:p14="http://schemas.microsoft.com/office/powerpoint/2010/main" val="156006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a:t>
            </a:fld>
            <a:endParaRPr lang="en-BE"/>
          </a:p>
        </p:txBody>
      </p:sp>
    </p:spTree>
    <p:extLst>
      <p:ext uri="{BB962C8B-B14F-4D97-AF65-F5344CB8AC3E}">
        <p14:creationId xmlns:p14="http://schemas.microsoft.com/office/powerpoint/2010/main" val="879740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graphics pipeline is as important a concept as it’s ill defined.</a:t>
            </a:r>
          </a:p>
          <a:p>
            <a:endParaRPr lang="en-US" dirty="0"/>
          </a:p>
          <a:p>
            <a:r>
              <a:rPr lang="en-US" dirty="0"/>
              <a:t>One graphics pipeline is everything that happens for your application to render visuals</a:t>
            </a:r>
          </a:p>
          <a:p>
            <a:r>
              <a:rPr lang="en-US" dirty="0"/>
              <a:t>Another graphics pipeline is everything in your graphics card how they work together to render images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7</a:t>
            </a:fld>
            <a:endParaRPr lang="en-BE"/>
          </a:p>
        </p:txBody>
      </p:sp>
    </p:spTree>
    <p:extLst>
      <p:ext uri="{BB962C8B-B14F-4D97-AF65-F5344CB8AC3E}">
        <p14:creationId xmlns:p14="http://schemas.microsoft.com/office/powerpoint/2010/main" val="687229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gpu</a:t>
            </a:r>
            <a:r>
              <a:rPr lang="en-US" dirty="0"/>
              <a:t> pipeline takes vertices (which we give to the </a:t>
            </a:r>
            <a:r>
              <a:rPr lang="en-US" dirty="0" err="1"/>
              <a:t>gpu</a:t>
            </a:r>
            <a:r>
              <a:rPr lang="en-US" dirty="0"/>
              <a:t>), and transform them. An important example is that it takes vertices defined in local space or local space, and transforms them into the right position for the camera (camera/view space). Another is animation, which transforms vertices. We also connect the vertices to form triangles, but this is purely a conceptual idea.</a:t>
            </a:r>
          </a:p>
          <a:p>
            <a:r>
              <a:rPr lang="en-US" dirty="0"/>
              <a:t>Next, the rasterizer turns this conceptual triangle into a bunch of pixels (called fragments).</a:t>
            </a:r>
          </a:p>
          <a:p>
            <a:r>
              <a:rPr lang="en-US" dirty="0"/>
              <a:t>These fragments are “colored”. This is usually implemented as calculating the light hitting this particular fragment, and shading it accordingly.</a:t>
            </a:r>
          </a:p>
          <a:p>
            <a:endParaRPr lang="en-US" dirty="0"/>
          </a:p>
          <a:p>
            <a:r>
              <a:rPr lang="en-US" dirty="0"/>
              <a:t>Above is the diagram of GPU’s up until about 2005. These GPU’s were </a:t>
            </a:r>
            <a:r>
              <a:rPr lang="en-US" b="1" dirty="0"/>
              <a:t>configurable. </a:t>
            </a:r>
            <a:r>
              <a:rPr lang="en-US" dirty="0"/>
              <a:t>That means we can’t write programs for them, but we can set some settings. An example would be if the object should be drawn with transparency or not.</a:t>
            </a:r>
            <a:endParaRPr lang="en-US" b="1" dirty="0"/>
          </a:p>
        </p:txBody>
      </p:sp>
      <p:sp>
        <p:nvSpPr>
          <p:cNvPr id="4" name="Slide Number Placeholder 3"/>
          <p:cNvSpPr>
            <a:spLocks noGrp="1"/>
          </p:cNvSpPr>
          <p:nvPr>
            <p:ph type="sldNum" sz="quarter" idx="5"/>
          </p:nvPr>
        </p:nvSpPr>
        <p:spPr/>
        <p:txBody>
          <a:bodyPr/>
          <a:lstStyle/>
          <a:p>
            <a:fld id="{947F9D2B-EF00-4575-9013-113DEEFD58FD}" type="slidenum">
              <a:rPr lang="en-BE" smtClean="0"/>
              <a:t>8</a:t>
            </a:fld>
            <a:endParaRPr lang="en-BE"/>
          </a:p>
        </p:txBody>
      </p:sp>
    </p:spTree>
    <p:extLst>
      <p:ext uri="{BB962C8B-B14F-4D97-AF65-F5344CB8AC3E}">
        <p14:creationId xmlns:p14="http://schemas.microsoft.com/office/powerpoint/2010/main" val="288209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2005, GPU’s started becoming </a:t>
            </a:r>
            <a:r>
              <a:rPr lang="en-US" b="1" dirty="0"/>
              <a:t>programmable</a:t>
            </a:r>
            <a:r>
              <a:rPr lang="en-US" dirty="0"/>
              <a:t>. The vertex transformations stage, and the fragment  / pixel processing stage could now run arbitrary programs written by developers. This allowed a lot of algorithms that were impossible to configure, such as cartoon-like shading.</a:t>
            </a:r>
          </a:p>
          <a:p>
            <a:endParaRPr lang="en-US" dirty="0"/>
          </a:p>
          <a:p>
            <a:r>
              <a:rPr lang="en-US" dirty="0"/>
              <a:t>The rasterizer remain configurable, as before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9</a:t>
            </a:fld>
            <a:endParaRPr lang="en-BE"/>
          </a:p>
        </p:txBody>
      </p:sp>
    </p:spTree>
    <p:extLst>
      <p:ext uri="{BB962C8B-B14F-4D97-AF65-F5344CB8AC3E}">
        <p14:creationId xmlns:p14="http://schemas.microsoft.com/office/powerpoint/2010/main" val="2813686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programmability would allow people to realize the GPU could be used to for non-graphical tasks. An early example would be stock option price prediction. The big modern example is, of course, machine learning, which would be prohibit expensive on CPU’s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10</a:t>
            </a:fld>
            <a:endParaRPr lang="en-BE"/>
          </a:p>
        </p:txBody>
      </p:sp>
    </p:spTree>
    <p:extLst>
      <p:ext uri="{BB962C8B-B14F-4D97-AF65-F5344CB8AC3E}">
        <p14:creationId xmlns:p14="http://schemas.microsoft.com/office/powerpoint/2010/main" val="810092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11</a:t>
            </a:fld>
            <a:endParaRPr lang="en-BE"/>
          </a:p>
        </p:txBody>
      </p:sp>
    </p:spTree>
    <p:extLst>
      <p:ext uri="{BB962C8B-B14F-4D97-AF65-F5344CB8AC3E}">
        <p14:creationId xmlns:p14="http://schemas.microsoft.com/office/powerpoint/2010/main" val="45549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12</a:t>
            </a:fld>
            <a:endParaRPr lang="en-BE"/>
          </a:p>
        </p:txBody>
      </p:sp>
    </p:spTree>
    <p:extLst>
      <p:ext uri="{BB962C8B-B14F-4D97-AF65-F5344CB8AC3E}">
        <p14:creationId xmlns:p14="http://schemas.microsoft.com/office/powerpoint/2010/main" val="1760591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“normal render”, this is just a mesh rendered with a shader that we’re going to modify in the next slide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13</a:t>
            </a:fld>
            <a:endParaRPr lang="en-BE"/>
          </a:p>
        </p:txBody>
      </p:sp>
    </p:spTree>
    <p:extLst>
      <p:ext uri="{BB962C8B-B14F-4D97-AF65-F5344CB8AC3E}">
        <p14:creationId xmlns:p14="http://schemas.microsoft.com/office/powerpoint/2010/main" val="2215602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shader has two methods:</a:t>
            </a:r>
          </a:p>
          <a:p>
            <a:endParaRPr lang="en-US" dirty="0"/>
          </a:p>
          <a:p>
            <a:r>
              <a:rPr lang="en-US" dirty="0"/>
              <a:t>surf, which implements the pixel shader</a:t>
            </a:r>
          </a:p>
          <a:p>
            <a:endParaRPr lang="en-US" dirty="0"/>
          </a:p>
          <a:p>
            <a:r>
              <a:rPr lang="en-US" dirty="0"/>
              <a:t>Vert, which implements the vertex shader, which “blows up” the model by moving the vertices along the normal. This has the effect of moving the vertices away from the original position (skin surfaces), making the model look “blown up”</a:t>
            </a:r>
          </a:p>
        </p:txBody>
      </p:sp>
      <p:sp>
        <p:nvSpPr>
          <p:cNvPr id="4" name="Slide Number Placeholder 3"/>
          <p:cNvSpPr>
            <a:spLocks noGrp="1"/>
          </p:cNvSpPr>
          <p:nvPr>
            <p:ph type="sldNum" sz="quarter" idx="5"/>
          </p:nvPr>
        </p:nvSpPr>
        <p:spPr/>
        <p:txBody>
          <a:bodyPr/>
          <a:lstStyle/>
          <a:p>
            <a:fld id="{947F9D2B-EF00-4575-9013-113DEEFD58FD}" type="slidenum">
              <a:rPr lang="en-BE" smtClean="0"/>
              <a:t>14</a:t>
            </a:fld>
            <a:endParaRPr lang="en-BE"/>
          </a:p>
        </p:txBody>
      </p:sp>
    </p:spTree>
    <p:extLst>
      <p:ext uri="{BB962C8B-B14F-4D97-AF65-F5344CB8AC3E}">
        <p14:creationId xmlns:p14="http://schemas.microsoft.com/office/powerpoint/2010/main" val="2702478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15</a:t>
            </a:fld>
            <a:endParaRPr lang="en-BE"/>
          </a:p>
        </p:txBody>
      </p:sp>
    </p:spTree>
    <p:extLst>
      <p:ext uri="{BB962C8B-B14F-4D97-AF65-F5344CB8AC3E}">
        <p14:creationId xmlns:p14="http://schemas.microsoft.com/office/powerpoint/2010/main" val="2163234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16</a:t>
            </a:fld>
            <a:endParaRPr lang="en-BE"/>
          </a:p>
        </p:txBody>
      </p:sp>
    </p:spTree>
    <p:extLst>
      <p:ext uri="{BB962C8B-B14F-4D97-AF65-F5344CB8AC3E}">
        <p14:creationId xmlns:p14="http://schemas.microsoft.com/office/powerpoint/2010/main" val="19081821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17</a:t>
            </a:fld>
            <a:endParaRPr lang="en-BE"/>
          </a:p>
        </p:txBody>
      </p:sp>
    </p:spTree>
    <p:extLst>
      <p:ext uri="{BB962C8B-B14F-4D97-AF65-F5344CB8AC3E}">
        <p14:creationId xmlns:p14="http://schemas.microsoft.com/office/powerpoint/2010/main" val="1386236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18</a:t>
            </a:fld>
            <a:endParaRPr lang="en-BE"/>
          </a:p>
        </p:txBody>
      </p:sp>
    </p:spTree>
    <p:extLst>
      <p:ext uri="{BB962C8B-B14F-4D97-AF65-F5344CB8AC3E}">
        <p14:creationId xmlns:p14="http://schemas.microsoft.com/office/powerpoint/2010/main" val="2664375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19</a:t>
            </a:fld>
            <a:endParaRPr lang="en-BE"/>
          </a:p>
        </p:txBody>
      </p:sp>
    </p:spTree>
    <p:extLst>
      <p:ext uri="{BB962C8B-B14F-4D97-AF65-F5344CB8AC3E}">
        <p14:creationId xmlns:p14="http://schemas.microsoft.com/office/powerpoint/2010/main" val="3566556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20</a:t>
            </a:fld>
            <a:endParaRPr lang="en-BE"/>
          </a:p>
        </p:txBody>
      </p:sp>
    </p:spTree>
    <p:extLst>
      <p:ext uri="{BB962C8B-B14F-4D97-AF65-F5344CB8AC3E}">
        <p14:creationId xmlns:p14="http://schemas.microsoft.com/office/powerpoint/2010/main" val="400944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21</a:t>
            </a:fld>
            <a:endParaRPr lang="en-BE"/>
          </a:p>
        </p:txBody>
      </p:sp>
    </p:spTree>
    <p:extLst>
      <p:ext uri="{BB962C8B-B14F-4D97-AF65-F5344CB8AC3E}">
        <p14:creationId xmlns:p14="http://schemas.microsoft.com/office/powerpoint/2010/main" val="44615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worry to much about the fragment shader outputs, we’ll see how it’s used in the more complicated way when we see deferred rendering. For now, it suffices to think of it as output a color to the screen.</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22</a:t>
            </a:fld>
            <a:endParaRPr lang="en-BE"/>
          </a:p>
        </p:txBody>
      </p:sp>
    </p:spTree>
    <p:extLst>
      <p:ext uri="{BB962C8B-B14F-4D97-AF65-F5344CB8AC3E}">
        <p14:creationId xmlns:p14="http://schemas.microsoft.com/office/powerpoint/2010/main" val="992978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see a later class for full notes, I left this here </a:t>
            </a:r>
            <a:r>
              <a:rPr lang="en-US"/>
              <a:t>for completion</a:t>
            </a:r>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23</a:t>
            </a:fld>
            <a:endParaRPr lang="en-BE"/>
          </a:p>
        </p:txBody>
      </p:sp>
    </p:spTree>
    <p:extLst>
      <p:ext uri="{BB962C8B-B14F-4D97-AF65-F5344CB8AC3E}">
        <p14:creationId xmlns:p14="http://schemas.microsoft.com/office/powerpoint/2010/main" val="26092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24</a:t>
            </a:fld>
            <a:endParaRPr lang="en-BE"/>
          </a:p>
        </p:txBody>
      </p:sp>
    </p:spTree>
    <p:extLst>
      <p:ext uri="{BB962C8B-B14F-4D97-AF65-F5344CB8AC3E}">
        <p14:creationId xmlns:p14="http://schemas.microsoft.com/office/powerpoint/2010/main" val="2549895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25</a:t>
            </a:fld>
            <a:endParaRPr lang="en-BE"/>
          </a:p>
        </p:txBody>
      </p:sp>
    </p:spTree>
    <p:extLst>
      <p:ext uri="{BB962C8B-B14F-4D97-AF65-F5344CB8AC3E}">
        <p14:creationId xmlns:p14="http://schemas.microsoft.com/office/powerpoint/2010/main" val="3160834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26</a:t>
            </a:fld>
            <a:endParaRPr lang="en-BE"/>
          </a:p>
        </p:txBody>
      </p:sp>
    </p:spTree>
    <p:extLst>
      <p:ext uri="{BB962C8B-B14F-4D97-AF65-F5344CB8AC3E}">
        <p14:creationId xmlns:p14="http://schemas.microsoft.com/office/powerpoint/2010/main" val="11391988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27</a:t>
            </a:fld>
            <a:endParaRPr lang="en-BE"/>
          </a:p>
        </p:txBody>
      </p:sp>
    </p:spTree>
    <p:extLst>
      <p:ext uri="{BB962C8B-B14F-4D97-AF65-F5344CB8AC3E}">
        <p14:creationId xmlns:p14="http://schemas.microsoft.com/office/powerpoint/2010/main" val="946720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28</a:t>
            </a:fld>
            <a:endParaRPr lang="en-BE"/>
          </a:p>
        </p:txBody>
      </p:sp>
    </p:spTree>
    <p:extLst>
      <p:ext uri="{BB962C8B-B14F-4D97-AF65-F5344CB8AC3E}">
        <p14:creationId xmlns:p14="http://schemas.microsoft.com/office/powerpoint/2010/main" val="4194665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29</a:t>
            </a:fld>
            <a:endParaRPr lang="en-BE"/>
          </a:p>
        </p:txBody>
      </p:sp>
    </p:spTree>
    <p:extLst>
      <p:ext uri="{BB962C8B-B14F-4D97-AF65-F5344CB8AC3E}">
        <p14:creationId xmlns:p14="http://schemas.microsoft.com/office/powerpoint/2010/main" val="123175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30</a:t>
            </a:fld>
            <a:endParaRPr lang="en-BE"/>
          </a:p>
        </p:txBody>
      </p:sp>
    </p:spTree>
    <p:extLst>
      <p:ext uri="{BB962C8B-B14F-4D97-AF65-F5344CB8AC3E}">
        <p14:creationId xmlns:p14="http://schemas.microsoft.com/office/powerpoint/2010/main" val="25424927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31</a:t>
            </a:fld>
            <a:endParaRPr lang="en-BE"/>
          </a:p>
        </p:txBody>
      </p:sp>
    </p:spTree>
    <p:extLst>
      <p:ext uri="{BB962C8B-B14F-4D97-AF65-F5344CB8AC3E}">
        <p14:creationId xmlns:p14="http://schemas.microsoft.com/office/powerpoint/2010/main" val="2071557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32</a:t>
            </a:fld>
            <a:endParaRPr lang="en-BE"/>
          </a:p>
        </p:txBody>
      </p:sp>
    </p:spTree>
    <p:extLst>
      <p:ext uri="{BB962C8B-B14F-4D97-AF65-F5344CB8AC3E}">
        <p14:creationId xmlns:p14="http://schemas.microsoft.com/office/powerpoint/2010/main" val="2827326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33</a:t>
            </a:fld>
            <a:endParaRPr lang="en-BE"/>
          </a:p>
        </p:txBody>
      </p:sp>
    </p:spTree>
    <p:extLst>
      <p:ext uri="{BB962C8B-B14F-4D97-AF65-F5344CB8AC3E}">
        <p14:creationId xmlns:p14="http://schemas.microsoft.com/office/powerpoint/2010/main" val="3443062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34</a:t>
            </a:fld>
            <a:endParaRPr lang="en-BE"/>
          </a:p>
        </p:txBody>
      </p:sp>
    </p:spTree>
    <p:extLst>
      <p:ext uri="{BB962C8B-B14F-4D97-AF65-F5344CB8AC3E}">
        <p14:creationId xmlns:p14="http://schemas.microsoft.com/office/powerpoint/2010/main" val="25069329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35</a:t>
            </a:fld>
            <a:endParaRPr lang="en-BE"/>
          </a:p>
        </p:txBody>
      </p:sp>
    </p:spTree>
    <p:extLst>
      <p:ext uri="{BB962C8B-B14F-4D97-AF65-F5344CB8AC3E}">
        <p14:creationId xmlns:p14="http://schemas.microsoft.com/office/powerpoint/2010/main" val="26018635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36</a:t>
            </a:fld>
            <a:endParaRPr lang="en-BE"/>
          </a:p>
        </p:txBody>
      </p:sp>
    </p:spTree>
    <p:extLst>
      <p:ext uri="{BB962C8B-B14F-4D97-AF65-F5344CB8AC3E}">
        <p14:creationId xmlns:p14="http://schemas.microsoft.com/office/powerpoint/2010/main" val="32500571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37</a:t>
            </a:fld>
            <a:endParaRPr lang="en-BE"/>
          </a:p>
        </p:txBody>
      </p:sp>
    </p:spTree>
    <p:extLst>
      <p:ext uri="{BB962C8B-B14F-4D97-AF65-F5344CB8AC3E}">
        <p14:creationId xmlns:p14="http://schemas.microsoft.com/office/powerpoint/2010/main" val="8950586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38</a:t>
            </a:fld>
            <a:endParaRPr lang="en-BE"/>
          </a:p>
        </p:txBody>
      </p:sp>
    </p:spTree>
    <p:extLst>
      <p:ext uri="{BB962C8B-B14F-4D97-AF65-F5344CB8AC3E}">
        <p14:creationId xmlns:p14="http://schemas.microsoft.com/office/powerpoint/2010/main" val="21025490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39</a:t>
            </a:fld>
            <a:endParaRPr lang="en-BE"/>
          </a:p>
        </p:txBody>
      </p:sp>
    </p:spTree>
    <p:extLst>
      <p:ext uri="{BB962C8B-B14F-4D97-AF65-F5344CB8AC3E}">
        <p14:creationId xmlns:p14="http://schemas.microsoft.com/office/powerpoint/2010/main" val="1821246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40</a:t>
            </a:fld>
            <a:endParaRPr lang="en-BE"/>
          </a:p>
        </p:txBody>
      </p:sp>
    </p:spTree>
    <p:extLst>
      <p:ext uri="{BB962C8B-B14F-4D97-AF65-F5344CB8AC3E}">
        <p14:creationId xmlns:p14="http://schemas.microsoft.com/office/powerpoint/2010/main" val="2459663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41</a:t>
            </a:fld>
            <a:endParaRPr lang="en-BE"/>
          </a:p>
        </p:txBody>
      </p:sp>
    </p:spTree>
    <p:extLst>
      <p:ext uri="{BB962C8B-B14F-4D97-AF65-F5344CB8AC3E}">
        <p14:creationId xmlns:p14="http://schemas.microsoft.com/office/powerpoint/2010/main" val="16170579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42</a:t>
            </a:fld>
            <a:endParaRPr lang="en-BE"/>
          </a:p>
        </p:txBody>
      </p:sp>
    </p:spTree>
    <p:extLst>
      <p:ext uri="{BB962C8B-B14F-4D97-AF65-F5344CB8AC3E}">
        <p14:creationId xmlns:p14="http://schemas.microsoft.com/office/powerpoint/2010/main" val="10121267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43</a:t>
            </a:fld>
            <a:endParaRPr lang="en-BE"/>
          </a:p>
        </p:txBody>
      </p:sp>
    </p:spTree>
    <p:extLst>
      <p:ext uri="{BB962C8B-B14F-4D97-AF65-F5344CB8AC3E}">
        <p14:creationId xmlns:p14="http://schemas.microsoft.com/office/powerpoint/2010/main" val="17727838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1A99A4F-35CE-47F0-8C3E-203AE0949DA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8666640" y="203420"/>
            <a:ext cx="3297850" cy="1261472"/>
          </a:xfrm>
          <a:prstGeom prst="rect">
            <a:avLst/>
          </a:prstGeom>
          <a:noFill/>
          <a:extLst>
            <a:ext uri="{909E8E84-426E-40DD-AFC4-6F175D3DCCD1}">
              <a14:hiddenFill xmlns:a14="http://schemas.microsoft.com/office/drawing/2010/main">
                <a:solidFill>
                  <a:srgbClr val="FFFFFF"/>
                </a:solidFill>
              </a14:hiddenFill>
            </a:ext>
          </a:extLst>
        </p:spPr>
      </p:pic>
      <p:sp>
        <p:nvSpPr>
          <p:cNvPr id="26" name="Ondertitel 2">
            <a:extLst>
              <a:ext uri="{FF2B5EF4-FFF2-40B4-BE49-F238E27FC236}">
                <a16:creationId xmlns:a16="http://schemas.microsoft.com/office/drawing/2014/main" id="{7A68A714-4E45-4A04-B828-B282FA62E7BB}"/>
              </a:ext>
            </a:extLst>
          </p:cNvPr>
          <p:cNvSpPr txBox="1">
            <a:spLocks/>
          </p:cNvSpPr>
          <p:nvPr/>
        </p:nvSpPr>
        <p:spPr>
          <a:xfrm>
            <a:off x="1450282" y="5343926"/>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28" name="Ondertitel 2">
            <a:extLst>
              <a:ext uri="{FF2B5EF4-FFF2-40B4-BE49-F238E27FC236}">
                <a16:creationId xmlns:a16="http://schemas.microsoft.com/office/drawing/2014/main" id="{8A446F7F-F106-4612-85BC-FC020C0B34DC}"/>
              </a:ext>
            </a:extLst>
          </p:cNvPr>
          <p:cNvSpPr txBox="1">
            <a:spLocks/>
          </p:cNvSpPr>
          <p:nvPr/>
        </p:nvSpPr>
        <p:spPr>
          <a:xfrm>
            <a:off x="1450282" y="5898693"/>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36" name="Ondertitel 2">
            <a:extLst>
              <a:ext uri="{FF2B5EF4-FFF2-40B4-BE49-F238E27FC236}">
                <a16:creationId xmlns:a16="http://schemas.microsoft.com/office/drawing/2014/main" id="{DB1150AE-9B1F-43AF-B4A6-C1581C0B3127}"/>
              </a:ext>
            </a:extLst>
          </p:cNvPr>
          <p:cNvSpPr txBox="1">
            <a:spLocks/>
          </p:cNvSpPr>
          <p:nvPr/>
        </p:nvSpPr>
        <p:spPr>
          <a:xfrm>
            <a:off x="1" y="462498"/>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nl-NL" sz="1200" dirty="0"/>
              <a:t>Toegepaste Informatica</a:t>
            </a:r>
          </a:p>
        </p:txBody>
      </p:sp>
      <p:sp>
        <p:nvSpPr>
          <p:cNvPr id="38" name="Minteken 37">
            <a:extLst>
              <a:ext uri="{FF2B5EF4-FFF2-40B4-BE49-F238E27FC236}">
                <a16:creationId xmlns:a16="http://schemas.microsoft.com/office/drawing/2014/main" id="{FFEC5E01-43EA-497E-BCC0-939DBCAFA0AC}"/>
              </a:ext>
            </a:extLst>
          </p:cNvPr>
          <p:cNvSpPr/>
          <p:nvPr/>
        </p:nvSpPr>
        <p:spPr>
          <a:xfrm rot="5400000">
            <a:off x="-183168" y="5307680"/>
            <a:ext cx="2851263"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1" name="Ondertitel 2">
            <a:extLst>
              <a:ext uri="{FF2B5EF4-FFF2-40B4-BE49-F238E27FC236}">
                <a16:creationId xmlns:a16="http://schemas.microsoft.com/office/drawing/2014/main" id="{DCD259FC-79B5-41AB-BBC2-4D07C62B0949}"/>
              </a:ext>
            </a:extLst>
          </p:cNvPr>
          <p:cNvSpPr txBox="1">
            <a:spLocks/>
          </p:cNvSpPr>
          <p:nvPr/>
        </p:nvSpPr>
        <p:spPr>
          <a:xfrm>
            <a:off x="-31204" y="1442735"/>
            <a:ext cx="1481486"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endParaRPr>
          </a:p>
        </p:txBody>
      </p:sp>
      <p:sp>
        <p:nvSpPr>
          <p:cNvPr id="42" name="Minteken 41">
            <a:extLst>
              <a:ext uri="{FF2B5EF4-FFF2-40B4-BE49-F238E27FC236}">
                <a16:creationId xmlns:a16="http://schemas.microsoft.com/office/drawing/2014/main" id="{FB0D61FF-F819-41D6-9F0E-2A87A96AF34A}"/>
              </a:ext>
            </a:extLst>
          </p:cNvPr>
          <p:cNvSpPr/>
          <p:nvPr/>
        </p:nvSpPr>
        <p:spPr>
          <a:xfrm>
            <a:off x="-353435" y="166756"/>
            <a:ext cx="2776160"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3" name="Minteken 42">
            <a:extLst>
              <a:ext uri="{FF2B5EF4-FFF2-40B4-BE49-F238E27FC236}">
                <a16:creationId xmlns:a16="http://schemas.microsoft.com/office/drawing/2014/main" id="{1A9D60B7-98CA-44B4-A342-238265272E5D}"/>
              </a:ext>
            </a:extLst>
          </p:cNvPr>
          <p:cNvSpPr/>
          <p:nvPr/>
        </p:nvSpPr>
        <p:spPr>
          <a:xfrm>
            <a:off x="-221962" y="626338"/>
            <a:ext cx="1762587"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4" name="Minteken 43">
            <a:extLst>
              <a:ext uri="{FF2B5EF4-FFF2-40B4-BE49-F238E27FC236}">
                <a16:creationId xmlns:a16="http://schemas.microsoft.com/office/drawing/2014/main" id="{2AD40B60-09F3-42CA-BFC7-F232D5069233}"/>
              </a:ext>
            </a:extLst>
          </p:cNvPr>
          <p:cNvSpPr/>
          <p:nvPr/>
        </p:nvSpPr>
        <p:spPr>
          <a:xfrm>
            <a:off x="-155460" y="1111987"/>
            <a:ext cx="1256606"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14" name="Ondertitel 2">
            <a:extLst>
              <a:ext uri="{FF2B5EF4-FFF2-40B4-BE49-F238E27FC236}">
                <a16:creationId xmlns:a16="http://schemas.microsoft.com/office/drawing/2014/main" id="{DA9D40DB-B7E8-4A33-B5FB-9DD5105C49A1}"/>
              </a:ext>
            </a:extLst>
          </p:cNvPr>
          <p:cNvSpPr txBox="1">
            <a:spLocks/>
          </p:cNvSpPr>
          <p:nvPr/>
        </p:nvSpPr>
        <p:spPr>
          <a:xfrm>
            <a:off x="-31204" y="957086"/>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dirty="0"/>
          </a:p>
        </p:txBody>
      </p:sp>
      <p:sp>
        <p:nvSpPr>
          <p:cNvPr id="12" name="Tijdelijke aanduiding voor tekst 11">
            <a:extLst>
              <a:ext uri="{FF2B5EF4-FFF2-40B4-BE49-F238E27FC236}">
                <a16:creationId xmlns:a16="http://schemas.microsoft.com/office/drawing/2014/main" id="{684198A2-C59F-4C38-9F72-765E48FA8235}"/>
              </a:ext>
            </a:extLst>
          </p:cNvPr>
          <p:cNvSpPr>
            <a:spLocks noGrp="1"/>
          </p:cNvSpPr>
          <p:nvPr>
            <p:ph type="body" sz="quarter" idx="10" hasCustomPrompt="1"/>
          </p:nvPr>
        </p:nvSpPr>
        <p:spPr>
          <a:xfrm>
            <a:off x="1495855" y="4825632"/>
            <a:ext cx="1853739"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3D Graphics</a:t>
            </a:r>
          </a:p>
        </p:txBody>
      </p:sp>
      <p:sp>
        <p:nvSpPr>
          <p:cNvPr id="29" name="Tijdelijke aanduiding voor tekst 11">
            <a:extLst>
              <a:ext uri="{FF2B5EF4-FFF2-40B4-BE49-F238E27FC236}">
                <a16:creationId xmlns:a16="http://schemas.microsoft.com/office/drawing/2014/main" id="{9B9004F5-4339-48FE-B04B-599527A63599}"/>
              </a:ext>
            </a:extLst>
          </p:cNvPr>
          <p:cNvSpPr>
            <a:spLocks noGrp="1"/>
          </p:cNvSpPr>
          <p:nvPr>
            <p:ph type="body" sz="quarter" idx="11" hasCustomPrompt="1"/>
          </p:nvPr>
        </p:nvSpPr>
        <p:spPr>
          <a:xfrm>
            <a:off x="1495855" y="5411372"/>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Week 1a</a:t>
            </a:r>
          </a:p>
        </p:txBody>
      </p:sp>
      <p:sp>
        <p:nvSpPr>
          <p:cNvPr id="30" name="Tijdelijke aanduiding voor tekst 11">
            <a:extLst>
              <a:ext uri="{FF2B5EF4-FFF2-40B4-BE49-F238E27FC236}">
                <a16:creationId xmlns:a16="http://schemas.microsoft.com/office/drawing/2014/main" id="{73EE6705-1665-43A1-AB37-E50C48AA3F86}"/>
              </a:ext>
            </a:extLst>
          </p:cNvPr>
          <p:cNvSpPr>
            <a:spLocks noGrp="1"/>
          </p:cNvSpPr>
          <p:nvPr>
            <p:ph type="body" sz="quarter" idx="12" hasCustomPrompt="1"/>
          </p:nvPr>
        </p:nvSpPr>
        <p:spPr>
          <a:xfrm>
            <a:off x="1495855" y="5993878"/>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Daan Nijs</a:t>
            </a:r>
          </a:p>
        </p:txBody>
      </p:sp>
      <p:sp>
        <p:nvSpPr>
          <p:cNvPr id="17" name="Tijdelijke aanduiding voor tekst 16">
            <a:extLst>
              <a:ext uri="{FF2B5EF4-FFF2-40B4-BE49-F238E27FC236}">
                <a16:creationId xmlns:a16="http://schemas.microsoft.com/office/drawing/2014/main" id="{B2803BC5-4FBF-4FFC-8CD7-56A7494327D9}"/>
              </a:ext>
            </a:extLst>
          </p:cNvPr>
          <p:cNvSpPr>
            <a:spLocks noGrp="1"/>
          </p:cNvSpPr>
          <p:nvPr>
            <p:ph type="body" sz="quarter" idx="13" hasCustomPrompt="1"/>
          </p:nvPr>
        </p:nvSpPr>
        <p:spPr>
          <a:xfrm>
            <a:off x="12937" y="923475"/>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pPr lvl="0"/>
            <a:r>
              <a:rPr lang="nl-NL" dirty="0"/>
              <a:t>DE</a:t>
            </a:r>
            <a:endParaRPr lang="nl-BE" dirty="0"/>
          </a:p>
        </p:txBody>
      </p:sp>
      <p:sp>
        <p:nvSpPr>
          <p:cNvPr id="32" name="Tijdelijke aanduiding voor tekst 16">
            <a:extLst>
              <a:ext uri="{FF2B5EF4-FFF2-40B4-BE49-F238E27FC236}">
                <a16:creationId xmlns:a16="http://schemas.microsoft.com/office/drawing/2014/main" id="{2F60E031-BF26-44A1-A0B6-D48454BFD945}"/>
              </a:ext>
            </a:extLst>
          </p:cNvPr>
          <p:cNvSpPr>
            <a:spLocks noGrp="1"/>
          </p:cNvSpPr>
          <p:nvPr>
            <p:ph type="body" sz="quarter" idx="14" hasCustomPrompt="1"/>
          </p:nvPr>
        </p:nvSpPr>
        <p:spPr>
          <a:xfrm>
            <a:off x="12936" y="1429630"/>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rPr>
              <a:t>2023</a:t>
            </a:r>
          </a:p>
        </p:txBody>
      </p:sp>
      <p:pic>
        <p:nvPicPr>
          <p:cNvPr id="3" name="Picture 2" descr="A room with a white cube and red and green walls&#10;&#10;Description automatically generated">
            <a:extLst>
              <a:ext uri="{FF2B5EF4-FFF2-40B4-BE49-F238E27FC236}">
                <a16:creationId xmlns:a16="http://schemas.microsoft.com/office/drawing/2014/main" id="{52382748-B3A1-4041-F0B7-3FD688D997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97310" y="1463310"/>
            <a:ext cx="5394690" cy="5394690"/>
          </a:xfrm>
          <a:prstGeom prst="rect">
            <a:avLst/>
          </a:prstGeom>
        </p:spPr>
      </p:pic>
    </p:spTree>
    <p:extLst>
      <p:ext uri="{BB962C8B-B14F-4D97-AF65-F5344CB8AC3E}">
        <p14:creationId xmlns:p14="http://schemas.microsoft.com/office/powerpoint/2010/main" val="384022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641C2-BF9B-4FDD-914E-B64C21E0036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10DFE554-7232-4244-8A56-332314AEEEC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DEC717CF-2817-47D4-8B6A-AC3FF5712DF8}"/>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BE2D9812-56C8-4D19-8865-A6D4C4A6D336}"/>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04279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F78E84-41E7-4C0B-9876-95A81A828B2F}"/>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BADAD563-D612-4769-9B0D-FF5F1C302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22BECD8B-CD05-4F1D-A5CC-3FEA703FE79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562C523-B3D7-4EB4-A7D6-382F9B9CC4AA}"/>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389EF5C4-6487-432E-AB47-26229FE019EF}"/>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805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0F1C78-2104-4398-AD52-6781C48DD4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2E324310-16AB-4268-B0C6-CF8B77613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60CD69EF-E63A-4D9C-8EFE-E80749E03A3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1547F23-F0D7-4208-A013-9AE0FF2EADD9}"/>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94AE972C-86E8-4E5F-8E59-2FB14076CEF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6263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DCFF4-3B50-4930-AEAE-782904E7527C}"/>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19E7AE46-BCF9-47C8-9BCC-B7B1F520A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inhoud 3">
            <a:extLst>
              <a:ext uri="{FF2B5EF4-FFF2-40B4-BE49-F238E27FC236}">
                <a16:creationId xmlns:a16="http://schemas.microsoft.com/office/drawing/2014/main" id="{B6C2F997-1F41-4A6F-9193-4DE7735AC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datum 4">
            <a:extLst>
              <a:ext uri="{FF2B5EF4-FFF2-40B4-BE49-F238E27FC236}">
                <a16:creationId xmlns:a16="http://schemas.microsoft.com/office/drawing/2014/main" id="{3B370E2F-2B3F-41AC-9A34-276EA7450FA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CD63B9D7-3594-4F78-B540-B15463859D8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079CDB93-518D-4FDA-849A-10DC0942DF1D}"/>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4408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94D81-B112-42DA-9826-23E1C6113B4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5B25F2C9-29C7-4222-81BA-825176D7A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ijdelijke aanduiding voor inhoud 3">
            <a:extLst>
              <a:ext uri="{FF2B5EF4-FFF2-40B4-BE49-F238E27FC236}">
                <a16:creationId xmlns:a16="http://schemas.microsoft.com/office/drawing/2014/main" id="{07496213-5C84-46EC-B711-CDF9FF6B6B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tekst 4">
            <a:extLst>
              <a:ext uri="{FF2B5EF4-FFF2-40B4-BE49-F238E27FC236}">
                <a16:creationId xmlns:a16="http://schemas.microsoft.com/office/drawing/2014/main" id="{90DE4F81-0BA7-4244-BB5B-492AB97EF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E79B47A1-EE33-4FAB-B7C3-E0E137931E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Tijdelijke aanduiding voor datum 6">
            <a:extLst>
              <a:ext uri="{FF2B5EF4-FFF2-40B4-BE49-F238E27FC236}">
                <a16:creationId xmlns:a16="http://schemas.microsoft.com/office/drawing/2014/main" id="{34D9D81A-0C3E-473B-ACBE-F498DB484952}"/>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8" name="Tijdelijke aanduiding voor voettekst 7">
            <a:extLst>
              <a:ext uri="{FF2B5EF4-FFF2-40B4-BE49-F238E27FC236}">
                <a16:creationId xmlns:a16="http://schemas.microsoft.com/office/drawing/2014/main" id="{58E84A63-52E6-431C-9002-3F2381DF1841}"/>
              </a:ext>
            </a:extLst>
          </p:cNvPr>
          <p:cNvSpPr>
            <a:spLocks noGrp="1"/>
          </p:cNvSpPr>
          <p:nvPr>
            <p:ph type="ftr" sz="quarter" idx="11"/>
          </p:nvPr>
        </p:nvSpPr>
        <p:spPr/>
        <p:txBody>
          <a:bodyPr/>
          <a:lstStyle/>
          <a:p>
            <a:endParaRPr lang="en-BE"/>
          </a:p>
        </p:txBody>
      </p:sp>
      <p:sp>
        <p:nvSpPr>
          <p:cNvPr id="9" name="Tijdelijke aanduiding voor dianummer 8">
            <a:extLst>
              <a:ext uri="{FF2B5EF4-FFF2-40B4-BE49-F238E27FC236}">
                <a16:creationId xmlns:a16="http://schemas.microsoft.com/office/drawing/2014/main" id="{D27C1939-B8AA-4E0F-96C6-B7E933D9F811}"/>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0084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ECCACC-50FC-4D5D-B072-A22D8C73E6F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B6B9E831-EE77-4B49-A32D-C50EA5628310}"/>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A471B315-B360-4DC4-BA25-C0DA3FE06DF9}"/>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586BE35D-89CF-4C78-936F-3A422D2BC19C}"/>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54793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2371665-6504-46CE-8623-7D4BFBF0630A}"/>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3" name="Tijdelijke aanduiding voor voettekst 2">
            <a:extLst>
              <a:ext uri="{FF2B5EF4-FFF2-40B4-BE49-F238E27FC236}">
                <a16:creationId xmlns:a16="http://schemas.microsoft.com/office/drawing/2014/main" id="{784B7614-A5E9-4A26-93ED-1BD778884699}"/>
              </a:ext>
            </a:extLst>
          </p:cNvPr>
          <p:cNvSpPr>
            <a:spLocks noGrp="1"/>
          </p:cNvSpPr>
          <p:nvPr>
            <p:ph type="ftr" sz="quarter" idx="11"/>
          </p:nvPr>
        </p:nvSpPr>
        <p:spPr/>
        <p:txBody>
          <a:bodyPr/>
          <a:lstStyle/>
          <a:p>
            <a:endParaRPr lang="en-BE"/>
          </a:p>
        </p:txBody>
      </p:sp>
      <p:sp>
        <p:nvSpPr>
          <p:cNvPr id="4" name="Tijdelijke aanduiding voor dianummer 3">
            <a:extLst>
              <a:ext uri="{FF2B5EF4-FFF2-40B4-BE49-F238E27FC236}">
                <a16:creationId xmlns:a16="http://schemas.microsoft.com/office/drawing/2014/main" id="{36192D73-DEF2-4B61-8197-3941A2083E7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907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3ACD61-1A8D-412E-A5FB-A8531A8CE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4B81E522-E269-4346-BBFB-AA9518F2B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tekst 3">
            <a:extLst>
              <a:ext uri="{FF2B5EF4-FFF2-40B4-BE49-F238E27FC236}">
                <a16:creationId xmlns:a16="http://schemas.microsoft.com/office/drawing/2014/main" id="{B5BB402B-825A-444A-8506-A9ADBFE65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7827B8B6-F476-41CE-A0FB-94F76E07D16B}"/>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E8C2B97C-695E-461A-825C-FBD17E162F6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EA72EF0F-A630-466B-B88F-96526CAB13C5}"/>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60970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0E7DD-EE9A-4CC9-8C25-676E51EFE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afbeelding 2">
            <a:extLst>
              <a:ext uri="{FF2B5EF4-FFF2-40B4-BE49-F238E27FC236}">
                <a16:creationId xmlns:a16="http://schemas.microsoft.com/office/drawing/2014/main" id="{E48A5BBD-EB4E-45D6-AE42-E48427169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BE"/>
          </a:p>
        </p:txBody>
      </p:sp>
      <p:sp>
        <p:nvSpPr>
          <p:cNvPr id="4" name="Tijdelijke aanduiding voor tekst 3">
            <a:extLst>
              <a:ext uri="{FF2B5EF4-FFF2-40B4-BE49-F238E27FC236}">
                <a16:creationId xmlns:a16="http://schemas.microsoft.com/office/drawing/2014/main" id="{D66EB8EC-DE0A-4D55-BC4C-614275BE1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80F5DBFE-351E-4EE8-ADAB-1EEF823A637C}"/>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BE0E090A-C01F-416E-BF13-483497611EBB}"/>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5790A0E5-2670-4891-8045-AB40C835E0A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4277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ACC51-F7E5-40B9-80E8-1EF2107F0791}"/>
              </a:ext>
            </a:extLst>
          </p:cNvPr>
          <p:cNvSpPr>
            <a:spLocks noGrp="1"/>
          </p:cNvSpPr>
          <p:nvPr>
            <p:ph type="title"/>
          </p:nvPr>
        </p:nvSpPr>
        <p:spPr/>
        <p:txBody>
          <a:bodyPr/>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4CEA346F-2455-4321-99FC-0F55ECBC5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8DD5A672-E901-441A-AA8C-342314F34F2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E36B37C-979A-4CE2-BFB9-1CEE33789817}"/>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C66F279E-64B7-4995-8B2D-9E98200DC474}"/>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469102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4A3048B-7CB7-4CB7-9036-E1072F6567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977AF696-8160-4BEE-B594-08AA6ED4B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F70B8EA8-32FF-45D6-BDF4-DEC9D5665FEE}"/>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01F5F5D-B431-4297-94E5-5C3E63450DEC}"/>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AD29EC59-10E4-4E90-AEF4-F74EC07C825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8224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6C0F430-02B8-470E-88C4-D3F6A6EEE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2FBDBA69-9857-4F89-AB15-40D66350F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7700B282-C115-4189-B97C-2C968D73F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3C35CFB0-104D-43DF-ABAD-E8ED1A7E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Tijdelijke aanduiding voor dianummer 5">
            <a:extLst>
              <a:ext uri="{FF2B5EF4-FFF2-40B4-BE49-F238E27FC236}">
                <a16:creationId xmlns:a16="http://schemas.microsoft.com/office/drawing/2014/main" id="{25331830-0F71-46FB-910E-F57D488F6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63EFA-E134-4F46-A1DA-4D0D4B8DD6EC}" type="slidenum">
              <a:rPr lang="en-BE" smtClean="0"/>
              <a:t>‹#›</a:t>
            </a:fld>
            <a:endParaRPr lang="en-BE"/>
          </a:p>
        </p:txBody>
      </p:sp>
    </p:spTree>
    <p:extLst>
      <p:ext uri="{BB962C8B-B14F-4D97-AF65-F5344CB8AC3E}">
        <p14:creationId xmlns:p14="http://schemas.microsoft.com/office/powerpoint/2010/main" val="591883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ideo" Target="https://www.youtube.com/embed/7d9juPsv1QU?feature=oembed" TargetMode="External"/><Relationship Id="rId4" Type="http://schemas.openxmlformats.org/officeDocument/2006/relationships/image" Target="../media/image37.jpeg"/></Relationships>
</file>

<file path=ppt/slides/_rels/slide38.xml.rels><?xml version="1.0" encoding="UTF-8" standalone="yes"?>
<Relationships xmlns="http://schemas.openxmlformats.org/package/2006/relationships"><Relationship Id="rId3" Type="http://schemas.openxmlformats.org/officeDocument/2006/relationships/hyperlink" Target="https://www.pbrt.org/"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F5DD37-2212-916B-E357-43E8D3EA5D93}"/>
              </a:ext>
            </a:extLst>
          </p:cNvPr>
          <p:cNvSpPr>
            <a:spLocks noGrp="1"/>
          </p:cNvSpPr>
          <p:nvPr>
            <p:ph type="body" sz="quarter" idx="10"/>
          </p:nvPr>
        </p:nvSpPr>
        <p:spPr/>
        <p:txBody>
          <a:bodyPr/>
          <a:lstStyle/>
          <a:p>
            <a:endParaRPr lang="en-BE"/>
          </a:p>
        </p:txBody>
      </p:sp>
      <p:sp>
        <p:nvSpPr>
          <p:cNvPr id="3" name="Text Placeholder 2">
            <a:extLst>
              <a:ext uri="{FF2B5EF4-FFF2-40B4-BE49-F238E27FC236}">
                <a16:creationId xmlns:a16="http://schemas.microsoft.com/office/drawing/2014/main" id="{3D20F862-7245-5FF3-F9FF-A37F0519F773}"/>
              </a:ext>
            </a:extLst>
          </p:cNvPr>
          <p:cNvSpPr>
            <a:spLocks noGrp="1"/>
          </p:cNvSpPr>
          <p:nvPr>
            <p:ph type="body" sz="quarter" idx="11"/>
          </p:nvPr>
        </p:nvSpPr>
        <p:spPr/>
        <p:txBody>
          <a:bodyPr/>
          <a:lstStyle/>
          <a:p>
            <a:r>
              <a:rPr lang="en-US" dirty="0"/>
              <a:t>Week 4: Graphics pipeline</a:t>
            </a:r>
            <a:endParaRPr lang="en-BE" dirty="0"/>
          </a:p>
        </p:txBody>
      </p:sp>
      <p:sp>
        <p:nvSpPr>
          <p:cNvPr id="4" name="Text Placeholder 3">
            <a:extLst>
              <a:ext uri="{FF2B5EF4-FFF2-40B4-BE49-F238E27FC236}">
                <a16:creationId xmlns:a16="http://schemas.microsoft.com/office/drawing/2014/main" id="{6C0B0F53-1B0B-247E-5331-DFF63A59F513}"/>
              </a:ext>
            </a:extLst>
          </p:cNvPr>
          <p:cNvSpPr>
            <a:spLocks noGrp="1"/>
          </p:cNvSpPr>
          <p:nvPr>
            <p:ph type="body" sz="quarter" idx="12"/>
          </p:nvPr>
        </p:nvSpPr>
        <p:spPr/>
        <p:txBody>
          <a:bodyPr/>
          <a:lstStyle/>
          <a:p>
            <a:endParaRPr lang="en-BE"/>
          </a:p>
        </p:txBody>
      </p:sp>
      <p:sp>
        <p:nvSpPr>
          <p:cNvPr id="5" name="Text Placeholder 4">
            <a:extLst>
              <a:ext uri="{FF2B5EF4-FFF2-40B4-BE49-F238E27FC236}">
                <a16:creationId xmlns:a16="http://schemas.microsoft.com/office/drawing/2014/main" id="{81906C7B-D22F-6554-53F2-0FB13D199EF6}"/>
              </a:ext>
            </a:extLst>
          </p:cNvPr>
          <p:cNvSpPr>
            <a:spLocks noGrp="1"/>
          </p:cNvSpPr>
          <p:nvPr>
            <p:ph type="body" sz="quarter" idx="13"/>
          </p:nvPr>
        </p:nvSpPr>
        <p:spPr/>
        <p:txBody>
          <a:bodyPr/>
          <a:lstStyle/>
          <a:p>
            <a:r>
              <a:rPr lang="en-US" dirty="0"/>
              <a:t>DE/AR</a:t>
            </a:r>
            <a:endParaRPr lang="en-BE" dirty="0"/>
          </a:p>
        </p:txBody>
      </p:sp>
      <p:sp>
        <p:nvSpPr>
          <p:cNvPr id="6" name="Text Placeholder 5">
            <a:extLst>
              <a:ext uri="{FF2B5EF4-FFF2-40B4-BE49-F238E27FC236}">
                <a16:creationId xmlns:a16="http://schemas.microsoft.com/office/drawing/2014/main" id="{ABFE3868-CBE1-5055-4906-5E64ED6ECD99}"/>
              </a:ext>
            </a:extLst>
          </p:cNvPr>
          <p:cNvSpPr>
            <a:spLocks noGrp="1"/>
          </p:cNvSpPr>
          <p:nvPr>
            <p:ph type="body" sz="quarter" idx="14"/>
          </p:nvPr>
        </p:nvSpPr>
        <p:spPr/>
        <p:txBody>
          <a:bodyPr/>
          <a:lstStyle/>
          <a:p>
            <a:r>
              <a:rPr lang="en-US" dirty="0"/>
              <a:t>2024</a:t>
            </a:r>
            <a:endParaRPr lang="en-BE" dirty="0"/>
          </a:p>
        </p:txBody>
      </p:sp>
      <p:pic>
        <p:nvPicPr>
          <p:cNvPr id="8" name="Picture 7" descr="A group of men posing for a picture&#10;&#10;AI-generated content may be incorrect.">
            <a:extLst>
              <a:ext uri="{FF2B5EF4-FFF2-40B4-BE49-F238E27FC236}">
                <a16:creationId xmlns:a16="http://schemas.microsoft.com/office/drawing/2014/main" id="{D00B7C1D-34A7-9B50-85D3-3F3C638D1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2250" y="0"/>
            <a:ext cx="2857500" cy="2571750"/>
          </a:xfrm>
          <a:prstGeom prst="rect">
            <a:avLst/>
          </a:prstGeom>
        </p:spPr>
      </p:pic>
      <p:pic>
        <p:nvPicPr>
          <p:cNvPr id="10" name="Picture 9" descr="A person standing in front of a crowd of people&#10;&#10;AI-generated content may be incorrect.">
            <a:extLst>
              <a:ext uri="{FF2B5EF4-FFF2-40B4-BE49-F238E27FC236}">
                <a16:creationId xmlns:a16="http://schemas.microsoft.com/office/drawing/2014/main" id="{16146B1C-F205-F41A-BC10-D2A1654737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75246"/>
            <a:ext cx="3835400" cy="2227006"/>
          </a:xfrm>
          <a:prstGeom prst="rect">
            <a:avLst/>
          </a:prstGeom>
        </p:spPr>
      </p:pic>
      <p:sp>
        <p:nvSpPr>
          <p:cNvPr id="11" name="TextBox 10">
            <a:extLst>
              <a:ext uri="{FF2B5EF4-FFF2-40B4-BE49-F238E27FC236}">
                <a16:creationId xmlns:a16="http://schemas.microsoft.com/office/drawing/2014/main" id="{6D4DBBF3-B1FC-5363-23C0-3821807FB44B}"/>
              </a:ext>
            </a:extLst>
          </p:cNvPr>
          <p:cNvSpPr txBox="1"/>
          <p:nvPr/>
        </p:nvSpPr>
        <p:spPr>
          <a:xfrm>
            <a:off x="4127500" y="2747856"/>
            <a:ext cx="2692597" cy="523220"/>
          </a:xfrm>
          <a:prstGeom prst="rect">
            <a:avLst/>
          </a:prstGeom>
          <a:noFill/>
        </p:spPr>
        <p:txBody>
          <a:bodyPr wrap="none" rtlCol="0">
            <a:spAutoFit/>
          </a:bodyPr>
          <a:lstStyle/>
          <a:p>
            <a:r>
              <a:rPr lang="en-US" sz="2800" dirty="0">
                <a:sym typeface="Wingdings" panose="05000000000000000000" pitchFamily="2" charset="2"/>
              </a:rPr>
              <a:t> </a:t>
            </a:r>
            <a:r>
              <a:rPr lang="en-US" sz="2800" dirty="0" err="1"/>
              <a:t>Zwangere</a:t>
            </a:r>
            <a:r>
              <a:rPr lang="en-US" sz="2800" dirty="0"/>
              <a:t> Guy</a:t>
            </a:r>
            <a:endParaRPr lang="en-BE" sz="2800" dirty="0"/>
          </a:p>
        </p:txBody>
      </p:sp>
    </p:spTree>
    <p:extLst>
      <p:ext uri="{BB962C8B-B14F-4D97-AF65-F5344CB8AC3E}">
        <p14:creationId xmlns:p14="http://schemas.microsoft.com/office/powerpoint/2010/main" val="1905507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FD23-D77C-70B3-2CC3-3B9639720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DA8D2-CA6D-2610-89CE-68DEF02CC0F7}"/>
              </a:ext>
            </a:extLst>
          </p:cNvPr>
          <p:cNvSpPr>
            <a:spLocks noGrp="1"/>
          </p:cNvSpPr>
          <p:nvPr>
            <p:ph type="title"/>
          </p:nvPr>
        </p:nvSpPr>
        <p:spPr/>
        <p:txBody>
          <a:bodyPr/>
          <a:lstStyle/>
          <a:p>
            <a:r>
              <a:rPr lang="en-US" dirty="0"/>
              <a:t>Last class</a:t>
            </a:r>
            <a:endParaRPr lang="en-BE" dirty="0"/>
          </a:p>
        </p:txBody>
      </p:sp>
      <p:sp>
        <p:nvSpPr>
          <p:cNvPr id="3" name="TextBox 2">
            <a:extLst>
              <a:ext uri="{FF2B5EF4-FFF2-40B4-BE49-F238E27FC236}">
                <a16:creationId xmlns:a16="http://schemas.microsoft.com/office/drawing/2014/main" id="{0D033C93-BDDA-E53E-45B8-D25FB21FD02C}"/>
              </a:ext>
            </a:extLst>
          </p:cNvPr>
          <p:cNvSpPr txBox="1"/>
          <p:nvPr/>
        </p:nvSpPr>
        <p:spPr>
          <a:xfrm>
            <a:off x="989901" y="1690689"/>
            <a:ext cx="5429559"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Geometry</a:t>
            </a:r>
          </a:p>
          <a:p>
            <a:pPr marL="285750" indent="-285750">
              <a:buFont typeface="Arial" panose="020B0604020202020204" pitchFamily="34" charset="0"/>
              <a:buChar char="•"/>
            </a:pPr>
            <a:r>
              <a:rPr lang="en-US" sz="2800" dirty="0"/>
              <a:t>Vertices, indices</a:t>
            </a:r>
          </a:p>
          <a:p>
            <a:pPr marL="285750" indent="-285750">
              <a:buFont typeface="Arial" panose="020B0604020202020204" pitchFamily="34" charset="0"/>
              <a:buChar char="•"/>
            </a:pPr>
            <a:r>
              <a:rPr lang="en-US" sz="2800" dirty="0"/>
              <a:t>Winding</a:t>
            </a:r>
          </a:p>
          <a:p>
            <a:pPr marL="285750" indent="-285750">
              <a:buFont typeface="Arial" panose="020B0604020202020204" pitchFamily="34" charset="0"/>
              <a:buChar char="•"/>
            </a:pPr>
            <a:r>
              <a:rPr lang="en-US" sz="2800" dirty="0"/>
              <a:t>Normal generation</a:t>
            </a:r>
          </a:p>
        </p:txBody>
      </p:sp>
      <p:pic>
        <p:nvPicPr>
          <p:cNvPr id="5" name="Picture 4" descr="A diagram of a triangle with numbers and a triangle&#10;&#10;Description automatically generated">
            <a:extLst>
              <a:ext uri="{FF2B5EF4-FFF2-40B4-BE49-F238E27FC236}">
                <a16:creationId xmlns:a16="http://schemas.microsoft.com/office/drawing/2014/main" id="{394EC333-4D6B-2108-48B1-6A775B5AA9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514" y="71479"/>
            <a:ext cx="5173980" cy="3649018"/>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38D3AA8A-0ED0-085F-FE11-BD660A60AB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3907" y="3720497"/>
            <a:ext cx="4969161" cy="2893627"/>
          </a:xfrm>
          <a:prstGeom prst="rect">
            <a:avLst/>
          </a:prstGeom>
        </p:spPr>
      </p:pic>
      <p:pic>
        <p:nvPicPr>
          <p:cNvPr id="8" name="Picture 7" descr="A diagram of a triangle with a line and a line&#10;&#10;Description automatically generated">
            <a:extLst>
              <a:ext uri="{FF2B5EF4-FFF2-40B4-BE49-F238E27FC236}">
                <a16:creationId xmlns:a16="http://schemas.microsoft.com/office/drawing/2014/main" id="{0402BAC4-0906-4C55-D5B7-E8BD7AF10A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302" y="3871407"/>
            <a:ext cx="4540841" cy="2986593"/>
          </a:xfrm>
          <a:prstGeom prst="rect">
            <a:avLst/>
          </a:prstGeom>
        </p:spPr>
      </p:pic>
    </p:spTree>
    <p:extLst>
      <p:ext uri="{BB962C8B-B14F-4D97-AF65-F5344CB8AC3E}">
        <p14:creationId xmlns:p14="http://schemas.microsoft.com/office/powerpoint/2010/main" val="2203527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F6401-CD6B-72BC-0DD3-93F63F3F3878}"/>
              </a:ext>
            </a:extLst>
          </p:cNvPr>
          <p:cNvSpPr>
            <a:spLocks noGrp="1"/>
          </p:cNvSpPr>
          <p:nvPr>
            <p:ph type="title"/>
          </p:nvPr>
        </p:nvSpPr>
        <p:spPr/>
        <p:txBody>
          <a:bodyPr/>
          <a:lstStyle/>
          <a:p>
            <a:r>
              <a:rPr lang="en-US" dirty="0"/>
              <a:t>Possible exam questions </a:t>
            </a:r>
            <a:endParaRPr lang="en-BE" dirty="0"/>
          </a:p>
        </p:txBody>
      </p:sp>
      <p:sp>
        <p:nvSpPr>
          <p:cNvPr id="3" name="TextBox 2">
            <a:extLst>
              <a:ext uri="{FF2B5EF4-FFF2-40B4-BE49-F238E27FC236}">
                <a16:creationId xmlns:a16="http://schemas.microsoft.com/office/drawing/2014/main" id="{F15D5A19-AACE-AE40-5218-46CAAE5B6FF7}"/>
              </a:ext>
            </a:extLst>
          </p:cNvPr>
          <p:cNvSpPr txBox="1"/>
          <p:nvPr/>
        </p:nvSpPr>
        <p:spPr>
          <a:xfrm>
            <a:off x="740229" y="2819400"/>
            <a:ext cx="9107430" cy="3416320"/>
          </a:xfrm>
          <a:prstGeom prst="rect">
            <a:avLst/>
          </a:prstGeom>
          <a:noFill/>
        </p:spPr>
        <p:txBody>
          <a:bodyPr wrap="none" rtlCol="0">
            <a:spAutoFit/>
          </a:bodyPr>
          <a:lstStyle/>
          <a:p>
            <a:pPr marL="285750" indent="-285750">
              <a:buFont typeface="Arial" panose="020B0604020202020204" pitchFamily="34" charset="0"/>
              <a:buChar char="•"/>
            </a:pPr>
            <a:r>
              <a:rPr lang="en-US" sz="3600" dirty="0"/>
              <a:t>What is a vertex? How many bytes is a vertex?</a:t>
            </a:r>
          </a:p>
          <a:p>
            <a:pPr marL="285750" indent="-285750">
              <a:buFont typeface="Arial" panose="020B0604020202020204" pitchFamily="34" charset="0"/>
              <a:buChar char="•"/>
            </a:pPr>
            <a:r>
              <a:rPr lang="en-US" sz="3600" dirty="0"/>
              <a:t>What is an index buffer?</a:t>
            </a:r>
          </a:p>
          <a:p>
            <a:pPr marL="285750" indent="-285750">
              <a:buFont typeface="Arial" panose="020B0604020202020204" pitchFamily="34" charset="0"/>
              <a:buChar char="•"/>
            </a:pPr>
            <a:r>
              <a:rPr lang="en-US" sz="3600" dirty="0"/>
              <a:t>What is a normal? How long is it?</a:t>
            </a:r>
          </a:p>
          <a:p>
            <a:pPr marL="285750" indent="-285750">
              <a:buFont typeface="Arial" panose="020B0604020202020204" pitchFamily="34" charset="0"/>
              <a:buChar char="•"/>
            </a:pPr>
            <a:r>
              <a:rPr lang="en-US" sz="3600" dirty="0"/>
              <a:t>How do you create a face normal?</a:t>
            </a:r>
          </a:p>
          <a:p>
            <a:pPr marL="285750" indent="-285750">
              <a:buFont typeface="Arial" panose="020B0604020202020204" pitchFamily="34" charset="0"/>
              <a:buChar char="•"/>
            </a:pPr>
            <a:r>
              <a:rPr lang="en-US" sz="3600" dirty="0"/>
              <a:t>How could you create a vertex normal?</a:t>
            </a:r>
          </a:p>
          <a:p>
            <a:pPr marL="285750" indent="-285750">
              <a:buFont typeface="Arial" panose="020B0604020202020204" pitchFamily="34" charset="0"/>
              <a:buChar char="•"/>
            </a:pPr>
            <a:endParaRPr lang="en-BE" sz="3600" dirty="0"/>
          </a:p>
        </p:txBody>
      </p:sp>
    </p:spTree>
    <p:extLst>
      <p:ext uri="{BB962C8B-B14F-4D97-AF65-F5344CB8AC3E}">
        <p14:creationId xmlns:p14="http://schemas.microsoft.com/office/powerpoint/2010/main" val="3292857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1B564-CA9E-3D87-8903-3909F7D42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F79E-D81D-C0B7-2D18-4AECB866817D}"/>
              </a:ext>
            </a:extLst>
          </p:cNvPr>
          <p:cNvSpPr>
            <a:spLocks noGrp="1"/>
          </p:cNvSpPr>
          <p:nvPr>
            <p:ph type="title"/>
          </p:nvPr>
        </p:nvSpPr>
        <p:spPr>
          <a:xfrm>
            <a:off x="519362" y="238794"/>
            <a:ext cx="10515600" cy="1325563"/>
          </a:xfrm>
        </p:spPr>
        <p:txBody>
          <a:bodyPr/>
          <a:lstStyle/>
          <a:p>
            <a:r>
              <a:rPr lang="en-US" dirty="0"/>
              <a:t>Course schedule</a:t>
            </a:r>
            <a:endParaRPr lang="en-BE" dirty="0"/>
          </a:p>
        </p:txBody>
      </p:sp>
      <p:pic>
        <p:nvPicPr>
          <p:cNvPr id="4" name="Picture 3">
            <a:extLst>
              <a:ext uri="{FF2B5EF4-FFF2-40B4-BE49-F238E27FC236}">
                <a16:creationId xmlns:a16="http://schemas.microsoft.com/office/drawing/2014/main" id="{44AD8DA9-97E3-0B9A-E8CC-21F1C6CD170F}"/>
              </a:ext>
            </a:extLst>
          </p:cNvPr>
          <p:cNvPicPr>
            <a:picLocks noChangeAspect="1"/>
          </p:cNvPicPr>
          <p:nvPr/>
        </p:nvPicPr>
        <p:blipFill>
          <a:blip r:embed="rId3"/>
          <a:stretch>
            <a:fillRect/>
          </a:stretch>
        </p:blipFill>
        <p:spPr>
          <a:xfrm>
            <a:off x="0" y="4223671"/>
            <a:ext cx="4032180" cy="2639927"/>
          </a:xfrm>
          <a:prstGeom prst="rect">
            <a:avLst/>
          </a:prstGeom>
        </p:spPr>
      </p:pic>
      <p:graphicFrame>
        <p:nvGraphicFramePr>
          <p:cNvPr id="8" name="Table 7">
            <a:extLst>
              <a:ext uri="{FF2B5EF4-FFF2-40B4-BE49-F238E27FC236}">
                <a16:creationId xmlns:a16="http://schemas.microsoft.com/office/drawing/2014/main" id="{26D5C226-4920-1470-4E26-725EDC46B091}"/>
              </a:ext>
            </a:extLst>
          </p:cNvPr>
          <p:cNvGraphicFramePr>
            <a:graphicFrameLocks noGrp="1"/>
          </p:cNvGraphicFramePr>
          <p:nvPr>
            <p:extLst>
              <p:ext uri="{D42A27DB-BD31-4B8C-83A1-F6EECF244321}">
                <p14:modId xmlns:p14="http://schemas.microsoft.com/office/powerpoint/2010/main" val="575200795"/>
              </p:ext>
            </p:extLst>
          </p:nvPr>
        </p:nvGraphicFramePr>
        <p:xfrm>
          <a:off x="5124734" y="1"/>
          <a:ext cx="4326341" cy="7322106"/>
        </p:xfrm>
        <a:graphic>
          <a:graphicData uri="http://schemas.openxmlformats.org/drawingml/2006/table">
            <a:tbl>
              <a:tblPr firstRow="1" bandRow="1">
                <a:tableStyleId>{5C22544A-7EE6-4342-B048-85BDC9FD1C3A}</a:tableStyleId>
              </a:tblPr>
              <a:tblGrid>
                <a:gridCol w="2026693">
                  <a:extLst>
                    <a:ext uri="{9D8B030D-6E8A-4147-A177-3AD203B41FA5}">
                      <a16:colId xmlns:a16="http://schemas.microsoft.com/office/drawing/2014/main" val="4215952977"/>
                    </a:ext>
                  </a:extLst>
                </a:gridCol>
                <a:gridCol w="2299648">
                  <a:extLst>
                    <a:ext uri="{9D8B030D-6E8A-4147-A177-3AD203B41FA5}">
                      <a16:colId xmlns:a16="http://schemas.microsoft.com/office/drawing/2014/main" val="1545778933"/>
                    </a:ext>
                  </a:extLst>
                </a:gridCol>
              </a:tblGrid>
              <a:tr h="522129">
                <a:tc>
                  <a:txBody>
                    <a:bodyPr/>
                    <a:lstStyle/>
                    <a:p>
                      <a:endParaRPr lang="en-BE"/>
                    </a:p>
                  </a:txBody>
                  <a:tcPr/>
                </a:tc>
                <a:tc>
                  <a:txBody>
                    <a:bodyPr/>
                    <a:lstStyle/>
                    <a:p>
                      <a:endParaRPr lang="en-BE" dirty="0"/>
                    </a:p>
                  </a:txBody>
                  <a:tcPr/>
                </a:tc>
                <a:extLst>
                  <a:ext uri="{0D108BD9-81ED-4DB2-BD59-A6C34878D82A}">
                    <a16:rowId xmlns:a16="http://schemas.microsoft.com/office/drawing/2014/main" val="2767273685"/>
                  </a:ext>
                </a:extLst>
              </a:tr>
              <a:tr h="522129">
                <a:tc>
                  <a:txBody>
                    <a:bodyPr/>
                    <a:lstStyle/>
                    <a:p>
                      <a:r>
                        <a:rPr lang="en-US" dirty="0"/>
                        <a:t>Week 1</a:t>
                      </a:r>
                      <a:endParaRPr lang="en-BE" dirty="0"/>
                    </a:p>
                  </a:txBody>
                  <a:tcPr/>
                </a:tc>
                <a:tc>
                  <a:txBody>
                    <a:bodyPr/>
                    <a:lstStyle/>
                    <a:p>
                      <a:r>
                        <a:rPr lang="en-US" dirty="0"/>
                        <a:t>Introduction</a:t>
                      </a:r>
                      <a:endParaRPr lang="en-BE" dirty="0"/>
                    </a:p>
                  </a:txBody>
                  <a:tcPr/>
                </a:tc>
                <a:extLst>
                  <a:ext uri="{0D108BD9-81ED-4DB2-BD59-A6C34878D82A}">
                    <a16:rowId xmlns:a16="http://schemas.microsoft.com/office/drawing/2014/main" val="3121121218"/>
                  </a:ext>
                </a:extLst>
              </a:tr>
              <a:tr h="522129">
                <a:tc>
                  <a:txBody>
                    <a:bodyPr/>
                    <a:lstStyle/>
                    <a:p>
                      <a:r>
                        <a:rPr lang="en-US" dirty="0"/>
                        <a:t>Week 2</a:t>
                      </a:r>
                      <a:endParaRPr lang="en-BE" dirty="0"/>
                    </a:p>
                  </a:txBody>
                  <a:tcPr/>
                </a:tc>
                <a:tc>
                  <a:txBody>
                    <a:bodyPr/>
                    <a:lstStyle/>
                    <a:p>
                      <a:r>
                        <a:rPr lang="en-US" dirty="0"/>
                        <a:t>3D reasoning</a:t>
                      </a:r>
                      <a:endParaRPr lang="en-BE" dirty="0"/>
                    </a:p>
                  </a:txBody>
                  <a:tcPr/>
                </a:tc>
                <a:extLst>
                  <a:ext uri="{0D108BD9-81ED-4DB2-BD59-A6C34878D82A}">
                    <a16:rowId xmlns:a16="http://schemas.microsoft.com/office/drawing/2014/main" val="1569727011"/>
                  </a:ext>
                </a:extLst>
              </a:tr>
              <a:tr h="522129">
                <a:tc>
                  <a:txBody>
                    <a:bodyPr/>
                    <a:lstStyle/>
                    <a:p>
                      <a:r>
                        <a:rPr lang="en-US" dirty="0"/>
                        <a:t>Week 3</a:t>
                      </a:r>
                      <a:endParaRPr lang="en-BE" dirty="0"/>
                    </a:p>
                  </a:txBody>
                  <a:tcPr/>
                </a:tc>
                <a:tc>
                  <a:txBody>
                    <a:bodyPr/>
                    <a:lstStyle/>
                    <a:p>
                      <a:r>
                        <a:rPr lang="en-US" dirty="0"/>
                        <a:t>Geometry</a:t>
                      </a:r>
                    </a:p>
                    <a:p>
                      <a:endParaRPr lang="en-BE" dirty="0"/>
                    </a:p>
                  </a:txBody>
                  <a:tcPr/>
                </a:tc>
                <a:extLst>
                  <a:ext uri="{0D108BD9-81ED-4DB2-BD59-A6C34878D82A}">
                    <a16:rowId xmlns:a16="http://schemas.microsoft.com/office/drawing/2014/main" val="3180221313"/>
                  </a:ext>
                </a:extLst>
              </a:tr>
              <a:tr h="625607">
                <a:tc>
                  <a:txBody>
                    <a:bodyPr/>
                    <a:lstStyle/>
                    <a:p>
                      <a:r>
                        <a:rPr lang="en-US" dirty="0"/>
                        <a:t>Week 4</a:t>
                      </a:r>
                      <a:endParaRPr lang="en-BE" dirty="0"/>
                    </a:p>
                  </a:txBody>
                  <a:tcPr/>
                </a:tc>
                <a:tc>
                  <a:txBody>
                    <a:bodyPr/>
                    <a:lstStyle/>
                    <a:p>
                      <a:r>
                        <a:rPr lang="en-US" dirty="0"/>
                        <a:t>Pipeline &amp; Materials</a:t>
                      </a:r>
                      <a:endParaRPr lang="en-BE" dirty="0"/>
                    </a:p>
                  </a:txBody>
                  <a:tcPr/>
                </a:tc>
                <a:extLst>
                  <a:ext uri="{0D108BD9-81ED-4DB2-BD59-A6C34878D82A}">
                    <a16:rowId xmlns:a16="http://schemas.microsoft.com/office/drawing/2014/main" val="3441918310"/>
                  </a:ext>
                </a:extLst>
              </a:tr>
              <a:tr h="625607">
                <a:tc>
                  <a:txBody>
                    <a:bodyPr/>
                    <a:lstStyle/>
                    <a:p>
                      <a:r>
                        <a:rPr lang="en-US" dirty="0"/>
                        <a:t>Week 5</a:t>
                      </a:r>
                      <a:endParaRPr lang="en-BE" dirty="0"/>
                    </a:p>
                  </a:txBody>
                  <a:tcPr/>
                </a:tc>
                <a:tc>
                  <a:txBody>
                    <a:bodyPr/>
                    <a:lstStyle/>
                    <a:p>
                      <a:r>
                        <a:rPr lang="en-US" dirty="0"/>
                        <a:t>Textures &amp; Normal maps</a:t>
                      </a:r>
                      <a:endParaRPr lang="en-BE" dirty="0"/>
                    </a:p>
                  </a:txBody>
                  <a:tcPr/>
                </a:tc>
                <a:extLst>
                  <a:ext uri="{0D108BD9-81ED-4DB2-BD59-A6C34878D82A}">
                    <a16:rowId xmlns:a16="http://schemas.microsoft.com/office/drawing/2014/main" val="591078510"/>
                  </a:ext>
                </a:extLst>
              </a:tr>
              <a:tr h="522129">
                <a:tc>
                  <a:txBody>
                    <a:bodyPr/>
                    <a:lstStyle/>
                    <a:p>
                      <a:r>
                        <a:rPr lang="en-US" dirty="0"/>
                        <a:t>Week 6</a:t>
                      </a:r>
                      <a:endParaRPr lang="en-BE" dirty="0"/>
                    </a:p>
                  </a:txBody>
                  <a:tcPr/>
                </a:tc>
                <a:tc>
                  <a:txBody>
                    <a:bodyPr/>
                    <a:lstStyle/>
                    <a:p>
                      <a:r>
                        <a:rPr lang="en-US" dirty="0"/>
                        <a:t>Proceduralism</a:t>
                      </a:r>
                      <a:endParaRPr lang="en-BE" dirty="0"/>
                    </a:p>
                  </a:txBody>
                  <a:tcPr/>
                </a:tc>
                <a:extLst>
                  <a:ext uri="{0D108BD9-81ED-4DB2-BD59-A6C34878D82A}">
                    <a16:rowId xmlns:a16="http://schemas.microsoft.com/office/drawing/2014/main" val="1977941231"/>
                  </a:ext>
                </a:extLst>
              </a:tr>
              <a:tr h="625607">
                <a:tc>
                  <a:txBody>
                    <a:bodyPr/>
                    <a:lstStyle/>
                    <a:p>
                      <a:r>
                        <a:rPr lang="en-US" dirty="0"/>
                        <a:t>Week 7</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 Processing</a:t>
                      </a:r>
                      <a:endParaRPr lang="en-BE" dirty="0"/>
                    </a:p>
                    <a:p>
                      <a:endParaRPr lang="en-BE" dirty="0"/>
                    </a:p>
                  </a:txBody>
                  <a:tcPr/>
                </a:tc>
                <a:extLst>
                  <a:ext uri="{0D108BD9-81ED-4DB2-BD59-A6C34878D82A}">
                    <a16:rowId xmlns:a16="http://schemas.microsoft.com/office/drawing/2014/main" val="4124929814"/>
                  </a:ext>
                </a:extLst>
              </a:tr>
              <a:tr h="625607">
                <a:tc>
                  <a:txBody>
                    <a:bodyPr/>
                    <a:lstStyle/>
                    <a:p>
                      <a:r>
                        <a:rPr lang="en-US" dirty="0"/>
                        <a:t>Week 8</a:t>
                      </a:r>
                      <a:endParaRPr lang="en-BE" dirty="0"/>
                    </a:p>
                  </a:txBody>
                  <a:tcPr/>
                </a:tc>
                <a:tc>
                  <a:txBody>
                    <a:bodyPr/>
                    <a:lstStyle/>
                    <a:p>
                      <a:r>
                        <a:rPr lang="en-US" dirty="0"/>
                        <a:t>Advanced pipeline</a:t>
                      </a:r>
                      <a:endParaRPr lang="en-BE" dirty="0"/>
                    </a:p>
                  </a:txBody>
                  <a:tcPr/>
                </a:tc>
                <a:extLst>
                  <a:ext uri="{0D108BD9-81ED-4DB2-BD59-A6C34878D82A}">
                    <a16:rowId xmlns:a16="http://schemas.microsoft.com/office/drawing/2014/main" val="3765942271"/>
                  </a:ext>
                </a:extLst>
              </a:tr>
              <a:tr h="522129">
                <a:tc>
                  <a:txBody>
                    <a:bodyPr/>
                    <a:lstStyle/>
                    <a:p>
                      <a:r>
                        <a:rPr lang="en-US" dirty="0"/>
                        <a:t>Week 9</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Aliasing / Presentations</a:t>
                      </a:r>
                      <a:endParaRPr lang="en-BE" dirty="0"/>
                    </a:p>
                    <a:p>
                      <a:endParaRPr lang="en-BE" dirty="0"/>
                    </a:p>
                  </a:txBody>
                  <a:tcPr/>
                </a:tc>
                <a:extLst>
                  <a:ext uri="{0D108BD9-81ED-4DB2-BD59-A6C34878D82A}">
                    <a16:rowId xmlns:a16="http://schemas.microsoft.com/office/drawing/2014/main" val="3316500834"/>
                  </a:ext>
                </a:extLst>
              </a:tr>
              <a:tr h="625607">
                <a:tc>
                  <a:txBody>
                    <a:bodyPr/>
                    <a:lstStyle/>
                    <a:p>
                      <a:r>
                        <a:rPr lang="en-US" dirty="0"/>
                        <a:t>Week 10 :</a:t>
                      </a:r>
                      <a:endParaRPr lang="en-BE" dirty="0"/>
                    </a:p>
                  </a:txBody>
                  <a:tcPr/>
                </a:tc>
                <a:tc>
                  <a:txBody>
                    <a:bodyPr/>
                    <a:lstStyle/>
                    <a:p>
                      <a:r>
                        <a:rPr lang="en-US" dirty="0"/>
                        <a:t>Project</a:t>
                      </a:r>
                      <a:endParaRPr lang="en-BE" dirty="0"/>
                    </a:p>
                  </a:txBody>
                  <a:tcPr/>
                </a:tc>
                <a:extLst>
                  <a:ext uri="{0D108BD9-81ED-4DB2-BD59-A6C34878D82A}">
                    <a16:rowId xmlns:a16="http://schemas.microsoft.com/office/drawing/2014/main" val="2746961463"/>
                  </a:ext>
                </a:extLst>
              </a:tr>
              <a:tr h="522129">
                <a:tc>
                  <a:txBody>
                    <a:bodyPr/>
                    <a:lstStyle/>
                    <a:p>
                      <a:r>
                        <a:rPr lang="en-US" dirty="0"/>
                        <a:t>Week 11 : </a:t>
                      </a:r>
                      <a:endParaRPr lang="en-BE" dirty="0"/>
                    </a:p>
                  </a:txBody>
                  <a:tcPr/>
                </a:tc>
                <a:tc>
                  <a:txBody>
                    <a:bodyPr/>
                    <a:lstStyle/>
                    <a:p>
                      <a:r>
                        <a:rPr lang="en-US" dirty="0"/>
                        <a:t>Revision</a:t>
                      </a:r>
                      <a:endParaRPr lang="en-BE" dirty="0"/>
                    </a:p>
                  </a:txBody>
                  <a:tcPr/>
                </a:tc>
                <a:extLst>
                  <a:ext uri="{0D108BD9-81ED-4DB2-BD59-A6C34878D82A}">
                    <a16:rowId xmlns:a16="http://schemas.microsoft.com/office/drawing/2014/main" val="776446022"/>
                  </a:ext>
                </a:extLst>
              </a:tr>
            </a:tbl>
          </a:graphicData>
        </a:graphic>
      </p:graphicFrame>
      <p:sp>
        <p:nvSpPr>
          <p:cNvPr id="5" name="Rectangle 4">
            <a:extLst>
              <a:ext uri="{FF2B5EF4-FFF2-40B4-BE49-F238E27FC236}">
                <a16:creationId xmlns:a16="http://schemas.microsoft.com/office/drawing/2014/main" id="{B351D17D-F165-A405-4C90-69417290D645}"/>
              </a:ext>
            </a:extLst>
          </p:cNvPr>
          <p:cNvSpPr/>
          <p:nvPr/>
        </p:nvSpPr>
        <p:spPr>
          <a:xfrm>
            <a:off x="7149524" y="2152117"/>
            <a:ext cx="2301551" cy="49459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00871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3159-16E2-5FD9-2FA0-8D0B720C053A}"/>
              </a:ext>
            </a:extLst>
          </p:cNvPr>
          <p:cNvSpPr>
            <a:spLocks noGrp="1"/>
          </p:cNvSpPr>
          <p:nvPr>
            <p:ph type="title"/>
          </p:nvPr>
        </p:nvSpPr>
        <p:spPr/>
        <p:txBody>
          <a:bodyPr/>
          <a:lstStyle/>
          <a:p>
            <a:r>
              <a:rPr lang="en-US" dirty="0"/>
              <a:t>Project questions?</a:t>
            </a:r>
            <a:endParaRPr lang="en-BE" dirty="0"/>
          </a:p>
        </p:txBody>
      </p:sp>
    </p:spTree>
    <p:extLst>
      <p:ext uri="{BB962C8B-B14F-4D97-AF65-F5344CB8AC3E}">
        <p14:creationId xmlns:p14="http://schemas.microsoft.com/office/powerpoint/2010/main" val="468926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73297-8044-DFEA-04F5-D9FB0C658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C2D51-1E40-FA66-F1C2-BA0D541193B7}"/>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13CB8313-D9B1-33D6-9A00-505148019F20}"/>
              </a:ext>
            </a:extLst>
          </p:cNvPr>
          <p:cNvSpPr txBox="1"/>
          <p:nvPr/>
        </p:nvSpPr>
        <p:spPr>
          <a:xfrm>
            <a:off x="989901" y="1690689"/>
            <a:ext cx="5429559"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 The graphics pipeline </a:t>
            </a:r>
          </a:p>
          <a:p>
            <a:pPr marL="285750" indent="-285750">
              <a:buFont typeface="Arial" panose="020B0604020202020204" pitchFamily="34" charset="0"/>
              <a:buChar char="•"/>
            </a:pPr>
            <a:r>
              <a:rPr lang="en-US" sz="2800" dirty="0">
                <a:sym typeface="Wingdings" panose="05000000000000000000" pitchFamily="2" charset="2"/>
              </a:rPr>
              <a:t>Shaders</a:t>
            </a:r>
          </a:p>
          <a:p>
            <a:pPr marL="285750" indent="-285750">
              <a:buFont typeface="Arial" panose="020B0604020202020204" pitchFamily="34" charset="0"/>
              <a:buChar char="•"/>
            </a:pPr>
            <a:r>
              <a:rPr lang="en-US" sz="2800" dirty="0">
                <a:sym typeface="Wingdings" panose="05000000000000000000" pitchFamily="2" charset="2"/>
              </a:rPr>
              <a:t>Materials</a:t>
            </a:r>
          </a:p>
        </p:txBody>
      </p:sp>
    </p:spTree>
    <p:extLst>
      <p:ext uri="{BB962C8B-B14F-4D97-AF65-F5344CB8AC3E}">
        <p14:creationId xmlns:p14="http://schemas.microsoft.com/office/powerpoint/2010/main" val="1372615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28A2B-208F-D461-2831-9DFB0819DC26}"/>
              </a:ext>
            </a:extLst>
          </p:cNvPr>
          <p:cNvSpPr>
            <a:spLocks noGrp="1"/>
          </p:cNvSpPr>
          <p:nvPr>
            <p:ph type="title"/>
          </p:nvPr>
        </p:nvSpPr>
        <p:spPr/>
        <p:txBody>
          <a:bodyPr/>
          <a:lstStyle/>
          <a:p>
            <a:r>
              <a:rPr lang="en-US" dirty="0"/>
              <a:t>The graphics pipeline</a:t>
            </a:r>
            <a:endParaRPr lang="en-BE" dirty="0"/>
          </a:p>
        </p:txBody>
      </p:sp>
      <p:sp>
        <p:nvSpPr>
          <p:cNvPr id="3" name="TextBox 2">
            <a:extLst>
              <a:ext uri="{FF2B5EF4-FFF2-40B4-BE49-F238E27FC236}">
                <a16:creationId xmlns:a16="http://schemas.microsoft.com/office/drawing/2014/main" id="{E9F855EE-1A3F-E1C9-0C61-4B91645D16B3}"/>
              </a:ext>
            </a:extLst>
          </p:cNvPr>
          <p:cNvSpPr txBox="1"/>
          <p:nvPr/>
        </p:nvSpPr>
        <p:spPr>
          <a:xfrm>
            <a:off x="327705" y="1886631"/>
            <a:ext cx="10645095" cy="2308324"/>
          </a:xfrm>
          <a:prstGeom prst="rect">
            <a:avLst/>
          </a:prstGeom>
          <a:noFill/>
        </p:spPr>
        <p:txBody>
          <a:bodyPr wrap="square" rtlCol="0">
            <a:spAutoFit/>
          </a:bodyPr>
          <a:lstStyle/>
          <a:p>
            <a:pPr marL="285750" indent="-285750">
              <a:buFont typeface="Arial" panose="020B0604020202020204" pitchFamily="34" charset="0"/>
              <a:buChar char="•"/>
            </a:pPr>
            <a:r>
              <a:rPr lang="en-US" sz="3600" dirty="0"/>
              <a:t>“All the steps an application takes to render”</a:t>
            </a:r>
          </a:p>
          <a:p>
            <a:pPr marL="285750" indent="-285750">
              <a:buFont typeface="Arial" panose="020B0604020202020204" pitchFamily="34" charset="0"/>
              <a:buChar char="•"/>
            </a:pPr>
            <a:r>
              <a:rPr lang="en-US" sz="3600" dirty="0"/>
              <a:t>Also, “the steps the GPU does when you ask it to draw something”, which is different</a:t>
            </a:r>
          </a:p>
          <a:p>
            <a:pPr marL="285750" indent="-285750">
              <a:buFont typeface="Arial" panose="020B0604020202020204" pitchFamily="34" charset="0"/>
              <a:buChar char="•"/>
            </a:pPr>
            <a:r>
              <a:rPr lang="en-US" sz="3600" dirty="0"/>
              <a:t>Let’s take a look at the latter, first</a:t>
            </a:r>
          </a:p>
        </p:txBody>
      </p:sp>
      <p:pic>
        <p:nvPicPr>
          <p:cNvPr id="5" name="Picture 4" descr="A close-up of a computer chip&#10;&#10;AI-generated content may be incorrect.">
            <a:extLst>
              <a:ext uri="{FF2B5EF4-FFF2-40B4-BE49-F238E27FC236}">
                <a16:creationId xmlns:a16="http://schemas.microsoft.com/office/drawing/2014/main" id="{F385FAEC-E5F7-3044-F890-AF0ED77276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0403" y="3911600"/>
            <a:ext cx="4850041" cy="2946400"/>
          </a:xfrm>
          <a:prstGeom prst="rect">
            <a:avLst/>
          </a:prstGeom>
        </p:spPr>
      </p:pic>
    </p:spTree>
    <p:extLst>
      <p:ext uri="{BB962C8B-B14F-4D97-AF65-F5344CB8AC3E}">
        <p14:creationId xmlns:p14="http://schemas.microsoft.com/office/powerpoint/2010/main" val="217806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34586-C607-EC20-3F69-EEFF6D3B1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5DAF8-8C4F-B228-9870-4E49C098FA19}"/>
              </a:ext>
            </a:extLst>
          </p:cNvPr>
          <p:cNvSpPr>
            <a:spLocks noGrp="1"/>
          </p:cNvSpPr>
          <p:nvPr>
            <p:ph type="title"/>
          </p:nvPr>
        </p:nvSpPr>
        <p:spPr>
          <a:xfrm>
            <a:off x="38529" y="-93067"/>
            <a:ext cx="10515600" cy="1325563"/>
          </a:xfrm>
        </p:spPr>
        <p:txBody>
          <a:bodyPr/>
          <a:lstStyle/>
          <a:p>
            <a:r>
              <a:rPr lang="en-US" b="1" dirty="0"/>
              <a:t>Configurable</a:t>
            </a:r>
            <a:r>
              <a:rPr lang="en-US" dirty="0"/>
              <a:t> GPU Pipeline : vertices -&gt; pixels</a:t>
            </a:r>
            <a:endParaRPr lang="en-BE" dirty="0"/>
          </a:p>
        </p:txBody>
      </p:sp>
      <p:pic>
        <p:nvPicPr>
          <p:cNvPr id="3" name="Picture 2" descr="A picture containing traffic light&#10;&#10;Description automatically generated">
            <a:extLst>
              <a:ext uri="{FF2B5EF4-FFF2-40B4-BE49-F238E27FC236}">
                <a16:creationId xmlns:a16="http://schemas.microsoft.com/office/drawing/2014/main" id="{AF880B2F-1481-EEDE-73B4-F9A8D3E27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539" y="2008877"/>
            <a:ext cx="2142478" cy="1067344"/>
          </a:xfrm>
          <a:prstGeom prst="rect">
            <a:avLst/>
          </a:prstGeom>
        </p:spPr>
      </p:pic>
      <p:pic>
        <p:nvPicPr>
          <p:cNvPr id="4" name="Picture 3" descr="A picture containing object&#10;&#10;Description automatically generated">
            <a:extLst>
              <a:ext uri="{FF2B5EF4-FFF2-40B4-BE49-F238E27FC236}">
                <a16:creationId xmlns:a16="http://schemas.microsoft.com/office/drawing/2014/main" id="{F1E41020-E8CD-E39C-3A95-7D61480E62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332" y="1972441"/>
            <a:ext cx="2009186" cy="1143409"/>
          </a:xfrm>
          <a:prstGeom prst="rect">
            <a:avLst/>
          </a:prstGeom>
        </p:spPr>
      </p:pic>
      <p:pic>
        <p:nvPicPr>
          <p:cNvPr id="5" name="Picture 4">
            <a:extLst>
              <a:ext uri="{FF2B5EF4-FFF2-40B4-BE49-F238E27FC236}">
                <a16:creationId xmlns:a16="http://schemas.microsoft.com/office/drawing/2014/main" id="{8FB6BED6-BE46-DFFE-E56C-6380317433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1500" y="1972442"/>
            <a:ext cx="1933806" cy="1014596"/>
          </a:xfrm>
          <a:prstGeom prst="rect">
            <a:avLst/>
          </a:prstGeom>
        </p:spPr>
      </p:pic>
      <p:pic>
        <p:nvPicPr>
          <p:cNvPr id="6" name="Picture 5" descr="A picture containing building&#10;&#10;Description automatically generated">
            <a:extLst>
              <a:ext uri="{FF2B5EF4-FFF2-40B4-BE49-F238E27FC236}">
                <a16:creationId xmlns:a16="http://schemas.microsoft.com/office/drawing/2014/main" id="{F8C6FD52-C090-090D-B096-500C4C88BF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19994" y="1981334"/>
            <a:ext cx="1933806" cy="1014596"/>
          </a:xfrm>
          <a:prstGeom prst="rect">
            <a:avLst/>
          </a:prstGeom>
        </p:spPr>
      </p:pic>
      <p:sp>
        <p:nvSpPr>
          <p:cNvPr id="7" name="TextBox 6">
            <a:extLst>
              <a:ext uri="{FF2B5EF4-FFF2-40B4-BE49-F238E27FC236}">
                <a16:creationId xmlns:a16="http://schemas.microsoft.com/office/drawing/2014/main" id="{52C1DF5E-1BA3-6E5E-AB81-8213A538F3DA}"/>
              </a:ext>
            </a:extLst>
          </p:cNvPr>
          <p:cNvSpPr txBox="1"/>
          <p:nvPr/>
        </p:nvSpPr>
        <p:spPr>
          <a:xfrm>
            <a:off x="1754446" y="3742150"/>
            <a:ext cx="2490490" cy="461665"/>
          </a:xfrm>
          <a:prstGeom prst="rect">
            <a:avLst/>
          </a:prstGeom>
          <a:noFill/>
        </p:spPr>
        <p:txBody>
          <a:bodyPr wrap="none" rtlCol="0">
            <a:spAutoFit/>
          </a:bodyPr>
          <a:lstStyle/>
          <a:p>
            <a:r>
              <a:rPr lang="en-US" sz="2400" dirty="0"/>
              <a:t>Transform vertices</a:t>
            </a:r>
            <a:endParaRPr lang="en-BE" sz="2400" dirty="0"/>
          </a:p>
        </p:txBody>
      </p:sp>
      <p:sp>
        <p:nvSpPr>
          <p:cNvPr id="8" name="TextBox 7">
            <a:extLst>
              <a:ext uri="{FF2B5EF4-FFF2-40B4-BE49-F238E27FC236}">
                <a16:creationId xmlns:a16="http://schemas.microsoft.com/office/drawing/2014/main" id="{324F51B8-2488-8BA0-A9F2-E9838F7D68BF}"/>
              </a:ext>
            </a:extLst>
          </p:cNvPr>
          <p:cNvSpPr txBox="1"/>
          <p:nvPr/>
        </p:nvSpPr>
        <p:spPr>
          <a:xfrm>
            <a:off x="5506012" y="3742151"/>
            <a:ext cx="1345112" cy="461665"/>
          </a:xfrm>
          <a:prstGeom prst="rect">
            <a:avLst/>
          </a:prstGeom>
          <a:noFill/>
        </p:spPr>
        <p:txBody>
          <a:bodyPr wrap="none" rtlCol="0">
            <a:spAutoFit/>
          </a:bodyPr>
          <a:lstStyle/>
          <a:p>
            <a:r>
              <a:rPr lang="en-US" sz="2400" b="1" dirty="0"/>
              <a:t>Rasterize</a:t>
            </a:r>
            <a:endParaRPr lang="en-BE" sz="2400" b="1" dirty="0"/>
          </a:p>
        </p:txBody>
      </p:sp>
      <p:sp>
        <p:nvSpPr>
          <p:cNvPr id="9" name="TextBox 8">
            <a:extLst>
              <a:ext uri="{FF2B5EF4-FFF2-40B4-BE49-F238E27FC236}">
                <a16:creationId xmlns:a16="http://schemas.microsoft.com/office/drawing/2014/main" id="{7DDC59FF-E47A-12C3-11DF-87E440F4AF35}"/>
              </a:ext>
            </a:extLst>
          </p:cNvPr>
          <p:cNvSpPr txBox="1"/>
          <p:nvPr/>
        </p:nvSpPr>
        <p:spPr>
          <a:xfrm>
            <a:off x="8082576" y="3742151"/>
            <a:ext cx="2674835" cy="461665"/>
          </a:xfrm>
          <a:prstGeom prst="rect">
            <a:avLst/>
          </a:prstGeom>
          <a:noFill/>
        </p:spPr>
        <p:txBody>
          <a:bodyPr wrap="none" rtlCol="0">
            <a:spAutoFit/>
          </a:bodyPr>
          <a:lstStyle/>
          <a:p>
            <a:r>
              <a:rPr lang="en-US" sz="2400" dirty="0"/>
              <a:t>Calculate pixel color</a:t>
            </a:r>
            <a:endParaRPr lang="en-BE" sz="2400" dirty="0"/>
          </a:p>
        </p:txBody>
      </p:sp>
      <p:sp>
        <p:nvSpPr>
          <p:cNvPr id="10" name="Arrow: Right 9">
            <a:extLst>
              <a:ext uri="{FF2B5EF4-FFF2-40B4-BE49-F238E27FC236}">
                <a16:creationId xmlns:a16="http://schemas.microsoft.com/office/drawing/2014/main" id="{482D5567-B874-F6D5-EF66-C79349A53D5A}"/>
              </a:ext>
            </a:extLst>
          </p:cNvPr>
          <p:cNvSpPr/>
          <p:nvPr/>
        </p:nvSpPr>
        <p:spPr>
          <a:xfrm>
            <a:off x="2604716" y="2451985"/>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Arrow: Right 10">
            <a:extLst>
              <a:ext uri="{FF2B5EF4-FFF2-40B4-BE49-F238E27FC236}">
                <a16:creationId xmlns:a16="http://schemas.microsoft.com/office/drawing/2014/main" id="{EB05A57B-12E3-A2D2-29D5-609E62FF50C2}"/>
              </a:ext>
            </a:extLst>
          </p:cNvPr>
          <p:cNvSpPr/>
          <p:nvPr/>
        </p:nvSpPr>
        <p:spPr>
          <a:xfrm>
            <a:off x="5713823" y="2410332"/>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Arrow: Right 11">
            <a:extLst>
              <a:ext uri="{FF2B5EF4-FFF2-40B4-BE49-F238E27FC236}">
                <a16:creationId xmlns:a16="http://schemas.microsoft.com/office/drawing/2014/main" id="{C4D2A4D7-5D78-13E2-79F3-5A98470CEEAF}"/>
              </a:ext>
            </a:extLst>
          </p:cNvPr>
          <p:cNvSpPr/>
          <p:nvPr/>
        </p:nvSpPr>
        <p:spPr>
          <a:xfrm>
            <a:off x="8755306" y="2406544"/>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4" name="Picture 13" descr="A close-up of a kite&#10;&#10;Description automatically generated">
            <a:extLst>
              <a:ext uri="{FF2B5EF4-FFF2-40B4-BE49-F238E27FC236}">
                <a16:creationId xmlns:a16="http://schemas.microsoft.com/office/drawing/2014/main" id="{A71E7FC2-8CF1-BC34-38B3-F9C2BC3DED2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453" y="4384914"/>
            <a:ext cx="4748076" cy="1485537"/>
          </a:xfrm>
          <a:prstGeom prst="rect">
            <a:avLst/>
          </a:prstGeom>
        </p:spPr>
      </p:pic>
      <p:pic>
        <p:nvPicPr>
          <p:cNvPr id="15" name="Picture 14">
            <a:extLst>
              <a:ext uri="{FF2B5EF4-FFF2-40B4-BE49-F238E27FC236}">
                <a16:creationId xmlns:a16="http://schemas.microsoft.com/office/drawing/2014/main" id="{E335567C-487B-781B-95CF-A27F10784E1C}"/>
              </a:ext>
            </a:extLst>
          </p:cNvPr>
          <p:cNvPicPr>
            <a:picLocks noChangeAspect="1"/>
          </p:cNvPicPr>
          <p:nvPr/>
        </p:nvPicPr>
        <p:blipFill>
          <a:blip r:embed="rId8"/>
          <a:stretch>
            <a:fillRect/>
          </a:stretch>
        </p:blipFill>
        <p:spPr>
          <a:xfrm>
            <a:off x="9243526" y="4334106"/>
            <a:ext cx="2948473" cy="2523893"/>
          </a:xfrm>
          <a:prstGeom prst="rect">
            <a:avLst/>
          </a:prstGeom>
        </p:spPr>
      </p:pic>
      <p:sp>
        <p:nvSpPr>
          <p:cNvPr id="13" name="TextBox 12">
            <a:extLst>
              <a:ext uri="{FF2B5EF4-FFF2-40B4-BE49-F238E27FC236}">
                <a16:creationId xmlns:a16="http://schemas.microsoft.com/office/drawing/2014/main" id="{1425B28C-3DED-4CFD-0D88-26668A28B74C}"/>
              </a:ext>
            </a:extLst>
          </p:cNvPr>
          <p:cNvSpPr txBox="1"/>
          <p:nvPr/>
        </p:nvSpPr>
        <p:spPr>
          <a:xfrm>
            <a:off x="422126" y="1067339"/>
            <a:ext cx="8884805"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Configurable means that we can’t program the GPU, only set values</a:t>
            </a:r>
            <a:endParaRPr lang="en-BE" sz="2400" dirty="0"/>
          </a:p>
        </p:txBody>
      </p:sp>
    </p:spTree>
    <p:extLst>
      <p:ext uri="{BB962C8B-B14F-4D97-AF65-F5344CB8AC3E}">
        <p14:creationId xmlns:p14="http://schemas.microsoft.com/office/powerpoint/2010/main" val="58091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B84E-C48D-9739-4DC5-AF74D74EB2AE}"/>
              </a:ext>
            </a:extLst>
          </p:cNvPr>
          <p:cNvSpPr>
            <a:spLocks noGrp="1"/>
          </p:cNvSpPr>
          <p:nvPr>
            <p:ph type="title"/>
          </p:nvPr>
        </p:nvSpPr>
        <p:spPr/>
        <p:txBody>
          <a:bodyPr/>
          <a:lstStyle/>
          <a:p>
            <a:r>
              <a:rPr lang="en-US" dirty="0"/>
              <a:t>Configurable -&gt; programmable</a:t>
            </a:r>
            <a:endParaRPr lang="en-BE" dirty="0"/>
          </a:p>
        </p:txBody>
      </p:sp>
      <p:pic>
        <p:nvPicPr>
          <p:cNvPr id="6" name="Picture 5" descr="A picture containing traffic light&#10;&#10;Description automatically generated">
            <a:extLst>
              <a:ext uri="{FF2B5EF4-FFF2-40B4-BE49-F238E27FC236}">
                <a16:creationId xmlns:a16="http://schemas.microsoft.com/office/drawing/2014/main" id="{D77605C3-2481-43E1-5D2C-BD002F905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139" y="1983477"/>
            <a:ext cx="2142478" cy="1067344"/>
          </a:xfrm>
          <a:prstGeom prst="rect">
            <a:avLst/>
          </a:prstGeom>
        </p:spPr>
      </p:pic>
      <p:pic>
        <p:nvPicPr>
          <p:cNvPr id="7" name="Picture 6" descr="A picture containing object&#10;&#10;Description automatically generated">
            <a:extLst>
              <a:ext uri="{FF2B5EF4-FFF2-40B4-BE49-F238E27FC236}">
                <a16:creationId xmlns:a16="http://schemas.microsoft.com/office/drawing/2014/main" id="{F71E7F6B-B9F7-B4A6-CFD1-3D35E08972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3932" y="1947041"/>
            <a:ext cx="2009186" cy="1143409"/>
          </a:xfrm>
          <a:prstGeom prst="rect">
            <a:avLst/>
          </a:prstGeom>
        </p:spPr>
      </p:pic>
      <p:pic>
        <p:nvPicPr>
          <p:cNvPr id="8" name="Picture 7">
            <a:extLst>
              <a:ext uri="{FF2B5EF4-FFF2-40B4-BE49-F238E27FC236}">
                <a16:creationId xmlns:a16="http://schemas.microsoft.com/office/drawing/2014/main" id="{DB9CBF03-6A59-DF49-185B-3642A929DA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0100" y="1947042"/>
            <a:ext cx="1933806" cy="1014596"/>
          </a:xfrm>
          <a:prstGeom prst="rect">
            <a:avLst/>
          </a:prstGeom>
        </p:spPr>
      </p:pic>
      <p:pic>
        <p:nvPicPr>
          <p:cNvPr id="9" name="Picture 8" descr="A picture containing building&#10;&#10;Description automatically generated">
            <a:extLst>
              <a:ext uri="{FF2B5EF4-FFF2-40B4-BE49-F238E27FC236}">
                <a16:creationId xmlns:a16="http://schemas.microsoft.com/office/drawing/2014/main" id="{D74C82DC-DDA0-BA93-F8AB-BFEB94285A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48594" y="1955934"/>
            <a:ext cx="1933806" cy="1014596"/>
          </a:xfrm>
          <a:prstGeom prst="rect">
            <a:avLst/>
          </a:prstGeom>
        </p:spPr>
      </p:pic>
      <p:sp>
        <p:nvSpPr>
          <p:cNvPr id="11" name="TextBox 10">
            <a:extLst>
              <a:ext uri="{FF2B5EF4-FFF2-40B4-BE49-F238E27FC236}">
                <a16:creationId xmlns:a16="http://schemas.microsoft.com/office/drawing/2014/main" id="{C71CA662-1336-56F4-6C0F-F7AEA8E28D19}"/>
              </a:ext>
            </a:extLst>
          </p:cNvPr>
          <p:cNvSpPr txBox="1"/>
          <p:nvPr/>
        </p:nvSpPr>
        <p:spPr>
          <a:xfrm>
            <a:off x="5137712" y="3217992"/>
            <a:ext cx="2767809" cy="830997"/>
          </a:xfrm>
          <a:prstGeom prst="rect">
            <a:avLst/>
          </a:prstGeom>
          <a:noFill/>
        </p:spPr>
        <p:txBody>
          <a:bodyPr wrap="none" rtlCol="0">
            <a:spAutoFit/>
          </a:bodyPr>
          <a:lstStyle/>
          <a:p>
            <a:pPr algn="ctr"/>
            <a:r>
              <a:rPr lang="en-US" sz="2400" b="1" dirty="0"/>
              <a:t>Rasterize</a:t>
            </a:r>
            <a:br>
              <a:rPr lang="en-US" sz="2400" b="1" dirty="0"/>
            </a:br>
            <a:r>
              <a:rPr lang="en-US" sz="2400" b="1" dirty="0"/>
              <a:t>(not programmable)</a:t>
            </a:r>
            <a:endParaRPr lang="en-BE" sz="2400" b="1" dirty="0"/>
          </a:p>
        </p:txBody>
      </p:sp>
      <p:sp>
        <p:nvSpPr>
          <p:cNvPr id="13" name="Arrow: Right 12">
            <a:extLst>
              <a:ext uri="{FF2B5EF4-FFF2-40B4-BE49-F238E27FC236}">
                <a16:creationId xmlns:a16="http://schemas.microsoft.com/office/drawing/2014/main" id="{E6661AA2-B854-7FDA-3D0A-BD0243FEA9F9}"/>
              </a:ext>
            </a:extLst>
          </p:cNvPr>
          <p:cNvSpPr/>
          <p:nvPr/>
        </p:nvSpPr>
        <p:spPr>
          <a:xfrm>
            <a:off x="2833316" y="2426585"/>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 name="Arrow: Right 13">
            <a:extLst>
              <a:ext uri="{FF2B5EF4-FFF2-40B4-BE49-F238E27FC236}">
                <a16:creationId xmlns:a16="http://schemas.microsoft.com/office/drawing/2014/main" id="{2B7E62CC-54F5-C89B-39FA-408BE9D2126C}"/>
              </a:ext>
            </a:extLst>
          </p:cNvPr>
          <p:cNvSpPr/>
          <p:nvPr/>
        </p:nvSpPr>
        <p:spPr>
          <a:xfrm>
            <a:off x="5942423" y="2384932"/>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Arrow: Right 14">
            <a:extLst>
              <a:ext uri="{FF2B5EF4-FFF2-40B4-BE49-F238E27FC236}">
                <a16:creationId xmlns:a16="http://schemas.microsoft.com/office/drawing/2014/main" id="{F8240D2A-FDAA-4F62-7F83-084CAF29650B}"/>
              </a:ext>
            </a:extLst>
          </p:cNvPr>
          <p:cNvSpPr/>
          <p:nvPr/>
        </p:nvSpPr>
        <p:spPr>
          <a:xfrm>
            <a:off x="8983906" y="2381144"/>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TextBox 15">
            <a:extLst>
              <a:ext uri="{FF2B5EF4-FFF2-40B4-BE49-F238E27FC236}">
                <a16:creationId xmlns:a16="http://schemas.microsoft.com/office/drawing/2014/main" id="{0EBE4B34-FF36-D42B-4C4F-3159E48FA5C3}"/>
              </a:ext>
            </a:extLst>
          </p:cNvPr>
          <p:cNvSpPr txBox="1"/>
          <p:nvPr/>
        </p:nvSpPr>
        <p:spPr>
          <a:xfrm>
            <a:off x="2457972" y="3105831"/>
            <a:ext cx="1636666" cy="1323439"/>
          </a:xfrm>
          <a:prstGeom prst="rect">
            <a:avLst/>
          </a:prstGeom>
          <a:noFill/>
        </p:spPr>
        <p:txBody>
          <a:bodyPr wrap="none" rtlCol="0">
            <a:spAutoFit/>
          </a:bodyPr>
          <a:lstStyle/>
          <a:p>
            <a:r>
              <a:rPr lang="en-US" sz="4000" dirty="0"/>
              <a:t>Vertex </a:t>
            </a:r>
            <a:br>
              <a:rPr lang="en-US" sz="4000" dirty="0"/>
            </a:br>
            <a:r>
              <a:rPr lang="en-US" sz="4000" dirty="0"/>
              <a:t>shader</a:t>
            </a:r>
            <a:endParaRPr lang="en-BE" sz="4000" dirty="0"/>
          </a:p>
        </p:txBody>
      </p:sp>
      <p:sp>
        <p:nvSpPr>
          <p:cNvPr id="17" name="TextBox 16">
            <a:extLst>
              <a:ext uri="{FF2B5EF4-FFF2-40B4-BE49-F238E27FC236}">
                <a16:creationId xmlns:a16="http://schemas.microsoft.com/office/drawing/2014/main" id="{573AF1BF-B56E-DA73-09BB-321FC7827FA8}"/>
              </a:ext>
            </a:extLst>
          </p:cNvPr>
          <p:cNvSpPr txBox="1"/>
          <p:nvPr/>
        </p:nvSpPr>
        <p:spPr>
          <a:xfrm>
            <a:off x="8625233" y="3282697"/>
            <a:ext cx="1603324" cy="1323439"/>
          </a:xfrm>
          <a:prstGeom prst="rect">
            <a:avLst/>
          </a:prstGeom>
          <a:noFill/>
        </p:spPr>
        <p:txBody>
          <a:bodyPr wrap="none" rtlCol="0">
            <a:spAutoFit/>
          </a:bodyPr>
          <a:lstStyle/>
          <a:p>
            <a:r>
              <a:rPr lang="en-US" sz="4000" dirty="0"/>
              <a:t>Pixel </a:t>
            </a:r>
            <a:br>
              <a:rPr lang="en-US" sz="4000" dirty="0"/>
            </a:br>
            <a:r>
              <a:rPr lang="en-US" sz="4000" dirty="0"/>
              <a:t>shader</a:t>
            </a:r>
            <a:endParaRPr lang="en-BE" sz="4000" dirty="0"/>
          </a:p>
        </p:txBody>
      </p:sp>
      <p:sp>
        <p:nvSpPr>
          <p:cNvPr id="18" name="TextBox 17">
            <a:extLst>
              <a:ext uri="{FF2B5EF4-FFF2-40B4-BE49-F238E27FC236}">
                <a16:creationId xmlns:a16="http://schemas.microsoft.com/office/drawing/2014/main" id="{42155B4C-62EA-A7E0-5E4D-0387AB5B9CC2}"/>
              </a:ext>
            </a:extLst>
          </p:cNvPr>
          <p:cNvSpPr txBox="1"/>
          <p:nvPr/>
        </p:nvSpPr>
        <p:spPr>
          <a:xfrm>
            <a:off x="1007388" y="4465964"/>
            <a:ext cx="10575012" cy="2862322"/>
          </a:xfrm>
          <a:prstGeom prst="rect">
            <a:avLst/>
          </a:prstGeom>
          <a:noFill/>
        </p:spPr>
        <p:txBody>
          <a:bodyPr wrap="square" rtlCol="0">
            <a:spAutoFit/>
          </a:bodyPr>
          <a:lstStyle/>
          <a:p>
            <a:pPr marL="571500" indent="-571500">
              <a:buFont typeface="Arial" panose="020B0604020202020204" pitchFamily="34" charset="0"/>
              <a:buChar char="•"/>
            </a:pPr>
            <a:r>
              <a:rPr lang="en-US" sz="3600" dirty="0"/>
              <a:t>Shader: program</a:t>
            </a:r>
          </a:p>
          <a:p>
            <a:pPr marL="571500" indent="-571500">
              <a:buFont typeface="Arial" panose="020B0604020202020204" pitchFamily="34" charset="0"/>
              <a:buChar char="•"/>
            </a:pPr>
            <a:r>
              <a:rPr lang="en-US" sz="3600" dirty="0"/>
              <a:t>Massively multithreaded: thousands of pixels/vertices at a time </a:t>
            </a:r>
          </a:p>
          <a:p>
            <a:pPr marL="571500" indent="-571500">
              <a:buFont typeface="Arial" panose="020B0604020202020204" pitchFamily="34" charset="0"/>
              <a:buChar char="•"/>
            </a:pPr>
            <a:r>
              <a:rPr lang="en-US" sz="3600" dirty="0"/>
              <a:t>Glue between shaders is vertex -&gt; rasterizer -&gt; pixels</a:t>
            </a:r>
          </a:p>
          <a:p>
            <a:pPr marL="571500" indent="-571500">
              <a:buFont typeface="Arial" panose="020B0604020202020204" pitchFamily="34" charset="0"/>
              <a:buChar char="•"/>
            </a:pPr>
            <a:endParaRPr lang="en-BE" sz="3600" dirty="0"/>
          </a:p>
        </p:txBody>
      </p:sp>
    </p:spTree>
    <p:extLst>
      <p:ext uri="{BB962C8B-B14F-4D97-AF65-F5344CB8AC3E}">
        <p14:creationId xmlns:p14="http://schemas.microsoft.com/office/powerpoint/2010/main" val="1577439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AF0F6-08FF-6F78-F9BE-2B11E69AD8FE}"/>
              </a:ext>
            </a:extLst>
          </p:cNvPr>
          <p:cNvSpPr>
            <a:spLocks noGrp="1"/>
          </p:cNvSpPr>
          <p:nvPr>
            <p:ph type="title"/>
          </p:nvPr>
        </p:nvSpPr>
        <p:spPr/>
        <p:txBody>
          <a:bodyPr/>
          <a:lstStyle/>
          <a:p>
            <a:r>
              <a:rPr lang="en-US" dirty="0"/>
              <a:t>Compute shaders also exist</a:t>
            </a:r>
            <a:endParaRPr lang="en-BE" dirty="0"/>
          </a:p>
        </p:txBody>
      </p:sp>
      <p:sp>
        <p:nvSpPr>
          <p:cNvPr id="3" name="TextBox 2">
            <a:extLst>
              <a:ext uri="{FF2B5EF4-FFF2-40B4-BE49-F238E27FC236}">
                <a16:creationId xmlns:a16="http://schemas.microsoft.com/office/drawing/2014/main" id="{893058B6-0C55-C46C-F77E-60C48DC13653}"/>
              </a:ext>
            </a:extLst>
          </p:cNvPr>
          <p:cNvSpPr txBox="1"/>
          <p:nvPr/>
        </p:nvSpPr>
        <p:spPr>
          <a:xfrm>
            <a:off x="596900" y="2090172"/>
            <a:ext cx="9639300"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VS and PS started out as separate hardware</a:t>
            </a:r>
          </a:p>
          <a:p>
            <a:pPr marL="285750" indent="-285750">
              <a:buFont typeface="Arial" panose="020B0604020202020204" pitchFamily="34" charset="0"/>
              <a:buChar char="•"/>
            </a:pPr>
            <a:r>
              <a:rPr lang="en-US" sz="2800" dirty="0"/>
              <a:t>Later, they created a compute shader (CS)</a:t>
            </a:r>
          </a:p>
          <a:p>
            <a:pPr marL="285750" indent="-285750">
              <a:buFont typeface="Arial" panose="020B0604020202020204" pitchFamily="34" charset="0"/>
              <a:buChar char="•"/>
            </a:pPr>
            <a:r>
              <a:rPr lang="en-US" sz="2800" dirty="0"/>
              <a:t>VS AND PS use a CS under de hood</a:t>
            </a:r>
            <a:br>
              <a:rPr lang="en-US" sz="2800" dirty="0"/>
            </a:br>
            <a:br>
              <a:rPr lang="en-US" sz="2800" dirty="0"/>
            </a:br>
            <a:endParaRPr lang="en-US" sz="2800" dirty="0"/>
          </a:p>
          <a:p>
            <a:pPr marL="285750" indent="-285750">
              <a:buFont typeface="Arial" panose="020B0604020202020204" pitchFamily="34" charset="0"/>
              <a:buChar char="•"/>
            </a:pPr>
            <a:r>
              <a:rPr lang="en-US" sz="2800" dirty="0"/>
              <a:t>This generalization led directly to the rise of modern AI </a:t>
            </a:r>
            <a:r>
              <a:rPr lang="en-US" sz="2800" dirty="0">
                <a:sym typeface="Wingdings" panose="05000000000000000000" pitchFamily="2" charset="2"/>
              </a:rPr>
              <a:t></a:t>
            </a:r>
          </a:p>
          <a:p>
            <a:pPr marL="285750" indent="-285750">
              <a:buFont typeface="Arial" panose="020B0604020202020204" pitchFamily="34" charset="0"/>
              <a:buChar char="•"/>
            </a:pPr>
            <a:r>
              <a:rPr lang="en-US" sz="2800" dirty="0">
                <a:sym typeface="Wingdings" panose="05000000000000000000" pitchFamily="2" charset="2"/>
              </a:rPr>
              <a:t>Also bitcoin </a:t>
            </a:r>
          </a:p>
          <a:p>
            <a:pPr marL="285750" indent="-285750">
              <a:buFont typeface="Arial" panose="020B0604020202020204" pitchFamily="34" charset="0"/>
              <a:buChar char="•"/>
            </a:pPr>
            <a:r>
              <a:rPr lang="en-US" sz="2800" dirty="0">
                <a:sym typeface="Wingdings" panose="05000000000000000000" pitchFamily="2" charset="2"/>
              </a:rPr>
              <a:t>Most supercomputers use GPU’s….</a:t>
            </a:r>
          </a:p>
          <a:p>
            <a:pPr marL="285750" indent="-285750">
              <a:buFont typeface="Arial" panose="020B0604020202020204" pitchFamily="34" charset="0"/>
              <a:buChar char="•"/>
            </a:pPr>
            <a:r>
              <a:rPr lang="en-US" sz="2800" dirty="0">
                <a:sym typeface="Wingdings" panose="05000000000000000000" pitchFamily="2" charset="2"/>
              </a:rPr>
              <a:t>Not bad for some gaming hardware.. </a:t>
            </a:r>
          </a:p>
          <a:p>
            <a:pPr marL="285750" indent="-285750">
              <a:buFont typeface="Arial" panose="020B0604020202020204" pitchFamily="34" charset="0"/>
              <a:buChar char="•"/>
            </a:pPr>
            <a:endParaRPr lang="en-BE" sz="2800" dirty="0"/>
          </a:p>
        </p:txBody>
      </p:sp>
    </p:spTree>
    <p:extLst>
      <p:ext uri="{BB962C8B-B14F-4D97-AF65-F5344CB8AC3E}">
        <p14:creationId xmlns:p14="http://schemas.microsoft.com/office/powerpoint/2010/main" val="1128762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2A19-67F8-4842-26CB-10D742D0B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F1B09-5B0F-4D44-B562-8D6BC0147E97}"/>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DD0A392-DAC4-94DD-58AE-D81175F6D0AE}"/>
              </a:ext>
            </a:extLst>
          </p:cNvPr>
          <p:cNvSpPr txBox="1"/>
          <p:nvPr/>
        </p:nvSpPr>
        <p:spPr>
          <a:xfrm>
            <a:off x="989901" y="1690689"/>
            <a:ext cx="5429559"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The graphics pipeline</a:t>
            </a:r>
          </a:p>
          <a:p>
            <a:pPr marL="285750" indent="-285750">
              <a:buFont typeface="Arial" panose="020B0604020202020204" pitchFamily="34" charset="0"/>
              <a:buChar char="•"/>
            </a:pPr>
            <a:r>
              <a:rPr lang="en-US" sz="2800" dirty="0">
                <a:sym typeface="Wingdings" panose="05000000000000000000" pitchFamily="2" charset="2"/>
              </a:rPr>
              <a:t> Shaders </a:t>
            </a:r>
          </a:p>
          <a:p>
            <a:pPr marL="285750" indent="-285750">
              <a:buFont typeface="Arial" panose="020B0604020202020204" pitchFamily="34" charset="0"/>
              <a:buChar char="•"/>
            </a:pPr>
            <a:r>
              <a:rPr lang="en-US" sz="2800" dirty="0">
                <a:sym typeface="Wingdings" panose="05000000000000000000" pitchFamily="2" charset="2"/>
              </a:rPr>
              <a:t>Materials</a:t>
            </a:r>
          </a:p>
        </p:txBody>
      </p:sp>
    </p:spTree>
    <p:extLst>
      <p:ext uri="{BB962C8B-B14F-4D97-AF65-F5344CB8AC3E}">
        <p14:creationId xmlns:p14="http://schemas.microsoft.com/office/powerpoint/2010/main" val="383325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69-FAF3-C071-5C39-5B725A2A6404}"/>
              </a:ext>
            </a:extLst>
          </p:cNvPr>
          <p:cNvSpPr>
            <a:spLocks noGrp="1"/>
          </p:cNvSpPr>
          <p:nvPr>
            <p:ph type="title"/>
          </p:nvPr>
        </p:nvSpPr>
        <p:spPr/>
        <p:txBody>
          <a:bodyPr/>
          <a:lstStyle/>
          <a:p>
            <a:r>
              <a:rPr lang="en-US" dirty="0"/>
              <a:t>But what does programmable look like?</a:t>
            </a:r>
            <a:endParaRPr lang="en-BE" dirty="0"/>
          </a:p>
        </p:txBody>
      </p:sp>
      <p:sp>
        <p:nvSpPr>
          <p:cNvPr id="3" name="TextBox 2">
            <a:extLst>
              <a:ext uri="{FF2B5EF4-FFF2-40B4-BE49-F238E27FC236}">
                <a16:creationId xmlns:a16="http://schemas.microsoft.com/office/drawing/2014/main" id="{E03ADAFB-EA2A-C494-49A0-63915B3EB5F0}"/>
              </a:ext>
            </a:extLst>
          </p:cNvPr>
          <p:cNvSpPr txBox="1"/>
          <p:nvPr/>
        </p:nvSpPr>
        <p:spPr>
          <a:xfrm>
            <a:off x="635000" y="1690688"/>
            <a:ext cx="8743291"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We use HLSL. GLSL also exists, but they all look pretty similar</a:t>
            </a:r>
          </a:p>
          <a:p>
            <a:pPr marL="285750" indent="-285750">
              <a:buFont typeface="Arial" panose="020B0604020202020204" pitchFamily="34" charset="0"/>
              <a:buChar char="•"/>
            </a:pPr>
            <a:r>
              <a:rPr lang="en-US" sz="2400" dirty="0"/>
              <a:t>They are c-like, have structs and functions, but no </a:t>
            </a:r>
            <a:r>
              <a:rPr lang="en-US" sz="2400" dirty="0" err="1"/>
              <a:t>oo</a:t>
            </a:r>
            <a:r>
              <a:rPr lang="en-US" sz="2400" dirty="0"/>
              <a:t> (inheritance)</a:t>
            </a:r>
          </a:p>
          <a:p>
            <a:pPr marL="285750" indent="-285750">
              <a:buFont typeface="Arial" panose="020B0604020202020204" pitchFamily="34" charset="0"/>
              <a:buChar char="•"/>
            </a:pPr>
            <a:r>
              <a:rPr lang="en-US" sz="2400" dirty="0"/>
              <a:t>You can’t run them directly, you need both when you draw a mesh</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BE" sz="2400" dirty="0"/>
          </a:p>
        </p:txBody>
      </p:sp>
      <p:pic>
        <p:nvPicPr>
          <p:cNvPr id="5" name="Picture 4" descr="A screen shot of a computer code&#10;&#10;AI-generated content may be incorrect.">
            <a:extLst>
              <a:ext uri="{FF2B5EF4-FFF2-40B4-BE49-F238E27FC236}">
                <a16:creationId xmlns:a16="http://schemas.microsoft.com/office/drawing/2014/main" id="{A076A802-45DA-DCCB-7160-88A494DCF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0235" y="2875415"/>
            <a:ext cx="7171765" cy="3982585"/>
          </a:xfrm>
          <a:prstGeom prst="rect">
            <a:avLst/>
          </a:prstGeom>
        </p:spPr>
      </p:pic>
    </p:spTree>
    <p:extLst>
      <p:ext uri="{BB962C8B-B14F-4D97-AF65-F5344CB8AC3E}">
        <p14:creationId xmlns:p14="http://schemas.microsoft.com/office/powerpoint/2010/main" val="4215191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B695-BFA0-295A-7566-4D46A9015B4D}"/>
              </a:ext>
            </a:extLst>
          </p:cNvPr>
          <p:cNvSpPr>
            <a:spLocks noGrp="1"/>
          </p:cNvSpPr>
          <p:nvPr>
            <p:ph type="title"/>
          </p:nvPr>
        </p:nvSpPr>
        <p:spPr/>
        <p:txBody>
          <a:bodyPr/>
          <a:lstStyle/>
          <a:p>
            <a:r>
              <a:rPr lang="en-US" dirty="0"/>
              <a:t>Normal render</a:t>
            </a:r>
            <a:endParaRPr lang="en-BE" dirty="0"/>
          </a:p>
        </p:txBody>
      </p:sp>
      <p:pic>
        <p:nvPicPr>
          <p:cNvPr id="4" name="Picture 3">
            <a:extLst>
              <a:ext uri="{FF2B5EF4-FFF2-40B4-BE49-F238E27FC236}">
                <a16:creationId xmlns:a16="http://schemas.microsoft.com/office/drawing/2014/main" id="{7D69AEFD-3B66-479D-E195-E9D4ECB53C40}"/>
              </a:ext>
            </a:extLst>
          </p:cNvPr>
          <p:cNvPicPr>
            <a:picLocks noChangeAspect="1"/>
          </p:cNvPicPr>
          <p:nvPr/>
        </p:nvPicPr>
        <p:blipFill>
          <a:blip r:embed="rId3"/>
          <a:stretch>
            <a:fillRect/>
          </a:stretch>
        </p:blipFill>
        <p:spPr>
          <a:xfrm>
            <a:off x="1111107" y="2227729"/>
            <a:ext cx="6331987" cy="4634753"/>
          </a:xfrm>
          <a:prstGeom prst="rect">
            <a:avLst/>
          </a:prstGeom>
        </p:spPr>
      </p:pic>
    </p:spTree>
    <p:extLst>
      <p:ext uri="{BB962C8B-B14F-4D97-AF65-F5344CB8AC3E}">
        <p14:creationId xmlns:p14="http://schemas.microsoft.com/office/powerpoint/2010/main" val="4249851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4F0ED-7BF0-3102-6D2B-A99E139745F4}"/>
              </a:ext>
            </a:extLst>
          </p:cNvPr>
          <p:cNvSpPr>
            <a:spLocks noGrp="1"/>
          </p:cNvSpPr>
          <p:nvPr>
            <p:ph type="title"/>
          </p:nvPr>
        </p:nvSpPr>
        <p:spPr/>
        <p:txBody>
          <a:bodyPr/>
          <a:lstStyle/>
          <a:p>
            <a:r>
              <a:rPr lang="en-US" dirty="0"/>
              <a:t>Vertex offset</a:t>
            </a:r>
            <a:endParaRPr lang="en-BE" dirty="0"/>
          </a:p>
        </p:txBody>
      </p:sp>
      <p:pic>
        <p:nvPicPr>
          <p:cNvPr id="4" name="Picture 3">
            <a:extLst>
              <a:ext uri="{FF2B5EF4-FFF2-40B4-BE49-F238E27FC236}">
                <a16:creationId xmlns:a16="http://schemas.microsoft.com/office/drawing/2014/main" id="{E23432D3-3BF6-D77E-E2E0-11F81AB2FE84}"/>
              </a:ext>
            </a:extLst>
          </p:cNvPr>
          <p:cNvPicPr>
            <a:picLocks noChangeAspect="1"/>
          </p:cNvPicPr>
          <p:nvPr/>
        </p:nvPicPr>
        <p:blipFill>
          <a:blip r:embed="rId3"/>
          <a:stretch>
            <a:fillRect/>
          </a:stretch>
        </p:blipFill>
        <p:spPr>
          <a:xfrm>
            <a:off x="6296048" y="0"/>
            <a:ext cx="5695904" cy="6858000"/>
          </a:xfrm>
          <a:prstGeom prst="rect">
            <a:avLst/>
          </a:prstGeom>
        </p:spPr>
      </p:pic>
      <p:pic>
        <p:nvPicPr>
          <p:cNvPr id="6" name="Picture 5">
            <a:extLst>
              <a:ext uri="{FF2B5EF4-FFF2-40B4-BE49-F238E27FC236}">
                <a16:creationId xmlns:a16="http://schemas.microsoft.com/office/drawing/2014/main" id="{FA7B467F-5198-6CDC-0993-863E7CB58CFE}"/>
              </a:ext>
            </a:extLst>
          </p:cNvPr>
          <p:cNvPicPr>
            <a:picLocks noChangeAspect="1"/>
          </p:cNvPicPr>
          <p:nvPr/>
        </p:nvPicPr>
        <p:blipFill>
          <a:blip r:embed="rId4"/>
          <a:stretch>
            <a:fillRect/>
          </a:stretch>
        </p:blipFill>
        <p:spPr>
          <a:xfrm>
            <a:off x="0" y="2320669"/>
            <a:ext cx="6296048" cy="4537331"/>
          </a:xfrm>
          <a:prstGeom prst="rect">
            <a:avLst/>
          </a:prstGeom>
        </p:spPr>
      </p:pic>
    </p:spTree>
    <p:extLst>
      <p:ext uri="{BB962C8B-B14F-4D97-AF65-F5344CB8AC3E}">
        <p14:creationId xmlns:p14="http://schemas.microsoft.com/office/powerpoint/2010/main" val="573163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3CDE5-9072-7A21-51FE-689F69F1092B}"/>
              </a:ext>
            </a:extLst>
          </p:cNvPr>
          <p:cNvSpPr>
            <a:spLocks noGrp="1"/>
          </p:cNvSpPr>
          <p:nvPr>
            <p:ph type="title"/>
          </p:nvPr>
        </p:nvSpPr>
        <p:spPr/>
        <p:txBody>
          <a:bodyPr/>
          <a:lstStyle/>
          <a:p>
            <a:endParaRPr lang="en-BE"/>
          </a:p>
        </p:txBody>
      </p:sp>
      <p:pic>
        <p:nvPicPr>
          <p:cNvPr id="3" name="Picture 2">
            <a:extLst>
              <a:ext uri="{FF2B5EF4-FFF2-40B4-BE49-F238E27FC236}">
                <a16:creationId xmlns:a16="http://schemas.microsoft.com/office/drawing/2014/main" id="{29B10CD7-41FD-1B2D-8A17-4F46F005DD49}"/>
              </a:ext>
            </a:extLst>
          </p:cNvPr>
          <p:cNvPicPr>
            <a:picLocks noChangeAspect="1"/>
          </p:cNvPicPr>
          <p:nvPr/>
        </p:nvPicPr>
        <p:blipFill>
          <a:blip r:embed="rId3"/>
          <a:stretch>
            <a:fillRect/>
          </a:stretch>
        </p:blipFill>
        <p:spPr>
          <a:xfrm>
            <a:off x="0" y="0"/>
            <a:ext cx="5695904" cy="6858000"/>
          </a:xfrm>
          <a:prstGeom prst="rect">
            <a:avLst/>
          </a:prstGeom>
        </p:spPr>
      </p:pic>
      <p:cxnSp>
        <p:nvCxnSpPr>
          <p:cNvPr id="5" name="Straight Arrow Connector 4">
            <a:extLst>
              <a:ext uri="{FF2B5EF4-FFF2-40B4-BE49-F238E27FC236}">
                <a16:creationId xmlns:a16="http://schemas.microsoft.com/office/drawing/2014/main" id="{C228182F-BA54-CFAE-2938-2EFBEDA2E076}"/>
              </a:ext>
            </a:extLst>
          </p:cNvPr>
          <p:cNvCxnSpPr/>
          <p:nvPr/>
        </p:nvCxnSpPr>
        <p:spPr>
          <a:xfrm>
            <a:off x="1511300" y="584200"/>
            <a:ext cx="45847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FD8DC50-077B-7A1D-3388-CE751E068E9E}"/>
              </a:ext>
            </a:extLst>
          </p:cNvPr>
          <p:cNvSpPr txBox="1"/>
          <p:nvPr/>
        </p:nvSpPr>
        <p:spPr>
          <a:xfrm>
            <a:off x="6096000" y="584199"/>
            <a:ext cx="5753099" cy="3416320"/>
          </a:xfrm>
          <a:prstGeom prst="rect">
            <a:avLst/>
          </a:prstGeom>
          <a:noFill/>
        </p:spPr>
        <p:txBody>
          <a:bodyPr wrap="square" rtlCol="0">
            <a:spAutoFit/>
          </a:bodyPr>
          <a:lstStyle/>
          <a:p>
            <a:pPr marL="285750" indent="-285750">
              <a:buFont typeface="Arial" panose="020B0604020202020204" pitchFamily="34" charset="0"/>
              <a:buChar char="•"/>
            </a:pPr>
            <a:r>
              <a:rPr lang="en-US" sz="3600" dirty="0"/>
              <a:t>Properties</a:t>
            </a:r>
          </a:p>
          <a:p>
            <a:pPr marL="285750" indent="-285750">
              <a:buFont typeface="Arial" panose="020B0604020202020204" pitchFamily="34" charset="0"/>
              <a:buChar char="•"/>
            </a:pPr>
            <a:r>
              <a:rPr lang="en-US" sz="3600" dirty="0"/>
              <a:t>Variables that can be accessed (set) from script (</a:t>
            </a:r>
            <a:r>
              <a:rPr lang="en-US" sz="3600" dirty="0" err="1"/>
              <a:t>cpu</a:t>
            </a:r>
            <a:r>
              <a:rPr lang="en-US" sz="3600" dirty="0"/>
              <a:t>)</a:t>
            </a:r>
          </a:p>
          <a:p>
            <a:pPr marL="285750" indent="-285750">
              <a:buFont typeface="Arial" panose="020B0604020202020204" pitchFamily="34" charset="0"/>
              <a:buChar char="•"/>
            </a:pPr>
            <a:r>
              <a:rPr lang="en-US" sz="3600" dirty="0"/>
              <a:t>This is what artists usually interact with</a:t>
            </a:r>
            <a:endParaRPr lang="en-BE" sz="3600" dirty="0"/>
          </a:p>
        </p:txBody>
      </p:sp>
    </p:spTree>
    <p:extLst>
      <p:ext uri="{BB962C8B-B14F-4D97-AF65-F5344CB8AC3E}">
        <p14:creationId xmlns:p14="http://schemas.microsoft.com/office/powerpoint/2010/main" val="3677477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B273-5E2F-3236-D56F-25FD47C3F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E8126-3CCE-3650-156C-C88520125534}"/>
              </a:ext>
            </a:extLst>
          </p:cNvPr>
          <p:cNvSpPr>
            <a:spLocks noGrp="1"/>
          </p:cNvSpPr>
          <p:nvPr>
            <p:ph type="title"/>
          </p:nvPr>
        </p:nvSpPr>
        <p:spPr/>
        <p:txBody>
          <a:bodyPr/>
          <a:lstStyle/>
          <a:p>
            <a:endParaRPr lang="en-BE"/>
          </a:p>
        </p:txBody>
      </p:sp>
      <p:pic>
        <p:nvPicPr>
          <p:cNvPr id="3" name="Picture 2">
            <a:extLst>
              <a:ext uri="{FF2B5EF4-FFF2-40B4-BE49-F238E27FC236}">
                <a16:creationId xmlns:a16="http://schemas.microsoft.com/office/drawing/2014/main" id="{911E8890-B0A2-12F9-7995-B83F96694D76}"/>
              </a:ext>
            </a:extLst>
          </p:cNvPr>
          <p:cNvPicPr>
            <a:picLocks noChangeAspect="1"/>
          </p:cNvPicPr>
          <p:nvPr/>
        </p:nvPicPr>
        <p:blipFill>
          <a:blip r:embed="rId3"/>
          <a:stretch>
            <a:fillRect/>
          </a:stretch>
        </p:blipFill>
        <p:spPr>
          <a:xfrm>
            <a:off x="0" y="0"/>
            <a:ext cx="5695904" cy="6858000"/>
          </a:xfrm>
          <a:prstGeom prst="rect">
            <a:avLst/>
          </a:prstGeom>
        </p:spPr>
      </p:pic>
      <p:cxnSp>
        <p:nvCxnSpPr>
          <p:cNvPr id="5" name="Straight Arrow Connector 4">
            <a:extLst>
              <a:ext uri="{FF2B5EF4-FFF2-40B4-BE49-F238E27FC236}">
                <a16:creationId xmlns:a16="http://schemas.microsoft.com/office/drawing/2014/main" id="{3D987527-3BAB-B4BA-F2F6-3EACFCB15EE5}"/>
              </a:ext>
            </a:extLst>
          </p:cNvPr>
          <p:cNvCxnSpPr>
            <a:cxnSpLocks/>
          </p:cNvCxnSpPr>
          <p:nvPr/>
        </p:nvCxnSpPr>
        <p:spPr>
          <a:xfrm flipV="1">
            <a:off x="3803650" y="1003300"/>
            <a:ext cx="2292350" cy="10033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0587A95-3DA7-E41B-0B3D-B6B3073FE113}"/>
              </a:ext>
            </a:extLst>
          </p:cNvPr>
          <p:cNvSpPr txBox="1"/>
          <p:nvPr/>
        </p:nvSpPr>
        <p:spPr>
          <a:xfrm>
            <a:off x="6096000" y="584199"/>
            <a:ext cx="5753099" cy="2862322"/>
          </a:xfrm>
          <a:prstGeom prst="rect">
            <a:avLst/>
          </a:prstGeom>
          <a:noFill/>
        </p:spPr>
        <p:txBody>
          <a:bodyPr wrap="square" rtlCol="0">
            <a:spAutoFit/>
          </a:bodyPr>
          <a:lstStyle/>
          <a:p>
            <a:pPr marL="285750" indent="-285750">
              <a:buFont typeface="Arial" panose="020B0604020202020204" pitchFamily="34" charset="0"/>
              <a:buChar char="•"/>
            </a:pPr>
            <a:r>
              <a:rPr lang="en-US" sz="3600" dirty="0"/>
              <a:t>Tags</a:t>
            </a:r>
          </a:p>
          <a:p>
            <a:pPr marL="285750" indent="-285750">
              <a:buFont typeface="Arial" panose="020B0604020202020204" pitchFamily="34" charset="0"/>
              <a:buChar char="•"/>
            </a:pPr>
            <a:r>
              <a:rPr lang="en-US" sz="3600" dirty="0"/>
              <a:t>Can make changers to the rasterizer (opaque == not transparent)</a:t>
            </a:r>
          </a:p>
          <a:p>
            <a:pPr marL="285750" indent="-285750">
              <a:buFont typeface="Arial" panose="020B0604020202020204" pitchFamily="34" charset="0"/>
              <a:buChar char="•"/>
            </a:pPr>
            <a:endParaRPr lang="en-BE" sz="3600" dirty="0"/>
          </a:p>
        </p:txBody>
      </p:sp>
    </p:spTree>
    <p:extLst>
      <p:ext uri="{BB962C8B-B14F-4D97-AF65-F5344CB8AC3E}">
        <p14:creationId xmlns:p14="http://schemas.microsoft.com/office/powerpoint/2010/main" val="757293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CA425-ED59-91A9-7F37-96536F0B4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E2438-1423-68C7-68C8-9F88753647CB}"/>
              </a:ext>
            </a:extLst>
          </p:cNvPr>
          <p:cNvSpPr>
            <a:spLocks noGrp="1"/>
          </p:cNvSpPr>
          <p:nvPr>
            <p:ph type="title"/>
          </p:nvPr>
        </p:nvSpPr>
        <p:spPr/>
        <p:txBody>
          <a:bodyPr/>
          <a:lstStyle/>
          <a:p>
            <a:endParaRPr lang="en-BE"/>
          </a:p>
        </p:txBody>
      </p:sp>
      <p:pic>
        <p:nvPicPr>
          <p:cNvPr id="3" name="Picture 2">
            <a:extLst>
              <a:ext uri="{FF2B5EF4-FFF2-40B4-BE49-F238E27FC236}">
                <a16:creationId xmlns:a16="http://schemas.microsoft.com/office/drawing/2014/main" id="{34F2E5F0-F58A-0B73-DBF2-43FDB1234692}"/>
              </a:ext>
            </a:extLst>
          </p:cNvPr>
          <p:cNvPicPr>
            <a:picLocks noChangeAspect="1"/>
          </p:cNvPicPr>
          <p:nvPr/>
        </p:nvPicPr>
        <p:blipFill>
          <a:blip r:embed="rId3"/>
          <a:stretch>
            <a:fillRect/>
          </a:stretch>
        </p:blipFill>
        <p:spPr>
          <a:xfrm>
            <a:off x="0" y="0"/>
            <a:ext cx="5695904" cy="6858000"/>
          </a:xfrm>
          <a:prstGeom prst="rect">
            <a:avLst/>
          </a:prstGeom>
        </p:spPr>
      </p:pic>
      <p:cxnSp>
        <p:nvCxnSpPr>
          <p:cNvPr id="5" name="Straight Arrow Connector 4">
            <a:extLst>
              <a:ext uri="{FF2B5EF4-FFF2-40B4-BE49-F238E27FC236}">
                <a16:creationId xmlns:a16="http://schemas.microsoft.com/office/drawing/2014/main" id="{69734ED6-F494-FBBB-5FD9-427CA27B9EDC}"/>
              </a:ext>
            </a:extLst>
          </p:cNvPr>
          <p:cNvCxnSpPr>
            <a:cxnSpLocks/>
          </p:cNvCxnSpPr>
          <p:nvPr/>
        </p:nvCxnSpPr>
        <p:spPr>
          <a:xfrm flipV="1">
            <a:off x="3803650" y="1003300"/>
            <a:ext cx="2292350" cy="10033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15A5363-AC4C-F884-C979-900987263663}"/>
              </a:ext>
            </a:extLst>
          </p:cNvPr>
          <p:cNvSpPr txBox="1"/>
          <p:nvPr/>
        </p:nvSpPr>
        <p:spPr>
          <a:xfrm>
            <a:off x="6096000" y="584199"/>
            <a:ext cx="5753099" cy="2862322"/>
          </a:xfrm>
          <a:prstGeom prst="rect">
            <a:avLst/>
          </a:prstGeom>
          <a:noFill/>
        </p:spPr>
        <p:txBody>
          <a:bodyPr wrap="square" rtlCol="0">
            <a:spAutoFit/>
          </a:bodyPr>
          <a:lstStyle/>
          <a:p>
            <a:pPr marL="285750" indent="-285750">
              <a:buFont typeface="Arial" panose="020B0604020202020204" pitchFamily="34" charset="0"/>
              <a:buChar char="•"/>
            </a:pPr>
            <a:r>
              <a:rPr lang="en-US" sz="3600" dirty="0"/>
              <a:t>Tags</a:t>
            </a:r>
          </a:p>
          <a:p>
            <a:pPr marL="285750" indent="-285750">
              <a:buFont typeface="Arial" panose="020B0604020202020204" pitchFamily="34" charset="0"/>
              <a:buChar char="•"/>
            </a:pPr>
            <a:r>
              <a:rPr lang="en-US" sz="3600" dirty="0"/>
              <a:t>Can make changers to the rasterizer (opaque == not transparent)</a:t>
            </a:r>
          </a:p>
          <a:p>
            <a:pPr marL="285750" indent="-285750">
              <a:buFont typeface="Arial" panose="020B0604020202020204" pitchFamily="34" charset="0"/>
              <a:buChar char="•"/>
            </a:pPr>
            <a:endParaRPr lang="en-BE" sz="3600" dirty="0"/>
          </a:p>
        </p:txBody>
      </p:sp>
    </p:spTree>
    <p:extLst>
      <p:ext uri="{BB962C8B-B14F-4D97-AF65-F5344CB8AC3E}">
        <p14:creationId xmlns:p14="http://schemas.microsoft.com/office/powerpoint/2010/main" val="2636516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300E-D68E-35C9-28ED-08E3862EB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14E92-5F39-7F5B-6EBC-24BA60EFDC4B}"/>
              </a:ext>
            </a:extLst>
          </p:cNvPr>
          <p:cNvSpPr>
            <a:spLocks noGrp="1"/>
          </p:cNvSpPr>
          <p:nvPr>
            <p:ph type="title"/>
          </p:nvPr>
        </p:nvSpPr>
        <p:spPr/>
        <p:txBody>
          <a:bodyPr/>
          <a:lstStyle/>
          <a:p>
            <a:endParaRPr lang="en-BE" dirty="0"/>
          </a:p>
        </p:txBody>
      </p:sp>
      <p:pic>
        <p:nvPicPr>
          <p:cNvPr id="3" name="Picture 2">
            <a:extLst>
              <a:ext uri="{FF2B5EF4-FFF2-40B4-BE49-F238E27FC236}">
                <a16:creationId xmlns:a16="http://schemas.microsoft.com/office/drawing/2014/main" id="{EEFAF4C9-EFF5-D4A2-8676-03D9B04F4274}"/>
              </a:ext>
            </a:extLst>
          </p:cNvPr>
          <p:cNvPicPr>
            <a:picLocks noChangeAspect="1"/>
          </p:cNvPicPr>
          <p:nvPr/>
        </p:nvPicPr>
        <p:blipFill>
          <a:blip r:embed="rId3"/>
          <a:stretch>
            <a:fillRect/>
          </a:stretch>
        </p:blipFill>
        <p:spPr>
          <a:xfrm>
            <a:off x="0" y="17521"/>
            <a:ext cx="5695904" cy="6858000"/>
          </a:xfrm>
          <a:prstGeom prst="rect">
            <a:avLst/>
          </a:prstGeom>
        </p:spPr>
      </p:pic>
      <p:cxnSp>
        <p:nvCxnSpPr>
          <p:cNvPr id="5" name="Straight Arrow Connector 4">
            <a:extLst>
              <a:ext uri="{FF2B5EF4-FFF2-40B4-BE49-F238E27FC236}">
                <a16:creationId xmlns:a16="http://schemas.microsoft.com/office/drawing/2014/main" id="{05746CFA-1812-E0BB-96E3-C52121487A9A}"/>
              </a:ext>
            </a:extLst>
          </p:cNvPr>
          <p:cNvCxnSpPr>
            <a:cxnSpLocks/>
          </p:cNvCxnSpPr>
          <p:nvPr/>
        </p:nvCxnSpPr>
        <p:spPr>
          <a:xfrm flipV="1">
            <a:off x="4749777" y="863600"/>
            <a:ext cx="1746321" cy="16534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8077956-2861-8930-7798-5CF13FEFD290}"/>
              </a:ext>
            </a:extLst>
          </p:cNvPr>
          <p:cNvSpPr txBox="1"/>
          <p:nvPr/>
        </p:nvSpPr>
        <p:spPr>
          <a:xfrm>
            <a:off x="6445229" y="365125"/>
            <a:ext cx="5753099" cy="2862322"/>
          </a:xfrm>
          <a:prstGeom prst="rect">
            <a:avLst/>
          </a:prstGeom>
          <a:noFill/>
        </p:spPr>
        <p:txBody>
          <a:bodyPr wrap="square" rtlCol="0">
            <a:spAutoFit/>
          </a:bodyPr>
          <a:lstStyle/>
          <a:p>
            <a:pPr marL="285750" indent="-285750">
              <a:buFont typeface="Arial" panose="020B0604020202020204" pitchFamily="34" charset="0"/>
              <a:buChar char="•"/>
            </a:pPr>
            <a:r>
              <a:rPr lang="en-US" sz="3600" dirty="0"/>
              <a:t>pragma</a:t>
            </a:r>
          </a:p>
          <a:p>
            <a:pPr marL="285750" indent="-285750">
              <a:buFont typeface="Arial" panose="020B0604020202020204" pitchFamily="34" charset="0"/>
              <a:buChar char="•"/>
            </a:pPr>
            <a:r>
              <a:rPr lang="en-US" sz="3600" dirty="0"/>
              <a:t>Weird syntax (preprocessor)</a:t>
            </a:r>
          </a:p>
          <a:p>
            <a:pPr marL="285750" indent="-285750">
              <a:buFont typeface="Arial" panose="020B0604020202020204" pitchFamily="34" charset="0"/>
              <a:buChar char="•"/>
            </a:pPr>
            <a:r>
              <a:rPr lang="en-US" sz="3600" dirty="0"/>
              <a:t>Define global things</a:t>
            </a:r>
          </a:p>
          <a:p>
            <a:pPr marL="285750" indent="-285750">
              <a:buFont typeface="Arial" panose="020B0604020202020204" pitchFamily="34" charset="0"/>
              <a:buChar char="•"/>
            </a:pPr>
            <a:r>
              <a:rPr lang="en-US" sz="3600" dirty="0"/>
              <a:t>Here: which functions is the vs / </a:t>
            </a:r>
            <a:r>
              <a:rPr lang="en-US" sz="3600" dirty="0" err="1"/>
              <a:t>ps</a:t>
            </a:r>
            <a:r>
              <a:rPr lang="en-US" sz="3600" dirty="0"/>
              <a:t>?</a:t>
            </a:r>
            <a:endParaRPr lang="en-BE" sz="3600" dirty="0"/>
          </a:p>
        </p:txBody>
      </p:sp>
    </p:spTree>
    <p:extLst>
      <p:ext uri="{BB962C8B-B14F-4D97-AF65-F5344CB8AC3E}">
        <p14:creationId xmlns:p14="http://schemas.microsoft.com/office/powerpoint/2010/main" val="3134386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85E61-6F2D-D76B-9FD9-052EBC637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1B45C-2A20-6414-3883-6E54A4BA2A1E}"/>
              </a:ext>
            </a:extLst>
          </p:cNvPr>
          <p:cNvSpPr>
            <a:spLocks noGrp="1"/>
          </p:cNvSpPr>
          <p:nvPr>
            <p:ph type="title"/>
          </p:nvPr>
        </p:nvSpPr>
        <p:spPr/>
        <p:txBody>
          <a:bodyPr/>
          <a:lstStyle/>
          <a:p>
            <a:endParaRPr lang="en-BE" dirty="0"/>
          </a:p>
        </p:txBody>
      </p:sp>
      <p:pic>
        <p:nvPicPr>
          <p:cNvPr id="3" name="Picture 2">
            <a:extLst>
              <a:ext uri="{FF2B5EF4-FFF2-40B4-BE49-F238E27FC236}">
                <a16:creationId xmlns:a16="http://schemas.microsoft.com/office/drawing/2014/main" id="{083CF838-1BA9-55C2-6C7C-282D7186793A}"/>
              </a:ext>
            </a:extLst>
          </p:cNvPr>
          <p:cNvPicPr>
            <a:picLocks noChangeAspect="1"/>
          </p:cNvPicPr>
          <p:nvPr/>
        </p:nvPicPr>
        <p:blipFill>
          <a:blip r:embed="rId3"/>
          <a:stretch>
            <a:fillRect/>
          </a:stretch>
        </p:blipFill>
        <p:spPr>
          <a:xfrm>
            <a:off x="0" y="17521"/>
            <a:ext cx="5695904" cy="6858000"/>
          </a:xfrm>
          <a:prstGeom prst="rect">
            <a:avLst/>
          </a:prstGeom>
        </p:spPr>
      </p:pic>
      <p:cxnSp>
        <p:nvCxnSpPr>
          <p:cNvPr id="5" name="Straight Arrow Connector 4">
            <a:extLst>
              <a:ext uri="{FF2B5EF4-FFF2-40B4-BE49-F238E27FC236}">
                <a16:creationId xmlns:a16="http://schemas.microsoft.com/office/drawing/2014/main" id="{6DF2B088-EADF-0DE1-A5E3-3610B3211BA8}"/>
              </a:ext>
            </a:extLst>
          </p:cNvPr>
          <p:cNvCxnSpPr>
            <a:cxnSpLocks/>
          </p:cNvCxnSpPr>
          <p:nvPr/>
        </p:nvCxnSpPr>
        <p:spPr>
          <a:xfrm flipV="1">
            <a:off x="4584677" y="2514600"/>
            <a:ext cx="1606552" cy="1335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BF0CB3C-3C8B-8BF2-354A-5A9AD7DCBD15}"/>
              </a:ext>
            </a:extLst>
          </p:cNvPr>
          <p:cNvSpPr txBox="1"/>
          <p:nvPr/>
        </p:nvSpPr>
        <p:spPr>
          <a:xfrm>
            <a:off x="6191229" y="2219325"/>
            <a:ext cx="5753099" cy="1754326"/>
          </a:xfrm>
          <a:prstGeom prst="rect">
            <a:avLst/>
          </a:prstGeom>
          <a:noFill/>
        </p:spPr>
        <p:txBody>
          <a:bodyPr wrap="square" rtlCol="0">
            <a:spAutoFit/>
          </a:bodyPr>
          <a:lstStyle/>
          <a:p>
            <a:pPr marL="285750" indent="-285750">
              <a:buFont typeface="Arial" panose="020B0604020202020204" pitchFamily="34" charset="0"/>
              <a:buChar char="•"/>
            </a:pPr>
            <a:r>
              <a:rPr lang="en-US" sz="3600" dirty="0"/>
              <a:t>Actual vertex shader</a:t>
            </a:r>
          </a:p>
          <a:p>
            <a:pPr marL="285750" indent="-285750">
              <a:buFont typeface="Arial" panose="020B0604020202020204" pitchFamily="34" charset="0"/>
              <a:buChar char="•"/>
            </a:pPr>
            <a:r>
              <a:rPr lang="en-US" sz="3600" dirty="0"/>
              <a:t>Changes position  of the vertex</a:t>
            </a:r>
          </a:p>
        </p:txBody>
      </p:sp>
    </p:spTree>
    <p:extLst>
      <p:ext uri="{BB962C8B-B14F-4D97-AF65-F5344CB8AC3E}">
        <p14:creationId xmlns:p14="http://schemas.microsoft.com/office/powerpoint/2010/main" val="3492757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BDBB0-5A5F-88B1-2CEC-745DA3A06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72B52-E6D1-2722-7393-514638C87EBA}"/>
              </a:ext>
            </a:extLst>
          </p:cNvPr>
          <p:cNvSpPr>
            <a:spLocks noGrp="1"/>
          </p:cNvSpPr>
          <p:nvPr>
            <p:ph type="title"/>
          </p:nvPr>
        </p:nvSpPr>
        <p:spPr/>
        <p:txBody>
          <a:bodyPr/>
          <a:lstStyle/>
          <a:p>
            <a:endParaRPr lang="en-BE" dirty="0"/>
          </a:p>
        </p:txBody>
      </p:sp>
      <p:pic>
        <p:nvPicPr>
          <p:cNvPr id="3" name="Picture 2">
            <a:extLst>
              <a:ext uri="{FF2B5EF4-FFF2-40B4-BE49-F238E27FC236}">
                <a16:creationId xmlns:a16="http://schemas.microsoft.com/office/drawing/2014/main" id="{36340A56-8AF7-C3C0-BF04-BF7241868FB4}"/>
              </a:ext>
            </a:extLst>
          </p:cNvPr>
          <p:cNvPicPr>
            <a:picLocks noChangeAspect="1"/>
          </p:cNvPicPr>
          <p:nvPr/>
        </p:nvPicPr>
        <p:blipFill>
          <a:blip r:embed="rId3"/>
          <a:stretch>
            <a:fillRect/>
          </a:stretch>
        </p:blipFill>
        <p:spPr>
          <a:xfrm>
            <a:off x="0" y="17521"/>
            <a:ext cx="5695904" cy="6858000"/>
          </a:xfrm>
          <a:prstGeom prst="rect">
            <a:avLst/>
          </a:prstGeom>
        </p:spPr>
      </p:pic>
      <p:cxnSp>
        <p:nvCxnSpPr>
          <p:cNvPr id="5" name="Straight Arrow Connector 4">
            <a:extLst>
              <a:ext uri="{FF2B5EF4-FFF2-40B4-BE49-F238E27FC236}">
                <a16:creationId xmlns:a16="http://schemas.microsoft.com/office/drawing/2014/main" id="{6C0A8DC3-9A70-04BB-E5AF-7D9A90108B05}"/>
              </a:ext>
            </a:extLst>
          </p:cNvPr>
          <p:cNvCxnSpPr>
            <a:cxnSpLocks/>
          </p:cNvCxnSpPr>
          <p:nvPr/>
        </p:nvCxnSpPr>
        <p:spPr>
          <a:xfrm flipV="1">
            <a:off x="4584677" y="2514600"/>
            <a:ext cx="1606552" cy="1335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330A94A-BF1F-4E70-A235-7FCC0E7CD1B5}"/>
              </a:ext>
            </a:extLst>
          </p:cNvPr>
          <p:cNvSpPr txBox="1"/>
          <p:nvPr/>
        </p:nvSpPr>
        <p:spPr>
          <a:xfrm>
            <a:off x="6191229" y="2219325"/>
            <a:ext cx="5753099" cy="1754326"/>
          </a:xfrm>
          <a:prstGeom prst="rect">
            <a:avLst/>
          </a:prstGeom>
          <a:noFill/>
        </p:spPr>
        <p:txBody>
          <a:bodyPr wrap="square" rtlCol="0">
            <a:spAutoFit/>
          </a:bodyPr>
          <a:lstStyle/>
          <a:p>
            <a:pPr marL="285750" indent="-285750">
              <a:buFont typeface="Arial" panose="020B0604020202020204" pitchFamily="34" charset="0"/>
              <a:buChar char="•"/>
            </a:pPr>
            <a:r>
              <a:rPr lang="en-US" sz="3600" dirty="0"/>
              <a:t>Actual vertex shader</a:t>
            </a:r>
          </a:p>
          <a:p>
            <a:pPr marL="285750" indent="-285750">
              <a:buFont typeface="Arial" panose="020B0604020202020204" pitchFamily="34" charset="0"/>
              <a:buChar char="•"/>
            </a:pPr>
            <a:r>
              <a:rPr lang="en-US" sz="3600" dirty="0"/>
              <a:t>Changes position  of the vertex</a:t>
            </a:r>
          </a:p>
        </p:txBody>
      </p:sp>
    </p:spTree>
    <p:extLst>
      <p:ext uri="{BB962C8B-B14F-4D97-AF65-F5344CB8AC3E}">
        <p14:creationId xmlns:p14="http://schemas.microsoft.com/office/powerpoint/2010/main" val="1687821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5F8E-F334-0D0F-D6EF-AA3347712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44BEB-2941-B89B-9B3B-5ECA3FF1BBC2}"/>
              </a:ext>
            </a:extLst>
          </p:cNvPr>
          <p:cNvSpPr>
            <a:spLocks noGrp="1"/>
          </p:cNvSpPr>
          <p:nvPr>
            <p:ph type="title"/>
          </p:nvPr>
        </p:nvSpPr>
        <p:spPr/>
        <p:txBody>
          <a:bodyPr/>
          <a:lstStyle/>
          <a:p>
            <a:endParaRPr lang="en-BE" dirty="0"/>
          </a:p>
        </p:txBody>
      </p:sp>
      <p:pic>
        <p:nvPicPr>
          <p:cNvPr id="3" name="Picture 2">
            <a:extLst>
              <a:ext uri="{FF2B5EF4-FFF2-40B4-BE49-F238E27FC236}">
                <a16:creationId xmlns:a16="http://schemas.microsoft.com/office/drawing/2014/main" id="{DC450AD6-11B9-E59C-B14B-476EAE1B1F88}"/>
              </a:ext>
            </a:extLst>
          </p:cNvPr>
          <p:cNvPicPr>
            <a:picLocks noChangeAspect="1"/>
          </p:cNvPicPr>
          <p:nvPr/>
        </p:nvPicPr>
        <p:blipFill>
          <a:blip r:embed="rId3"/>
          <a:stretch>
            <a:fillRect/>
          </a:stretch>
        </p:blipFill>
        <p:spPr>
          <a:xfrm>
            <a:off x="0" y="17521"/>
            <a:ext cx="5695904" cy="6858000"/>
          </a:xfrm>
          <a:prstGeom prst="rect">
            <a:avLst/>
          </a:prstGeom>
        </p:spPr>
      </p:pic>
      <p:cxnSp>
        <p:nvCxnSpPr>
          <p:cNvPr id="5" name="Straight Arrow Connector 4">
            <a:extLst>
              <a:ext uri="{FF2B5EF4-FFF2-40B4-BE49-F238E27FC236}">
                <a16:creationId xmlns:a16="http://schemas.microsoft.com/office/drawing/2014/main" id="{2CAA49B1-17C1-4B21-BAAB-7747A94BB0F3}"/>
              </a:ext>
            </a:extLst>
          </p:cNvPr>
          <p:cNvCxnSpPr>
            <a:cxnSpLocks/>
          </p:cNvCxnSpPr>
          <p:nvPr/>
        </p:nvCxnSpPr>
        <p:spPr>
          <a:xfrm flipV="1">
            <a:off x="5140291" y="3314700"/>
            <a:ext cx="955709" cy="163635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C6DC52-9F6A-D238-37E0-52BD5F77ECCF}"/>
              </a:ext>
            </a:extLst>
          </p:cNvPr>
          <p:cNvSpPr txBox="1"/>
          <p:nvPr/>
        </p:nvSpPr>
        <p:spPr>
          <a:xfrm>
            <a:off x="6280129" y="3082925"/>
            <a:ext cx="5753099" cy="1754326"/>
          </a:xfrm>
          <a:prstGeom prst="rect">
            <a:avLst/>
          </a:prstGeom>
          <a:noFill/>
        </p:spPr>
        <p:txBody>
          <a:bodyPr wrap="square" rtlCol="0">
            <a:spAutoFit/>
          </a:bodyPr>
          <a:lstStyle/>
          <a:p>
            <a:pPr marL="285750" indent="-285750">
              <a:buFont typeface="Arial" panose="020B0604020202020204" pitchFamily="34" charset="0"/>
              <a:buChar char="•"/>
            </a:pPr>
            <a:r>
              <a:rPr lang="en-US" sz="3600" dirty="0"/>
              <a:t>Actual pixel shader</a:t>
            </a:r>
          </a:p>
          <a:p>
            <a:pPr marL="285750" indent="-285750">
              <a:buFont typeface="Arial" panose="020B0604020202020204" pitchFamily="34" charset="0"/>
              <a:buChar char="•"/>
            </a:pPr>
            <a:r>
              <a:rPr lang="en-US" sz="3600" dirty="0"/>
              <a:t>Changes output struct</a:t>
            </a:r>
          </a:p>
          <a:p>
            <a:pPr marL="285750" indent="-285750">
              <a:buFont typeface="Arial" panose="020B0604020202020204" pitchFamily="34" charset="0"/>
              <a:buChar char="•"/>
            </a:pPr>
            <a:r>
              <a:rPr lang="en-US" sz="3600" dirty="0"/>
              <a:t>More info in a later class….</a:t>
            </a:r>
          </a:p>
        </p:txBody>
      </p:sp>
    </p:spTree>
    <p:extLst>
      <p:ext uri="{BB962C8B-B14F-4D97-AF65-F5344CB8AC3E}">
        <p14:creationId xmlns:p14="http://schemas.microsoft.com/office/powerpoint/2010/main" val="372406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F1B98-6F92-1295-9B95-B53B89EE6BE8}"/>
              </a:ext>
            </a:extLst>
          </p:cNvPr>
          <p:cNvSpPr>
            <a:spLocks noGrp="1"/>
          </p:cNvSpPr>
          <p:nvPr>
            <p:ph type="title"/>
          </p:nvPr>
        </p:nvSpPr>
        <p:spPr/>
        <p:txBody>
          <a:bodyPr/>
          <a:lstStyle/>
          <a:p>
            <a:r>
              <a:rPr lang="en-US" dirty="0"/>
              <a:t>Vertex shader &lt;-&gt; pixel shaders</a:t>
            </a:r>
            <a:endParaRPr lang="en-BE" dirty="0"/>
          </a:p>
        </p:txBody>
      </p:sp>
      <p:sp>
        <p:nvSpPr>
          <p:cNvPr id="3" name="TextBox 2">
            <a:extLst>
              <a:ext uri="{FF2B5EF4-FFF2-40B4-BE49-F238E27FC236}">
                <a16:creationId xmlns:a16="http://schemas.microsoft.com/office/drawing/2014/main" id="{36528809-7FF9-EE4D-2010-15007253C0D7}"/>
              </a:ext>
            </a:extLst>
          </p:cNvPr>
          <p:cNvSpPr txBox="1"/>
          <p:nvPr/>
        </p:nvSpPr>
        <p:spPr>
          <a:xfrm>
            <a:off x="526143" y="1690688"/>
            <a:ext cx="11317514"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err="1"/>
              <a:t>Vextex</a:t>
            </a:r>
            <a:r>
              <a:rPr lang="en-US" sz="2800" dirty="0"/>
              <a:t> shaders operate  on vertices</a:t>
            </a:r>
          </a:p>
          <a:p>
            <a:pPr marL="285750" indent="-285750">
              <a:buFont typeface="Arial" panose="020B0604020202020204" pitchFamily="34" charset="0"/>
              <a:buChar char="•"/>
            </a:pPr>
            <a:r>
              <a:rPr lang="en-US" sz="2800" dirty="0"/>
              <a:t>The shader takes in 1 vertex, and outputs another vertex </a:t>
            </a:r>
          </a:p>
          <a:p>
            <a:pPr marL="285750" indent="-285750">
              <a:buFont typeface="Arial" panose="020B0604020202020204" pitchFamily="34" charset="0"/>
              <a:buChar char="•"/>
            </a:pPr>
            <a:r>
              <a:rPr lang="en-US" sz="2800" dirty="0"/>
              <a:t>Used for animation, positioning the triangle according to the camera</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Pixel (also called fragment) shaders operate on pixels</a:t>
            </a:r>
          </a:p>
          <a:p>
            <a:pPr marL="285750" indent="-285750">
              <a:buFont typeface="Arial" panose="020B0604020202020204" pitchFamily="34" charset="0"/>
              <a:buChar char="•"/>
            </a:pPr>
            <a:r>
              <a:rPr lang="en-US" sz="2800" dirty="0"/>
              <a:t>It takes a vertex from the vertex shader (but interpolated by the rasterizer),</a:t>
            </a:r>
            <a:br>
              <a:rPr lang="en-US" sz="2800" dirty="0"/>
            </a:br>
            <a:r>
              <a:rPr lang="en-US" sz="2800" dirty="0"/>
              <a:t>and outputs one or several colors to get written to render textures or the screen)</a:t>
            </a:r>
          </a:p>
        </p:txBody>
      </p:sp>
    </p:spTree>
    <p:extLst>
      <p:ext uri="{BB962C8B-B14F-4D97-AF65-F5344CB8AC3E}">
        <p14:creationId xmlns:p14="http://schemas.microsoft.com/office/powerpoint/2010/main" val="1099663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F93A-3505-E477-A668-A92FC1539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14612-7D39-8E89-3A01-F39E5569B4F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3400CE1A-7C05-C71A-6746-F2B4B6756506}"/>
              </a:ext>
            </a:extLst>
          </p:cNvPr>
          <p:cNvSpPr txBox="1"/>
          <p:nvPr/>
        </p:nvSpPr>
        <p:spPr>
          <a:xfrm>
            <a:off x="989901" y="1690689"/>
            <a:ext cx="5429559"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The graphics pipeline</a:t>
            </a:r>
          </a:p>
          <a:p>
            <a:pPr marL="285750" indent="-285750">
              <a:buFont typeface="Arial" panose="020B0604020202020204" pitchFamily="34" charset="0"/>
              <a:buChar char="•"/>
            </a:pPr>
            <a:r>
              <a:rPr lang="en-US" sz="2800" dirty="0">
                <a:sym typeface="Wingdings" panose="05000000000000000000" pitchFamily="2" charset="2"/>
              </a:rPr>
              <a:t>Shaders</a:t>
            </a:r>
          </a:p>
          <a:p>
            <a:pPr marL="285750" indent="-285750">
              <a:buFont typeface="Arial" panose="020B0604020202020204" pitchFamily="34" charset="0"/>
              <a:buChar char="•"/>
            </a:pPr>
            <a:r>
              <a:rPr lang="en-US" sz="2800" dirty="0">
                <a:sym typeface="Wingdings" panose="05000000000000000000" pitchFamily="2" charset="2"/>
              </a:rPr>
              <a:t> Materials </a:t>
            </a:r>
          </a:p>
        </p:txBody>
      </p:sp>
    </p:spTree>
    <p:extLst>
      <p:ext uri="{BB962C8B-B14F-4D97-AF65-F5344CB8AC3E}">
        <p14:creationId xmlns:p14="http://schemas.microsoft.com/office/powerpoint/2010/main" val="330618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B2FE3-57DC-D8EA-3558-14C6792604D6}"/>
              </a:ext>
            </a:extLst>
          </p:cNvPr>
          <p:cNvSpPr>
            <a:spLocks noGrp="1"/>
          </p:cNvSpPr>
          <p:nvPr>
            <p:ph type="title"/>
          </p:nvPr>
        </p:nvSpPr>
        <p:spPr/>
        <p:txBody>
          <a:bodyPr/>
          <a:lstStyle/>
          <a:p>
            <a:r>
              <a:rPr lang="en-US" dirty="0"/>
              <a:t>Material ~= BRDF</a:t>
            </a:r>
            <a:endParaRPr lang="en-BE" dirty="0"/>
          </a:p>
        </p:txBody>
      </p:sp>
      <p:pic>
        <p:nvPicPr>
          <p:cNvPr id="3" name="Picture 2">
            <a:extLst>
              <a:ext uri="{FF2B5EF4-FFF2-40B4-BE49-F238E27FC236}">
                <a16:creationId xmlns:a16="http://schemas.microsoft.com/office/drawing/2014/main" id="{86B7ADC0-9436-04FB-2D93-A2E9FFE110CC}"/>
              </a:ext>
            </a:extLst>
          </p:cNvPr>
          <p:cNvPicPr>
            <a:picLocks noChangeAspect="1"/>
          </p:cNvPicPr>
          <p:nvPr/>
        </p:nvPicPr>
        <p:blipFill>
          <a:blip r:embed="rId3"/>
          <a:stretch>
            <a:fillRect/>
          </a:stretch>
        </p:blipFill>
        <p:spPr>
          <a:xfrm>
            <a:off x="5903316" y="1463040"/>
            <a:ext cx="6288684" cy="5394960"/>
          </a:xfrm>
          <a:prstGeom prst="rect">
            <a:avLst/>
          </a:prstGeom>
        </p:spPr>
      </p:pic>
      <p:sp>
        <p:nvSpPr>
          <p:cNvPr id="4" name="TextBox 3">
            <a:extLst>
              <a:ext uri="{FF2B5EF4-FFF2-40B4-BE49-F238E27FC236}">
                <a16:creationId xmlns:a16="http://schemas.microsoft.com/office/drawing/2014/main" id="{CAB469C3-CC7F-A504-F1EF-2ACAEDEBB172}"/>
              </a:ext>
            </a:extLst>
          </p:cNvPr>
          <p:cNvSpPr txBox="1"/>
          <p:nvPr/>
        </p:nvSpPr>
        <p:spPr>
          <a:xfrm>
            <a:off x="267477" y="1309757"/>
            <a:ext cx="6816097"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Material in unity : parameters for a shader</a:t>
            </a:r>
          </a:p>
          <a:p>
            <a:pPr marL="285750" indent="-285750">
              <a:buFont typeface="Arial" panose="020B0604020202020204" pitchFamily="34" charset="0"/>
              <a:buChar char="•"/>
            </a:pPr>
            <a:r>
              <a:rPr lang="en-US" sz="2400" dirty="0"/>
              <a:t>Material “in general” : how a surface reacts to light</a:t>
            </a:r>
          </a:p>
          <a:p>
            <a:pPr marL="285750" indent="-285750">
              <a:buFont typeface="Arial" panose="020B0604020202020204" pitchFamily="34" charset="0"/>
              <a:buChar char="•"/>
            </a:pPr>
            <a:r>
              <a:rPr lang="en-US" sz="2400" dirty="0"/>
              <a:t>Precise term : BRDF</a:t>
            </a:r>
          </a:p>
          <a:p>
            <a:pPr marL="285750" indent="-285750">
              <a:buFont typeface="Arial" panose="020B0604020202020204" pitchFamily="34" charset="0"/>
              <a:buChar char="•"/>
            </a:pPr>
            <a:r>
              <a:rPr lang="en-US" sz="2400" dirty="0"/>
              <a:t>Bidirectional Reflectance Distribution Function</a:t>
            </a:r>
            <a:endParaRPr lang="en-BE" sz="2400" dirty="0"/>
          </a:p>
        </p:txBody>
      </p:sp>
      <p:sp>
        <p:nvSpPr>
          <p:cNvPr id="5" name="Rectangle 4">
            <a:extLst>
              <a:ext uri="{FF2B5EF4-FFF2-40B4-BE49-F238E27FC236}">
                <a16:creationId xmlns:a16="http://schemas.microsoft.com/office/drawing/2014/main" id="{FF804E20-E440-28C4-B4D2-C96E84C7D245}"/>
              </a:ext>
            </a:extLst>
          </p:cNvPr>
          <p:cNvSpPr/>
          <p:nvPr/>
        </p:nvSpPr>
        <p:spPr>
          <a:xfrm>
            <a:off x="8497078" y="4068147"/>
            <a:ext cx="1125893" cy="87707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076033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5DB-E54F-0100-4C69-5F7D56689645}"/>
              </a:ext>
            </a:extLst>
          </p:cNvPr>
          <p:cNvSpPr>
            <a:spLocks noGrp="1"/>
          </p:cNvSpPr>
          <p:nvPr>
            <p:ph type="title"/>
          </p:nvPr>
        </p:nvSpPr>
        <p:spPr>
          <a:xfrm>
            <a:off x="838200" y="365125"/>
            <a:ext cx="11017898" cy="1325563"/>
          </a:xfrm>
        </p:spPr>
        <p:txBody>
          <a:bodyPr/>
          <a:lstStyle/>
          <a:p>
            <a:r>
              <a:rPr lang="en-US" dirty="0"/>
              <a:t>BRDF’s tend to have a diffuse and specular part</a:t>
            </a:r>
            <a:endParaRPr lang="en-BE" dirty="0"/>
          </a:p>
        </p:txBody>
      </p:sp>
      <p:sp>
        <p:nvSpPr>
          <p:cNvPr id="3" name="TextBox 2">
            <a:extLst>
              <a:ext uri="{FF2B5EF4-FFF2-40B4-BE49-F238E27FC236}">
                <a16:creationId xmlns:a16="http://schemas.microsoft.com/office/drawing/2014/main" id="{0A955B3E-952F-F4E0-5216-C09304581BBE}"/>
              </a:ext>
            </a:extLst>
          </p:cNvPr>
          <p:cNvSpPr txBox="1"/>
          <p:nvPr/>
        </p:nvSpPr>
        <p:spPr>
          <a:xfrm>
            <a:off x="615821" y="1757713"/>
            <a:ext cx="8826904"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Diffuse : independent on view direction (like dirt, unglazed pottery)</a:t>
            </a:r>
          </a:p>
          <a:p>
            <a:pPr marL="285750" indent="-285750">
              <a:buFont typeface="Arial" panose="020B0604020202020204" pitchFamily="34" charset="0"/>
              <a:buChar char="•"/>
            </a:pPr>
            <a:r>
              <a:rPr lang="en-US" sz="2400" dirty="0"/>
              <a:t>Specular : dependent on view direction (like plastic, metal)</a:t>
            </a:r>
            <a:endParaRPr lang="en-BE" sz="2400" dirty="0"/>
          </a:p>
        </p:txBody>
      </p:sp>
      <p:pic>
        <p:nvPicPr>
          <p:cNvPr id="5" name="Picture 4" descr="A group of terracotta pots&#10;&#10;Description automatically generated">
            <a:extLst>
              <a:ext uri="{FF2B5EF4-FFF2-40B4-BE49-F238E27FC236}">
                <a16:creationId xmlns:a16="http://schemas.microsoft.com/office/drawing/2014/main" id="{59014E87-46F6-D077-8262-E3BC31A120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044" y="3486733"/>
            <a:ext cx="4457700" cy="3181350"/>
          </a:xfrm>
          <a:prstGeom prst="rect">
            <a:avLst/>
          </a:prstGeom>
        </p:spPr>
      </p:pic>
      <p:pic>
        <p:nvPicPr>
          <p:cNvPr id="7" name="Picture 6" descr="A black plastic chair with different colors&#10;&#10;Description automatically generated">
            <a:extLst>
              <a:ext uri="{FF2B5EF4-FFF2-40B4-BE49-F238E27FC236}">
                <a16:creationId xmlns:a16="http://schemas.microsoft.com/office/drawing/2014/main" id="{31F45A72-24B9-DB41-FCFF-6B28A91F06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4290" y="3197290"/>
            <a:ext cx="3660710" cy="3660710"/>
          </a:xfrm>
          <a:prstGeom prst="rect">
            <a:avLst/>
          </a:prstGeom>
        </p:spPr>
      </p:pic>
    </p:spTree>
    <p:extLst>
      <p:ext uri="{BB962C8B-B14F-4D97-AF65-F5344CB8AC3E}">
        <p14:creationId xmlns:p14="http://schemas.microsoft.com/office/powerpoint/2010/main" val="365259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EB20B-9237-098F-1F93-54CD923D4706}"/>
              </a:ext>
            </a:extLst>
          </p:cNvPr>
          <p:cNvSpPr>
            <a:spLocks noGrp="1"/>
          </p:cNvSpPr>
          <p:nvPr>
            <p:ph type="title"/>
          </p:nvPr>
        </p:nvSpPr>
        <p:spPr/>
        <p:txBody>
          <a:bodyPr/>
          <a:lstStyle/>
          <a:p>
            <a:r>
              <a:rPr lang="en-US" dirty="0"/>
              <a:t>Lambert diffuse</a:t>
            </a:r>
            <a:endParaRPr lang="en-BE" dirty="0"/>
          </a:p>
        </p:txBody>
      </p:sp>
      <p:sp>
        <p:nvSpPr>
          <p:cNvPr id="3" name="TextBox 2">
            <a:extLst>
              <a:ext uri="{FF2B5EF4-FFF2-40B4-BE49-F238E27FC236}">
                <a16:creationId xmlns:a16="http://schemas.microsoft.com/office/drawing/2014/main" id="{8EA1EA32-44B3-2C4B-8BC9-15BCAD97B09F}"/>
              </a:ext>
            </a:extLst>
          </p:cNvPr>
          <p:cNvSpPr txBox="1"/>
          <p:nvPr/>
        </p:nvSpPr>
        <p:spPr>
          <a:xfrm>
            <a:off x="454090" y="1582528"/>
            <a:ext cx="5299528"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Light enters an object </a:t>
            </a:r>
          </a:p>
          <a:p>
            <a:pPr marL="285750" indent="-285750">
              <a:buFont typeface="Arial" panose="020B0604020202020204" pitchFamily="34" charset="0"/>
              <a:buChar char="•"/>
            </a:pPr>
            <a:r>
              <a:rPr lang="en-US" sz="2800" dirty="0"/>
              <a:t>Scatters / reflects in all directions</a:t>
            </a:r>
          </a:p>
          <a:p>
            <a:pPr marL="285750" indent="-285750">
              <a:buFont typeface="Arial" panose="020B0604020202020204" pitchFamily="34" charset="0"/>
              <a:buChar char="•"/>
            </a:pPr>
            <a:r>
              <a:rPr lang="en-US" sz="2800" i="1" dirty="0"/>
              <a:t>dot(N, L)</a:t>
            </a:r>
            <a:endParaRPr lang="en-BE" sz="2800" i="1" dirty="0"/>
          </a:p>
        </p:txBody>
      </p:sp>
      <p:pic>
        <p:nvPicPr>
          <p:cNvPr id="5" name="Picture 4" descr="A diagram of a reflection&#10;&#10;Description automatically generated">
            <a:extLst>
              <a:ext uri="{FF2B5EF4-FFF2-40B4-BE49-F238E27FC236}">
                <a16:creationId xmlns:a16="http://schemas.microsoft.com/office/drawing/2014/main" id="{394903A2-9B04-0915-2A1E-E3CC5A5D2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915" y="3287204"/>
            <a:ext cx="8147949" cy="3346969"/>
          </a:xfrm>
          <a:prstGeom prst="rect">
            <a:avLst/>
          </a:prstGeom>
        </p:spPr>
      </p:pic>
      <p:pic>
        <p:nvPicPr>
          <p:cNvPr id="7" name="Picture 6">
            <a:extLst>
              <a:ext uri="{FF2B5EF4-FFF2-40B4-BE49-F238E27FC236}">
                <a16:creationId xmlns:a16="http://schemas.microsoft.com/office/drawing/2014/main" id="{9D262369-0EC5-517A-8D82-9F49083220AE}"/>
              </a:ext>
            </a:extLst>
          </p:cNvPr>
          <p:cNvPicPr>
            <a:picLocks noChangeAspect="1"/>
          </p:cNvPicPr>
          <p:nvPr/>
        </p:nvPicPr>
        <p:blipFill>
          <a:blip r:embed="rId4"/>
          <a:stretch>
            <a:fillRect/>
          </a:stretch>
        </p:blipFill>
        <p:spPr>
          <a:xfrm>
            <a:off x="8840560" y="121488"/>
            <a:ext cx="3413644" cy="2922079"/>
          </a:xfrm>
          <a:prstGeom prst="rect">
            <a:avLst/>
          </a:prstGeom>
        </p:spPr>
      </p:pic>
    </p:spTree>
    <p:extLst>
      <p:ext uri="{BB962C8B-B14F-4D97-AF65-F5344CB8AC3E}">
        <p14:creationId xmlns:p14="http://schemas.microsoft.com/office/powerpoint/2010/main" val="2362107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EB20B-9237-098F-1F93-54CD923D4706}"/>
              </a:ext>
            </a:extLst>
          </p:cNvPr>
          <p:cNvSpPr>
            <a:spLocks noGrp="1"/>
          </p:cNvSpPr>
          <p:nvPr>
            <p:ph type="title"/>
          </p:nvPr>
        </p:nvSpPr>
        <p:spPr/>
        <p:txBody>
          <a:bodyPr/>
          <a:lstStyle/>
          <a:p>
            <a:r>
              <a:rPr lang="en-US" dirty="0"/>
              <a:t>Lambert diffuse</a:t>
            </a:r>
            <a:endParaRPr lang="en-BE" dirty="0"/>
          </a:p>
        </p:txBody>
      </p:sp>
      <p:sp>
        <p:nvSpPr>
          <p:cNvPr id="3" name="TextBox 2">
            <a:extLst>
              <a:ext uri="{FF2B5EF4-FFF2-40B4-BE49-F238E27FC236}">
                <a16:creationId xmlns:a16="http://schemas.microsoft.com/office/drawing/2014/main" id="{8EA1EA32-44B3-2C4B-8BC9-15BCAD97B09F}"/>
              </a:ext>
            </a:extLst>
          </p:cNvPr>
          <p:cNvSpPr txBox="1"/>
          <p:nvPr/>
        </p:nvSpPr>
        <p:spPr>
          <a:xfrm>
            <a:off x="454090" y="1582528"/>
            <a:ext cx="776866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Diffuse is view-independent </a:t>
            </a:r>
          </a:p>
          <a:p>
            <a:pPr marL="285750" indent="-285750">
              <a:buFont typeface="Arial" panose="020B0604020202020204" pitchFamily="34" charset="0"/>
              <a:buChar char="•"/>
            </a:pPr>
            <a:r>
              <a:rPr lang="en-US" sz="2800" dirty="0"/>
              <a:t>Same color / intensity no matter how we look at it</a:t>
            </a:r>
            <a:endParaRPr lang="en-BE" sz="2800" dirty="0"/>
          </a:p>
        </p:txBody>
      </p:sp>
      <p:pic>
        <p:nvPicPr>
          <p:cNvPr id="5" name="Picture 4" descr="A diagram of a reflection&#10;&#10;Description automatically generated">
            <a:extLst>
              <a:ext uri="{FF2B5EF4-FFF2-40B4-BE49-F238E27FC236}">
                <a16:creationId xmlns:a16="http://schemas.microsoft.com/office/drawing/2014/main" id="{394903A2-9B04-0915-2A1E-E3CC5A5D2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0593" y="3336967"/>
            <a:ext cx="8147949" cy="3346969"/>
          </a:xfrm>
          <a:prstGeom prst="rect">
            <a:avLst/>
          </a:prstGeom>
        </p:spPr>
      </p:pic>
      <p:pic>
        <p:nvPicPr>
          <p:cNvPr id="6" name="Picture 5" descr="A close-up of a camera&#10;&#10;Description automatically generated">
            <a:extLst>
              <a:ext uri="{FF2B5EF4-FFF2-40B4-BE49-F238E27FC236}">
                <a16:creationId xmlns:a16="http://schemas.microsoft.com/office/drawing/2014/main" id="{D3A1B1B2-C1E2-1C6A-5D12-B5485B987A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680999" flipH="1">
            <a:off x="8770604" y="5065956"/>
            <a:ext cx="1073775" cy="954107"/>
          </a:xfrm>
          <a:prstGeom prst="rect">
            <a:avLst/>
          </a:prstGeom>
        </p:spPr>
      </p:pic>
      <p:pic>
        <p:nvPicPr>
          <p:cNvPr id="8" name="Picture 7" descr="A close-up of a camera&#10;&#10;Description automatically generated">
            <a:extLst>
              <a:ext uri="{FF2B5EF4-FFF2-40B4-BE49-F238E27FC236}">
                <a16:creationId xmlns:a16="http://schemas.microsoft.com/office/drawing/2014/main" id="{C5D43E0D-94A9-D751-C97D-C70F908E51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996432" flipH="1">
            <a:off x="7527590" y="3912441"/>
            <a:ext cx="865902" cy="769401"/>
          </a:xfrm>
          <a:prstGeom prst="rect">
            <a:avLst/>
          </a:prstGeom>
        </p:spPr>
      </p:pic>
      <p:pic>
        <p:nvPicPr>
          <p:cNvPr id="9" name="Picture 8" descr="A close-up of a camera&#10;&#10;Description automatically generated">
            <a:extLst>
              <a:ext uri="{FF2B5EF4-FFF2-40B4-BE49-F238E27FC236}">
                <a16:creationId xmlns:a16="http://schemas.microsoft.com/office/drawing/2014/main" id="{B0E98418-D7B8-0EB3-9E39-F66544B063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228205">
            <a:off x="2492588" y="4433280"/>
            <a:ext cx="754890" cy="670761"/>
          </a:xfrm>
          <a:prstGeom prst="rect">
            <a:avLst/>
          </a:prstGeom>
        </p:spPr>
      </p:pic>
    </p:spTree>
    <p:extLst>
      <p:ext uri="{BB962C8B-B14F-4D97-AF65-F5344CB8AC3E}">
        <p14:creationId xmlns:p14="http://schemas.microsoft.com/office/powerpoint/2010/main" val="458369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1507-9EF1-46B3-4A34-D47F47A0177B}"/>
              </a:ext>
            </a:extLst>
          </p:cNvPr>
          <p:cNvSpPr>
            <a:spLocks noGrp="1"/>
          </p:cNvSpPr>
          <p:nvPr>
            <p:ph type="title"/>
          </p:nvPr>
        </p:nvSpPr>
        <p:spPr/>
        <p:txBody>
          <a:bodyPr/>
          <a:lstStyle/>
          <a:p>
            <a:r>
              <a:rPr lang="en-US" dirty="0"/>
              <a:t>Blinn-Phong specular</a:t>
            </a:r>
            <a:endParaRPr lang="en-BE" dirty="0"/>
          </a:p>
        </p:txBody>
      </p:sp>
      <p:sp>
        <p:nvSpPr>
          <p:cNvPr id="3" name="TextBox 2">
            <a:extLst>
              <a:ext uri="{FF2B5EF4-FFF2-40B4-BE49-F238E27FC236}">
                <a16:creationId xmlns:a16="http://schemas.microsoft.com/office/drawing/2014/main" id="{29878FD2-79D3-3331-B779-84A123780B49}"/>
              </a:ext>
            </a:extLst>
          </p:cNvPr>
          <p:cNvSpPr txBox="1"/>
          <p:nvPr/>
        </p:nvSpPr>
        <p:spPr>
          <a:xfrm>
            <a:off x="497633" y="1579983"/>
            <a:ext cx="9657900"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“Shininess”</a:t>
            </a:r>
          </a:p>
          <a:p>
            <a:pPr marL="285750" indent="-285750">
              <a:buFont typeface="Arial" panose="020B0604020202020204" pitchFamily="34" charset="0"/>
              <a:buChar char="•"/>
            </a:pPr>
            <a:r>
              <a:rPr lang="en-US" sz="2400" dirty="0"/>
              <a:t>Looks like a highlight</a:t>
            </a:r>
          </a:p>
          <a:p>
            <a:pPr marL="285750" indent="-285750">
              <a:buFont typeface="Arial" panose="020B0604020202020204" pitchFamily="34" charset="0"/>
              <a:buChar char="•"/>
            </a:pPr>
            <a:r>
              <a:rPr lang="en-US" sz="2400" dirty="0"/>
              <a:t>Is view dependent (highlight changes position when you move your head)</a:t>
            </a:r>
            <a:endParaRPr lang="en-BE" sz="2400" dirty="0"/>
          </a:p>
        </p:txBody>
      </p:sp>
      <p:pic>
        <p:nvPicPr>
          <p:cNvPr id="5" name="Picture 4" descr="A black circle with a light on it&#10;&#10;Description automatically generated">
            <a:extLst>
              <a:ext uri="{FF2B5EF4-FFF2-40B4-BE49-F238E27FC236}">
                <a16:creationId xmlns:a16="http://schemas.microsoft.com/office/drawing/2014/main" id="{44FD7915-BE96-41F9-9822-0CB0FB890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9825" y="65597"/>
            <a:ext cx="2162175" cy="2114550"/>
          </a:xfrm>
          <a:prstGeom prst="rect">
            <a:avLst/>
          </a:prstGeom>
        </p:spPr>
      </p:pic>
      <p:pic>
        <p:nvPicPr>
          <p:cNvPr id="7" name="Picture 6" descr="A black and white image of a couple of icons&#10;&#10;Description automatically generated with medium confidence">
            <a:extLst>
              <a:ext uri="{FF2B5EF4-FFF2-40B4-BE49-F238E27FC236}">
                <a16:creationId xmlns:a16="http://schemas.microsoft.com/office/drawing/2014/main" id="{7CF04C7D-F5A6-CE1E-FBAB-4F7296114B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248" y="3719804"/>
            <a:ext cx="9373732" cy="2662140"/>
          </a:xfrm>
          <a:prstGeom prst="rect">
            <a:avLst/>
          </a:prstGeom>
        </p:spPr>
      </p:pic>
    </p:spTree>
    <p:extLst>
      <p:ext uri="{BB962C8B-B14F-4D97-AF65-F5344CB8AC3E}">
        <p14:creationId xmlns:p14="http://schemas.microsoft.com/office/powerpoint/2010/main" val="3726122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B40F-8DCF-F98F-8E9D-A6E287FD50B5}"/>
              </a:ext>
            </a:extLst>
          </p:cNvPr>
          <p:cNvSpPr>
            <a:spLocks noGrp="1"/>
          </p:cNvSpPr>
          <p:nvPr>
            <p:ph type="title"/>
          </p:nvPr>
        </p:nvSpPr>
        <p:spPr/>
        <p:txBody>
          <a:bodyPr/>
          <a:lstStyle/>
          <a:p>
            <a:r>
              <a:rPr lang="en-US" dirty="0"/>
              <a:t>Blinn-Phong specular</a:t>
            </a:r>
            <a:endParaRPr lang="en-BE" dirty="0"/>
          </a:p>
        </p:txBody>
      </p:sp>
      <p:pic>
        <p:nvPicPr>
          <p:cNvPr id="4" name="Picture 3" descr="A diagram of a sun&#10;&#10;Description automatically generated">
            <a:extLst>
              <a:ext uri="{FF2B5EF4-FFF2-40B4-BE49-F238E27FC236}">
                <a16:creationId xmlns:a16="http://schemas.microsoft.com/office/drawing/2014/main" id="{85526EB3-C769-011F-A41A-58423CB04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925" y="3429000"/>
            <a:ext cx="6242974" cy="3142297"/>
          </a:xfrm>
          <a:prstGeom prst="rect">
            <a:avLst/>
          </a:prstGeom>
        </p:spPr>
      </p:pic>
      <p:sp>
        <p:nvSpPr>
          <p:cNvPr id="5" name="TextBox 4">
            <a:extLst>
              <a:ext uri="{FF2B5EF4-FFF2-40B4-BE49-F238E27FC236}">
                <a16:creationId xmlns:a16="http://schemas.microsoft.com/office/drawing/2014/main" id="{353B7657-1F8E-6FED-22F9-60A96CE2721C}"/>
              </a:ext>
            </a:extLst>
          </p:cNvPr>
          <p:cNvSpPr txBox="1"/>
          <p:nvPr/>
        </p:nvSpPr>
        <p:spPr>
          <a:xfrm>
            <a:off x="733673" y="1506022"/>
            <a:ext cx="7461145" cy="830997"/>
          </a:xfrm>
          <a:prstGeom prst="rect">
            <a:avLst/>
          </a:prstGeom>
          <a:noFill/>
        </p:spPr>
        <p:txBody>
          <a:bodyPr wrap="none" rtlCol="0">
            <a:spAutoFit/>
          </a:bodyPr>
          <a:lstStyle/>
          <a:p>
            <a:pPr marL="285750" indent="-285750">
              <a:buFont typeface="Arial" panose="020B0604020202020204" pitchFamily="34" charset="0"/>
              <a:buChar char="•"/>
            </a:pPr>
            <a:r>
              <a:rPr lang="en-US" sz="2400" i="1" dirty="0"/>
              <a:t>specular</a:t>
            </a:r>
            <a:r>
              <a:rPr lang="en-US" sz="2400" dirty="0"/>
              <a:t> = </a:t>
            </a:r>
            <a:r>
              <a:rPr lang="en-US" sz="2400" i="1" dirty="0"/>
              <a:t>K</a:t>
            </a:r>
            <a:r>
              <a:rPr lang="en-US" sz="2400" i="1" baseline="-25000" dirty="0"/>
              <a:t>s</a:t>
            </a:r>
            <a:r>
              <a:rPr lang="en-US" sz="2400" i="1" dirty="0"/>
              <a:t> </a:t>
            </a:r>
            <a:r>
              <a:rPr lang="en-US" sz="2400" dirty="0"/>
              <a:t>x </a:t>
            </a:r>
            <a:r>
              <a:rPr lang="en-US" sz="2400" i="1" dirty="0" err="1"/>
              <a:t>lightColor</a:t>
            </a:r>
            <a:r>
              <a:rPr lang="en-US" sz="2400" dirty="0"/>
              <a:t> x </a:t>
            </a:r>
            <a:r>
              <a:rPr lang="en-US" sz="2400" i="1" dirty="0"/>
              <a:t>facing</a:t>
            </a:r>
            <a:r>
              <a:rPr lang="en-US" sz="2400" dirty="0"/>
              <a:t> x (max(</a:t>
            </a:r>
            <a:r>
              <a:rPr lang="en-US" sz="2400" i="1" dirty="0"/>
              <a:t>N</a:t>
            </a:r>
            <a:r>
              <a:rPr lang="en-US" sz="2400" dirty="0"/>
              <a:t> · </a:t>
            </a:r>
            <a:r>
              <a:rPr lang="en-US" sz="2400" i="1" dirty="0"/>
              <a:t>H</a:t>
            </a:r>
            <a:r>
              <a:rPr lang="en-US" sz="2400" dirty="0"/>
              <a:t>, 0)) </a:t>
            </a:r>
            <a:r>
              <a:rPr lang="en-US" sz="2400" i="1" baseline="30000" dirty="0"/>
              <a:t>shininess</a:t>
            </a:r>
          </a:p>
          <a:p>
            <a:pPr marL="285750" indent="-285750">
              <a:buFont typeface="Arial" panose="020B0604020202020204" pitchFamily="34" charset="0"/>
              <a:buChar char="•"/>
            </a:pPr>
            <a:r>
              <a:rPr lang="en-US" sz="2400" dirty="0"/>
              <a:t>More details in lab</a:t>
            </a:r>
          </a:p>
        </p:txBody>
      </p:sp>
      <p:pic>
        <p:nvPicPr>
          <p:cNvPr id="7" name="Picture 6" descr="A close up of a sphere&#10;&#10;Description automatically generated">
            <a:extLst>
              <a:ext uri="{FF2B5EF4-FFF2-40B4-BE49-F238E27FC236}">
                <a16:creationId xmlns:a16="http://schemas.microsoft.com/office/drawing/2014/main" id="{9832B076-D9FD-4F8E-DE3D-EA3C03540B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908731"/>
            <a:ext cx="5953894" cy="1845707"/>
          </a:xfrm>
          <a:prstGeom prst="rect">
            <a:avLst/>
          </a:prstGeom>
        </p:spPr>
      </p:pic>
    </p:spTree>
    <p:extLst>
      <p:ext uri="{BB962C8B-B14F-4D97-AF65-F5344CB8AC3E}">
        <p14:creationId xmlns:p14="http://schemas.microsoft.com/office/powerpoint/2010/main" val="2448498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69F9B-AD25-5861-1053-81FF5D0F2E63}"/>
              </a:ext>
            </a:extLst>
          </p:cNvPr>
          <p:cNvSpPr>
            <a:spLocks noGrp="1"/>
          </p:cNvSpPr>
          <p:nvPr>
            <p:ph type="title"/>
          </p:nvPr>
        </p:nvSpPr>
        <p:spPr/>
        <p:txBody>
          <a:bodyPr/>
          <a:lstStyle/>
          <a:p>
            <a:r>
              <a:rPr lang="en-US" dirty="0"/>
              <a:t>Putting it together</a:t>
            </a:r>
            <a:endParaRPr lang="en-BE" dirty="0"/>
          </a:p>
        </p:txBody>
      </p:sp>
      <p:sp>
        <p:nvSpPr>
          <p:cNvPr id="3" name="TextBox 2">
            <a:extLst>
              <a:ext uri="{FF2B5EF4-FFF2-40B4-BE49-F238E27FC236}">
                <a16:creationId xmlns:a16="http://schemas.microsoft.com/office/drawing/2014/main" id="{93326CF6-5E67-45DA-7742-516E4FD84DD2}"/>
              </a:ext>
            </a:extLst>
          </p:cNvPr>
          <p:cNvSpPr txBox="1"/>
          <p:nvPr/>
        </p:nvSpPr>
        <p:spPr>
          <a:xfrm>
            <a:off x="491412" y="1953208"/>
            <a:ext cx="4086055"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Simply diffuse + specular</a:t>
            </a:r>
            <a:endParaRPr lang="en-BE" sz="2800" dirty="0"/>
          </a:p>
        </p:txBody>
      </p:sp>
      <p:pic>
        <p:nvPicPr>
          <p:cNvPr id="5" name="Picture 4" descr="A black circle with yellow light in center&#10;&#10;Description automatically generated">
            <a:extLst>
              <a:ext uri="{FF2B5EF4-FFF2-40B4-BE49-F238E27FC236}">
                <a16:creationId xmlns:a16="http://schemas.microsoft.com/office/drawing/2014/main" id="{2AADB2C4-38C1-2827-D9FC-69A5CD371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2299" y="3048705"/>
            <a:ext cx="8940053" cy="3651743"/>
          </a:xfrm>
          <a:prstGeom prst="rect">
            <a:avLst/>
          </a:prstGeom>
        </p:spPr>
      </p:pic>
    </p:spTree>
    <p:extLst>
      <p:ext uri="{BB962C8B-B14F-4D97-AF65-F5344CB8AC3E}">
        <p14:creationId xmlns:p14="http://schemas.microsoft.com/office/powerpoint/2010/main" val="3735179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89AF-2037-D330-154F-BD755F0398EF}"/>
              </a:ext>
            </a:extLst>
          </p:cNvPr>
          <p:cNvSpPr>
            <a:spLocks noGrp="1"/>
          </p:cNvSpPr>
          <p:nvPr>
            <p:ph type="title"/>
          </p:nvPr>
        </p:nvSpPr>
        <p:spPr/>
        <p:txBody>
          <a:bodyPr/>
          <a:lstStyle/>
          <a:p>
            <a:r>
              <a:rPr lang="en-US" dirty="0"/>
              <a:t>Mirrors are perfectly specular</a:t>
            </a:r>
            <a:endParaRPr lang="en-BE" dirty="0"/>
          </a:p>
        </p:txBody>
      </p:sp>
      <p:pic>
        <p:nvPicPr>
          <p:cNvPr id="4" name="Picture 3" descr="A screen shot of a computer screen&#10;&#10;Description automatically generated">
            <a:extLst>
              <a:ext uri="{FF2B5EF4-FFF2-40B4-BE49-F238E27FC236}">
                <a16:creationId xmlns:a16="http://schemas.microsoft.com/office/drawing/2014/main" id="{9E7D9BA9-867A-BA5F-4F66-1DFF96E4C8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03" y="3303867"/>
            <a:ext cx="12131897" cy="3554133"/>
          </a:xfrm>
          <a:prstGeom prst="rect">
            <a:avLst/>
          </a:prstGeom>
        </p:spPr>
      </p:pic>
    </p:spTree>
    <p:extLst>
      <p:ext uri="{BB962C8B-B14F-4D97-AF65-F5344CB8AC3E}">
        <p14:creationId xmlns:p14="http://schemas.microsoft.com/office/powerpoint/2010/main" val="589626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0A2F-97DD-72B0-E25F-7D3E35C607EF}"/>
              </a:ext>
            </a:extLst>
          </p:cNvPr>
          <p:cNvSpPr>
            <a:spLocks noGrp="1"/>
          </p:cNvSpPr>
          <p:nvPr>
            <p:ph type="title"/>
          </p:nvPr>
        </p:nvSpPr>
        <p:spPr/>
        <p:txBody>
          <a:bodyPr/>
          <a:lstStyle/>
          <a:p>
            <a:r>
              <a:rPr lang="en-US" dirty="0"/>
              <a:t>How does this work?</a:t>
            </a:r>
            <a:endParaRPr lang="en-BE" dirty="0"/>
          </a:p>
        </p:txBody>
      </p:sp>
      <p:pic>
        <p:nvPicPr>
          <p:cNvPr id="4" name="Picture 3" descr="A road with yellow signs on it&#10;&#10;Description automatically generated">
            <a:extLst>
              <a:ext uri="{FF2B5EF4-FFF2-40B4-BE49-F238E27FC236}">
                <a16:creationId xmlns:a16="http://schemas.microsoft.com/office/drawing/2014/main" id="{1E8E1CCE-FF9B-1639-BB0A-7A4C3C8BC5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5337" y="1635967"/>
            <a:ext cx="9828052" cy="4914026"/>
          </a:xfrm>
          <a:prstGeom prst="rect">
            <a:avLst/>
          </a:prstGeom>
        </p:spPr>
      </p:pic>
    </p:spTree>
    <p:extLst>
      <p:ext uri="{BB962C8B-B14F-4D97-AF65-F5344CB8AC3E}">
        <p14:creationId xmlns:p14="http://schemas.microsoft.com/office/powerpoint/2010/main" val="2780439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5132-886C-1B37-DAFE-563CDA1410DC}"/>
              </a:ext>
            </a:extLst>
          </p:cNvPr>
          <p:cNvSpPr>
            <a:spLocks noGrp="1"/>
          </p:cNvSpPr>
          <p:nvPr>
            <p:ph type="title"/>
          </p:nvPr>
        </p:nvSpPr>
        <p:spPr/>
        <p:txBody>
          <a:bodyPr/>
          <a:lstStyle/>
          <a:p>
            <a:r>
              <a:rPr lang="en-US" dirty="0" err="1"/>
              <a:t>Retroreflectivity</a:t>
            </a:r>
            <a:endParaRPr lang="en-BE" dirty="0"/>
          </a:p>
        </p:txBody>
      </p:sp>
      <p:pic>
        <p:nvPicPr>
          <p:cNvPr id="6" name="Picture 5" descr="A diagram of a light&#10;&#10;Description automatically generated">
            <a:extLst>
              <a:ext uri="{FF2B5EF4-FFF2-40B4-BE49-F238E27FC236}">
                <a16:creationId xmlns:a16="http://schemas.microsoft.com/office/drawing/2014/main" id="{272C529D-2C28-5EB6-0ACC-C08B50D1C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192" y="2206625"/>
            <a:ext cx="6858000" cy="4286250"/>
          </a:xfrm>
          <a:prstGeom prst="rect">
            <a:avLst/>
          </a:prstGeom>
        </p:spPr>
      </p:pic>
    </p:spTree>
    <p:extLst>
      <p:ext uri="{BB962C8B-B14F-4D97-AF65-F5344CB8AC3E}">
        <p14:creationId xmlns:p14="http://schemas.microsoft.com/office/powerpoint/2010/main" val="2752212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3A62-7F32-0999-9F19-05ACE9225F43}"/>
              </a:ext>
            </a:extLst>
          </p:cNvPr>
          <p:cNvSpPr>
            <a:spLocks noGrp="1"/>
          </p:cNvSpPr>
          <p:nvPr>
            <p:ph type="title"/>
          </p:nvPr>
        </p:nvSpPr>
        <p:spPr/>
        <p:txBody>
          <a:bodyPr/>
          <a:lstStyle/>
          <a:p>
            <a:r>
              <a:rPr lang="en-US" dirty="0"/>
              <a:t>Microfacets</a:t>
            </a:r>
            <a:endParaRPr lang="en-BE" dirty="0"/>
          </a:p>
        </p:txBody>
      </p:sp>
      <p:sp>
        <p:nvSpPr>
          <p:cNvPr id="3" name="TextBox 2">
            <a:extLst>
              <a:ext uri="{FF2B5EF4-FFF2-40B4-BE49-F238E27FC236}">
                <a16:creationId xmlns:a16="http://schemas.microsoft.com/office/drawing/2014/main" id="{7E59D3B7-C05C-20DE-F23D-C757C1810BBF}"/>
              </a:ext>
            </a:extLst>
          </p:cNvPr>
          <p:cNvSpPr txBox="1"/>
          <p:nvPr/>
        </p:nvSpPr>
        <p:spPr>
          <a:xfrm>
            <a:off x="709126" y="1797698"/>
            <a:ext cx="10260501"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The origin of these models is the microscopic structure of materials</a:t>
            </a:r>
          </a:p>
          <a:p>
            <a:pPr marL="285750" indent="-285750">
              <a:buFont typeface="Arial" panose="020B0604020202020204" pitchFamily="34" charset="0"/>
              <a:buChar char="•"/>
            </a:pPr>
            <a:r>
              <a:rPr lang="en-US" sz="2800" dirty="0"/>
              <a:t>If it’s rough, it tends to be diffuse</a:t>
            </a:r>
          </a:p>
          <a:p>
            <a:pPr marL="285750" indent="-285750">
              <a:buFont typeface="Arial" panose="020B0604020202020204" pitchFamily="34" charset="0"/>
              <a:buChar char="•"/>
            </a:pPr>
            <a:r>
              <a:rPr lang="en-US" sz="2800" dirty="0"/>
              <a:t>If it’s flat, it tends to be specular</a:t>
            </a:r>
            <a:endParaRPr lang="en-BE" sz="2800" dirty="0"/>
          </a:p>
        </p:txBody>
      </p:sp>
      <p:pic>
        <p:nvPicPr>
          <p:cNvPr id="5" name="Picture 4" descr="A diagram of a diffraction effect&#10;&#10;Description automatically generated with medium confidence">
            <a:extLst>
              <a:ext uri="{FF2B5EF4-FFF2-40B4-BE49-F238E27FC236}">
                <a16:creationId xmlns:a16="http://schemas.microsoft.com/office/drawing/2014/main" id="{4C22351C-606B-8141-8146-71C0E9D69E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4937" y="3186088"/>
            <a:ext cx="8117290" cy="3382204"/>
          </a:xfrm>
          <a:prstGeom prst="rect">
            <a:avLst/>
          </a:prstGeom>
        </p:spPr>
      </p:pic>
    </p:spTree>
    <p:extLst>
      <p:ext uri="{BB962C8B-B14F-4D97-AF65-F5344CB8AC3E}">
        <p14:creationId xmlns:p14="http://schemas.microsoft.com/office/powerpoint/2010/main" val="2466785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99BCE-AC8B-3BCE-7DF4-4AD2AF203929}"/>
              </a:ext>
            </a:extLst>
          </p:cNvPr>
          <p:cNvSpPr>
            <a:spLocks noGrp="1"/>
          </p:cNvSpPr>
          <p:nvPr>
            <p:ph type="title"/>
          </p:nvPr>
        </p:nvSpPr>
        <p:spPr>
          <a:xfrm>
            <a:off x="559837" y="-7674"/>
            <a:ext cx="10515600" cy="1325563"/>
          </a:xfrm>
        </p:spPr>
        <p:txBody>
          <a:bodyPr/>
          <a:lstStyle/>
          <a:p>
            <a:r>
              <a:rPr lang="en-US" dirty="0"/>
              <a:t>Complicated models : skin</a:t>
            </a:r>
            <a:endParaRPr lang="en-BE" dirty="0"/>
          </a:p>
        </p:txBody>
      </p:sp>
      <p:sp>
        <p:nvSpPr>
          <p:cNvPr id="4" name="TextBox 3">
            <a:extLst>
              <a:ext uri="{FF2B5EF4-FFF2-40B4-BE49-F238E27FC236}">
                <a16:creationId xmlns:a16="http://schemas.microsoft.com/office/drawing/2014/main" id="{0C2873C3-1592-EC72-746B-978BBC8BD8D4}"/>
              </a:ext>
            </a:extLst>
          </p:cNvPr>
          <p:cNvSpPr txBox="1"/>
          <p:nvPr/>
        </p:nvSpPr>
        <p:spPr>
          <a:xfrm>
            <a:off x="398058" y="1036540"/>
            <a:ext cx="8659550"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Skin has layers : oil, epidermis, fatty tissues. And light penetrates. </a:t>
            </a:r>
          </a:p>
        </p:txBody>
      </p:sp>
      <p:pic>
        <p:nvPicPr>
          <p:cNvPr id="6" name="Picture 5" descr="A close-up of a person's face&#10;&#10;Description automatically generated">
            <a:extLst>
              <a:ext uri="{FF2B5EF4-FFF2-40B4-BE49-F238E27FC236}">
                <a16:creationId xmlns:a16="http://schemas.microsoft.com/office/drawing/2014/main" id="{167F98DD-B605-593E-7AF3-56882D245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2294" y="2525152"/>
            <a:ext cx="4286250" cy="4200525"/>
          </a:xfrm>
          <a:prstGeom prst="rect">
            <a:avLst/>
          </a:prstGeom>
        </p:spPr>
      </p:pic>
      <p:pic>
        <p:nvPicPr>
          <p:cNvPr id="8" name="Picture 7" descr="A diagram of a layer of skin&#10;&#10;Description automatically generated">
            <a:extLst>
              <a:ext uri="{FF2B5EF4-FFF2-40B4-BE49-F238E27FC236}">
                <a16:creationId xmlns:a16="http://schemas.microsoft.com/office/drawing/2014/main" id="{C44566C4-C1EA-F644-9DEB-97068E75B8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145" y="1695157"/>
            <a:ext cx="6179827" cy="2076422"/>
          </a:xfrm>
          <a:prstGeom prst="rect">
            <a:avLst/>
          </a:prstGeom>
        </p:spPr>
      </p:pic>
      <p:pic>
        <p:nvPicPr>
          <p:cNvPr id="10" name="Picture 9" descr="A diagram of layers of skin&#10;&#10;Description automatically generated">
            <a:extLst>
              <a:ext uri="{FF2B5EF4-FFF2-40B4-BE49-F238E27FC236}">
                <a16:creationId xmlns:a16="http://schemas.microsoft.com/office/drawing/2014/main" id="{633E2D87-4CAB-4CB9-242D-9388570771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1169" y="3771579"/>
            <a:ext cx="4643243" cy="2847856"/>
          </a:xfrm>
          <a:prstGeom prst="rect">
            <a:avLst/>
          </a:prstGeom>
        </p:spPr>
      </p:pic>
    </p:spTree>
    <p:extLst>
      <p:ext uri="{BB962C8B-B14F-4D97-AF65-F5344CB8AC3E}">
        <p14:creationId xmlns:p14="http://schemas.microsoft.com/office/powerpoint/2010/main" val="26874832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15BC1-85CE-87C2-59C3-214112679373}"/>
              </a:ext>
            </a:extLst>
          </p:cNvPr>
          <p:cNvSpPr>
            <a:spLocks noGrp="1"/>
          </p:cNvSpPr>
          <p:nvPr>
            <p:ph type="title"/>
          </p:nvPr>
        </p:nvSpPr>
        <p:spPr/>
        <p:txBody>
          <a:bodyPr/>
          <a:lstStyle/>
          <a:p>
            <a:r>
              <a:rPr lang="en-US" dirty="0"/>
              <a:t>Unity : GGX</a:t>
            </a:r>
            <a:endParaRPr lang="en-BE" dirty="0"/>
          </a:p>
        </p:txBody>
      </p:sp>
      <p:sp>
        <p:nvSpPr>
          <p:cNvPr id="3" name="TextBox 2">
            <a:extLst>
              <a:ext uri="{FF2B5EF4-FFF2-40B4-BE49-F238E27FC236}">
                <a16:creationId xmlns:a16="http://schemas.microsoft.com/office/drawing/2014/main" id="{24BA5672-3535-C849-1D7A-5B54BD423EF5}"/>
              </a:ext>
            </a:extLst>
          </p:cNvPr>
          <p:cNvSpPr txBox="1"/>
          <p:nvPr/>
        </p:nvSpPr>
        <p:spPr>
          <a:xfrm>
            <a:off x="497632" y="1393371"/>
            <a:ext cx="8977138"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Unity uses deferred rendering (more info in advanced pipeline class)</a:t>
            </a:r>
          </a:p>
          <a:p>
            <a:pPr marL="285750" indent="-285750">
              <a:buFont typeface="Arial" panose="020B0604020202020204" pitchFamily="34" charset="0"/>
              <a:buChar char="•"/>
            </a:pPr>
            <a:r>
              <a:rPr lang="en-US" sz="2400" dirty="0"/>
              <a:t>Can only support 1 BRDF</a:t>
            </a:r>
          </a:p>
          <a:p>
            <a:pPr marL="285750" indent="-285750">
              <a:buFont typeface="Arial" panose="020B0604020202020204" pitchFamily="34" charset="0"/>
              <a:buChar char="•"/>
            </a:pPr>
            <a:r>
              <a:rPr lang="en-US" sz="2400" dirty="0"/>
              <a:t>Unity uses GGX</a:t>
            </a:r>
          </a:p>
        </p:txBody>
      </p:sp>
    </p:spTree>
    <p:extLst>
      <p:ext uri="{BB962C8B-B14F-4D97-AF65-F5344CB8AC3E}">
        <p14:creationId xmlns:p14="http://schemas.microsoft.com/office/powerpoint/2010/main" val="3412959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6576-9564-E943-EA92-CE284235DE06}"/>
              </a:ext>
            </a:extLst>
          </p:cNvPr>
          <p:cNvSpPr>
            <a:spLocks noGrp="1"/>
          </p:cNvSpPr>
          <p:nvPr>
            <p:ph type="title"/>
          </p:nvPr>
        </p:nvSpPr>
        <p:spPr/>
        <p:txBody>
          <a:bodyPr/>
          <a:lstStyle/>
          <a:p>
            <a:r>
              <a:rPr lang="en-US" dirty="0"/>
              <a:t>Physically based rendering</a:t>
            </a:r>
            <a:endParaRPr lang="en-BE" dirty="0"/>
          </a:p>
        </p:txBody>
      </p:sp>
      <p:sp>
        <p:nvSpPr>
          <p:cNvPr id="7" name="TextBox 6">
            <a:extLst>
              <a:ext uri="{FF2B5EF4-FFF2-40B4-BE49-F238E27FC236}">
                <a16:creationId xmlns:a16="http://schemas.microsoft.com/office/drawing/2014/main" id="{953ED708-294C-5806-7857-3D8D9442AFA9}"/>
              </a:ext>
            </a:extLst>
          </p:cNvPr>
          <p:cNvSpPr txBox="1"/>
          <p:nvPr/>
        </p:nvSpPr>
        <p:spPr>
          <a:xfrm>
            <a:off x="1760376" y="2792963"/>
            <a:ext cx="184731" cy="369332"/>
          </a:xfrm>
          <a:prstGeom prst="rect">
            <a:avLst/>
          </a:prstGeom>
          <a:noFill/>
        </p:spPr>
        <p:txBody>
          <a:bodyPr wrap="none" rtlCol="0">
            <a:spAutoFit/>
          </a:bodyPr>
          <a:lstStyle/>
          <a:p>
            <a:endParaRPr lang="en-BE" dirty="0"/>
          </a:p>
        </p:txBody>
      </p:sp>
      <p:pic>
        <p:nvPicPr>
          <p:cNvPr id="8" name="Online Media 7" title="2013 Sci-Tech Awards: Matt Pharr, Greg Humphreys and Pat Hanrahan">
            <a:hlinkClick r:id="" action="ppaction://media"/>
            <a:extLst>
              <a:ext uri="{FF2B5EF4-FFF2-40B4-BE49-F238E27FC236}">
                <a16:creationId xmlns:a16="http://schemas.microsoft.com/office/drawing/2014/main" id="{BF60F086-15E4-21BB-2405-2C939F93AEEC}"/>
              </a:ext>
            </a:extLst>
          </p:cNvPr>
          <p:cNvPicPr>
            <a:picLocks noRot="1" noChangeAspect="1"/>
          </p:cNvPicPr>
          <p:nvPr>
            <a:videoFile r:link="rId1"/>
          </p:nvPr>
        </p:nvPicPr>
        <p:blipFill>
          <a:blip r:embed="rId4"/>
          <a:stretch>
            <a:fillRect/>
          </a:stretch>
        </p:blipFill>
        <p:spPr>
          <a:xfrm>
            <a:off x="1884682" y="1507936"/>
            <a:ext cx="9469118" cy="5350064"/>
          </a:xfrm>
          <a:prstGeom prst="rect">
            <a:avLst/>
          </a:prstGeom>
        </p:spPr>
      </p:pic>
    </p:spTree>
    <p:extLst>
      <p:ext uri="{BB962C8B-B14F-4D97-AF65-F5344CB8AC3E}">
        <p14:creationId xmlns:p14="http://schemas.microsoft.com/office/powerpoint/2010/main" val="40388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0C604-CF4F-7998-AFDD-13AA961F6D46}"/>
              </a:ext>
            </a:extLst>
          </p:cNvPr>
          <p:cNvSpPr>
            <a:spLocks noGrp="1"/>
          </p:cNvSpPr>
          <p:nvPr>
            <p:ph type="title"/>
          </p:nvPr>
        </p:nvSpPr>
        <p:spPr>
          <a:xfrm>
            <a:off x="231073" y="128750"/>
            <a:ext cx="10515600" cy="1325563"/>
          </a:xfrm>
        </p:spPr>
        <p:txBody>
          <a:bodyPr/>
          <a:lstStyle/>
          <a:p>
            <a:r>
              <a:rPr lang="en-US" dirty="0"/>
              <a:t>Physically based rendering</a:t>
            </a:r>
            <a:endParaRPr lang="en-BE" dirty="0"/>
          </a:p>
        </p:txBody>
      </p:sp>
      <p:sp>
        <p:nvSpPr>
          <p:cNvPr id="3" name="TextBox 2">
            <a:extLst>
              <a:ext uri="{FF2B5EF4-FFF2-40B4-BE49-F238E27FC236}">
                <a16:creationId xmlns:a16="http://schemas.microsoft.com/office/drawing/2014/main" id="{814AFE28-8B0F-B3E6-FCF2-0A3E39FC89E2}"/>
              </a:ext>
            </a:extLst>
          </p:cNvPr>
          <p:cNvSpPr txBox="1"/>
          <p:nvPr/>
        </p:nvSpPr>
        <p:spPr>
          <a:xfrm>
            <a:off x="74646" y="1405813"/>
            <a:ext cx="6151984"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So good it won an </a:t>
            </a:r>
            <a:r>
              <a:rPr lang="en-US" sz="2400" dirty="0" err="1"/>
              <a:t>oscar</a:t>
            </a:r>
            <a:endParaRPr lang="en-US" sz="2400" dirty="0"/>
          </a:p>
          <a:p>
            <a:pPr marL="285750" indent="-285750">
              <a:buFont typeface="Arial" panose="020B0604020202020204" pitchFamily="34" charset="0"/>
              <a:buChar char="•"/>
            </a:pPr>
            <a:r>
              <a:rPr lang="en-US" sz="2400" dirty="0"/>
              <a:t>Available at </a:t>
            </a:r>
            <a:r>
              <a:rPr lang="en-US" sz="2400" dirty="0">
                <a:hlinkClick r:id="rId3"/>
              </a:rPr>
              <a:t>https://www.pbrt.org/</a:t>
            </a:r>
            <a:r>
              <a:rPr lang="en-US" sz="2400" dirty="0"/>
              <a:t> for free (not mandatory)</a:t>
            </a:r>
          </a:p>
          <a:p>
            <a:pPr marL="285750" indent="-285750">
              <a:buFont typeface="Arial" panose="020B0604020202020204" pitchFamily="34" charset="0"/>
              <a:buChar char="•"/>
            </a:pPr>
            <a:r>
              <a:rPr lang="en-US" sz="2400" dirty="0"/>
              <a:t>Physically based rendering theory is rendering while respecting physics</a:t>
            </a:r>
          </a:p>
          <a:p>
            <a:pPr marL="285750" indent="-285750">
              <a:buFont typeface="Arial" panose="020B0604020202020204" pitchFamily="34" charset="0"/>
              <a:buChar char="•"/>
            </a:pPr>
            <a:r>
              <a:rPr lang="en-US" sz="2400" dirty="0"/>
              <a:t>Before 2010’s, everything was pretty hacky</a:t>
            </a:r>
          </a:p>
          <a:p>
            <a:pPr marL="285750" indent="-285750">
              <a:buFont typeface="Arial" panose="020B0604020202020204" pitchFamily="34" charset="0"/>
              <a:buChar char="•"/>
            </a:pPr>
            <a:r>
              <a:rPr lang="en-US" sz="2400" dirty="0"/>
              <a:t>When it’s based in physics, everything works predictably</a:t>
            </a:r>
          </a:p>
          <a:p>
            <a:pPr marL="285750" indent="-285750">
              <a:buFont typeface="Arial" panose="020B0604020202020204" pitchFamily="34" charset="0"/>
              <a:buChar char="•"/>
            </a:pPr>
            <a:r>
              <a:rPr lang="en-US" sz="2400" dirty="0"/>
              <a:t>Example: an object should only reflect as much light as entered it</a:t>
            </a:r>
          </a:p>
          <a:p>
            <a:pPr marL="285750" indent="-285750">
              <a:buFont typeface="Arial" panose="020B0604020202020204" pitchFamily="34" charset="0"/>
              <a:buChar char="•"/>
            </a:pPr>
            <a:r>
              <a:rPr lang="en-US" sz="2400" dirty="0"/>
              <a:t>Example: a light shines on all objects (no artist set exceptions)</a:t>
            </a:r>
          </a:p>
        </p:txBody>
      </p:sp>
      <p:pic>
        <p:nvPicPr>
          <p:cNvPr id="5" name="Picture 4" descr="A book cover of a room&#10;&#10;Description automatically generated">
            <a:extLst>
              <a:ext uri="{FF2B5EF4-FFF2-40B4-BE49-F238E27FC236}">
                <a16:creationId xmlns:a16="http://schemas.microsoft.com/office/drawing/2014/main" id="{0D0A2F99-C54F-03B4-8301-C9967D8D52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8093" y="62204"/>
            <a:ext cx="5322834" cy="6858000"/>
          </a:xfrm>
          <a:prstGeom prst="rect">
            <a:avLst/>
          </a:prstGeom>
        </p:spPr>
      </p:pic>
    </p:spTree>
    <p:extLst>
      <p:ext uri="{BB962C8B-B14F-4D97-AF65-F5344CB8AC3E}">
        <p14:creationId xmlns:p14="http://schemas.microsoft.com/office/powerpoint/2010/main" val="4110837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4545-02DD-6B94-C7CA-84451E5786FC}"/>
              </a:ext>
            </a:extLst>
          </p:cNvPr>
          <p:cNvSpPr>
            <a:spLocks noGrp="1"/>
          </p:cNvSpPr>
          <p:nvPr>
            <p:ph type="title"/>
          </p:nvPr>
        </p:nvSpPr>
        <p:spPr/>
        <p:txBody>
          <a:bodyPr/>
          <a:lstStyle/>
          <a:p>
            <a:r>
              <a:rPr lang="en-US" dirty="0"/>
              <a:t>Another idea : Non photorealistic rendering</a:t>
            </a:r>
            <a:endParaRPr lang="en-BE" dirty="0"/>
          </a:p>
        </p:txBody>
      </p:sp>
      <p:sp>
        <p:nvSpPr>
          <p:cNvPr id="3" name="TextBox 2">
            <a:extLst>
              <a:ext uri="{FF2B5EF4-FFF2-40B4-BE49-F238E27FC236}">
                <a16:creationId xmlns:a16="http://schemas.microsoft.com/office/drawing/2014/main" id="{C0A54FFF-0709-7622-6B6A-BBA7F494DD2B}"/>
              </a:ext>
            </a:extLst>
          </p:cNvPr>
          <p:cNvSpPr txBox="1"/>
          <p:nvPr/>
        </p:nvSpPr>
        <p:spPr>
          <a:xfrm>
            <a:off x="702906" y="1505339"/>
            <a:ext cx="9072740"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Because sometimes we don’t want our images to look photorealistic</a:t>
            </a:r>
            <a:endParaRPr lang="en-BE" sz="2400" dirty="0"/>
          </a:p>
        </p:txBody>
      </p:sp>
      <p:pic>
        <p:nvPicPr>
          <p:cNvPr id="5" name="Picture 4" descr="A cartoon of a monster&#10;&#10;Description automatically generated">
            <a:extLst>
              <a:ext uri="{FF2B5EF4-FFF2-40B4-BE49-F238E27FC236}">
                <a16:creationId xmlns:a16="http://schemas.microsoft.com/office/drawing/2014/main" id="{B8ED9122-1FB7-0175-22B0-9D2B80267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68" y="2108719"/>
            <a:ext cx="5984032" cy="4488024"/>
          </a:xfrm>
          <a:prstGeom prst="rect">
            <a:avLst/>
          </a:prstGeom>
        </p:spPr>
      </p:pic>
      <p:pic>
        <p:nvPicPr>
          <p:cNvPr id="7" name="Picture 6" descr="A cartoon character in a hallway with cars and a person in yellow suit&#10;&#10;Description automatically generated">
            <a:extLst>
              <a:ext uri="{FF2B5EF4-FFF2-40B4-BE49-F238E27FC236}">
                <a16:creationId xmlns:a16="http://schemas.microsoft.com/office/drawing/2014/main" id="{4334B1E7-5F3A-D872-5FC0-A6EDD730A2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2013" y="2320212"/>
            <a:ext cx="5563551" cy="4172663"/>
          </a:xfrm>
          <a:prstGeom prst="rect">
            <a:avLst/>
          </a:prstGeom>
        </p:spPr>
      </p:pic>
    </p:spTree>
    <p:extLst>
      <p:ext uri="{BB962C8B-B14F-4D97-AF65-F5344CB8AC3E}">
        <p14:creationId xmlns:p14="http://schemas.microsoft.com/office/powerpoint/2010/main" val="2147884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F45B1-21D6-F0F5-37DA-DF1A1446A152}"/>
              </a:ext>
            </a:extLst>
          </p:cNvPr>
          <p:cNvSpPr>
            <a:spLocks noGrp="1"/>
          </p:cNvSpPr>
          <p:nvPr>
            <p:ph type="title"/>
          </p:nvPr>
        </p:nvSpPr>
        <p:spPr/>
        <p:txBody>
          <a:bodyPr/>
          <a:lstStyle/>
          <a:p>
            <a:r>
              <a:rPr lang="en-US" dirty="0"/>
              <a:t>Gooch shading</a:t>
            </a:r>
            <a:endParaRPr lang="en-BE" dirty="0"/>
          </a:p>
        </p:txBody>
      </p:sp>
      <p:sp>
        <p:nvSpPr>
          <p:cNvPr id="3" name="TextBox 2">
            <a:extLst>
              <a:ext uri="{FF2B5EF4-FFF2-40B4-BE49-F238E27FC236}">
                <a16:creationId xmlns:a16="http://schemas.microsoft.com/office/drawing/2014/main" id="{E4EDCCEC-4AEE-F069-C27A-A7C89A7C32C7}"/>
              </a:ext>
            </a:extLst>
          </p:cNvPr>
          <p:cNvSpPr txBox="1"/>
          <p:nvPr/>
        </p:nvSpPr>
        <p:spPr>
          <a:xfrm>
            <a:off x="373608" y="1554480"/>
            <a:ext cx="4945585"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Used for technical drawing</a:t>
            </a:r>
          </a:p>
          <a:p>
            <a:pPr marL="285750" indent="-285750">
              <a:buFont typeface="Arial" panose="020B0604020202020204" pitchFamily="34" charset="0"/>
              <a:buChar char="•"/>
            </a:pPr>
            <a:r>
              <a:rPr lang="en-US" sz="2400" dirty="0"/>
              <a:t>Want more readability in dark areas</a:t>
            </a:r>
          </a:p>
          <a:p>
            <a:endParaRPr lang="en-US" sz="2400" dirty="0"/>
          </a:p>
          <a:p>
            <a:pPr marL="285750" indent="-285750">
              <a:buFont typeface="Arial" panose="020B0604020202020204" pitchFamily="34" charset="0"/>
              <a:buChar char="•"/>
            </a:pPr>
            <a:endParaRPr lang="en-US" sz="2400" dirty="0"/>
          </a:p>
        </p:txBody>
      </p:sp>
      <p:pic>
        <p:nvPicPr>
          <p:cNvPr id="5" name="Picture 4" descr="A dinosaur skeleton on a white background&#10;&#10;Description automatically generated">
            <a:extLst>
              <a:ext uri="{FF2B5EF4-FFF2-40B4-BE49-F238E27FC236}">
                <a16:creationId xmlns:a16="http://schemas.microsoft.com/office/drawing/2014/main" id="{63D225F9-647B-69C4-A711-1625FD749C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7406" y="2363372"/>
            <a:ext cx="7046034" cy="4494628"/>
          </a:xfrm>
          <a:prstGeom prst="rect">
            <a:avLst/>
          </a:prstGeom>
        </p:spPr>
      </p:pic>
    </p:spTree>
    <p:extLst>
      <p:ext uri="{BB962C8B-B14F-4D97-AF65-F5344CB8AC3E}">
        <p14:creationId xmlns:p14="http://schemas.microsoft.com/office/powerpoint/2010/main" val="2079572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F45B1-21D6-F0F5-37DA-DF1A1446A152}"/>
              </a:ext>
            </a:extLst>
          </p:cNvPr>
          <p:cNvSpPr>
            <a:spLocks noGrp="1"/>
          </p:cNvSpPr>
          <p:nvPr>
            <p:ph type="title"/>
          </p:nvPr>
        </p:nvSpPr>
        <p:spPr/>
        <p:txBody>
          <a:bodyPr/>
          <a:lstStyle/>
          <a:p>
            <a:r>
              <a:rPr lang="en-US" dirty="0"/>
              <a:t>Gooch shading</a:t>
            </a:r>
            <a:endParaRPr lang="en-BE" dirty="0"/>
          </a:p>
        </p:txBody>
      </p:sp>
      <p:sp>
        <p:nvSpPr>
          <p:cNvPr id="3" name="TextBox 2">
            <a:extLst>
              <a:ext uri="{FF2B5EF4-FFF2-40B4-BE49-F238E27FC236}">
                <a16:creationId xmlns:a16="http://schemas.microsoft.com/office/drawing/2014/main" id="{E4EDCCEC-4AEE-F069-C27A-A7C89A7C32C7}"/>
              </a:ext>
            </a:extLst>
          </p:cNvPr>
          <p:cNvSpPr txBox="1"/>
          <p:nvPr/>
        </p:nvSpPr>
        <p:spPr>
          <a:xfrm>
            <a:off x="373608" y="1554480"/>
            <a:ext cx="2774286" cy="4154984"/>
          </a:xfrm>
          <a:prstGeom prst="rect">
            <a:avLst/>
          </a:prstGeom>
          <a:noFill/>
        </p:spPr>
        <p:txBody>
          <a:bodyPr wrap="none" rtlCol="0">
            <a:spAutoFit/>
          </a:bodyPr>
          <a:lstStyle/>
          <a:p>
            <a:pPr marL="285750" indent="-285750">
              <a:buFont typeface="Arial" panose="020B0604020202020204" pitchFamily="34" charset="0"/>
              <a:buChar char="•"/>
            </a:pPr>
            <a:r>
              <a:rPr lang="en-US" sz="2400" dirty="0"/>
              <a:t>Normal rendering:</a:t>
            </a:r>
            <a:br>
              <a:rPr lang="en-US" sz="2400" dirty="0"/>
            </a:br>
            <a:r>
              <a:rPr lang="en-US" sz="2400" dirty="0"/>
              <a:t>dot(N,L)</a:t>
            </a:r>
            <a:br>
              <a:rPr lang="en-US" sz="2400" dirty="0"/>
            </a:br>
            <a:r>
              <a:rPr lang="en-US" sz="2400" dirty="0"/>
              <a:t>-1 : black</a:t>
            </a:r>
            <a:br>
              <a:rPr lang="en-US" sz="2400" dirty="0"/>
            </a:br>
            <a:r>
              <a:rPr lang="en-US" sz="2400" dirty="0"/>
              <a:t> 0 : black</a:t>
            </a:r>
            <a:br>
              <a:rPr lang="en-US" sz="2400" dirty="0"/>
            </a:br>
            <a:r>
              <a:rPr lang="en-US" sz="2400" dirty="0"/>
              <a:t> 1 : color</a:t>
            </a:r>
          </a:p>
          <a:p>
            <a:pPr marL="285750" indent="-285750">
              <a:buFont typeface="Arial" panose="020B0604020202020204" pitchFamily="34" charset="0"/>
              <a:buChar char="•"/>
            </a:pPr>
            <a:r>
              <a:rPr lang="en-US" sz="2400" dirty="0"/>
              <a:t>Gooch rendering</a:t>
            </a:r>
          </a:p>
          <a:p>
            <a:pPr marL="285750" indent="-285750">
              <a:buFont typeface="Arial" panose="020B0604020202020204" pitchFamily="34" charset="0"/>
              <a:buChar char="•"/>
            </a:pPr>
            <a:r>
              <a:rPr lang="en-US" sz="2400" dirty="0"/>
              <a:t>dot(N,L)</a:t>
            </a:r>
            <a:br>
              <a:rPr lang="en-US" sz="2400" dirty="0"/>
            </a:br>
            <a:r>
              <a:rPr lang="en-US" sz="2400" dirty="0"/>
              <a:t>-1 : purple</a:t>
            </a:r>
            <a:br>
              <a:rPr lang="en-US" sz="2400" dirty="0"/>
            </a:br>
            <a:r>
              <a:rPr lang="en-US" sz="2400" dirty="0"/>
              <a:t> 1 : color</a:t>
            </a:r>
          </a:p>
          <a:p>
            <a:endParaRPr lang="en-US" sz="2400" dirty="0"/>
          </a:p>
          <a:p>
            <a:pPr marL="285750" indent="-285750">
              <a:buFont typeface="Arial" panose="020B0604020202020204" pitchFamily="34" charset="0"/>
              <a:buChar char="•"/>
            </a:pPr>
            <a:endParaRPr lang="en-US" sz="2400" dirty="0"/>
          </a:p>
        </p:txBody>
      </p:sp>
      <p:pic>
        <p:nvPicPr>
          <p:cNvPr id="5" name="Picture 4" descr="A dinosaur skeleton on a white background&#10;&#10;Description automatically generated">
            <a:extLst>
              <a:ext uri="{FF2B5EF4-FFF2-40B4-BE49-F238E27FC236}">
                <a16:creationId xmlns:a16="http://schemas.microsoft.com/office/drawing/2014/main" id="{63D225F9-647B-69C4-A711-1625FD749C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7406" y="2363372"/>
            <a:ext cx="7046034" cy="4494628"/>
          </a:xfrm>
          <a:prstGeom prst="rect">
            <a:avLst/>
          </a:prstGeom>
        </p:spPr>
      </p:pic>
    </p:spTree>
    <p:extLst>
      <p:ext uri="{BB962C8B-B14F-4D97-AF65-F5344CB8AC3E}">
        <p14:creationId xmlns:p14="http://schemas.microsoft.com/office/powerpoint/2010/main" val="42418639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E72D0-3019-BEA2-F79A-40FE947DB16F}"/>
              </a:ext>
            </a:extLst>
          </p:cNvPr>
          <p:cNvSpPr>
            <a:spLocks noGrp="1"/>
          </p:cNvSpPr>
          <p:nvPr>
            <p:ph type="title"/>
          </p:nvPr>
        </p:nvSpPr>
        <p:spPr/>
        <p:txBody>
          <a:bodyPr/>
          <a:lstStyle/>
          <a:p>
            <a:r>
              <a:rPr lang="en-US" dirty="0"/>
              <a:t>Team Fortress 2 Rendering</a:t>
            </a:r>
            <a:endParaRPr lang="en-BE" dirty="0"/>
          </a:p>
        </p:txBody>
      </p:sp>
      <p:pic>
        <p:nvPicPr>
          <p:cNvPr id="4" name="Picture 3">
            <a:extLst>
              <a:ext uri="{FF2B5EF4-FFF2-40B4-BE49-F238E27FC236}">
                <a16:creationId xmlns:a16="http://schemas.microsoft.com/office/drawing/2014/main" id="{8C628B64-9C36-9D3C-738E-438B5CB662D6}"/>
              </a:ext>
            </a:extLst>
          </p:cNvPr>
          <p:cNvPicPr>
            <a:picLocks noChangeAspect="1"/>
          </p:cNvPicPr>
          <p:nvPr/>
        </p:nvPicPr>
        <p:blipFill>
          <a:blip r:embed="rId3"/>
          <a:stretch>
            <a:fillRect/>
          </a:stretch>
        </p:blipFill>
        <p:spPr>
          <a:xfrm>
            <a:off x="8875726" y="0"/>
            <a:ext cx="2949547" cy="6858000"/>
          </a:xfrm>
          <a:prstGeom prst="rect">
            <a:avLst/>
          </a:prstGeom>
        </p:spPr>
      </p:pic>
      <p:pic>
        <p:nvPicPr>
          <p:cNvPr id="6" name="Picture 5">
            <a:extLst>
              <a:ext uri="{FF2B5EF4-FFF2-40B4-BE49-F238E27FC236}">
                <a16:creationId xmlns:a16="http://schemas.microsoft.com/office/drawing/2014/main" id="{3147789C-7E81-6A81-0446-0ABB5A7941D3}"/>
              </a:ext>
            </a:extLst>
          </p:cNvPr>
          <p:cNvPicPr>
            <a:picLocks noChangeAspect="1"/>
          </p:cNvPicPr>
          <p:nvPr/>
        </p:nvPicPr>
        <p:blipFill>
          <a:blip r:embed="rId4"/>
          <a:stretch>
            <a:fillRect/>
          </a:stretch>
        </p:blipFill>
        <p:spPr>
          <a:xfrm>
            <a:off x="1047327" y="2157315"/>
            <a:ext cx="6058746" cy="4258269"/>
          </a:xfrm>
          <a:prstGeom prst="rect">
            <a:avLst/>
          </a:prstGeom>
        </p:spPr>
      </p:pic>
    </p:spTree>
    <p:extLst>
      <p:ext uri="{BB962C8B-B14F-4D97-AF65-F5344CB8AC3E}">
        <p14:creationId xmlns:p14="http://schemas.microsoft.com/office/powerpoint/2010/main" val="1293514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8CF6-CDFE-323F-5C43-F0BA14D9134D}"/>
              </a:ext>
            </a:extLst>
          </p:cNvPr>
          <p:cNvSpPr>
            <a:spLocks noGrp="1"/>
          </p:cNvSpPr>
          <p:nvPr>
            <p:ph type="title"/>
          </p:nvPr>
        </p:nvSpPr>
        <p:spPr/>
        <p:txBody>
          <a:bodyPr/>
          <a:lstStyle/>
          <a:p>
            <a:r>
              <a:rPr lang="en-US" dirty="0"/>
              <a:t>Questions?</a:t>
            </a:r>
            <a:br>
              <a:rPr lang="en-US" dirty="0"/>
            </a:br>
            <a:r>
              <a:rPr lang="en-US" dirty="0"/>
              <a:t>Possible exam questions  : </a:t>
            </a:r>
            <a:endParaRPr lang="en-BE" dirty="0"/>
          </a:p>
        </p:txBody>
      </p:sp>
      <p:sp>
        <p:nvSpPr>
          <p:cNvPr id="4" name="TextBox 3">
            <a:extLst>
              <a:ext uri="{FF2B5EF4-FFF2-40B4-BE49-F238E27FC236}">
                <a16:creationId xmlns:a16="http://schemas.microsoft.com/office/drawing/2014/main" id="{B1CE34C7-C3A0-63ED-0306-E445D27B781A}"/>
              </a:ext>
            </a:extLst>
          </p:cNvPr>
          <p:cNvSpPr txBox="1"/>
          <p:nvPr/>
        </p:nvSpPr>
        <p:spPr>
          <a:xfrm>
            <a:off x="1054100" y="2273300"/>
            <a:ext cx="10033131" cy="2246769"/>
          </a:xfrm>
          <a:prstGeom prst="rect">
            <a:avLst/>
          </a:prstGeom>
          <a:noFill/>
        </p:spPr>
        <p:txBody>
          <a:bodyPr wrap="none" rtlCol="0">
            <a:spAutoFit/>
          </a:bodyPr>
          <a:lstStyle/>
          <a:p>
            <a:pPr marL="285750" indent="-285750">
              <a:buFont typeface="Arial" panose="020B0604020202020204" pitchFamily="34" charset="0"/>
              <a:buChar char="•"/>
            </a:pPr>
            <a:r>
              <a:rPr lang="en-US" sz="2800" dirty="0"/>
              <a:t>What is the difference between diffuse and specular highlighting?</a:t>
            </a:r>
          </a:p>
          <a:p>
            <a:pPr marL="285750" indent="-285750">
              <a:buFont typeface="Arial" panose="020B0604020202020204" pitchFamily="34" charset="0"/>
              <a:buChar char="•"/>
            </a:pPr>
            <a:r>
              <a:rPr lang="en-US" sz="2800" dirty="0"/>
              <a:t>Give me the algorithm for a diffuse model</a:t>
            </a:r>
          </a:p>
          <a:p>
            <a:pPr marL="285750" indent="-285750">
              <a:buFont typeface="Arial" panose="020B0604020202020204" pitchFamily="34" charset="0"/>
              <a:buChar char="•"/>
            </a:pPr>
            <a:r>
              <a:rPr lang="en-US" sz="2800" dirty="0"/>
              <a:t>What is physically based rendering?</a:t>
            </a:r>
          </a:p>
          <a:p>
            <a:pPr marL="285750" indent="-285750">
              <a:buFont typeface="Arial" panose="020B0604020202020204" pitchFamily="34" charset="0"/>
              <a:buChar char="•"/>
            </a:pPr>
            <a:r>
              <a:rPr lang="en-US" sz="2800" dirty="0"/>
              <a:t>What are difference between the vertex and the pixel shader?</a:t>
            </a:r>
          </a:p>
          <a:p>
            <a:pPr marL="285750" indent="-285750">
              <a:buFont typeface="Arial" panose="020B0604020202020204" pitchFamily="34" charset="0"/>
              <a:buChar char="•"/>
            </a:pPr>
            <a:r>
              <a:rPr lang="en-US" sz="2800" dirty="0"/>
              <a:t>Explain the parts of the GPU graphics pipeline</a:t>
            </a:r>
            <a:endParaRPr lang="en-BE" sz="2800" dirty="0"/>
          </a:p>
        </p:txBody>
      </p:sp>
    </p:spTree>
    <p:extLst>
      <p:ext uri="{BB962C8B-B14F-4D97-AF65-F5344CB8AC3E}">
        <p14:creationId xmlns:p14="http://schemas.microsoft.com/office/powerpoint/2010/main" val="3038816141"/>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1" id="{6849F4D6-1FB7-4CEB-8CC6-E456C34ADDA4}" vid="{0A04E370-2E7A-4A97-A218-FEC8E52F4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slides_theme</Template>
  <TotalTime>31492</TotalTime>
  <Words>1639</Words>
  <Application>Microsoft Office PowerPoint</Application>
  <PresentationFormat>Widescreen</PresentationFormat>
  <Paragraphs>244</Paragraphs>
  <Slides>43</Slides>
  <Notes>43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Tahoma</vt:lpstr>
      <vt:lpstr>Wingdings</vt:lpstr>
      <vt:lpstr>Kantoorthema</vt:lpstr>
      <vt:lpstr>PowerPoint Presentation</vt:lpstr>
      <vt:lpstr>Last class</vt:lpstr>
      <vt:lpstr>Possible exam questions </vt:lpstr>
      <vt:lpstr>Course schedule</vt:lpstr>
      <vt:lpstr>Project questions?</vt:lpstr>
      <vt:lpstr>This class</vt:lpstr>
      <vt:lpstr>The graphics pipeline</vt:lpstr>
      <vt:lpstr>Configurable GPU Pipeline : vertices -&gt; pixels</vt:lpstr>
      <vt:lpstr>Configurable -&gt; programmable</vt:lpstr>
      <vt:lpstr>Compute shaders also exist</vt:lpstr>
      <vt:lpstr>This class</vt:lpstr>
      <vt:lpstr>But what does programmable look like?</vt:lpstr>
      <vt:lpstr>Normal render</vt:lpstr>
      <vt:lpstr>Vertex offset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Vertex shader &lt;-&gt; pixel shaders</vt:lpstr>
      <vt:lpstr>This class</vt:lpstr>
      <vt:lpstr>Material ~= BRDF</vt:lpstr>
      <vt:lpstr>BRDF’s tend to have a diffuse and specular part</vt:lpstr>
      <vt:lpstr>Lambert diffuse</vt:lpstr>
      <vt:lpstr>Lambert diffuse</vt:lpstr>
      <vt:lpstr>Blinn-Phong specular</vt:lpstr>
      <vt:lpstr>Blinn-Phong specular</vt:lpstr>
      <vt:lpstr>Putting it together</vt:lpstr>
      <vt:lpstr>Mirrors are perfectly specular</vt:lpstr>
      <vt:lpstr>How does this work?</vt:lpstr>
      <vt:lpstr>Retroreflectivity</vt:lpstr>
      <vt:lpstr>Microfacets</vt:lpstr>
      <vt:lpstr>Complicated models : skin</vt:lpstr>
      <vt:lpstr>Unity : GGX</vt:lpstr>
      <vt:lpstr>Physically based rendering</vt:lpstr>
      <vt:lpstr>Physically based rendering</vt:lpstr>
      <vt:lpstr>Another idea : Non photorealistic rendering</vt:lpstr>
      <vt:lpstr>Gooch shading</vt:lpstr>
      <vt:lpstr>Gooch shading</vt:lpstr>
      <vt:lpstr>Team Fortress 2 Rendering</vt:lpstr>
      <vt:lpstr>Questions? Possible exam questions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Daan Nijs</dc:creator>
  <cp:lastModifiedBy>Daan Nijs</cp:lastModifiedBy>
  <cp:revision>66</cp:revision>
  <dcterms:created xsi:type="dcterms:W3CDTF">2024-01-29T23:06:06Z</dcterms:created>
  <dcterms:modified xsi:type="dcterms:W3CDTF">2025-05-30T19:32:43Z</dcterms:modified>
</cp:coreProperties>
</file>