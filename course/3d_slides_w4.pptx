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5"/>
  </p:notesMasterIdLst>
  <p:sldIdLst>
    <p:sldId id="256" r:id="rId2"/>
    <p:sldId id="502" r:id="rId3"/>
    <p:sldId id="544" r:id="rId4"/>
    <p:sldId id="543" r:id="rId5"/>
    <p:sldId id="604" r:id="rId6"/>
    <p:sldId id="364" r:id="rId7"/>
    <p:sldId id="545" r:id="rId8"/>
    <p:sldId id="439" r:id="rId9"/>
    <p:sldId id="546" r:id="rId10"/>
    <p:sldId id="547" r:id="rId11"/>
    <p:sldId id="601" r:id="rId12"/>
    <p:sldId id="548" r:id="rId13"/>
    <p:sldId id="550" r:id="rId14"/>
    <p:sldId id="549" r:id="rId15"/>
    <p:sldId id="551" r:id="rId16"/>
    <p:sldId id="552" r:id="rId17"/>
    <p:sldId id="553" r:id="rId18"/>
    <p:sldId id="554" r:id="rId19"/>
    <p:sldId id="555" r:id="rId20"/>
    <p:sldId id="556" r:id="rId21"/>
    <p:sldId id="557" r:id="rId22"/>
    <p:sldId id="558" r:id="rId23"/>
    <p:sldId id="602" r:id="rId24"/>
    <p:sldId id="582" r:id="rId25"/>
    <p:sldId id="584" r:id="rId26"/>
    <p:sldId id="583" r:id="rId27"/>
    <p:sldId id="585" r:id="rId28"/>
    <p:sldId id="586" r:id="rId29"/>
    <p:sldId id="590" r:id="rId30"/>
    <p:sldId id="591" r:id="rId31"/>
    <p:sldId id="587" r:id="rId32"/>
    <p:sldId id="588" r:id="rId33"/>
    <p:sldId id="589" r:id="rId34"/>
    <p:sldId id="592" r:id="rId35"/>
    <p:sldId id="593" r:id="rId36"/>
    <p:sldId id="599" r:id="rId37"/>
    <p:sldId id="594" r:id="rId38"/>
    <p:sldId id="595" r:id="rId39"/>
    <p:sldId id="596" r:id="rId40"/>
    <p:sldId id="597" r:id="rId41"/>
    <p:sldId id="598" r:id="rId42"/>
    <p:sldId id="603" r:id="rId43"/>
    <p:sldId id="600" r:id="rId44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notesView">
  <p:normalViewPr horzBarState="maximized">
    <p:restoredLeft sz="18010" autoAdjust="0"/>
    <p:restoredTop sz="94660"/>
  </p:normalViewPr>
  <p:slideViewPr>
    <p:cSldViewPr snapToGrid="0">
      <p:cViewPr varScale="1">
        <p:scale>
          <a:sx n="88" d="100"/>
          <a:sy n="88" d="100"/>
        </p:scale>
        <p:origin x="114" y="1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5" d="100"/>
          <a:sy n="125" d="100"/>
        </p:scale>
        <p:origin x="156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451448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5676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057275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What is a vertex? How many bytes is a vertex?</a:t>
            </a:r>
          </a:p>
          <a:p>
            <a:r>
              <a:rPr lang="en-US" dirty="0"/>
              <a:t>A vertex is a point in space, that can hold several different attributes, such as a position, normal, color, animation information. They are commonly used to define the corners of a triangle. Because it can have different attributes, it doesn’t have a specific size</a:t>
            </a:r>
          </a:p>
          <a:p>
            <a:endParaRPr lang="en-US" dirty="0"/>
          </a:p>
          <a:p>
            <a:r>
              <a:rPr lang="en-US" dirty="0"/>
              <a:t>What is an index buffer?</a:t>
            </a:r>
          </a:p>
          <a:p>
            <a:r>
              <a:rPr lang="en-US" dirty="0"/>
              <a:t>An index buffer holds indices of vertices in the vertex buffer. Three indices make a triangle. The idea is to use the index buffer to avoid duplicating vertices in the vertex buffer. </a:t>
            </a:r>
          </a:p>
          <a:p>
            <a:endParaRPr lang="en-US" dirty="0"/>
          </a:p>
          <a:p>
            <a:r>
              <a:rPr lang="en-US" dirty="0"/>
              <a:t>What is a normal? How long is it?</a:t>
            </a:r>
          </a:p>
          <a:p>
            <a:r>
              <a:rPr lang="en-US" dirty="0"/>
              <a:t>A normal is a vector of length one, perpendicular to a surface</a:t>
            </a:r>
          </a:p>
          <a:p>
            <a:endParaRPr lang="en-US" dirty="0"/>
          </a:p>
          <a:p>
            <a:r>
              <a:rPr lang="en-US" dirty="0"/>
              <a:t>How do you create a face normal?</a:t>
            </a:r>
            <a:br>
              <a:rPr lang="en-US" dirty="0"/>
            </a:br>
            <a:r>
              <a:rPr lang="en-US" dirty="0"/>
              <a:t>We take the cross product of two of the edges, and normalize the result</a:t>
            </a:r>
          </a:p>
          <a:p>
            <a:endParaRPr lang="en-US" dirty="0"/>
          </a:p>
          <a:p>
            <a:r>
              <a:rPr lang="en-US" dirty="0"/>
              <a:t>How could you create a vertex normal?</a:t>
            </a:r>
            <a:br>
              <a:rPr lang="en-US" dirty="0"/>
            </a:br>
            <a:r>
              <a:rPr lang="en-US" dirty="0"/>
              <a:t>Add all the face </a:t>
            </a:r>
            <a:r>
              <a:rPr lang="en-US" dirty="0" err="1"/>
              <a:t>normal’s</a:t>
            </a:r>
            <a:r>
              <a:rPr lang="en-US" dirty="0"/>
              <a:t> of faces that include the vertex, and normalize the result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83986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71112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600632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79740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graphics pipeline is as important a concept as it’s ill defined.</a:t>
            </a:r>
          </a:p>
          <a:p>
            <a:endParaRPr lang="en-US" dirty="0"/>
          </a:p>
          <a:p>
            <a:r>
              <a:rPr lang="en-US" dirty="0"/>
              <a:t>One graphics pipeline is everything that happens for your application to render visuals</a:t>
            </a:r>
          </a:p>
          <a:p>
            <a:r>
              <a:rPr lang="en-US" dirty="0"/>
              <a:t>Another graphics pipeline is everything in your graphics card how they work together to render images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872290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gpu</a:t>
            </a:r>
            <a:r>
              <a:rPr lang="en-US" dirty="0"/>
              <a:t> pipeline takes vertices (which we give to the </a:t>
            </a:r>
            <a:r>
              <a:rPr lang="en-US" dirty="0" err="1"/>
              <a:t>gpu</a:t>
            </a:r>
            <a:r>
              <a:rPr lang="en-US" dirty="0"/>
              <a:t>), and transform them. An important example is that it takes vertices defined in local space or local space, and transforms them into the right position for the camera (camera/view space). Another is animation, which transforms vertices. We also connect the vertices to form triangles, but this is purely a conceptual idea.</a:t>
            </a:r>
          </a:p>
          <a:p>
            <a:r>
              <a:rPr lang="en-US" dirty="0"/>
              <a:t>Next, the rasterizer turns this conceptual triangle into a bunch of pixels (called fragments).</a:t>
            </a:r>
          </a:p>
          <a:p>
            <a:r>
              <a:rPr lang="en-US" dirty="0"/>
              <a:t>These fragments are “colored”. This is usually implemented as calculating the light hitting this particular fragment, and shading it accordingly.</a:t>
            </a:r>
          </a:p>
          <a:p>
            <a:endParaRPr lang="en-US" dirty="0"/>
          </a:p>
          <a:p>
            <a:r>
              <a:rPr lang="en-US" dirty="0"/>
              <a:t>Above is the diagram of GPU’s up until about 2005. These GPU’s were </a:t>
            </a:r>
            <a:r>
              <a:rPr lang="en-US" b="1" dirty="0"/>
              <a:t>configurable. </a:t>
            </a:r>
            <a:r>
              <a:rPr lang="en-US" dirty="0"/>
              <a:t>That means we can’t write programs for them, but we can set some settings. An example would be if the object should be drawn with transparency or not.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82099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 2005, GPU’s started becoming </a:t>
            </a:r>
            <a:r>
              <a:rPr lang="en-US" b="1" dirty="0"/>
              <a:t>programmable</a:t>
            </a:r>
            <a:r>
              <a:rPr lang="en-US" dirty="0"/>
              <a:t>. The vertex transformations stage, and the fragment  / pixel processing stage could now run arbitrary programs written by developers. This allowed a lot of algorithms that were impossible to configure, such as cartoon-like shading.</a:t>
            </a:r>
          </a:p>
          <a:p>
            <a:endParaRPr lang="en-US" dirty="0"/>
          </a:p>
          <a:p>
            <a:r>
              <a:rPr lang="en-US" dirty="0"/>
              <a:t>The rasterizer remain configurable, as before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13686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programmability would allow people to realize the GPU could be used to for non-graphical tasks. An early example would be stock option price prediction. The big modern example is, of course, machine learning, which would be prohibit expensive on CPU’s 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10092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549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605915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156028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shader has two methods:</a:t>
            </a:r>
          </a:p>
          <a:p>
            <a:endParaRPr lang="en-US" dirty="0"/>
          </a:p>
          <a:p>
            <a:r>
              <a:rPr lang="en-US" dirty="0"/>
              <a:t>surf, which implements the pixel shader</a:t>
            </a:r>
          </a:p>
          <a:p>
            <a:endParaRPr lang="en-US" dirty="0"/>
          </a:p>
          <a:p>
            <a:r>
              <a:rPr lang="en-US" dirty="0"/>
              <a:t>Vert, which implements the vertex shader, which “blows up” the model by moving the vertices along the normal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02478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632345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81821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862361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643753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66556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0944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46154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929780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Please see a later class for full notes, I left this here </a:t>
            </a:r>
            <a:r>
              <a:rPr lang="en-US"/>
              <a:t>for completion</a:t>
            </a:r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20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498955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60834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391988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67203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946657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31753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424927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71557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273266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430623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069329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18635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500571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950586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0254907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212468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96639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1705790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21267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72783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11/03/2025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7d9juPsv1QU?feature=oembed" TargetMode="External"/><Relationship Id="rId4" Type="http://schemas.openxmlformats.org/officeDocument/2006/relationships/image" Target="../media/image37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brt.org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4: Graphics pipeline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DE/AR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2024</a:t>
            </a:r>
            <a:endParaRPr lang="en-BE" dirty="0"/>
          </a:p>
        </p:txBody>
      </p:sp>
      <p:pic>
        <p:nvPicPr>
          <p:cNvPr id="8" name="Picture 7" descr="A group of men posing for a picture&#10;&#10;AI-generated content may be incorrect.">
            <a:extLst>
              <a:ext uri="{FF2B5EF4-FFF2-40B4-BE49-F238E27FC236}">
                <a16:creationId xmlns:a16="http://schemas.microsoft.com/office/drawing/2014/main" id="{D00B7C1D-34A7-9B50-85D3-3F3C638D13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2250" y="0"/>
            <a:ext cx="2857500" cy="2571750"/>
          </a:xfrm>
          <a:prstGeom prst="rect">
            <a:avLst/>
          </a:prstGeom>
        </p:spPr>
      </p:pic>
      <p:pic>
        <p:nvPicPr>
          <p:cNvPr id="10" name="Picture 9" descr="A person standing in front of a crowd of people&#10;&#10;AI-generated content may be incorrect.">
            <a:extLst>
              <a:ext uri="{FF2B5EF4-FFF2-40B4-BE49-F238E27FC236}">
                <a16:creationId xmlns:a16="http://schemas.microsoft.com/office/drawing/2014/main" id="{16146B1C-F205-F41A-BC10-D2A1654737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5246"/>
            <a:ext cx="3835400" cy="22270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4DBBF3-B1FC-5363-23C0-3821807FB44B}"/>
              </a:ext>
            </a:extLst>
          </p:cNvPr>
          <p:cNvSpPr txBox="1"/>
          <p:nvPr/>
        </p:nvSpPr>
        <p:spPr>
          <a:xfrm>
            <a:off x="4127500" y="2747856"/>
            <a:ext cx="26925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Wingdings" panose="05000000000000000000" pitchFamily="2" charset="2"/>
              </a:rPr>
              <a:t> </a:t>
            </a:r>
            <a:r>
              <a:rPr lang="en-US" sz="2800" dirty="0" err="1"/>
              <a:t>Zwangere</a:t>
            </a:r>
            <a:r>
              <a:rPr lang="en-US" sz="2800" dirty="0"/>
              <a:t> Guy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D23-D77C-70B3-2CC3-3B963972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DA8D2-CA6D-2610-89CE-68DEF02CC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033C93-BDDA-E53E-45B8-D25FB21FD02C}"/>
              </a:ext>
            </a:extLst>
          </p:cNvPr>
          <p:cNvSpPr txBox="1"/>
          <p:nvPr/>
        </p:nvSpPr>
        <p:spPr>
          <a:xfrm>
            <a:off x="989901" y="1690689"/>
            <a:ext cx="542955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Vertices, indices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Winding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Normal generation</a:t>
            </a:r>
          </a:p>
        </p:txBody>
      </p:sp>
      <p:pic>
        <p:nvPicPr>
          <p:cNvPr id="5" name="Picture 4" descr="A diagram of a triangle with numbers and a triangle&#10;&#10;Description automatically generated">
            <a:extLst>
              <a:ext uri="{FF2B5EF4-FFF2-40B4-BE49-F238E27FC236}">
                <a16:creationId xmlns:a16="http://schemas.microsoft.com/office/drawing/2014/main" id="{394EC333-4D6B-2108-48B1-6A775B5AA9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9514" y="71479"/>
            <a:ext cx="5173980" cy="3649018"/>
          </a:xfrm>
          <a:prstGeom prst="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38D3AA8A-0ED0-085F-FE11-BD660A60A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907" y="3720497"/>
            <a:ext cx="4969161" cy="2893627"/>
          </a:xfrm>
          <a:prstGeom prst="rect">
            <a:avLst/>
          </a:prstGeom>
        </p:spPr>
      </p:pic>
      <p:pic>
        <p:nvPicPr>
          <p:cNvPr id="8" name="Picture 7" descr="A diagram of a triangle with a line and a line&#10;&#10;Description automatically generated">
            <a:extLst>
              <a:ext uri="{FF2B5EF4-FFF2-40B4-BE49-F238E27FC236}">
                <a16:creationId xmlns:a16="http://schemas.microsoft.com/office/drawing/2014/main" id="{0402BAC4-0906-4C55-D5B7-E8BD7AF10A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02" y="3871407"/>
            <a:ext cx="4540841" cy="2986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27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F6401-CD6B-72BC-0DD3-93F63F3F3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exam questions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5D5A19-AACE-AE40-5218-46CAAE5B6FF7}"/>
              </a:ext>
            </a:extLst>
          </p:cNvPr>
          <p:cNvSpPr txBox="1"/>
          <p:nvPr/>
        </p:nvSpPr>
        <p:spPr>
          <a:xfrm>
            <a:off x="740229" y="2819400"/>
            <a:ext cx="910743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What is a vertex? How many bytes is a vertex?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What is an index buffer?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What is a normal? How long is it?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How do you create a face normal?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How could you create a vertex normal?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329285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6D5C226-4920-1470-4E26-725EDC46B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200795"/>
              </p:ext>
            </p:extLst>
          </p:nvPr>
        </p:nvGraphicFramePr>
        <p:xfrm>
          <a:off x="5124734" y="1"/>
          <a:ext cx="4326341" cy="7322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693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299648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</a:tblGrid>
              <a:tr h="522129">
                <a:tc>
                  <a:txBody>
                    <a:bodyPr/>
                    <a:lstStyle/>
                    <a:p>
                      <a:endParaRPr lang="en-B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73685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 &amp; 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5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Textures &amp; Normal maps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6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Proceduralism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7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Post Processing</a:t>
                      </a:r>
                      <a:endParaRPr lang="en-BE" dirty="0"/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8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Advanced pipeline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9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Aliasing / Presentations</a:t>
                      </a:r>
                      <a:endParaRPr lang="en-BE" dirty="0"/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10 :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11 : 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351D17D-F165-A405-4C90-69417290D645}"/>
              </a:ext>
            </a:extLst>
          </p:cNvPr>
          <p:cNvSpPr/>
          <p:nvPr/>
        </p:nvSpPr>
        <p:spPr>
          <a:xfrm>
            <a:off x="7149524" y="2152117"/>
            <a:ext cx="2301551" cy="49459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0871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E3159-16E2-5FD9-2FA0-8D0B720C0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questions?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68926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1" y="1690689"/>
            <a:ext cx="54295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The graphics pipeline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Shaders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Materials</a:t>
            </a:r>
          </a:p>
        </p:txBody>
      </p:sp>
    </p:spTree>
    <p:extLst>
      <p:ext uri="{BB962C8B-B14F-4D97-AF65-F5344CB8AC3E}">
        <p14:creationId xmlns:p14="http://schemas.microsoft.com/office/powerpoint/2010/main" val="1372615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28A2B-208F-D461-2831-9DFB0819D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graphics pipeline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F855EE-1A3F-E1C9-0C61-4B91645D16B3}"/>
              </a:ext>
            </a:extLst>
          </p:cNvPr>
          <p:cNvSpPr txBox="1"/>
          <p:nvPr/>
        </p:nvSpPr>
        <p:spPr>
          <a:xfrm>
            <a:off x="327705" y="1886631"/>
            <a:ext cx="106450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“All the steps an application takes to render”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Also, “the steps the GPU does when you ask it to draw something”, which is different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Let’s take a look at the latter, first</a:t>
            </a:r>
          </a:p>
        </p:txBody>
      </p:sp>
      <p:pic>
        <p:nvPicPr>
          <p:cNvPr id="5" name="Picture 4" descr="A close-up of a computer chip&#10;&#10;AI-generated content may be incorrect.">
            <a:extLst>
              <a:ext uri="{FF2B5EF4-FFF2-40B4-BE49-F238E27FC236}">
                <a16:creationId xmlns:a16="http://schemas.microsoft.com/office/drawing/2014/main" id="{F385FAEC-E5F7-3044-F890-AF0ED77276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403" y="3911600"/>
            <a:ext cx="4850041" cy="294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063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34586-C607-EC20-3F69-EEFF6D3B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5DAF8-8C4F-B228-9870-4E49C098F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29" y="-93067"/>
            <a:ext cx="10515600" cy="1325563"/>
          </a:xfrm>
        </p:spPr>
        <p:txBody>
          <a:bodyPr/>
          <a:lstStyle/>
          <a:p>
            <a:r>
              <a:rPr lang="en-US" b="1" dirty="0"/>
              <a:t>Configurable</a:t>
            </a:r>
            <a:r>
              <a:rPr lang="en-US" dirty="0"/>
              <a:t> GPU Pipeline : vertices -&gt; pixels</a:t>
            </a:r>
            <a:endParaRPr lang="en-BE" dirty="0"/>
          </a:p>
        </p:txBody>
      </p:sp>
      <p:pic>
        <p:nvPicPr>
          <p:cNvPr id="3" name="Picture 2" descr="A picture containing traffic light&#10;&#10;Description automatically generated">
            <a:extLst>
              <a:ext uri="{FF2B5EF4-FFF2-40B4-BE49-F238E27FC236}">
                <a16:creationId xmlns:a16="http://schemas.microsoft.com/office/drawing/2014/main" id="{AF880B2F-1481-EEDE-73B4-F9A8D3E27C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539" y="2008877"/>
            <a:ext cx="2142478" cy="1067344"/>
          </a:xfrm>
          <a:prstGeom prst="rect">
            <a:avLst/>
          </a:prstGeom>
        </p:spPr>
      </p:pic>
      <p:pic>
        <p:nvPicPr>
          <p:cNvPr id="4" name="Picture 3" descr="A picture containing object&#10;&#10;Description automatically generated">
            <a:extLst>
              <a:ext uri="{FF2B5EF4-FFF2-40B4-BE49-F238E27FC236}">
                <a16:creationId xmlns:a16="http://schemas.microsoft.com/office/drawing/2014/main" id="{F1E41020-E8CD-E39C-3A95-7D61480E62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332" y="1972441"/>
            <a:ext cx="2009186" cy="11434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B6BED6-BE46-DFFE-E56C-6380317433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500" y="1972442"/>
            <a:ext cx="1933806" cy="1014596"/>
          </a:xfrm>
          <a:prstGeom prst="rect">
            <a:avLst/>
          </a:prstGeom>
        </p:spPr>
      </p:pic>
      <p:pic>
        <p:nvPicPr>
          <p:cNvPr id="6" name="Picture 5" descr="A picture containing building&#10;&#10;Description automatically generated">
            <a:extLst>
              <a:ext uri="{FF2B5EF4-FFF2-40B4-BE49-F238E27FC236}">
                <a16:creationId xmlns:a16="http://schemas.microsoft.com/office/drawing/2014/main" id="{F8C6FD52-C090-090D-B096-500C4C88BF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994" y="1981334"/>
            <a:ext cx="1933806" cy="10145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C1DF5E-1BA3-6E5E-AB81-8213A538F3DA}"/>
              </a:ext>
            </a:extLst>
          </p:cNvPr>
          <p:cNvSpPr txBox="1"/>
          <p:nvPr/>
        </p:nvSpPr>
        <p:spPr>
          <a:xfrm>
            <a:off x="1754446" y="3742150"/>
            <a:ext cx="24904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Transform vertices</a:t>
            </a:r>
            <a:endParaRPr lang="en-BE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4F51B8-2488-8BA0-A9F2-E9838F7D68BF}"/>
              </a:ext>
            </a:extLst>
          </p:cNvPr>
          <p:cNvSpPr txBox="1"/>
          <p:nvPr/>
        </p:nvSpPr>
        <p:spPr>
          <a:xfrm>
            <a:off x="5506012" y="3742151"/>
            <a:ext cx="1345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Rasterize</a:t>
            </a:r>
            <a:endParaRPr lang="en-BE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DC59FF-E47A-12C3-11DF-87E440F4AF35}"/>
              </a:ext>
            </a:extLst>
          </p:cNvPr>
          <p:cNvSpPr txBox="1"/>
          <p:nvPr/>
        </p:nvSpPr>
        <p:spPr>
          <a:xfrm>
            <a:off x="8082576" y="3742151"/>
            <a:ext cx="2674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Calculate pixel color</a:t>
            </a:r>
            <a:endParaRPr lang="en-BE" sz="2400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82D5567-B874-F6D5-EF66-C79349A53D5A}"/>
              </a:ext>
            </a:extLst>
          </p:cNvPr>
          <p:cNvSpPr/>
          <p:nvPr/>
        </p:nvSpPr>
        <p:spPr>
          <a:xfrm>
            <a:off x="2604716" y="2451985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B05A57B-12E3-A2D2-29D5-609E62FF50C2}"/>
              </a:ext>
            </a:extLst>
          </p:cNvPr>
          <p:cNvSpPr/>
          <p:nvPr/>
        </p:nvSpPr>
        <p:spPr>
          <a:xfrm>
            <a:off x="5713823" y="2410332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4D2A4D7-5D78-13E2-79F3-5A98470CEEAF}"/>
              </a:ext>
            </a:extLst>
          </p:cNvPr>
          <p:cNvSpPr/>
          <p:nvPr/>
        </p:nvSpPr>
        <p:spPr>
          <a:xfrm>
            <a:off x="8755306" y="2406544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14" name="Picture 13" descr="A close-up of a kite&#10;&#10;Description automatically generated">
            <a:extLst>
              <a:ext uri="{FF2B5EF4-FFF2-40B4-BE49-F238E27FC236}">
                <a16:creationId xmlns:a16="http://schemas.microsoft.com/office/drawing/2014/main" id="{A71E7FC2-8CF1-BC34-38B3-F9C2BC3DED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453" y="4384914"/>
            <a:ext cx="4748076" cy="148553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35567C-487B-781B-95CF-A27F10784E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3526" y="4334106"/>
            <a:ext cx="2948473" cy="25238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25B28C-3DED-4CFD-0D88-26668A28B74C}"/>
              </a:ext>
            </a:extLst>
          </p:cNvPr>
          <p:cNvSpPr txBox="1"/>
          <p:nvPr/>
        </p:nvSpPr>
        <p:spPr>
          <a:xfrm>
            <a:off x="422126" y="1067339"/>
            <a:ext cx="8884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Configurable means that we can’t program the GPU, only set values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580916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B84E-C48D-9739-4DC5-AF74D74EB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Configurable -&gt; programmable</a:t>
            </a:r>
            <a:endParaRPr lang="en-BE" dirty="0"/>
          </a:p>
        </p:txBody>
      </p:sp>
      <p:pic>
        <p:nvPicPr>
          <p:cNvPr id="6" name="Picture 5" descr="A picture containing traffic light&#10;&#10;Description automatically generated">
            <a:extLst>
              <a:ext uri="{FF2B5EF4-FFF2-40B4-BE49-F238E27FC236}">
                <a16:creationId xmlns:a16="http://schemas.microsoft.com/office/drawing/2014/main" id="{D77605C3-2481-43E1-5D2C-BD002F9053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39" y="1983477"/>
            <a:ext cx="2142478" cy="1067344"/>
          </a:xfrm>
          <a:prstGeom prst="rect">
            <a:avLst/>
          </a:prstGeom>
        </p:spPr>
      </p:pic>
      <p:pic>
        <p:nvPicPr>
          <p:cNvPr id="7" name="Picture 6" descr="A picture containing object&#10;&#10;Description automatically generated">
            <a:extLst>
              <a:ext uri="{FF2B5EF4-FFF2-40B4-BE49-F238E27FC236}">
                <a16:creationId xmlns:a16="http://schemas.microsoft.com/office/drawing/2014/main" id="{F71E7F6B-B9F7-B4A6-CFD1-3D35E0897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932" y="1947041"/>
            <a:ext cx="2009186" cy="11434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9CBF03-6A59-DF49-185B-3642A929DA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100" y="1947042"/>
            <a:ext cx="1933806" cy="1014596"/>
          </a:xfrm>
          <a:prstGeom prst="rect">
            <a:avLst/>
          </a:prstGeom>
        </p:spPr>
      </p:pic>
      <p:pic>
        <p:nvPicPr>
          <p:cNvPr id="9" name="Picture 8" descr="A picture containing building&#10;&#10;Description automatically generated">
            <a:extLst>
              <a:ext uri="{FF2B5EF4-FFF2-40B4-BE49-F238E27FC236}">
                <a16:creationId xmlns:a16="http://schemas.microsoft.com/office/drawing/2014/main" id="{D74C82DC-DDA0-BA93-F8AB-BFEB94285A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8594" y="1955934"/>
            <a:ext cx="1933806" cy="10145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1CA662-1336-56F4-6C0F-F7AEA8E28D19}"/>
              </a:ext>
            </a:extLst>
          </p:cNvPr>
          <p:cNvSpPr txBox="1"/>
          <p:nvPr/>
        </p:nvSpPr>
        <p:spPr>
          <a:xfrm>
            <a:off x="5137712" y="3217992"/>
            <a:ext cx="27678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Rasterize</a:t>
            </a:r>
            <a:br>
              <a:rPr lang="en-US" sz="2400" b="1" dirty="0"/>
            </a:br>
            <a:r>
              <a:rPr lang="en-US" sz="2400" b="1" dirty="0"/>
              <a:t>(not programmable)</a:t>
            </a:r>
            <a:endParaRPr lang="en-BE" sz="2400" b="1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6661AA2-B854-7FDA-3D0A-BD0243FEA9F9}"/>
              </a:ext>
            </a:extLst>
          </p:cNvPr>
          <p:cNvSpPr/>
          <p:nvPr/>
        </p:nvSpPr>
        <p:spPr>
          <a:xfrm>
            <a:off x="2833316" y="2426585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2B7E62CC-54F5-C89B-39FA-408BE9D2126C}"/>
              </a:ext>
            </a:extLst>
          </p:cNvPr>
          <p:cNvSpPr/>
          <p:nvPr/>
        </p:nvSpPr>
        <p:spPr>
          <a:xfrm>
            <a:off x="5942423" y="2384932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8240D2A-FDAA-4F62-7F83-084CAF29650B}"/>
              </a:ext>
            </a:extLst>
          </p:cNvPr>
          <p:cNvSpPr/>
          <p:nvPr/>
        </p:nvSpPr>
        <p:spPr>
          <a:xfrm>
            <a:off x="8983906" y="2381144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BE4B34-FF36-D42B-4C4F-3159E48FA5C3}"/>
              </a:ext>
            </a:extLst>
          </p:cNvPr>
          <p:cNvSpPr txBox="1"/>
          <p:nvPr/>
        </p:nvSpPr>
        <p:spPr>
          <a:xfrm>
            <a:off x="2457972" y="3105831"/>
            <a:ext cx="163666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Vertex </a:t>
            </a:r>
            <a:br>
              <a:rPr lang="en-US" sz="4000" dirty="0"/>
            </a:br>
            <a:r>
              <a:rPr lang="en-US" sz="4000" dirty="0"/>
              <a:t>shader</a:t>
            </a:r>
            <a:endParaRPr lang="en-BE" sz="4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3AF1BF-B56E-DA73-09BB-321FC7827FA8}"/>
              </a:ext>
            </a:extLst>
          </p:cNvPr>
          <p:cNvSpPr txBox="1"/>
          <p:nvPr/>
        </p:nvSpPr>
        <p:spPr>
          <a:xfrm>
            <a:off x="8625233" y="3282697"/>
            <a:ext cx="16033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Pixel </a:t>
            </a:r>
            <a:br>
              <a:rPr lang="en-US" sz="4000" dirty="0"/>
            </a:br>
            <a:r>
              <a:rPr lang="en-US" sz="4000" dirty="0"/>
              <a:t>shader</a:t>
            </a:r>
            <a:endParaRPr lang="en-BE" sz="4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155B4C-62EA-A7E0-5E4D-0387AB5B9CC2}"/>
              </a:ext>
            </a:extLst>
          </p:cNvPr>
          <p:cNvSpPr txBox="1"/>
          <p:nvPr/>
        </p:nvSpPr>
        <p:spPr>
          <a:xfrm>
            <a:off x="1007388" y="4465964"/>
            <a:ext cx="1057501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Shader: program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Massively multithreaded: thousands of pixels/vertices at a time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Glue between shaders is vertex -&gt; rasterizer -&gt; pixels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1577439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AF0F6-08FF-6F78-F9BE-2B11E69AD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shaders also exist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058B6-0C55-C46C-F77E-60C48DC13653}"/>
              </a:ext>
            </a:extLst>
          </p:cNvPr>
          <p:cNvSpPr txBox="1"/>
          <p:nvPr/>
        </p:nvSpPr>
        <p:spPr>
          <a:xfrm>
            <a:off x="596900" y="2090172"/>
            <a:ext cx="96393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VS and PS started out as separate hardware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Later, they created a compute shader (CS)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VS AND PS use a CS under de hood</a:t>
            </a:r>
            <a:br>
              <a:rPr lang="en-US" sz="2800" dirty="0"/>
            </a:br>
            <a:br>
              <a:rPr lang="en-US" sz="2800" dirty="0"/>
            </a:b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generalization led directly to the rise of modern AI </a:t>
            </a:r>
            <a:r>
              <a:rPr lang="en-US" sz="2800" dirty="0">
                <a:sym typeface="Wingdings" panose="05000000000000000000" pitchFamily="2" charset="2"/>
              </a:rPr>
              <a:t>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Also bitcoin 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Most supercomputers use GPU’s….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Not bad for some gaming hardware..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12876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52A19-67F8-4842-26CB-10D742D0B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F1B09-5B0F-4D44-B562-8D6BC0147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D0A392-DAC4-94DD-58AE-D81175F6D0AE}"/>
              </a:ext>
            </a:extLst>
          </p:cNvPr>
          <p:cNvSpPr txBox="1"/>
          <p:nvPr/>
        </p:nvSpPr>
        <p:spPr>
          <a:xfrm>
            <a:off x="989901" y="1690689"/>
            <a:ext cx="54295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The graphics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Shaders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Materials</a:t>
            </a:r>
          </a:p>
        </p:txBody>
      </p:sp>
    </p:spTree>
    <p:extLst>
      <p:ext uri="{BB962C8B-B14F-4D97-AF65-F5344CB8AC3E}">
        <p14:creationId xmlns:p14="http://schemas.microsoft.com/office/powerpoint/2010/main" val="3833259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2269-FAF3-C071-5C39-5B725A2A6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what does programmable look like?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ADAFB-EA2A-C494-49A0-63915B3EB5F0}"/>
              </a:ext>
            </a:extLst>
          </p:cNvPr>
          <p:cNvSpPr txBox="1"/>
          <p:nvPr/>
        </p:nvSpPr>
        <p:spPr>
          <a:xfrm>
            <a:off x="635000" y="1690688"/>
            <a:ext cx="874329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use HLSL. GLSL also exists, but they all look pretty similar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are c-like, have structs and functions, but no </a:t>
            </a:r>
            <a:r>
              <a:rPr lang="en-US" sz="2400" dirty="0" err="1"/>
              <a:t>oo</a:t>
            </a:r>
            <a:r>
              <a:rPr lang="en-US" sz="2400" dirty="0"/>
              <a:t> (inheritance)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You can’t run them directly, you need both when you draw a mesh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2400" dirty="0"/>
          </a:p>
        </p:txBody>
      </p:sp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A076A802-45DA-DCCB-7160-88A494DCF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235" y="2875415"/>
            <a:ext cx="7171765" cy="398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191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FB695-BFA0-295A-7566-4D46A901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render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9AEFD-3B66-479D-E195-E9D4ECB53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107" y="2227729"/>
            <a:ext cx="6331987" cy="463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851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4F0ED-7BF0-3102-6D2B-A99E13974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 offset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3432D3-3BF6-D77E-E2E0-11F81AB2F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048" y="0"/>
            <a:ext cx="5695904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7B467F-5198-6CDC-0993-863E7CB58C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20669"/>
            <a:ext cx="6296048" cy="453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163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3CDE5-9072-7A21-51FE-689F69F10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B10CD7-41FD-1B2D-8A17-4F46F005D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95904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228182F-BA54-CFAE-2938-2EFBEDA2E076}"/>
              </a:ext>
            </a:extLst>
          </p:cNvPr>
          <p:cNvCxnSpPr/>
          <p:nvPr/>
        </p:nvCxnSpPr>
        <p:spPr>
          <a:xfrm>
            <a:off x="1511300" y="584200"/>
            <a:ext cx="45847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FD8DC50-077B-7A1D-3388-CE751E068E9E}"/>
              </a:ext>
            </a:extLst>
          </p:cNvPr>
          <p:cNvSpPr txBox="1"/>
          <p:nvPr/>
        </p:nvSpPr>
        <p:spPr>
          <a:xfrm>
            <a:off x="6096000" y="584199"/>
            <a:ext cx="575309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Properties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Variables that can be accessed (set) from script (</a:t>
            </a:r>
            <a:r>
              <a:rPr lang="en-US" sz="3600" dirty="0" err="1"/>
              <a:t>cpu</a:t>
            </a:r>
            <a:r>
              <a:rPr lang="en-US" sz="3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This is what artists usually interact with</a:t>
            </a: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3677477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7B273-5E2F-3236-D56F-25FD47C3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E8126-3CCE-3650-156C-C88520125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1E8890-B0A2-12F9-7995-B83F96694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95904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D987527-3BAB-B4BA-F2F6-3EACFCB15EE5}"/>
              </a:ext>
            </a:extLst>
          </p:cNvPr>
          <p:cNvCxnSpPr>
            <a:cxnSpLocks/>
          </p:cNvCxnSpPr>
          <p:nvPr/>
        </p:nvCxnSpPr>
        <p:spPr>
          <a:xfrm flipV="1">
            <a:off x="3803650" y="1003300"/>
            <a:ext cx="2292350" cy="10033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0587A95-3DA7-E41B-0B3D-B6B3073FE113}"/>
              </a:ext>
            </a:extLst>
          </p:cNvPr>
          <p:cNvSpPr txBox="1"/>
          <p:nvPr/>
        </p:nvSpPr>
        <p:spPr>
          <a:xfrm>
            <a:off x="6096000" y="584199"/>
            <a:ext cx="57530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Can make changers to the rasterizer (opaque == not transparent)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757293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CA425-ED59-91A9-7F37-96536F0B4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E2438-1423-68C7-68C8-9F8875364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F2E5F0-F58A-0B73-DBF2-43FDB1234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95904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9734ED6-F494-FBBB-5FD9-427CA27B9EDC}"/>
              </a:ext>
            </a:extLst>
          </p:cNvPr>
          <p:cNvCxnSpPr>
            <a:cxnSpLocks/>
          </p:cNvCxnSpPr>
          <p:nvPr/>
        </p:nvCxnSpPr>
        <p:spPr>
          <a:xfrm flipV="1">
            <a:off x="3803650" y="1003300"/>
            <a:ext cx="2292350" cy="10033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15A5363-AC4C-F884-C979-900987263663}"/>
              </a:ext>
            </a:extLst>
          </p:cNvPr>
          <p:cNvSpPr txBox="1"/>
          <p:nvPr/>
        </p:nvSpPr>
        <p:spPr>
          <a:xfrm>
            <a:off x="6096000" y="584199"/>
            <a:ext cx="57530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Can make changers to the rasterizer (opaque == not transparent)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2636516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3300E-D68E-35C9-28ED-08E3862EB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14E92-5F39-7F5B-6EBC-24BA60EFD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FAF4C9-EFF5-D4A2-8676-03D9B04F42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21"/>
            <a:ext cx="5695904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5746CFA-1812-E0BB-96E3-C52121487A9A}"/>
              </a:ext>
            </a:extLst>
          </p:cNvPr>
          <p:cNvCxnSpPr>
            <a:cxnSpLocks/>
          </p:cNvCxnSpPr>
          <p:nvPr/>
        </p:nvCxnSpPr>
        <p:spPr>
          <a:xfrm flipV="1">
            <a:off x="4749777" y="863600"/>
            <a:ext cx="1746321" cy="165341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8077956-2861-8930-7798-5CF13FEFD290}"/>
              </a:ext>
            </a:extLst>
          </p:cNvPr>
          <p:cNvSpPr txBox="1"/>
          <p:nvPr/>
        </p:nvSpPr>
        <p:spPr>
          <a:xfrm>
            <a:off x="6445229" y="365125"/>
            <a:ext cx="57530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pragma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Weird syntax (preprocessor)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Define global things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Here: which functions is the vs / </a:t>
            </a:r>
            <a:r>
              <a:rPr lang="en-US" sz="3600" dirty="0" err="1"/>
              <a:t>ps</a:t>
            </a:r>
            <a:r>
              <a:rPr lang="en-US" sz="3600" dirty="0"/>
              <a:t>?</a:t>
            </a: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3134386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5E61-6F2D-D76B-9FD9-052EBC63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1B45C-2A20-6414-3883-6E54A4BA2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3CF838-1BA9-55C2-6C7C-282D71867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21"/>
            <a:ext cx="5695904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DF2B088-EADF-0DE1-A5E3-3610B3211BA8}"/>
              </a:ext>
            </a:extLst>
          </p:cNvPr>
          <p:cNvCxnSpPr>
            <a:cxnSpLocks/>
          </p:cNvCxnSpPr>
          <p:nvPr/>
        </p:nvCxnSpPr>
        <p:spPr>
          <a:xfrm flipV="1">
            <a:off x="4584677" y="2514600"/>
            <a:ext cx="1606552" cy="133591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BF0CB3C-3C8B-8BF2-354A-5A9AD7DCBD15}"/>
              </a:ext>
            </a:extLst>
          </p:cNvPr>
          <p:cNvSpPr txBox="1"/>
          <p:nvPr/>
        </p:nvSpPr>
        <p:spPr>
          <a:xfrm>
            <a:off x="6191229" y="2219325"/>
            <a:ext cx="57530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Actual vertex shader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Changes position  of the vertex</a:t>
            </a:r>
          </a:p>
        </p:txBody>
      </p:sp>
    </p:spTree>
    <p:extLst>
      <p:ext uri="{BB962C8B-B14F-4D97-AF65-F5344CB8AC3E}">
        <p14:creationId xmlns:p14="http://schemas.microsoft.com/office/powerpoint/2010/main" val="3492757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BDBB0-5A5F-88B1-2CEC-745DA3A06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72B52-E6D1-2722-7393-514638C87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340A56-8AF7-C3C0-BF04-BF7241868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21"/>
            <a:ext cx="5695904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C0A8DC3-9A70-04BB-E5AF-7D9A90108B05}"/>
              </a:ext>
            </a:extLst>
          </p:cNvPr>
          <p:cNvCxnSpPr>
            <a:cxnSpLocks/>
          </p:cNvCxnSpPr>
          <p:nvPr/>
        </p:nvCxnSpPr>
        <p:spPr>
          <a:xfrm flipV="1">
            <a:off x="4584677" y="2514600"/>
            <a:ext cx="1606552" cy="133591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330A94A-BF1F-4E70-A235-7FCC0E7CD1B5}"/>
              </a:ext>
            </a:extLst>
          </p:cNvPr>
          <p:cNvSpPr txBox="1"/>
          <p:nvPr/>
        </p:nvSpPr>
        <p:spPr>
          <a:xfrm>
            <a:off x="6191229" y="2219325"/>
            <a:ext cx="57530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Actual vertex shader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Changes position  of the vertex</a:t>
            </a:r>
          </a:p>
        </p:txBody>
      </p:sp>
    </p:spTree>
    <p:extLst>
      <p:ext uri="{BB962C8B-B14F-4D97-AF65-F5344CB8AC3E}">
        <p14:creationId xmlns:p14="http://schemas.microsoft.com/office/powerpoint/2010/main" val="16878211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B5F8E-F334-0D0F-D6EF-AA3347712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44BEB-2941-B89B-9B3B-5ECA3FF1B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450AD6-11B9-E59C-B14B-476EAE1B1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21"/>
            <a:ext cx="5695904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CAA49B1-17C1-4B21-BAAB-7747A94BB0F3}"/>
              </a:ext>
            </a:extLst>
          </p:cNvPr>
          <p:cNvCxnSpPr>
            <a:cxnSpLocks/>
          </p:cNvCxnSpPr>
          <p:nvPr/>
        </p:nvCxnSpPr>
        <p:spPr>
          <a:xfrm flipV="1">
            <a:off x="5140291" y="3314700"/>
            <a:ext cx="955709" cy="163635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EC6DC52-9F6A-D238-37E0-52BD5F77ECCF}"/>
              </a:ext>
            </a:extLst>
          </p:cNvPr>
          <p:cNvSpPr txBox="1"/>
          <p:nvPr/>
        </p:nvSpPr>
        <p:spPr>
          <a:xfrm>
            <a:off x="6280129" y="3082925"/>
            <a:ext cx="57530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Actual pixel shader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Changes output struct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More info in a later class….</a:t>
            </a:r>
          </a:p>
        </p:txBody>
      </p:sp>
    </p:spTree>
    <p:extLst>
      <p:ext uri="{BB962C8B-B14F-4D97-AF65-F5344CB8AC3E}">
        <p14:creationId xmlns:p14="http://schemas.microsoft.com/office/powerpoint/2010/main" val="372406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F1B98-6F92-1295-9B95-B53B89EE6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 shader &lt;-&gt; pixel shaders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528809-7FF9-EE4D-2010-15007253C0D7}"/>
              </a:ext>
            </a:extLst>
          </p:cNvPr>
          <p:cNvSpPr txBox="1"/>
          <p:nvPr/>
        </p:nvSpPr>
        <p:spPr>
          <a:xfrm>
            <a:off x="1092200" y="2413000"/>
            <a:ext cx="3787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Vextex</a:t>
            </a:r>
            <a:r>
              <a:rPr lang="en-US" dirty="0"/>
              <a:t> shaders operate  on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Used for animation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099663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F93A-3505-E477-A668-A92FC153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14612-7D39-8E89-3A01-F39E5569B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00CE1A-7C05-C71A-6746-F2B4B6756506}"/>
              </a:ext>
            </a:extLst>
          </p:cNvPr>
          <p:cNvSpPr txBox="1"/>
          <p:nvPr/>
        </p:nvSpPr>
        <p:spPr>
          <a:xfrm>
            <a:off x="989901" y="1690689"/>
            <a:ext cx="54295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The graphics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Shaders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Materials </a:t>
            </a:r>
          </a:p>
        </p:txBody>
      </p:sp>
    </p:spTree>
    <p:extLst>
      <p:ext uri="{BB962C8B-B14F-4D97-AF65-F5344CB8AC3E}">
        <p14:creationId xmlns:p14="http://schemas.microsoft.com/office/powerpoint/2010/main" val="330618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B2FE3-57DC-D8EA-3558-14C67926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~= BRDF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B7ADC0-9436-04FB-2D93-A2E9FFE11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316" y="1463040"/>
            <a:ext cx="6288684" cy="53949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B469C3-CC7F-A504-F1EF-2ACAEDEBB172}"/>
              </a:ext>
            </a:extLst>
          </p:cNvPr>
          <p:cNvSpPr txBox="1"/>
          <p:nvPr/>
        </p:nvSpPr>
        <p:spPr>
          <a:xfrm>
            <a:off x="267477" y="1309757"/>
            <a:ext cx="68160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Material in unity : parameters for a shader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Material “in general” : how a surface reacts to 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Precise term : BRDF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Bidirectional Reflectance Distribution Function</a:t>
            </a:r>
            <a:endParaRPr lang="en-BE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804E20-E440-28C4-B4D2-C96E84C7D245}"/>
              </a:ext>
            </a:extLst>
          </p:cNvPr>
          <p:cNvSpPr/>
          <p:nvPr/>
        </p:nvSpPr>
        <p:spPr>
          <a:xfrm>
            <a:off x="8497078" y="4068147"/>
            <a:ext cx="1125893" cy="877077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76033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C05DB-E54F-0100-4C69-5F7D56689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17898" cy="1325563"/>
          </a:xfrm>
        </p:spPr>
        <p:txBody>
          <a:bodyPr/>
          <a:lstStyle/>
          <a:p>
            <a:r>
              <a:rPr lang="en-US" dirty="0"/>
              <a:t>BRDF’s tend to have a diffuse and specular part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955B3E-952F-F4E0-5216-C09304581BBE}"/>
              </a:ext>
            </a:extLst>
          </p:cNvPr>
          <p:cNvSpPr txBox="1"/>
          <p:nvPr/>
        </p:nvSpPr>
        <p:spPr>
          <a:xfrm>
            <a:off x="615821" y="1757713"/>
            <a:ext cx="88269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Diffuse : independent on view direction (like dirt, unglazed pottery)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Specular : dependent on view direction (like plastic, metal)</a:t>
            </a:r>
            <a:endParaRPr lang="en-BE" sz="2400" dirty="0"/>
          </a:p>
        </p:txBody>
      </p:sp>
      <p:pic>
        <p:nvPicPr>
          <p:cNvPr id="5" name="Picture 4" descr="A group of terracotta pots&#10;&#10;Description automatically generated">
            <a:extLst>
              <a:ext uri="{FF2B5EF4-FFF2-40B4-BE49-F238E27FC236}">
                <a16:creationId xmlns:a16="http://schemas.microsoft.com/office/drawing/2014/main" id="{59014E87-46F6-D077-8262-E3BC31A120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44" y="3486733"/>
            <a:ext cx="4457700" cy="3181350"/>
          </a:xfrm>
          <a:prstGeom prst="rect">
            <a:avLst/>
          </a:prstGeom>
        </p:spPr>
      </p:pic>
      <p:pic>
        <p:nvPicPr>
          <p:cNvPr id="7" name="Picture 6" descr="A black plastic chair with different colors&#10;&#10;Description automatically generated">
            <a:extLst>
              <a:ext uri="{FF2B5EF4-FFF2-40B4-BE49-F238E27FC236}">
                <a16:creationId xmlns:a16="http://schemas.microsoft.com/office/drawing/2014/main" id="{31F45A72-24B9-DB41-FCFF-6B28A91F06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290" y="3197290"/>
            <a:ext cx="3660710" cy="3660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59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B20B-9237-098F-1F93-54CD923D4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Lambert diffuse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1EA32-44B3-2C4B-8BC9-15BCAD97B09F}"/>
              </a:ext>
            </a:extLst>
          </p:cNvPr>
          <p:cNvSpPr txBox="1"/>
          <p:nvPr/>
        </p:nvSpPr>
        <p:spPr>
          <a:xfrm>
            <a:off x="454090" y="1582528"/>
            <a:ext cx="529952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Light enters an object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Scatters / reflects in all 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i="1" dirty="0"/>
              <a:t>dot(N, L)</a:t>
            </a:r>
            <a:endParaRPr lang="en-BE" sz="2800" i="1" dirty="0"/>
          </a:p>
        </p:txBody>
      </p:sp>
      <p:pic>
        <p:nvPicPr>
          <p:cNvPr id="5" name="Picture 4" descr="A diagram of a reflection&#10;&#10;Description automatically generated">
            <a:extLst>
              <a:ext uri="{FF2B5EF4-FFF2-40B4-BE49-F238E27FC236}">
                <a16:creationId xmlns:a16="http://schemas.microsoft.com/office/drawing/2014/main" id="{394903A2-9B04-0915-2A1E-E3CC5A5D2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7915" y="3287204"/>
            <a:ext cx="8147949" cy="3346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262369-0EC5-517A-8D82-9F490832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0560" y="121488"/>
            <a:ext cx="3413644" cy="2922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076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B20B-9237-098F-1F93-54CD923D4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Lambert diffuse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1EA32-44B3-2C4B-8BC9-15BCAD97B09F}"/>
              </a:ext>
            </a:extLst>
          </p:cNvPr>
          <p:cNvSpPr txBox="1"/>
          <p:nvPr/>
        </p:nvSpPr>
        <p:spPr>
          <a:xfrm>
            <a:off x="454090" y="1582528"/>
            <a:ext cx="77686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Diffuse is view-independent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Same color / intensity no matter how we look at it</a:t>
            </a:r>
            <a:endParaRPr lang="en-BE" sz="2800" dirty="0"/>
          </a:p>
        </p:txBody>
      </p:sp>
      <p:pic>
        <p:nvPicPr>
          <p:cNvPr id="5" name="Picture 4" descr="A diagram of a reflection&#10;&#10;Description automatically generated">
            <a:extLst>
              <a:ext uri="{FF2B5EF4-FFF2-40B4-BE49-F238E27FC236}">
                <a16:creationId xmlns:a16="http://schemas.microsoft.com/office/drawing/2014/main" id="{394903A2-9B04-0915-2A1E-E3CC5A5D2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593" y="3336967"/>
            <a:ext cx="8147949" cy="3346969"/>
          </a:xfrm>
          <a:prstGeom prst="rect">
            <a:avLst/>
          </a:prstGeom>
        </p:spPr>
      </p:pic>
      <p:pic>
        <p:nvPicPr>
          <p:cNvPr id="6" name="Picture 5" descr="A close-up of a camera&#10;&#10;Description automatically generated">
            <a:extLst>
              <a:ext uri="{FF2B5EF4-FFF2-40B4-BE49-F238E27FC236}">
                <a16:creationId xmlns:a16="http://schemas.microsoft.com/office/drawing/2014/main" id="{D3A1B1B2-C1E2-1C6A-5D12-B5485B987A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680999" flipH="1">
            <a:off x="8770604" y="5065956"/>
            <a:ext cx="1073775" cy="954107"/>
          </a:xfrm>
          <a:prstGeom prst="rect">
            <a:avLst/>
          </a:prstGeom>
        </p:spPr>
      </p:pic>
      <p:pic>
        <p:nvPicPr>
          <p:cNvPr id="8" name="Picture 7" descr="A close-up of a camera&#10;&#10;Description automatically generated">
            <a:extLst>
              <a:ext uri="{FF2B5EF4-FFF2-40B4-BE49-F238E27FC236}">
                <a16:creationId xmlns:a16="http://schemas.microsoft.com/office/drawing/2014/main" id="{C5D43E0D-94A9-D751-C97D-C70F908E5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96432" flipH="1">
            <a:off x="7527590" y="3912441"/>
            <a:ext cx="865902" cy="769401"/>
          </a:xfrm>
          <a:prstGeom prst="rect">
            <a:avLst/>
          </a:prstGeom>
        </p:spPr>
      </p:pic>
      <p:pic>
        <p:nvPicPr>
          <p:cNvPr id="9" name="Picture 8" descr="A close-up of a camera&#10;&#10;Description automatically generated">
            <a:extLst>
              <a:ext uri="{FF2B5EF4-FFF2-40B4-BE49-F238E27FC236}">
                <a16:creationId xmlns:a16="http://schemas.microsoft.com/office/drawing/2014/main" id="{B0E98418-D7B8-0EB3-9E39-F66544B063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228205">
            <a:off x="2492588" y="4433280"/>
            <a:ext cx="754890" cy="67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696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71507-9EF1-46B3-4A34-D47F47A0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Blinn-Phong specular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878FD2-79D3-3331-B779-84A123780B49}"/>
              </a:ext>
            </a:extLst>
          </p:cNvPr>
          <p:cNvSpPr txBox="1"/>
          <p:nvPr/>
        </p:nvSpPr>
        <p:spPr>
          <a:xfrm>
            <a:off x="497633" y="1579983"/>
            <a:ext cx="965790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“Shininess”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Looks like a highlight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Is view dependent (highlight changes position when you move your head)</a:t>
            </a:r>
            <a:endParaRPr lang="en-BE" sz="2400" dirty="0"/>
          </a:p>
        </p:txBody>
      </p:sp>
      <p:pic>
        <p:nvPicPr>
          <p:cNvPr id="5" name="Picture 4" descr="A black circle with a light on it&#10;&#10;Description automatically generated">
            <a:extLst>
              <a:ext uri="{FF2B5EF4-FFF2-40B4-BE49-F238E27FC236}">
                <a16:creationId xmlns:a16="http://schemas.microsoft.com/office/drawing/2014/main" id="{44FD7915-BE96-41F9-9822-0CB0FB8909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825" y="65597"/>
            <a:ext cx="2162175" cy="2114550"/>
          </a:xfrm>
          <a:prstGeom prst="rect">
            <a:avLst/>
          </a:prstGeom>
        </p:spPr>
      </p:pic>
      <p:pic>
        <p:nvPicPr>
          <p:cNvPr id="7" name="Picture 6" descr="A black and white image of a couple of icons&#10;&#10;Description automatically generated with medium confidence">
            <a:extLst>
              <a:ext uri="{FF2B5EF4-FFF2-40B4-BE49-F238E27FC236}">
                <a16:creationId xmlns:a16="http://schemas.microsoft.com/office/drawing/2014/main" id="{7CF04C7D-F5A6-CE1E-FBAB-4F7296114B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248" y="3719804"/>
            <a:ext cx="9373732" cy="2662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1220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DB40F-8DCF-F98F-8E9D-A6E287FD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Blinn-Phong specular</a:t>
            </a:r>
            <a:endParaRPr lang="en-BE" dirty="0"/>
          </a:p>
        </p:txBody>
      </p:sp>
      <p:pic>
        <p:nvPicPr>
          <p:cNvPr id="4" name="Picture 3" descr="A diagram of a sun&#10;&#10;Description automatically generated">
            <a:extLst>
              <a:ext uri="{FF2B5EF4-FFF2-40B4-BE49-F238E27FC236}">
                <a16:creationId xmlns:a16="http://schemas.microsoft.com/office/drawing/2014/main" id="{85526EB3-C769-011F-A41A-58423CB041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925" y="3429000"/>
            <a:ext cx="6242974" cy="31422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3B7657-1F8E-6FED-22F9-60A96CE2721C}"/>
              </a:ext>
            </a:extLst>
          </p:cNvPr>
          <p:cNvSpPr txBox="1"/>
          <p:nvPr/>
        </p:nvSpPr>
        <p:spPr>
          <a:xfrm>
            <a:off x="733673" y="1506022"/>
            <a:ext cx="74611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specular</a:t>
            </a:r>
            <a:r>
              <a:rPr lang="en-US" sz="2400" dirty="0"/>
              <a:t> = </a:t>
            </a:r>
            <a:r>
              <a:rPr lang="en-US" sz="2400" i="1" dirty="0"/>
              <a:t>K</a:t>
            </a:r>
            <a:r>
              <a:rPr lang="en-US" sz="2400" i="1" baseline="-25000" dirty="0"/>
              <a:t>s</a:t>
            </a:r>
            <a:r>
              <a:rPr lang="en-US" sz="2400" i="1" dirty="0"/>
              <a:t> </a:t>
            </a:r>
            <a:r>
              <a:rPr lang="en-US" sz="2400" dirty="0"/>
              <a:t>x </a:t>
            </a:r>
            <a:r>
              <a:rPr lang="en-US" sz="2400" i="1" dirty="0" err="1"/>
              <a:t>lightColor</a:t>
            </a:r>
            <a:r>
              <a:rPr lang="en-US" sz="2400" dirty="0"/>
              <a:t> x </a:t>
            </a:r>
            <a:r>
              <a:rPr lang="en-US" sz="2400" i="1" dirty="0"/>
              <a:t>facing</a:t>
            </a:r>
            <a:r>
              <a:rPr lang="en-US" sz="2400" dirty="0"/>
              <a:t> x (max(</a:t>
            </a:r>
            <a:r>
              <a:rPr lang="en-US" sz="2400" i="1" dirty="0"/>
              <a:t>N</a:t>
            </a:r>
            <a:r>
              <a:rPr lang="en-US" sz="2400" dirty="0"/>
              <a:t> · </a:t>
            </a:r>
            <a:r>
              <a:rPr lang="en-US" sz="2400" i="1" dirty="0"/>
              <a:t>H</a:t>
            </a:r>
            <a:r>
              <a:rPr lang="en-US" sz="2400" dirty="0"/>
              <a:t>, 0)) </a:t>
            </a:r>
            <a:r>
              <a:rPr lang="en-US" sz="2400" i="1" baseline="30000" dirty="0"/>
              <a:t>shininess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More details in lab</a:t>
            </a:r>
          </a:p>
        </p:txBody>
      </p:sp>
      <p:pic>
        <p:nvPicPr>
          <p:cNvPr id="7" name="Picture 6" descr="A close up of a sphere&#10;&#10;Description automatically generated">
            <a:extLst>
              <a:ext uri="{FF2B5EF4-FFF2-40B4-BE49-F238E27FC236}">
                <a16:creationId xmlns:a16="http://schemas.microsoft.com/office/drawing/2014/main" id="{9832B076-D9FD-4F8E-DE3D-EA3C03540B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08731"/>
            <a:ext cx="5953894" cy="184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4982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69F9B-AD25-5861-1053-81FF5D0F2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together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326CF6-5E67-45DA-7742-516E4FD84DD2}"/>
              </a:ext>
            </a:extLst>
          </p:cNvPr>
          <p:cNvSpPr txBox="1"/>
          <p:nvPr/>
        </p:nvSpPr>
        <p:spPr>
          <a:xfrm>
            <a:off x="491412" y="1953208"/>
            <a:ext cx="40860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Simply diffuse + specular</a:t>
            </a:r>
            <a:endParaRPr lang="en-BE" sz="2800" dirty="0"/>
          </a:p>
        </p:txBody>
      </p:sp>
      <p:pic>
        <p:nvPicPr>
          <p:cNvPr id="5" name="Picture 4" descr="A black circle with yellow light in center&#10;&#10;Description automatically generated">
            <a:extLst>
              <a:ext uri="{FF2B5EF4-FFF2-40B4-BE49-F238E27FC236}">
                <a16:creationId xmlns:a16="http://schemas.microsoft.com/office/drawing/2014/main" id="{2AADB2C4-38C1-2827-D9FC-69A5CD371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2299" y="3048705"/>
            <a:ext cx="8940053" cy="3651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1797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89AF-2037-D330-154F-BD755F039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Mirrors are perfectly specular</a:t>
            </a:r>
            <a:endParaRPr lang="en-BE" dirty="0"/>
          </a:p>
        </p:txBody>
      </p:sp>
      <p:pic>
        <p:nvPicPr>
          <p:cNvPr id="4" name="Picture 3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9E7D9BA9-867A-BA5F-4F66-1DFF96E4C8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3" y="3303867"/>
            <a:ext cx="12131897" cy="355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6266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0A2F-97DD-72B0-E25F-7D3E35C60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this work?</a:t>
            </a:r>
            <a:endParaRPr lang="en-BE" dirty="0"/>
          </a:p>
        </p:txBody>
      </p:sp>
      <p:pic>
        <p:nvPicPr>
          <p:cNvPr id="4" name="Picture 3" descr="A road with yellow signs on it&#10;&#10;Description automatically generated">
            <a:extLst>
              <a:ext uri="{FF2B5EF4-FFF2-40B4-BE49-F238E27FC236}">
                <a16:creationId xmlns:a16="http://schemas.microsoft.com/office/drawing/2014/main" id="{1E8E1CCE-FF9B-1639-BB0A-7A4C3C8BC5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337" y="1635967"/>
            <a:ext cx="9828052" cy="491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439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95132-886C-1B37-DAFE-563CDA141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Retroreflectivity</a:t>
            </a:r>
            <a:endParaRPr lang="en-BE" dirty="0"/>
          </a:p>
        </p:txBody>
      </p:sp>
      <p:pic>
        <p:nvPicPr>
          <p:cNvPr id="6" name="Picture 5" descr="A diagram of a light&#10;&#10;Description automatically generated">
            <a:extLst>
              <a:ext uri="{FF2B5EF4-FFF2-40B4-BE49-F238E27FC236}">
                <a16:creationId xmlns:a16="http://schemas.microsoft.com/office/drawing/2014/main" id="{272C529D-2C28-5EB6-0ACC-C08B50D1C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192" y="2206625"/>
            <a:ext cx="6858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2128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3A62-7F32-0999-9F19-05ACE9225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Microfacets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59D3B7-C05C-20DE-F23D-C757C1810BBF}"/>
              </a:ext>
            </a:extLst>
          </p:cNvPr>
          <p:cNvSpPr txBox="1"/>
          <p:nvPr/>
        </p:nvSpPr>
        <p:spPr>
          <a:xfrm>
            <a:off x="709126" y="1797698"/>
            <a:ext cx="1026050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origin of these models is the microscopic structure of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If it’s rough, it tends to be diffuse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If it’s flat, it tends to be specular</a:t>
            </a:r>
            <a:endParaRPr lang="en-BE" sz="2800" dirty="0"/>
          </a:p>
        </p:txBody>
      </p:sp>
      <p:pic>
        <p:nvPicPr>
          <p:cNvPr id="5" name="Picture 4" descr="A diagram of a diffraction effect&#10;&#10;Description automatically generated with medium confidence">
            <a:extLst>
              <a:ext uri="{FF2B5EF4-FFF2-40B4-BE49-F238E27FC236}">
                <a16:creationId xmlns:a16="http://schemas.microsoft.com/office/drawing/2014/main" id="{4C22351C-606B-8141-8146-71C0E9D69E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937" y="3186088"/>
            <a:ext cx="8117290" cy="338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7850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99BCE-AC8B-3BCE-7DF4-4AD2AF203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837" y="-7674"/>
            <a:ext cx="10515600" cy="1325563"/>
          </a:xfrm>
        </p:spPr>
        <p:txBody>
          <a:bodyPr/>
          <a:lstStyle/>
          <a:p>
            <a:r>
              <a:rPr lang="en-US" dirty="0"/>
              <a:t>Complicated models : skin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2873C3-1592-EC72-746B-978BBC8BD8D4}"/>
              </a:ext>
            </a:extLst>
          </p:cNvPr>
          <p:cNvSpPr txBox="1"/>
          <p:nvPr/>
        </p:nvSpPr>
        <p:spPr>
          <a:xfrm>
            <a:off x="398058" y="1036540"/>
            <a:ext cx="8659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Skin has layers : oil, epidermis, fatty tissues. And light penetrates. </a:t>
            </a:r>
          </a:p>
        </p:txBody>
      </p:sp>
      <p:pic>
        <p:nvPicPr>
          <p:cNvPr id="6" name="Picture 5" descr="A close-up of a person's face&#10;&#10;Description automatically generated">
            <a:extLst>
              <a:ext uri="{FF2B5EF4-FFF2-40B4-BE49-F238E27FC236}">
                <a16:creationId xmlns:a16="http://schemas.microsoft.com/office/drawing/2014/main" id="{167F98DD-B605-593E-7AF3-56882D2455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2294" y="2525152"/>
            <a:ext cx="4286250" cy="4200525"/>
          </a:xfrm>
          <a:prstGeom prst="rect">
            <a:avLst/>
          </a:prstGeom>
        </p:spPr>
      </p:pic>
      <p:pic>
        <p:nvPicPr>
          <p:cNvPr id="8" name="Picture 7" descr="A diagram of a layer of skin&#10;&#10;Description automatically generated">
            <a:extLst>
              <a:ext uri="{FF2B5EF4-FFF2-40B4-BE49-F238E27FC236}">
                <a16:creationId xmlns:a16="http://schemas.microsoft.com/office/drawing/2014/main" id="{C44566C4-C1EA-F644-9DEB-97068E75B8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45" y="1695157"/>
            <a:ext cx="6179827" cy="2076422"/>
          </a:xfrm>
          <a:prstGeom prst="rect">
            <a:avLst/>
          </a:prstGeom>
        </p:spPr>
      </p:pic>
      <p:pic>
        <p:nvPicPr>
          <p:cNvPr id="10" name="Picture 9" descr="A diagram of layers of skin&#10;&#10;Description automatically generated">
            <a:extLst>
              <a:ext uri="{FF2B5EF4-FFF2-40B4-BE49-F238E27FC236}">
                <a16:creationId xmlns:a16="http://schemas.microsoft.com/office/drawing/2014/main" id="{633E2D87-4CAB-4CB9-242D-9388570771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169" y="3771579"/>
            <a:ext cx="4643243" cy="284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4832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5BC1-85CE-87C2-59C3-214112679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Unity : GGX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BA5672-3535-C849-1D7A-5B54BD423EF5}"/>
              </a:ext>
            </a:extLst>
          </p:cNvPr>
          <p:cNvSpPr txBox="1"/>
          <p:nvPr/>
        </p:nvSpPr>
        <p:spPr>
          <a:xfrm>
            <a:off x="497632" y="1393371"/>
            <a:ext cx="897713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Unity uses deferred rendering (more info in advanced pipeline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Can only support 1 BRDF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Unity uses GGX</a:t>
            </a:r>
          </a:p>
        </p:txBody>
      </p:sp>
    </p:spTree>
    <p:extLst>
      <p:ext uri="{BB962C8B-B14F-4D97-AF65-F5344CB8AC3E}">
        <p14:creationId xmlns:p14="http://schemas.microsoft.com/office/powerpoint/2010/main" val="34129595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86576-9564-E943-EA92-CE284235D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Physically based rendering</a:t>
            </a:r>
            <a:endParaRPr lang="en-B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3ED708-294C-5806-7857-3D8D9442AFA9}"/>
              </a:ext>
            </a:extLst>
          </p:cNvPr>
          <p:cNvSpPr txBox="1"/>
          <p:nvPr/>
        </p:nvSpPr>
        <p:spPr>
          <a:xfrm>
            <a:off x="1760376" y="27929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BE" dirty="0"/>
          </a:p>
        </p:txBody>
      </p:sp>
      <p:pic>
        <p:nvPicPr>
          <p:cNvPr id="8" name="Online Media 7" title="2013 Sci-Tech Awards: Matt Pharr, Greg Humphreys and Pat Hanrahan">
            <a:hlinkClick r:id="" action="ppaction://media"/>
            <a:extLst>
              <a:ext uri="{FF2B5EF4-FFF2-40B4-BE49-F238E27FC236}">
                <a16:creationId xmlns:a16="http://schemas.microsoft.com/office/drawing/2014/main" id="{BF60F086-15E4-21BB-2405-2C939F93AEE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884682" y="1507936"/>
            <a:ext cx="9469118" cy="535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8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0C604-CF4F-7998-AFDD-13AA961F6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073" y="128750"/>
            <a:ext cx="10515600" cy="1325563"/>
          </a:xfrm>
        </p:spPr>
        <p:txBody>
          <a:bodyPr/>
          <a:lstStyle/>
          <a:p>
            <a:r>
              <a:rPr lang="en-US" dirty="0"/>
              <a:t>Physically based rendering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4AFE28-8B0F-B3E6-FCF2-0A3E39FC89E2}"/>
              </a:ext>
            </a:extLst>
          </p:cNvPr>
          <p:cNvSpPr txBox="1"/>
          <p:nvPr/>
        </p:nvSpPr>
        <p:spPr>
          <a:xfrm>
            <a:off x="74646" y="1405813"/>
            <a:ext cx="61519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So good it won an </a:t>
            </a:r>
            <a:r>
              <a:rPr lang="en-US" sz="2400" dirty="0" err="1"/>
              <a:t>oscar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Available at </a:t>
            </a:r>
            <a:r>
              <a:rPr lang="en-US" sz="2400" dirty="0">
                <a:hlinkClick r:id="rId3"/>
              </a:rPr>
              <a:t>https://www.pbrt.org/</a:t>
            </a:r>
            <a:r>
              <a:rPr lang="en-US" sz="2400" dirty="0"/>
              <a:t> for free (not mandatory)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Physically based rendering theory is rendering while respecting physics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Before 2010’s, everything was pretty hacky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When it’s based in physics, everything works predictably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Example: an object should only reflect as much light as entered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Example: a light shines on all objects (no artist set exceptions)</a:t>
            </a:r>
          </a:p>
        </p:txBody>
      </p:sp>
      <p:pic>
        <p:nvPicPr>
          <p:cNvPr id="5" name="Picture 4" descr="A book cover of a room&#10;&#10;Description automatically generated">
            <a:extLst>
              <a:ext uri="{FF2B5EF4-FFF2-40B4-BE49-F238E27FC236}">
                <a16:creationId xmlns:a16="http://schemas.microsoft.com/office/drawing/2014/main" id="{0D0A2F99-C54F-03B4-8301-C9967D8D52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8093" y="62204"/>
            <a:ext cx="53228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8375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24545-02DD-6B94-C7CA-84451E57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idea : Non photorealistic rendering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A54FFF-0709-7622-6B6A-BBA7F494DD2B}"/>
              </a:ext>
            </a:extLst>
          </p:cNvPr>
          <p:cNvSpPr txBox="1"/>
          <p:nvPr/>
        </p:nvSpPr>
        <p:spPr>
          <a:xfrm>
            <a:off x="702906" y="1505339"/>
            <a:ext cx="90727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Because sometimes we don’t want our images to look photorealistic</a:t>
            </a:r>
            <a:endParaRPr lang="en-BE" sz="2400" dirty="0"/>
          </a:p>
        </p:txBody>
      </p:sp>
      <p:pic>
        <p:nvPicPr>
          <p:cNvPr id="5" name="Picture 4" descr="A cartoon of a monster&#10;&#10;Description automatically generated">
            <a:extLst>
              <a:ext uri="{FF2B5EF4-FFF2-40B4-BE49-F238E27FC236}">
                <a16:creationId xmlns:a16="http://schemas.microsoft.com/office/drawing/2014/main" id="{B8ED9122-1FB7-0175-22B0-9D2B802670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68" y="2108719"/>
            <a:ext cx="5984032" cy="4488024"/>
          </a:xfrm>
          <a:prstGeom prst="rect">
            <a:avLst/>
          </a:prstGeom>
        </p:spPr>
      </p:pic>
      <p:pic>
        <p:nvPicPr>
          <p:cNvPr id="7" name="Picture 6" descr="A cartoon character in a hallway with cars and a person in yellow suit&#10;&#10;Description automatically generated">
            <a:extLst>
              <a:ext uri="{FF2B5EF4-FFF2-40B4-BE49-F238E27FC236}">
                <a16:creationId xmlns:a16="http://schemas.microsoft.com/office/drawing/2014/main" id="{4334B1E7-5F3A-D872-5FC0-A6EDD730A2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2013" y="2320212"/>
            <a:ext cx="5563551" cy="4172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840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F45B1-21D6-F0F5-37DA-DF1A1446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Gooch shading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EDCCEC-4AEE-F069-C27A-A7C89A7C32C7}"/>
              </a:ext>
            </a:extLst>
          </p:cNvPr>
          <p:cNvSpPr txBox="1"/>
          <p:nvPr/>
        </p:nvSpPr>
        <p:spPr>
          <a:xfrm>
            <a:off x="373608" y="1554480"/>
            <a:ext cx="494558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Used for technical drawing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Want more readability in dark areas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5" name="Picture 4" descr="A dinosaur skeleton on a white background&#10;&#10;Description automatically generated">
            <a:extLst>
              <a:ext uri="{FF2B5EF4-FFF2-40B4-BE49-F238E27FC236}">
                <a16:creationId xmlns:a16="http://schemas.microsoft.com/office/drawing/2014/main" id="{63D225F9-647B-69C4-A711-1625FD749C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7406" y="2363372"/>
            <a:ext cx="7046034" cy="449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727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F45B1-21D6-F0F5-37DA-DF1A1446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Gooch shading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EDCCEC-4AEE-F069-C27A-A7C89A7C32C7}"/>
              </a:ext>
            </a:extLst>
          </p:cNvPr>
          <p:cNvSpPr txBox="1"/>
          <p:nvPr/>
        </p:nvSpPr>
        <p:spPr>
          <a:xfrm>
            <a:off x="373608" y="1554480"/>
            <a:ext cx="27742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Normal rendering:</a:t>
            </a:r>
            <a:br>
              <a:rPr lang="en-US" sz="2400" dirty="0"/>
            </a:br>
            <a:r>
              <a:rPr lang="en-US" sz="2400" dirty="0"/>
              <a:t>dot(N,L)</a:t>
            </a:r>
            <a:br>
              <a:rPr lang="en-US" sz="2400" dirty="0"/>
            </a:br>
            <a:r>
              <a:rPr lang="en-US" sz="2400" dirty="0"/>
              <a:t>-1 : black</a:t>
            </a:r>
            <a:br>
              <a:rPr lang="en-US" sz="2400" dirty="0"/>
            </a:br>
            <a:r>
              <a:rPr lang="en-US" sz="2400" dirty="0"/>
              <a:t> 0 : black</a:t>
            </a:r>
            <a:br>
              <a:rPr lang="en-US" sz="2400" dirty="0"/>
            </a:br>
            <a:r>
              <a:rPr lang="en-US" sz="2400" dirty="0"/>
              <a:t> 1 :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Gooch rendering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dot(N,L)</a:t>
            </a:r>
            <a:br>
              <a:rPr lang="en-US" sz="2400" dirty="0"/>
            </a:br>
            <a:r>
              <a:rPr lang="en-US" sz="2400" dirty="0"/>
              <a:t>-1 : purple</a:t>
            </a:r>
            <a:br>
              <a:rPr lang="en-US" sz="2400" dirty="0"/>
            </a:br>
            <a:r>
              <a:rPr lang="en-US" sz="2400" dirty="0"/>
              <a:t> 1 : color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5" name="Picture 4" descr="A dinosaur skeleton on a white background&#10;&#10;Description automatically generated">
            <a:extLst>
              <a:ext uri="{FF2B5EF4-FFF2-40B4-BE49-F238E27FC236}">
                <a16:creationId xmlns:a16="http://schemas.microsoft.com/office/drawing/2014/main" id="{63D225F9-647B-69C4-A711-1625FD749C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7406" y="2363372"/>
            <a:ext cx="7046034" cy="449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639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E72D0-3019-BEA2-F79A-40FE947DB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Fortress 2 Rendering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628B64-9C36-9D3C-738E-438B5CB66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726" y="0"/>
            <a:ext cx="2949547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47789C-7E81-6A81-0446-0ABB5A794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327" y="2157315"/>
            <a:ext cx="6058746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5143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8CF6-CDFE-323F-5C43-F0BA14D91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  <a:br>
              <a:rPr lang="en-US" dirty="0"/>
            </a:br>
            <a:r>
              <a:rPr lang="en-US" dirty="0"/>
              <a:t>Possible exam questions  : 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E34C7-C3A0-63ED-0306-E445D27B781A}"/>
              </a:ext>
            </a:extLst>
          </p:cNvPr>
          <p:cNvSpPr txBox="1"/>
          <p:nvPr/>
        </p:nvSpPr>
        <p:spPr>
          <a:xfrm>
            <a:off x="1054100" y="2273300"/>
            <a:ext cx="1003313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What is the difference between diffuse and specular highlighting?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Give me the algorithm for a diffuse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What is physically based rendering?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What are difference between the vertex and the pixel shader?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Explain the parts of the GPU graphics pipeline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03881614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31482</TotalTime>
  <Words>1484</Words>
  <Application>Microsoft Office PowerPoint</Application>
  <PresentationFormat>Widescreen</PresentationFormat>
  <Paragraphs>238</Paragraphs>
  <Slides>43</Slides>
  <Notes>43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Tahoma</vt:lpstr>
      <vt:lpstr>Wingdings</vt:lpstr>
      <vt:lpstr>Kantoorthema</vt:lpstr>
      <vt:lpstr>PowerPoint Presentation</vt:lpstr>
      <vt:lpstr>Last class</vt:lpstr>
      <vt:lpstr>Possible exam questions </vt:lpstr>
      <vt:lpstr>Course schedule</vt:lpstr>
      <vt:lpstr>Project questions?</vt:lpstr>
      <vt:lpstr>This class</vt:lpstr>
      <vt:lpstr>The graphics pipeline</vt:lpstr>
      <vt:lpstr>Configurable GPU Pipeline : vertices -&gt; pixels</vt:lpstr>
      <vt:lpstr>Configurable -&gt; programmable</vt:lpstr>
      <vt:lpstr>Compute shaders also exist</vt:lpstr>
      <vt:lpstr>This class</vt:lpstr>
      <vt:lpstr>But what does programmable look like?</vt:lpstr>
      <vt:lpstr>Normal render</vt:lpstr>
      <vt:lpstr>Vertex offset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Vertex shader &lt;-&gt; pixel shaders</vt:lpstr>
      <vt:lpstr>This class</vt:lpstr>
      <vt:lpstr>Material ~= BRDF</vt:lpstr>
      <vt:lpstr>BRDF’s tend to have a diffuse and specular part</vt:lpstr>
      <vt:lpstr>Lambert diffuse</vt:lpstr>
      <vt:lpstr>Lambert diffuse</vt:lpstr>
      <vt:lpstr>Blinn-Phong specular</vt:lpstr>
      <vt:lpstr>Blinn-Phong specular</vt:lpstr>
      <vt:lpstr>Putting it together</vt:lpstr>
      <vt:lpstr>Mirrors are perfectly specular</vt:lpstr>
      <vt:lpstr>How does this work?</vt:lpstr>
      <vt:lpstr>Retroreflectivity</vt:lpstr>
      <vt:lpstr>Microfacets</vt:lpstr>
      <vt:lpstr>Complicated models : skin</vt:lpstr>
      <vt:lpstr>Unity : GGX</vt:lpstr>
      <vt:lpstr>Physically based rendering</vt:lpstr>
      <vt:lpstr>Physically based rendering</vt:lpstr>
      <vt:lpstr>Another idea : Non photorealistic rendering</vt:lpstr>
      <vt:lpstr>Gooch shading</vt:lpstr>
      <vt:lpstr>Gooch shading</vt:lpstr>
      <vt:lpstr>Team Fortress 2 Rendering</vt:lpstr>
      <vt:lpstr>Questions? Possible exam questions  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Daan Nijs</cp:lastModifiedBy>
  <cp:revision>65</cp:revision>
  <dcterms:created xsi:type="dcterms:W3CDTF">2024-01-29T23:06:06Z</dcterms:created>
  <dcterms:modified xsi:type="dcterms:W3CDTF">2025-03-11T20:15:41Z</dcterms:modified>
</cp:coreProperties>
</file>