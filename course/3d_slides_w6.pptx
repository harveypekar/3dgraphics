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502" r:id="rId3"/>
    <p:sldId id="338" r:id="rId4"/>
    <p:sldId id="364" r:id="rId5"/>
    <p:sldId id="503" r:id="rId6"/>
    <p:sldId id="505" r:id="rId7"/>
    <p:sldId id="506" r:id="rId8"/>
    <p:sldId id="508" r:id="rId9"/>
    <p:sldId id="507" r:id="rId10"/>
    <p:sldId id="504" r:id="rId11"/>
    <p:sldId id="512" r:id="rId12"/>
    <p:sldId id="541" r:id="rId13"/>
    <p:sldId id="511" r:id="rId14"/>
    <p:sldId id="514" r:id="rId15"/>
    <p:sldId id="515" r:id="rId16"/>
    <p:sldId id="557" r:id="rId17"/>
    <p:sldId id="516" r:id="rId18"/>
    <p:sldId id="517" r:id="rId19"/>
    <p:sldId id="518" r:id="rId20"/>
    <p:sldId id="519" r:id="rId21"/>
    <p:sldId id="509" r:id="rId22"/>
    <p:sldId id="521" r:id="rId23"/>
    <p:sldId id="524" r:id="rId24"/>
    <p:sldId id="526" r:id="rId25"/>
    <p:sldId id="527" r:id="rId26"/>
    <p:sldId id="528" r:id="rId27"/>
    <p:sldId id="529" r:id="rId28"/>
    <p:sldId id="531" r:id="rId29"/>
    <p:sldId id="530" r:id="rId30"/>
    <p:sldId id="532" r:id="rId31"/>
    <p:sldId id="533" r:id="rId32"/>
    <p:sldId id="534" r:id="rId33"/>
    <p:sldId id="537" r:id="rId34"/>
    <p:sldId id="538" r:id="rId35"/>
    <p:sldId id="539" r:id="rId36"/>
    <p:sldId id="535" r:id="rId37"/>
    <p:sldId id="536" r:id="rId38"/>
    <p:sldId id="540" r:id="rId39"/>
    <p:sldId id="543" r:id="rId40"/>
    <p:sldId id="544" r:id="rId41"/>
    <p:sldId id="545" r:id="rId42"/>
    <p:sldId id="546" r:id="rId43"/>
    <p:sldId id="547" r:id="rId44"/>
    <p:sldId id="548" r:id="rId45"/>
    <p:sldId id="549" r:id="rId46"/>
    <p:sldId id="550" r:id="rId47"/>
    <p:sldId id="551" r:id="rId48"/>
    <p:sldId id="558" r:id="rId49"/>
    <p:sldId id="552" r:id="rId50"/>
    <p:sldId id="554" r:id="rId51"/>
    <p:sldId id="553" r:id="rId52"/>
    <p:sldId id="555" r:id="rId53"/>
    <p:sldId id="556" r:id="rId5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03/18/2025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3a: Graphics pipeline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33C93-BDDA-E53E-45B8-D25FB21FD02C}"/>
              </a:ext>
            </a:extLst>
          </p:cNvPr>
          <p:cNvSpPr txBox="1"/>
          <p:nvPr/>
        </p:nvSpPr>
        <p:spPr>
          <a:xfrm>
            <a:off x="838200" y="1837338"/>
            <a:ext cx="83870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History of procedural generations (</a:t>
            </a:r>
            <a:r>
              <a:rPr lang="en-US" sz="2800" dirty="0" err="1"/>
              <a:t>procgen</a:t>
            </a:r>
            <a:r>
              <a:rPr lang="en-US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Seeing functions as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Generating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Infinite terrain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3BEA3-E67A-7093-9533-6F829A10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323" y="2078966"/>
            <a:ext cx="4558676" cy="4512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5736D2-EB7C-7AA9-4281-924808852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5" y="3764888"/>
            <a:ext cx="3407690" cy="2992841"/>
          </a:xfrm>
          <a:prstGeom prst="rect">
            <a:avLst/>
          </a:prstGeom>
        </p:spPr>
      </p:pic>
      <p:pic>
        <p:nvPicPr>
          <p:cNvPr id="6" name="Picture 5" descr="A white and black wavy object&#10;&#10;Description automatically generated">
            <a:extLst>
              <a:ext uri="{FF2B5EF4-FFF2-40B4-BE49-F238E27FC236}">
                <a16:creationId xmlns:a16="http://schemas.microsoft.com/office/drawing/2014/main" id="{E0A0CE58-A58F-330F-A5E5-24DB3ADFF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85" y="4016581"/>
            <a:ext cx="4402301" cy="24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CA2FDF-DB18-1375-BEF9-8DA80A37B085}"/>
              </a:ext>
            </a:extLst>
          </p:cNvPr>
          <p:cNvSpPr txBox="1"/>
          <p:nvPr/>
        </p:nvSpPr>
        <p:spPr>
          <a:xfrm>
            <a:off x="379445" y="1741714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861901"/>
              </p:ext>
            </p:extLst>
          </p:nvPr>
        </p:nvGraphicFramePr>
        <p:xfrm>
          <a:off x="5340394" y="0"/>
          <a:ext cx="4438366" cy="6752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172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359194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95849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/ Presentations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10 :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11 :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7410113" y="2743743"/>
            <a:ext cx="2301551" cy="801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6330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03637" y="1923602"/>
            <a:ext cx="9517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Texture basic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Border’s, </a:t>
            </a:r>
            <a:r>
              <a:rPr lang="en-US" sz="2800" dirty="0" err="1">
                <a:sym typeface="Wingdings" panose="05000000000000000000" pitchFamily="2" charset="2"/>
              </a:rPr>
              <a:t>mips</a:t>
            </a:r>
            <a:r>
              <a:rPr lang="en-US" sz="2800" dirty="0">
                <a:sym typeface="Wingdings" panose="05000000000000000000" pitchFamily="2" charset="2"/>
              </a:rPr>
              <a:t>, and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Normal maps (for normal students </a:t>
            </a:r>
            <a:r>
              <a:rPr lang="nl-BE" sz="2800" dirty="0"/>
              <a:t>©Margot Schepers</a:t>
            </a:r>
            <a:r>
              <a:rPr lang="en-US" sz="2800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sym typeface="Wingdings" panose="05000000000000000000" pitchFamily="2" charset="2"/>
              </a:rPr>
              <a:t>Creating normal maps</a:t>
            </a: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65BC-3C8A-010E-C603-263E3DD7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0BC76-6E16-AF2A-54AC-5443DE82911B}"/>
              </a:ext>
            </a:extLst>
          </p:cNvPr>
          <p:cNvSpPr txBox="1"/>
          <p:nvPr/>
        </p:nvSpPr>
        <p:spPr>
          <a:xfrm>
            <a:off x="460310" y="1530220"/>
            <a:ext cx="41529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someone tell me what </a:t>
            </a:r>
          </a:p>
          <a:p>
            <a:r>
              <a:rPr lang="en-US" sz="2800" dirty="0"/>
              <a:t>they are?</a:t>
            </a:r>
            <a:endParaRPr lang="en-BE" sz="2800" dirty="0"/>
          </a:p>
        </p:txBody>
      </p:sp>
      <p:pic>
        <p:nvPicPr>
          <p:cNvPr id="5" name="Picture 4" descr="A collage of different textures&#10;&#10;AI-generated content may be incorrect.">
            <a:extLst>
              <a:ext uri="{FF2B5EF4-FFF2-40B4-BE49-F238E27FC236}">
                <a16:creationId xmlns:a16="http://schemas.microsoft.com/office/drawing/2014/main" id="{ADC6529A-3506-FF23-D4A2-382A7FA71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3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7DFA-5307-972D-8A52-7F710E74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Textures 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9B190-FF81-831E-7D8C-59222F55B27C}"/>
              </a:ext>
            </a:extLst>
          </p:cNvPr>
          <p:cNvSpPr txBox="1"/>
          <p:nvPr/>
        </p:nvSpPr>
        <p:spPr>
          <a:xfrm>
            <a:off x="838200" y="1584649"/>
            <a:ext cx="82289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Commonly : “a 2d grid of colors”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3d graphics : “discrete spatially varying information”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44053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4483-B5B2-BF1C-84D0-F8E81056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Textures : 2D grid of colors</a:t>
            </a:r>
            <a:endParaRPr lang="en-BE" dirty="0"/>
          </a:p>
        </p:txBody>
      </p:sp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8B770860-8F72-B7D1-1375-CB58BE88A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" y="2883878"/>
            <a:ext cx="5863880" cy="2931940"/>
          </a:xfrm>
          <a:prstGeom prst="rect">
            <a:avLst/>
          </a:prstGeom>
        </p:spPr>
      </p:pic>
      <p:pic>
        <p:nvPicPr>
          <p:cNvPr id="8" name="Picture 7" descr="A green and black image&#10;&#10;Description automatically generated">
            <a:extLst>
              <a:ext uri="{FF2B5EF4-FFF2-40B4-BE49-F238E27FC236}">
                <a16:creationId xmlns:a16="http://schemas.microsoft.com/office/drawing/2014/main" id="{592EF111-EC92-00E8-BAAD-3E5930FCA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47" y="1575582"/>
            <a:ext cx="4935350" cy="434310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2C30AB-BF95-037B-6A94-C0C6DA30A1F5}"/>
              </a:ext>
            </a:extLst>
          </p:cNvPr>
          <p:cNvCxnSpPr/>
          <p:nvPr/>
        </p:nvCxnSpPr>
        <p:spPr>
          <a:xfrm flipV="1">
            <a:off x="3296816" y="2413518"/>
            <a:ext cx="3427445" cy="10154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986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E79CA-D8F0-84E1-9BE1-A28402C1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Spatially varying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14145-0717-35AF-6343-A69CDF97D419}"/>
              </a:ext>
            </a:extLst>
          </p:cNvPr>
          <p:cNvSpPr txBox="1"/>
          <p:nvPr/>
        </p:nvSpPr>
        <p:spPr>
          <a:xfrm>
            <a:off x="591348" y="1518071"/>
            <a:ext cx="779751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Different areas in the texture have different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use UV coordinates.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Vector2D, 0.0 -&gt; 1.0 (typically)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They are part of the vertex</a:t>
            </a:r>
            <a:endParaRPr lang="en-BE" sz="2800" dirty="0"/>
          </a:p>
        </p:txBody>
      </p:sp>
      <p:pic>
        <p:nvPicPr>
          <p:cNvPr id="5" name="Picture 4" descr="A green square with white text&#10;&#10;Description automatically generated">
            <a:extLst>
              <a:ext uri="{FF2B5EF4-FFF2-40B4-BE49-F238E27FC236}">
                <a16:creationId xmlns:a16="http://schemas.microsoft.com/office/drawing/2014/main" id="{8BC8925B-C8E0-48BE-EC15-EC84622B1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41" y="3457521"/>
            <a:ext cx="10394302" cy="340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47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7C4B11-38BC-0F0A-FD56-7BB138982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2" y="2394857"/>
            <a:ext cx="5190220" cy="42329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668B1B-C236-E13D-9777-2B66E78A6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464" y="2463488"/>
            <a:ext cx="6918536" cy="4095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DC7776-3CE3-4641-A604-916199F5D04F}"/>
              </a:ext>
            </a:extLst>
          </p:cNvPr>
          <p:cNvSpPr txBox="1"/>
          <p:nvPr/>
        </p:nvSpPr>
        <p:spPr>
          <a:xfrm>
            <a:off x="646922" y="387234"/>
            <a:ext cx="48939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UV: float2 coordinates</a:t>
            </a:r>
          </a:p>
          <a:p>
            <a:endParaRPr lang="en-US" sz="2400" dirty="0"/>
          </a:p>
          <a:p>
            <a:r>
              <a:rPr lang="en-US" sz="2400" dirty="0"/>
              <a:t>Float2 </a:t>
            </a:r>
            <a:r>
              <a:rPr lang="en-US" sz="2400" dirty="0" err="1"/>
              <a:t>uv</a:t>
            </a:r>
            <a:r>
              <a:rPr lang="en-US" sz="2400" dirty="0"/>
              <a:t>(0,0) -&gt; image[0,0]</a:t>
            </a:r>
          </a:p>
          <a:p>
            <a:r>
              <a:rPr lang="en-US" sz="2400" dirty="0"/>
              <a:t>Float2 </a:t>
            </a:r>
            <a:r>
              <a:rPr lang="en-US" sz="2400" dirty="0" err="1"/>
              <a:t>uv</a:t>
            </a:r>
            <a:r>
              <a:rPr lang="en-US" sz="2400" dirty="0"/>
              <a:t>(1,1) -&gt; image[width, height]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56425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535C-EC20-9F61-0A62-B71BB8AC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6" name="Picture 5" descr="A candy wrapped in foil&#10;&#10;Description automatically generated">
            <a:extLst>
              <a:ext uri="{FF2B5EF4-FFF2-40B4-BE49-F238E27FC236}">
                <a16:creationId xmlns:a16="http://schemas.microsoft.com/office/drawing/2014/main" id="{427A7F01-EE60-4947-8EB7-3CFB02D35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57" y="0"/>
            <a:ext cx="9693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44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5581-8DEC-95E2-13F9-A136A34F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code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8471D-F35B-F819-6C7F-78ADE23501D9}"/>
              </a:ext>
            </a:extLst>
          </p:cNvPr>
          <p:cNvSpPr txBox="1"/>
          <p:nvPr/>
        </p:nvSpPr>
        <p:spPr>
          <a:xfrm>
            <a:off x="1604866" y="1816359"/>
            <a:ext cx="73925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// in </a:t>
            </a:r>
            <a:r>
              <a:rPr lang="fr-F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Properties</a:t>
            </a:r>
            <a:endParaRPr lang="en-BE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000" dirty="0">
                <a:solidFill>
                  <a:srgbClr val="8B0000"/>
                </a:solidFill>
                <a:latin typeface="Cascadia Mono" panose="020B0609020000020004" pitchFamily="49" charset="0"/>
              </a:rPr>
              <a:t>"Albedo (RGB)"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2D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 = </a:t>
            </a:r>
            <a:r>
              <a:rPr lang="en-US" sz="2000" dirty="0">
                <a:solidFill>
                  <a:srgbClr val="8B0000"/>
                </a:solidFill>
                <a:latin typeface="Cascadia Mono" panose="020B0609020000020004" pitchFamily="49" charset="0"/>
              </a:rPr>
              <a:t>"white"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{}</a:t>
            </a: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// in </a:t>
            </a:r>
            <a:r>
              <a:rPr lang="fr-F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SubShader</a:t>
            </a:r>
            <a:endParaRPr lang="en-BE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b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sampler2D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BE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Input</a:t>
            </a:r>
          </a:p>
          <a:p>
            <a:r>
              <a:rPr lang="en-B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float2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uv_MainTex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B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b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b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// in fragment </a:t>
            </a:r>
            <a:r>
              <a:rPr lang="fr-F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shader</a:t>
            </a:r>
            <a:b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fixed4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2000" dirty="0">
                <a:solidFill>
                  <a:srgbClr val="8B008B"/>
                </a:solidFill>
                <a:latin typeface="Cascadia Mono" panose="020B0609020000020004" pitchFamily="49" charset="0"/>
              </a:rPr>
              <a:t>tex2D 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fr-F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IN.uv_MainTex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237885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2C95-46FF-AB8D-1645-0421F3CC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50" y="-135207"/>
            <a:ext cx="10515600" cy="1325563"/>
          </a:xfrm>
        </p:spPr>
        <p:txBody>
          <a:bodyPr/>
          <a:lstStyle/>
          <a:p>
            <a:r>
              <a:rPr lang="en-US" dirty="0"/>
              <a:t>Why not put this information in a vertex?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69135-78A7-B367-2B7E-6895AD0B33BC}"/>
              </a:ext>
            </a:extLst>
          </p:cNvPr>
          <p:cNvSpPr txBox="1"/>
          <p:nvPr/>
        </p:nvSpPr>
        <p:spPr>
          <a:xfrm>
            <a:off x="111792" y="940190"/>
            <a:ext cx="1170639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Good question!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Vertex density vary with geometric complexity (wheels have more vertices than doors)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Textures have a more homogenous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car on the road&#10;&#10;AI-generated content may be incorrect.">
            <a:extLst>
              <a:ext uri="{FF2B5EF4-FFF2-40B4-BE49-F238E27FC236}">
                <a16:creationId xmlns:a16="http://schemas.microsoft.com/office/drawing/2014/main" id="{F1DE509B-3C9E-3B37-A2EE-27BEFCDF2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4777"/>
            <a:ext cx="6096000" cy="3429000"/>
          </a:xfrm>
          <a:prstGeom prst="rect">
            <a:avLst/>
          </a:prstGeom>
        </p:spPr>
      </p:pic>
      <p:pic>
        <p:nvPicPr>
          <p:cNvPr id="7" name="Picture 6" descr="A car with graffiti on it&#10;&#10;AI-generated content may be incorrect.">
            <a:extLst>
              <a:ext uri="{FF2B5EF4-FFF2-40B4-BE49-F238E27FC236}">
                <a16:creationId xmlns:a16="http://schemas.microsoft.com/office/drawing/2014/main" id="{74540501-76BF-0086-E5F5-BD4AD0265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936" y="3494776"/>
            <a:ext cx="5979063" cy="336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1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2628-626A-2897-8D38-CC08736B6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776" y="265598"/>
            <a:ext cx="10515600" cy="1325563"/>
          </a:xfrm>
        </p:spPr>
        <p:txBody>
          <a:bodyPr/>
          <a:lstStyle/>
          <a:p>
            <a:r>
              <a:rPr lang="en-US" dirty="0"/>
              <a:t>Any 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65891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A39D-0336-133C-67A3-762FA636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just saw 2D textures as an example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F198D-C2E6-C124-6E9A-DB0C772E0C08}"/>
              </a:ext>
            </a:extLst>
          </p:cNvPr>
          <p:cNvSpPr txBox="1"/>
          <p:nvPr/>
        </p:nvSpPr>
        <p:spPr>
          <a:xfrm>
            <a:off x="432788" y="1690688"/>
            <a:ext cx="5193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Any guess what the others types are?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370989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4851-4B2D-1BF3-DACD-3406FEF1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00" y="-205582"/>
            <a:ext cx="10515600" cy="1325563"/>
          </a:xfrm>
        </p:spPr>
        <p:txBody>
          <a:bodyPr/>
          <a:lstStyle/>
          <a:p>
            <a:r>
              <a:rPr lang="en-US" dirty="0"/>
              <a:t>Texture 1D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67B57-6B82-F834-31DE-861ADBDEE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7" y="1974268"/>
            <a:ext cx="3652994" cy="1454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86AE6C-0B76-9972-F998-C9E3C819BB83}"/>
              </a:ext>
            </a:extLst>
          </p:cNvPr>
          <p:cNvSpPr txBox="1"/>
          <p:nvPr/>
        </p:nvSpPr>
        <p:spPr>
          <a:xfrm>
            <a:off x="292417" y="725398"/>
            <a:ext cx="7969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for lookup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practice, 2D textures anyway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Triangle: multiple pixels access the same 1D texture location</a:t>
            </a:r>
            <a:endParaRPr lang="en-BE" sz="2400" dirty="0"/>
          </a:p>
        </p:txBody>
      </p:sp>
      <p:pic>
        <p:nvPicPr>
          <p:cNvPr id="7" name="Picture 6" descr="A close-up of a rainbow&#10;&#10;Description automatically generated">
            <a:extLst>
              <a:ext uri="{FF2B5EF4-FFF2-40B4-BE49-F238E27FC236}">
                <a16:creationId xmlns:a16="http://schemas.microsoft.com/office/drawing/2014/main" id="{6391604B-F351-D9A3-46CB-2152BE933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265" y="3547012"/>
            <a:ext cx="8529735" cy="331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5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8B36-75A1-6937-E44A-FCA61A76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02" y="0"/>
            <a:ext cx="10515600" cy="1325563"/>
          </a:xfrm>
        </p:spPr>
        <p:txBody>
          <a:bodyPr/>
          <a:lstStyle/>
          <a:p>
            <a:r>
              <a:rPr lang="en-US" dirty="0"/>
              <a:t>Texture 1D example: blackbody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D4EB3-E8AA-F9EC-D8EB-11D5BCDA8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00"/>
            <a:ext cx="7620000" cy="2857500"/>
          </a:xfrm>
          <a:prstGeom prst="rect">
            <a:avLst/>
          </a:prstGeom>
        </p:spPr>
      </p:pic>
      <p:pic>
        <p:nvPicPr>
          <p:cNvPr id="6" name="Picture 5" descr="A chart of the temperature of the sky&#10;&#10;AI-generated content may be incorrect.">
            <a:extLst>
              <a:ext uri="{FF2B5EF4-FFF2-40B4-BE49-F238E27FC236}">
                <a16:creationId xmlns:a16="http://schemas.microsoft.com/office/drawing/2014/main" id="{434EEE43-B582-6742-2131-8B1C507A8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850" y="1981200"/>
            <a:ext cx="42481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50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65B7-AEE7-5044-F4A9-4CBD401B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4" y="0"/>
            <a:ext cx="10515600" cy="1325563"/>
          </a:xfrm>
        </p:spPr>
        <p:txBody>
          <a:bodyPr/>
          <a:lstStyle/>
          <a:p>
            <a:r>
              <a:rPr lang="en-US" dirty="0"/>
              <a:t>Texture3D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38028-962E-490F-9341-A5E39ECA7E8E}"/>
              </a:ext>
            </a:extLst>
          </p:cNvPr>
          <p:cNvSpPr txBox="1"/>
          <p:nvPr/>
        </p:nvSpPr>
        <p:spPr>
          <a:xfrm>
            <a:off x="485192" y="1797698"/>
            <a:ext cx="4781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Has a width, a height, and a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3d </a:t>
            </a:r>
            <a:r>
              <a:rPr lang="en-US" sz="2400" dirty="0" err="1"/>
              <a:t>uv’s</a:t>
            </a:r>
            <a:r>
              <a:rPr lang="en-US" sz="2400" dirty="0"/>
              <a:t> / texture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Anyone have an example?</a:t>
            </a:r>
            <a:endParaRPr lang="en-BE" sz="2400" dirty="0"/>
          </a:p>
        </p:txBody>
      </p:sp>
      <p:pic>
        <p:nvPicPr>
          <p:cNvPr id="5" name="Picture 4" descr="A rainbow colored rectangles&#10;&#10;Description automatically generated">
            <a:extLst>
              <a:ext uri="{FF2B5EF4-FFF2-40B4-BE49-F238E27FC236}">
                <a16:creationId xmlns:a16="http://schemas.microsoft.com/office/drawing/2014/main" id="{3CA13A41-7AD6-54B7-4F3E-55A0CA06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2" y="3621637"/>
            <a:ext cx="11809523" cy="3085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8B446-6699-18E4-F5FF-2CD479C61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55" y="-12940"/>
            <a:ext cx="5152845" cy="38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45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1D0D-C0A8-79F1-C86F-1CB9CC35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4" name="Picture 3" descr="A collage of images of a baby&#10;&#10;Description automatically generated">
            <a:extLst>
              <a:ext uri="{FF2B5EF4-FFF2-40B4-BE49-F238E27FC236}">
                <a16:creationId xmlns:a16="http://schemas.microsoft.com/office/drawing/2014/main" id="{094959F3-7128-7E35-A74B-DCAE0430C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335" y="580459"/>
            <a:ext cx="7983603" cy="597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69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75DD-2505-1086-3CE8-EAE6E130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TextureCube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169BB-CCAF-912B-4DFC-33EFDA1843ED}"/>
              </a:ext>
            </a:extLst>
          </p:cNvPr>
          <p:cNvSpPr txBox="1"/>
          <p:nvPr/>
        </p:nvSpPr>
        <p:spPr>
          <a:xfrm>
            <a:off x="478972" y="1474237"/>
            <a:ext cx="44989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Resembles a six sided 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index it with a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POV: center of the cube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Perfect for a skybox / reflections</a:t>
            </a:r>
            <a:endParaRPr lang="en-BE" sz="2400" dirty="0"/>
          </a:p>
        </p:txBody>
      </p:sp>
      <p:pic>
        <p:nvPicPr>
          <p:cNvPr id="5" name="Picture 4" descr="A diagram of a cube with mountains and clouds&#10;&#10;Description automatically generated with medium confidence">
            <a:extLst>
              <a:ext uri="{FF2B5EF4-FFF2-40B4-BE49-F238E27FC236}">
                <a16:creationId xmlns:a16="http://schemas.microsoft.com/office/drawing/2014/main" id="{971BE86C-60F1-90C7-F321-55B45F684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702" y="365125"/>
            <a:ext cx="6667432" cy="643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80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06B7-7B10-135A-8CFA-3E93964C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67108E81-2E65-6B22-5ED3-50D8DD261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18" y="1352939"/>
            <a:ext cx="7212526" cy="540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14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71F2-AAAB-3248-5A6D-8033A081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said UV’s typically go 0.0-&gt;1.0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F7272-9E8A-8FA3-383B-A4884559AA0F}"/>
              </a:ext>
            </a:extLst>
          </p:cNvPr>
          <p:cNvSpPr txBox="1"/>
          <p:nvPr/>
        </p:nvSpPr>
        <p:spPr>
          <a:xfrm>
            <a:off x="167998" y="1548882"/>
            <a:ext cx="9430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can configure what happens when access the texture with </a:t>
            </a:r>
            <a:r>
              <a:rPr lang="en-US" sz="2800" dirty="0" err="1"/>
              <a:t>uv</a:t>
            </a:r>
            <a:r>
              <a:rPr lang="en-US" sz="2800" dirty="0"/>
              <a:t> coordinates going outside that range</a:t>
            </a:r>
          </a:p>
        </p:txBody>
      </p:sp>
    </p:spTree>
    <p:extLst>
      <p:ext uri="{BB962C8B-B14F-4D97-AF65-F5344CB8AC3E}">
        <p14:creationId xmlns:p14="http://schemas.microsoft.com/office/powerpoint/2010/main" val="1565024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BCE8-E819-26D3-9E9E-ECE2375F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87" y="-109328"/>
            <a:ext cx="10515600" cy="1325563"/>
          </a:xfrm>
        </p:spPr>
        <p:txBody>
          <a:bodyPr/>
          <a:lstStyle/>
          <a:p>
            <a:r>
              <a:rPr lang="en-US" dirty="0"/>
              <a:t>Wrap and mirror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7E35E-0B77-78E3-7B60-4435540DED28}"/>
              </a:ext>
            </a:extLst>
          </p:cNvPr>
          <p:cNvSpPr txBox="1"/>
          <p:nvPr/>
        </p:nvSpPr>
        <p:spPr>
          <a:xfrm>
            <a:off x="501770" y="1138598"/>
            <a:ext cx="43338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Good for tiling textures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Why?</a:t>
            </a:r>
            <a:endParaRPr lang="en-BE" sz="3200" dirty="0"/>
          </a:p>
        </p:txBody>
      </p:sp>
      <p:pic>
        <p:nvPicPr>
          <p:cNvPr id="6" name="Picture 5" descr="A collage of different patterns&#10;&#10;AI-generated content may be incorrect.">
            <a:extLst>
              <a:ext uri="{FF2B5EF4-FFF2-40B4-BE49-F238E27FC236}">
                <a16:creationId xmlns:a16="http://schemas.microsoft.com/office/drawing/2014/main" id="{AE5F0A11-E67C-016F-4842-2FB743049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609" y="336430"/>
            <a:ext cx="6171053" cy="63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86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48ED-BB16-8D13-068C-5C9E5DC3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Clamp and border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CB5E0-7840-0BBF-A5E8-F2FAD2C97717}"/>
              </a:ext>
            </a:extLst>
          </p:cNvPr>
          <p:cNvSpPr txBox="1"/>
          <p:nvPr/>
        </p:nvSpPr>
        <p:spPr>
          <a:xfrm>
            <a:off x="404326" y="1424473"/>
            <a:ext cx="43027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Clamp is a good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Border is good for finding bugs</a:t>
            </a:r>
            <a:endParaRPr lang="en-BE" sz="2400" dirty="0"/>
          </a:p>
        </p:txBody>
      </p:sp>
      <p:pic>
        <p:nvPicPr>
          <p:cNvPr id="5" name="Picture 4" descr="A black and white image of a flag&#10;&#10;Description automatically generated">
            <a:extLst>
              <a:ext uri="{FF2B5EF4-FFF2-40B4-BE49-F238E27FC236}">
                <a16:creationId xmlns:a16="http://schemas.microsoft.com/office/drawing/2014/main" id="{6C8A22A9-6064-0AB1-5035-A056B7B0E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71" y="2867608"/>
            <a:ext cx="5209359" cy="3502090"/>
          </a:xfrm>
          <a:prstGeom prst="rect">
            <a:avLst/>
          </a:prstGeom>
        </p:spPr>
      </p:pic>
      <p:pic>
        <p:nvPicPr>
          <p:cNvPr id="7" name="Picture 6" descr="A red and black squares&#10;&#10;Description automatically generated">
            <a:extLst>
              <a:ext uri="{FF2B5EF4-FFF2-40B4-BE49-F238E27FC236}">
                <a16:creationId xmlns:a16="http://schemas.microsoft.com/office/drawing/2014/main" id="{39CA5BE9-C025-338E-E2BC-E7D3C5562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67" y="3066661"/>
            <a:ext cx="4954556" cy="330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46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7E48-85A9-BEBE-5190-F450C299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unity, you can find this on your asset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FDDDE1-007A-7A3F-0702-D6A42E46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25" y="2202024"/>
            <a:ext cx="10380334" cy="429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09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4C89-46B9-F869-D097-433318B5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everything clear?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73229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C2B9-7FFB-EFD2-BBD1-7F3727E4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979" y="0"/>
            <a:ext cx="10515600" cy="1325563"/>
          </a:xfrm>
        </p:spPr>
        <p:txBody>
          <a:bodyPr/>
          <a:lstStyle/>
          <a:p>
            <a:r>
              <a:rPr lang="en-US" dirty="0"/>
              <a:t>Textures have some problems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B77FE-F92B-E444-8AE8-54619D6D3758}"/>
              </a:ext>
            </a:extLst>
          </p:cNvPr>
          <p:cNvSpPr txBox="1"/>
          <p:nvPr/>
        </p:nvSpPr>
        <p:spPr>
          <a:xfrm>
            <a:off x="213343" y="1166159"/>
            <a:ext cx="10788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faraway objects, we need the entire texture in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faraway objects, the full texture is too detailed, and creates aliasing (later class)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FD137-FA38-7E1C-61F4-376F9F4A7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578" y="2446638"/>
            <a:ext cx="7842422" cy="4411362"/>
          </a:xfrm>
          <a:prstGeom prst="rect">
            <a:avLst/>
          </a:prstGeom>
        </p:spPr>
      </p:pic>
      <p:pic>
        <p:nvPicPr>
          <p:cNvPr id="5" name="Picture 4" descr="A comparison of a black and white checkered floor&#10;&#10;AI-generated content may be incorrect.">
            <a:extLst>
              <a:ext uri="{FF2B5EF4-FFF2-40B4-BE49-F238E27FC236}">
                <a16:creationId xmlns:a16="http://schemas.microsoft.com/office/drawing/2014/main" id="{965ECBF7-069B-FEF2-0BA1-55F376366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4363"/>
            <a:ext cx="4286390" cy="23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03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48A7-26FC-F3D5-3E61-3E9C1CDE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BE" dirty="0"/>
          </a:p>
        </p:txBody>
      </p:sp>
      <p:pic>
        <p:nvPicPr>
          <p:cNvPr id="4" name="Picture 3" descr="A satellite in space with solar panels&#10;&#10;Description automatically generated">
            <a:extLst>
              <a:ext uri="{FF2B5EF4-FFF2-40B4-BE49-F238E27FC236}">
                <a16:creationId xmlns:a16="http://schemas.microsoft.com/office/drawing/2014/main" id="{8E34195F-C866-DD57-BD89-407469EE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836" y="2233127"/>
            <a:ext cx="6623957" cy="44159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B9A30-F237-F99D-8248-4072D4E8C31B}"/>
              </a:ext>
            </a:extLst>
          </p:cNvPr>
          <p:cNvSpPr txBox="1"/>
          <p:nvPr/>
        </p:nvSpPr>
        <p:spPr>
          <a:xfrm>
            <a:off x="378996" y="1556226"/>
            <a:ext cx="475284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 smaller versions iteratively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Often called a “pyramid”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Increases size by 33% </a:t>
            </a:r>
            <a:br>
              <a:rPr lang="en-US" sz="2400" dirty="0"/>
            </a:br>
            <a:r>
              <a:rPr lang="en-US" sz="2400" dirty="0"/>
              <a:t>(unless special implementation)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in memory what is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Worth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Also for 1D, cube, and 3D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809398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90DC-988A-D7C2-764B-07C02F9D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don’t use this directly (in this course)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2BE34-BAB4-536D-52BC-4191E9D551FB}"/>
              </a:ext>
            </a:extLst>
          </p:cNvPr>
          <p:cNvSpPr txBox="1"/>
          <p:nvPr/>
        </p:nvSpPr>
        <p:spPr>
          <a:xfrm>
            <a:off x="964164" y="1847462"/>
            <a:ext cx="4889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Unity handles a lot under the hood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Very important concept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We’ll see more in the aliasing class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670507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121C-A517-FCB6-3115-E72D1BD8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3214-D4E0-8800-0EA1-120890E9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nuances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CC969-6128-FC76-B27E-619383A5FCB4}"/>
              </a:ext>
            </a:extLst>
          </p:cNvPr>
          <p:cNvSpPr txBox="1"/>
          <p:nvPr/>
        </p:nvSpPr>
        <p:spPr>
          <a:xfrm>
            <a:off x="1803919" y="1791478"/>
            <a:ext cx="267252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Borders</a:t>
            </a: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Mipmapping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Sampling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99170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D806-FE3C-2560-A204-D2EB5A7C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dirty="0" err="1"/>
              <a:t>uv</a:t>
            </a:r>
            <a:r>
              <a:rPr lang="en-US" dirty="0"/>
              <a:t> / </a:t>
            </a:r>
            <a:r>
              <a:rPr lang="en-US" dirty="0" err="1"/>
              <a:t>texcoords</a:t>
            </a:r>
            <a:r>
              <a:rPr lang="en-US" dirty="0"/>
              <a:t> are floats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79F05-7EEF-3379-AA36-0B07F665B70F}"/>
              </a:ext>
            </a:extLst>
          </p:cNvPr>
          <p:cNvSpPr txBox="1"/>
          <p:nvPr/>
        </p:nvSpPr>
        <p:spPr>
          <a:xfrm>
            <a:off x="566057" y="1567543"/>
            <a:ext cx="66931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sample a texture with </a:t>
            </a:r>
            <a:r>
              <a:rPr lang="en-US" sz="2400" dirty="0" err="1"/>
              <a:t>eg</a:t>
            </a:r>
            <a:r>
              <a:rPr lang="en-US" sz="2400" dirty="0"/>
              <a:t> (0.0, 0.4)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Imagine we have a 2x2 texture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should the result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(Assume the border mode is set to clamp)</a:t>
            </a:r>
            <a:endParaRPr lang="en-BE" sz="2400" dirty="0"/>
          </a:p>
        </p:txBody>
      </p:sp>
      <p:pic>
        <p:nvPicPr>
          <p:cNvPr id="6" name="Picture 5" descr="A black and white checkered pattern&#10;&#10;Description automatically generated">
            <a:extLst>
              <a:ext uri="{FF2B5EF4-FFF2-40B4-BE49-F238E27FC236}">
                <a16:creationId xmlns:a16="http://schemas.microsoft.com/office/drawing/2014/main" id="{E1999D35-2BBD-6948-87CF-BE226E07D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51" y="1644082"/>
            <a:ext cx="5069634" cy="506963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8663C6-1358-D42E-AAAA-0F7D1F650E68}"/>
              </a:ext>
            </a:extLst>
          </p:cNvPr>
          <p:cNvCxnSpPr>
            <a:cxnSpLocks/>
          </p:cNvCxnSpPr>
          <p:nvPr/>
        </p:nvCxnSpPr>
        <p:spPr>
          <a:xfrm>
            <a:off x="7259216" y="4764833"/>
            <a:ext cx="1772817" cy="19488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515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D28-AE5B-BF33-D187-B883C911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probably said black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5AE94-5F3C-AB2B-7E4F-BC4D0A65D3F2}"/>
              </a:ext>
            </a:extLst>
          </p:cNvPr>
          <p:cNvSpPr txBox="1"/>
          <p:nvPr/>
        </p:nvSpPr>
        <p:spPr>
          <a:xfrm>
            <a:off x="609601" y="1441872"/>
            <a:ext cx="7825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this is true is some circumstances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Especially since we know it’s a checkerboard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call this “nearest </a:t>
            </a:r>
            <a:r>
              <a:rPr lang="en-US" sz="2400" dirty="0" err="1"/>
              <a:t>neighbour</a:t>
            </a:r>
            <a:r>
              <a:rPr lang="en-US" sz="2400" dirty="0"/>
              <a:t>” or “point” filtering</a:t>
            </a:r>
            <a:endParaRPr lang="en-B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FAB58-F367-9AED-1F7F-3C5D50128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83" y="2696314"/>
            <a:ext cx="4604664" cy="379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27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8F1C-4BE7-5FC2-62E6-B0188BE6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0" y="365125"/>
            <a:ext cx="11055220" cy="1325563"/>
          </a:xfrm>
        </p:spPr>
        <p:txBody>
          <a:bodyPr/>
          <a:lstStyle/>
          <a:p>
            <a:r>
              <a:rPr lang="en-US" dirty="0"/>
              <a:t>We can also try to make a smoother transition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80774-B568-B777-9E47-9F66B887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81" y="2653764"/>
            <a:ext cx="4744112" cy="3839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9DA1B0-350A-DEC8-C50F-BD7489BDB96A}"/>
              </a:ext>
            </a:extLst>
          </p:cNvPr>
          <p:cNvSpPr txBox="1"/>
          <p:nvPr/>
        </p:nvSpPr>
        <p:spPr>
          <a:xfrm>
            <a:off x="838200" y="1459855"/>
            <a:ext cx="7768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calculate the distances between pixels of our “sample”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interpolate linearly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723921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6792-3C38-9F62-507B-D5FDCDDC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7" y="365125"/>
            <a:ext cx="11464213" cy="1325563"/>
          </a:xfrm>
        </p:spPr>
        <p:txBody>
          <a:bodyPr/>
          <a:lstStyle/>
          <a:p>
            <a:r>
              <a:rPr lang="en-US" dirty="0"/>
              <a:t>Point is good when you want *exact* pixel values</a:t>
            </a:r>
            <a:endParaRPr lang="en-BE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C44A5210-34F1-0750-BF2A-FFC6BD638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5" y="1640925"/>
            <a:ext cx="6203185" cy="5167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11B9E-A375-BE09-0998-F333C136981D}"/>
              </a:ext>
            </a:extLst>
          </p:cNvPr>
          <p:cNvSpPr txBox="1"/>
          <p:nvPr/>
        </p:nvSpPr>
        <p:spPr>
          <a:xfrm>
            <a:off x="7564016" y="2351314"/>
            <a:ext cx="1720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2D sprites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Fonts</a:t>
            </a:r>
          </a:p>
        </p:txBody>
      </p:sp>
    </p:spTree>
    <p:extLst>
      <p:ext uri="{BB962C8B-B14F-4D97-AF65-F5344CB8AC3E}">
        <p14:creationId xmlns:p14="http://schemas.microsoft.com/office/powerpoint/2010/main" val="1302333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FB9F-3349-62F6-F531-464C75DB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60" y="97648"/>
            <a:ext cx="10515600" cy="1325563"/>
          </a:xfrm>
        </p:spPr>
        <p:txBody>
          <a:bodyPr/>
          <a:lstStyle/>
          <a:p>
            <a:r>
              <a:rPr lang="en-US" dirty="0"/>
              <a:t>Linear is good in realistic 3D scenes</a:t>
            </a:r>
            <a:endParaRPr lang="en-BE" dirty="0"/>
          </a:p>
        </p:txBody>
      </p:sp>
      <p:pic>
        <p:nvPicPr>
          <p:cNvPr id="4" name="Picture 3" descr="A green mountain with blue sky&#10;&#10;Description automatically generated">
            <a:extLst>
              <a:ext uri="{FF2B5EF4-FFF2-40B4-BE49-F238E27FC236}">
                <a16:creationId xmlns:a16="http://schemas.microsoft.com/office/drawing/2014/main" id="{817FDC99-7C85-5D36-82CF-0540C1A4A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118"/>
            <a:ext cx="4559559" cy="2595441"/>
          </a:xfrm>
          <a:prstGeom prst="rect">
            <a:avLst/>
          </a:prstGeom>
        </p:spPr>
      </p:pic>
      <p:pic>
        <p:nvPicPr>
          <p:cNvPr id="8" name="Picture 7" descr="A green mountain with blue sky&#10;&#10;Description automatically generated">
            <a:extLst>
              <a:ext uri="{FF2B5EF4-FFF2-40B4-BE49-F238E27FC236}">
                <a16:creationId xmlns:a16="http://schemas.microsoft.com/office/drawing/2014/main" id="{5737DE24-785C-C69E-6071-D8BC507F5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559"/>
            <a:ext cx="4559559" cy="2595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409B6-97B9-5838-E5AE-420C7B9FDE07}"/>
              </a:ext>
            </a:extLst>
          </p:cNvPr>
          <p:cNvSpPr txBox="1"/>
          <p:nvPr/>
        </p:nvSpPr>
        <p:spPr>
          <a:xfrm flipH="1">
            <a:off x="5656525" y="1604165"/>
            <a:ext cx="40784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Looks higher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Above is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Below is linear 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285675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5456-72D8-9E96-111C-BBFDA6A0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BA73-6AF8-5AF1-701A-5B10590B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94" y="0"/>
            <a:ext cx="11055220" cy="1325563"/>
          </a:xfrm>
        </p:spPr>
        <p:txBody>
          <a:bodyPr/>
          <a:lstStyle/>
          <a:p>
            <a:r>
              <a:rPr lang="en-US" dirty="0"/>
              <a:t>BTW, I’m sweeping sampling under the rug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4E5530-CD1A-5A37-0F44-A84FB479C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81" y="2653764"/>
            <a:ext cx="4744112" cy="3839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48D1E-94B8-0A25-78DA-326EC98A13F5}"/>
              </a:ext>
            </a:extLst>
          </p:cNvPr>
          <p:cNvSpPr txBox="1"/>
          <p:nvPr/>
        </p:nvSpPr>
        <p:spPr>
          <a:xfrm>
            <a:off x="800877" y="987104"/>
            <a:ext cx="113157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see the gray line (and the texture) as a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Asking a value is called “Sampling”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There’s a ton of theory behind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HLSL, we create a Texture (grid of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also create a Sampler (the way in which values are calculated for our </a:t>
            </a:r>
            <a:r>
              <a:rPr lang="en-US" sz="2400" dirty="0" err="1"/>
              <a:t>uv</a:t>
            </a:r>
            <a:r>
              <a:rPr lang="en-US" sz="2400" dirty="0"/>
              <a:t> </a:t>
            </a:r>
            <a:r>
              <a:rPr lang="en-US" sz="2400" dirty="0" err="1"/>
              <a:t>coordnates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7637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7207-443F-5EBC-5AAE-76F98FFB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E9CE9-F579-DF10-9B03-3AEA8CF090D9}"/>
              </a:ext>
            </a:extLst>
          </p:cNvPr>
          <p:cNvSpPr txBox="1"/>
          <p:nvPr/>
        </p:nvSpPr>
        <p:spPr>
          <a:xfrm>
            <a:off x="678024" y="1803919"/>
            <a:ext cx="65991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 usually want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 2D, you usually want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Point filtering gives your exact pixel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Linear gives you smoother transition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157408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6B0A-5D4B-2BA3-EB29-CC143B014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Unity : Asset -&gt; Filter mode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6813F-AE71-173D-3A9A-9088FC7C7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31" y="2383041"/>
            <a:ext cx="8411749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2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A82B-1CCA-52C3-6ABC-461780DB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8552A-EDD2-5A7E-610F-6732135F024C}"/>
              </a:ext>
            </a:extLst>
          </p:cNvPr>
          <p:cNvSpPr txBox="1"/>
          <p:nvPr/>
        </p:nvSpPr>
        <p:spPr>
          <a:xfrm>
            <a:off x="590938" y="1953208"/>
            <a:ext cx="9035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Textures are used for spatially varying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1,2, and 3d. Or cubes.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used for visible color, or normal, or any other parameter</a:t>
            </a:r>
          </a:p>
        </p:txBody>
      </p:sp>
    </p:spTree>
    <p:extLst>
      <p:ext uri="{BB962C8B-B14F-4D97-AF65-F5344CB8AC3E}">
        <p14:creationId xmlns:p14="http://schemas.microsoft.com/office/powerpoint/2010/main" val="66121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189C-2230-3875-4553-DADD61B8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37" y="126411"/>
            <a:ext cx="10515600" cy="1325563"/>
          </a:xfrm>
        </p:spPr>
        <p:txBody>
          <a:bodyPr/>
          <a:lstStyle/>
          <a:p>
            <a:r>
              <a:rPr lang="en-US" dirty="0"/>
              <a:t>Problem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B209E-CA1A-0B4E-C469-2AC6E14EFB26}"/>
              </a:ext>
            </a:extLst>
          </p:cNvPr>
          <p:cNvSpPr txBox="1"/>
          <p:nvPr/>
        </p:nvSpPr>
        <p:spPr>
          <a:xfrm>
            <a:off x="634483" y="1219200"/>
            <a:ext cx="69115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want as few triangles (vertices) as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we do want the geometric detail normal give us</a:t>
            </a:r>
          </a:p>
        </p:txBody>
      </p:sp>
      <p:pic>
        <p:nvPicPr>
          <p:cNvPr id="5" name="Picture 4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F12D1BC4-2AC5-4FD0-09EA-47C58D20D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0306"/>
            <a:ext cx="11153192" cy="409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45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96C4-5C0A-17C2-AD1E-BE2EF44C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66785-30A7-2523-732E-89620915F878}"/>
              </a:ext>
            </a:extLst>
          </p:cNvPr>
          <p:cNvSpPr txBox="1"/>
          <p:nvPr/>
        </p:nvSpPr>
        <p:spPr>
          <a:xfrm>
            <a:off x="597159" y="1441872"/>
            <a:ext cx="33295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Less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Normals</a:t>
            </a:r>
            <a:r>
              <a:rPr lang="en-US" sz="2800" dirty="0"/>
              <a:t> in textures</a:t>
            </a:r>
            <a:endParaRPr lang="en-BE" sz="2800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BA19908-3635-F619-B82E-09707132A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708031"/>
            <a:ext cx="8649193" cy="414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22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375A-2329-5ABE-30CC-F1AB2FD4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Wait, don’t we have more data now?</a:t>
            </a:r>
            <a:endParaRPr lang="en-BE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8F25698-E6A1-2217-7775-96D9F13A6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50" y="1807986"/>
            <a:ext cx="8649193" cy="414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27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5D0B-744B-1EB8-D8F3-B9B26C150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30252"/>
            <a:ext cx="10515600" cy="1325563"/>
          </a:xfrm>
        </p:spPr>
        <p:txBody>
          <a:bodyPr/>
          <a:lstStyle/>
          <a:p>
            <a:r>
              <a:rPr lang="en-US" dirty="0"/>
              <a:t>Yes… but no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EF7C1-5C33-6F43-2199-AB96AC63CEBE}"/>
              </a:ext>
            </a:extLst>
          </p:cNvPr>
          <p:cNvSpPr txBox="1"/>
          <p:nvPr/>
        </p:nvSpPr>
        <p:spPr>
          <a:xfrm>
            <a:off x="435429" y="1374711"/>
            <a:ext cx="1126135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Mesh LOD is per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 LOD is per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have more data in the texture, but we may read less of it in a draw call</a:t>
            </a:r>
            <a:endParaRPr lang="en-BE" sz="2800" dirty="0"/>
          </a:p>
        </p:txBody>
      </p:sp>
      <p:pic>
        <p:nvPicPr>
          <p:cNvPr id="6" name="Picture 5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40180510-AE62-B4B8-C89B-16916476B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538" y="2935202"/>
            <a:ext cx="8393650" cy="33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12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C6DD-3EC4-711E-756C-0D70365B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6E56-D60E-AC55-266B-24E0C262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30252"/>
            <a:ext cx="10515600" cy="1325563"/>
          </a:xfrm>
        </p:spPr>
        <p:txBody>
          <a:bodyPr/>
          <a:lstStyle/>
          <a:p>
            <a:r>
              <a:rPr lang="en-US" dirty="0"/>
              <a:t>Yes… but no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98A9E-1730-9B57-B469-4DA5C46CB10F}"/>
              </a:ext>
            </a:extLst>
          </p:cNvPr>
          <p:cNvSpPr txBox="1"/>
          <p:nvPr/>
        </p:nvSpPr>
        <p:spPr>
          <a:xfrm>
            <a:off x="435429" y="1374711"/>
            <a:ext cx="38724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Mesh LOD is per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 LOD is per pixel</a:t>
            </a:r>
            <a:endParaRPr lang="en-BE" sz="2800" dirty="0"/>
          </a:p>
        </p:txBody>
      </p:sp>
      <p:pic>
        <p:nvPicPr>
          <p:cNvPr id="5" name="Picture 4" descr="A black and white checkered surface with a rainbow&#10;&#10;Description automatically generated">
            <a:extLst>
              <a:ext uri="{FF2B5EF4-FFF2-40B4-BE49-F238E27FC236}">
                <a16:creationId xmlns:a16="http://schemas.microsoft.com/office/drawing/2014/main" id="{1B76BAB9-24B1-6D5D-9396-CBFC20B38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492" y="3054220"/>
            <a:ext cx="6427959" cy="3213979"/>
          </a:xfrm>
          <a:prstGeom prst="rect">
            <a:avLst/>
          </a:prstGeom>
        </p:spPr>
      </p:pic>
      <p:pic>
        <p:nvPicPr>
          <p:cNvPr id="8" name="Picture 7" descr="A group of squares in different sizes&#10;&#10;Description automatically generated">
            <a:extLst>
              <a:ext uri="{FF2B5EF4-FFF2-40B4-BE49-F238E27FC236}">
                <a16:creationId xmlns:a16="http://schemas.microsoft.com/office/drawing/2014/main" id="{434DEF51-21E2-D2B5-F960-E874A143F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3" y="3164341"/>
            <a:ext cx="48768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93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2E79-4376-BFC6-B231-16906290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tally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02B8A-0354-DAE7-9682-69005CC3F3A7}"/>
              </a:ext>
            </a:extLst>
          </p:cNvPr>
          <p:cNvSpPr txBox="1"/>
          <p:nvPr/>
        </p:nvSpPr>
        <p:spPr>
          <a:xfrm>
            <a:off x="702906" y="2152261"/>
            <a:ext cx="842711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More data on disk (in most 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Maybe more in RAM (if all </a:t>
            </a:r>
            <a:r>
              <a:rPr lang="en-US" sz="2800" dirty="0" err="1"/>
              <a:t>mips</a:t>
            </a:r>
            <a:r>
              <a:rPr lang="en-US" sz="2800" dirty="0"/>
              <a:t> are loaded are loaded)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Maybe less in ram (with advanced texture streaming)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important : less read from RAM (“</a:t>
            </a:r>
            <a:r>
              <a:rPr lang="en-US" sz="2800" dirty="0" err="1"/>
              <a:t>fillrate</a:t>
            </a:r>
            <a:r>
              <a:rPr lang="en-US" sz="2800" dirty="0"/>
              <a:t>”)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104829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4B69-0FCB-2325-F569-9C45C868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64" y="433549"/>
            <a:ext cx="10515600" cy="1325563"/>
          </a:xfrm>
        </p:spPr>
        <p:txBody>
          <a:bodyPr/>
          <a:lstStyle/>
          <a:p>
            <a:r>
              <a:rPr lang="en-US" dirty="0"/>
              <a:t>Creating normal maps</a:t>
            </a:r>
            <a:endParaRPr lang="en-BE" dirty="0"/>
          </a:p>
        </p:txBody>
      </p:sp>
      <p:pic>
        <p:nvPicPr>
          <p:cNvPr id="11" name="Picture 10" descr="A pair of cylinder shaped objects&#10;&#10;Description automatically generated">
            <a:extLst>
              <a:ext uri="{FF2B5EF4-FFF2-40B4-BE49-F238E27FC236}">
                <a16:creationId xmlns:a16="http://schemas.microsoft.com/office/drawing/2014/main" id="{DD8A039E-546C-B486-A669-EF4CA486E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34" y="1532836"/>
            <a:ext cx="7605050" cy="532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68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05FF-6593-6D2A-EF06-A071F7DE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a normal map</a:t>
            </a:r>
            <a:endParaRPr lang="en-B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26F200-617D-287F-0075-106C60833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669" y="1940767"/>
            <a:ext cx="11428543" cy="40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21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B873-9AD6-DDB3-7B85-AD8886EB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 normal map</a:t>
            </a:r>
            <a:endParaRPr lang="en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A3DD77-2C41-FE3B-D36F-5A5260A40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701" y="2326433"/>
            <a:ext cx="11333230" cy="40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61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0E5E-586B-AA1A-691A-3DFBB74E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119B-157A-67A1-3571-FF473EF6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</a:t>
            </a:r>
            <a:endParaRPr lang="en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7E8BAC5-4DEC-3806-E5FA-1D384AD09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701" y="2326433"/>
            <a:ext cx="11333230" cy="40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5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BE28-B98B-1CA1-5B5A-1F8EDD84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BE" dirty="0"/>
          </a:p>
        </p:txBody>
      </p:sp>
      <p:pic>
        <p:nvPicPr>
          <p:cNvPr id="4" name="Picture 3" descr="A blue background with text&#10;&#10;Description automatically generated">
            <a:extLst>
              <a:ext uri="{FF2B5EF4-FFF2-40B4-BE49-F238E27FC236}">
                <a16:creationId xmlns:a16="http://schemas.microsoft.com/office/drawing/2014/main" id="{066B31D3-0B89-8DA2-AA3C-0F81CCEC6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9" y="2251788"/>
            <a:ext cx="3920582" cy="3920582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874134-F943-8CCA-9D96-2C66DC5CE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544" y="2189583"/>
            <a:ext cx="7007090" cy="372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49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0653-953D-2F3D-869E-53CA69CA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someone explain why it’s purple?</a:t>
            </a:r>
            <a:endParaRPr lang="en-BE" dirty="0"/>
          </a:p>
        </p:txBody>
      </p:sp>
      <p:pic>
        <p:nvPicPr>
          <p:cNvPr id="3" name="Picture 2" descr="A blue background with text&#10;&#10;Description automatically generated">
            <a:extLst>
              <a:ext uri="{FF2B5EF4-FFF2-40B4-BE49-F238E27FC236}">
                <a16:creationId xmlns:a16="http://schemas.microsoft.com/office/drawing/2014/main" id="{9B5D1E66-3ABC-6520-22BA-6F53A4088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99" y="2139820"/>
            <a:ext cx="4353055" cy="435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614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FDE3-F953-8A37-3820-DF92499D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39" y="78286"/>
            <a:ext cx="10515600" cy="1325563"/>
          </a:xfrm>
        </p:spPr>
        <p:txBody>
          <a:bodyPr/>
          <a:lstStyle/>
          <a:p>
            <a:r>
              <a:rPr lang="en-US" dirty="0"/>
              <a:t>Another technique: displacement mapping Same amount of triangles!</a:t>
            </a:r>
            <a:endParaRPr lang="en-BE" dirty="0"/>
          </a:p>
        </p:txBody>
      </p:sp>
      <p:pic>
        <p:nvPicPr>
          <p:cNvPr id="4" name="Picture 3" descr="A stone wall with a blue sky&#10;&#10;Description automatically generated">
            <a:extLst>
              <a:ext uri="{FF2B5EF4-FFF2-40B4-BE49-F238E27FC236}">
                <a16:creationId xmlns:a16="http://schemas.microsoft.com/office/drawing/2014/main" id="{85A2C479-8EB8-934F-549A-D760E3AB8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7596"/>
            <a:ext cx="8624236" cy="2820202"/>
          </a:xfrm>
          <a:prstGeom prst="rect">
            <a:avLst/>
          </a:prstGeom>
        </p:spPr>
      </p:pic>
      <p:pic>
        <p:nvPicPr>
          <p:cNvPr id="6" name="Picture 5" descr="A stone wall with a blue sky&#10;&#10;Description automatically generated">
            <a:extLst>
              <a:ext uri="{FF2B5EF4-FFF2-40B4-BE49-F238E27FC236}">
                <a16:creationId xmlns:a16="http://schemas.microsoft.com/office/drawing/2014/main" id="{9CDE1F21-A8A6-4243-9D64-8327C01C7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7798"/>
            <a:ext cx="8624236" cy="282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767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A82B-1CCA-52C3-6ABC-461780DB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8552A-EDD2-5A7E-610F-6732135F024C}"/>
              </a:ext>
            </a:extLst>
          </p:cNvPr>
          <p:cNvSpPr txBox="1"/>
          <p:nvPr/>
        </p:nvSpPr>
        <p:spPr>
          <a:xfrm>
            <a:off x="590938" y="1953208"/>
            <a:ext cx="9035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Textures are used for spatially varying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1,2, and 3d. Or cubes.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used for visible color, or normal, or any other parameter</a:t>
            </a:r>
          </a:p>
        </p:txBody>
      </p:sp>
    </p:spTree>
    <p:extLst>
      <p:ext uri="{BB962C8B-B14F-4D97-AF65-F5344CB8AC3E}">
        <p14:creationId xmlns:p14="http://schemas.microsoft.com/office/powerpoint/2010/main" val="1222609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5785-1A60-E957-5F06-2FB2F160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E26AD-AFC5-8E33-C5E6-454F231D6F36}"/>
              </a:ext>
            </a:extLst>
          </p:cNvPr>
          <p:cNvSpPr txBox="1"/>
          <p:nvPr/>
        </p:nvSpPr>
        <p:spPr>
          <a:xfrm>
            <a:off x="838200" y="1690688"/>
            <a:ext cx="3951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Postprocess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going to be a fun one</a:t>
            </a:r>
            <a:endParaRPr lang="en-BE" sz="2400" dirty="0"/>
          </a:p>
        </p:txBody>
      </p:sp>
      <p:pic>
        <p:nvPicPr>
          <p:cNvPr id="5" name="Picture 4" descr="A green lit building with a tower and fire&#10;&#10;Description automatically generated">
            <a:extLst>
              <a:ext uri="{FF2B5EF4-FFF2-40B4-BE49-F238E27FC236}">
                <a16:creationId xmlns:a16="http://schemas.microsoft.com/office/drawing/2014/main" id="{5F686E0E-ECF6-E878-2C0C-47E9880F7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95" y="2521684"/>
            <a:ext cx="7709004" cy="433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24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25471</TotalTime>
  <Words>996</Words>
  <Application>Microsoft Office PowerPoint</Application>
  <PresentationFormat>Widescreen</PresentationFormat>
  <Paragraphs>182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Calibri Light</vt:lpstr>
      <vt:lpstr>Cascadia Mono</vt:lpstr>
      <vt:lpstr>Tahoma</vt:lpstr>
      <vt:lpstr>Wingdings</vt:lpstr>
      <vt:lpstr>Kantoorthema</vt:lpstr>
      <vt:lpstr>PowerPoint Presentation</vt:lpstr>
      <vt:lpstr>Last class</vt:lpstr>
      <vt:lpstr>Course schedule</vt:lpstr>
      <vt:lpstr>This class</vt:lpstr>
      <vt:lpstr>Textures</vt:lpstr>
      <vt:lpstr>Textures </vt:lpstr>
      <vt:lpstr>Textures : 2D grid of colors</vt:lpstr>
      <vt:lpstr>Spatially varying</vt:lpstr>
      <vt:lpstr>PowerPoint Presentation</vt:lpstr>
      <vt:lpstr>PowerPoint Presentation</vt:lpstr>
      <vt:lpstr>In code</vt:lpstr>
      <vt:lpstr>Why not put this information in a vertex?</vt:lpstr>
      <vt:lpstr>Any questions?</vt:lpstr>
      <vt:lpstr>We just saw 2D textures as an example</vt:lpstr>
      <vt:lpstr>Texture 1D</vt:lpstr>
      <vt:lpstr>Texture 1D example: blackbody</vt:lpstr>
      <vt:lpstr>Texture3D</vt:lpstr>
      <vt:lpstr>PowerPoint Presentation</vt:lpstr>
      <vt:lpstr>TextureCube</vt:lpstr>
      <vt:lpstr>PowerPoint Presentation</vt:lpstr>
      <vt:lpstr>We said UV’s typically go 0.0-&gt;1.0</vt:lpstr>
      <vt:lpstr>Wrap and mirror</vt:lpstr>
      <vt:lpstr>Clamp and border</vt:lpstr>
      <vt:lpstr>In unity, you can find this on your asset</vt:lpstr>
      <vt:lpstr>Is everything clear?</vt:lpstr>
      <vt:lpstr>Textures have some problems</vt:lpstr>
      <vt:lpstr>Solution</vt:lpstr>
      <vt:lpstr>We don’t use this directly (in this course)</vt:lpstr>
      <vt:lpstr>Texture nuances</vt:lpstr>
      <vt:lpstr>Our uv / texcoords are floats</vt:lpstr>
      <vt:lpstr>You probably said black</vt:lpstr>
      <vt:lpstr>We can also try to make a smoother transition</vt:lpstr>
      <vt:lpstr>Point is good when you want *exact* pixel values</vt:lpstr>
      <vt:lpstr>Linear is good in realistic 3D scenes</vt:lpstr>
      <vt:lpstr>BTW, I’m sweeping sampling under the rug</vt:lpstr>
      <vt:lpstr>Recap</vt:lpstr>
      <vt:lpstr>In Unity : Asset -&gt; Filter mode</vt:lpstr>
      <vt:lpstr>Recap</vt:lpstr>
      <vt:lpstr>Problem</vt:lpstr>
      <vt:lpstr>Solution</vt:lpstr>
      <vt:lpstr>Wait, don’t we have more data now?</vt:lpstr>
      <vt:lpstr>Yes… but no</vt:lpstr>
      <vt:lpstr>Yes… but no</vt:lpstr>
      <vt:lpstr>Final tally</vt:lpstr>
      <vt:lpstr>Creating normal maps</vt:lpstr>
      <vt:lpstr>Without a normal map</vt:lpstr>
      <vt:lpstr>With a normal map</vt:lpstr>
      <vt:lpstr>Norm</vt:lpstr>
      <vt:lpstr>Result</vt:lpstr>
      <vt:lpstr>Can someone explain why it’s purple?</vt:lpstr>
      <vt:lpstr>Another technique: displacement mapping Same amount of triangles!</vt:lpstr>
      <vt:lpstr>Recap</vt:lpstr>
      <vt:lpstr>Next class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63</cp:revision>
  <dcterms:created xsi:type="dcterms:W3CDTF">2024-01-29T23:06:06Z</dcterms:created>
  <dcterms:modified xsi:type="dcterms:W3CDTF">2025-03-18T14:45:57Z</dcterms:modified>
</cp:coreProperties>
</file>