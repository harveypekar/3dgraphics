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502" r:id="rId3"/>
    <p:sldId id="625" r:id="rId4"/>
    <p:sldId id="364" r:id="rId5"/>
    <p:sldId id="582" r:id="rId6"/>
    <p:sldId id="601" r:id="rId7"/>
    <p:sldId id="602" r:id="rId8"/>
    <p:sldId id="603" r:id="rId9"/>
    <p:sldId id="604" r:id="rId10"/>
    <p:sldId id="605" r:id="rId11"/>
    <p:sldId id="606" r:id="rId12"/>
    <p:sldId id="607" r:id="rId13"/>
    <p:sldId id="608" r:id="rId14"/>
    <p:sldId id="609" r:id="rId15"/>
    <p:sldId id="610" r:id="rId16"/>
    <p:sldId id="611" r:id="rId17"/>
    <p:sldId id="612" r:id="rId18"/>
    <p:sldId id="613" r:id="rId19"/>
    <p:sldId id="614" r:id="rId20"/>
    <p:sldId id="615" r:id="rId21"/>
    <p:sldId id="616" r:id="rId22"/>
    <p:sldId id="617" r:id="rId23"/>
    <p:sldId id="618" r:id="rId24"/>
    <p:sldId id="622" r:id="rId25"/>
    <p:sldId id="624" r:id="rId26"/>
    <p:sldId id="619" r:id="rId27"/>
    <p:sldId id="620" r:id="rId28"/>
    <p:sldId id="621" r:id="rId29"/>
    <p:sldId id="600" r:id="rId30"/>
    <p:sldId id="542" r:id="rId3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0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7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471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helicopter obviously has his rotor (the part that moves at the top) moving. But why does it appear the rotor stays still? Think about it for a second before moving on to the next slide.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77920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highlighted one of the blades in red, to make it easier to see what’s going on</a:t>
            </a:r>
          </a:p>
          <a:p>
            <a:endParaRPr lang="en-US" dirty="0"/>
          </a:p>
          <a:p>
            <a:r>
              <a:rPr lang="en-US" dirty="0"/>
              <a:t>Above shoves the rotor turning, as it would when we observe it directly (not on video)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07722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Above, we still have the helicopter as we look at it in real life</a:t>
            </a:r>
          </a:p>
          <a:p>
            <a:endParaRPr lang="en-US" dirty="0"/>
          </a:p>
          <a:p>
            <a:r>
              <a:rPr lang="en-US" dirty="0"/>
              <a:t>Beneath, I’ve visualized what a camera would see. A camera works like a display, capturing tens of images every second</a:t>
            </a:r>
          </a:p>
          <a:p>
            <a:endParaRPr lang="en-US" dirty="0"/>
          </a:p>
          <a:p>
            <a:r>
              <a:rPr lang="en-US" dirty="0"/>
              <a:t>We see that it captures the same image twice, due to the time for the rotor to rotate 360 degrees being the same as the time between two </a:t>
            </a:r>
            <a:r>
              <a:rPr lang="en-US" dirty="0" err="1"/>
              <a:t>frmaes</a:t>
            </a:r>
            <a:r>
              <a:rPr lang="en-US" dirty="0"/>
              <a:t>. In a movie, it would looks like the helicopter doesn’t move at all</a:t>
            </a:r>
          </a:p>
          <a:p>
            <a:endParaRPr lang="en-US" dirty="0"/>
          </a:p>
          <a:p>
            <a:r>
              <a:rPr lang="en-US" dirty="0"/>
              <a:t>Aliasing put very, very simply is when we “show something different than what it really is”</a:t>
            </a:r>
          </a:p>
          <a:p>
            <a:endParaRPr lang="en-US" dirty="0"/>
          </a:p>
          <a:p>
            <a:r>
              <a:rPr lang="en-US" dirty="0"/>
              <a:t>In this case, we’re showing a helicopter with a rotor that doesn’t move, while in reality, the rotor is moving very fast.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4058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  <a:p>
            <a:endParaRPr lang="en-US" dirty="0"/>
          </a:p>
          <a:p>
            <a:r>
              <a:rPr lang="en-US" dirty="0"/>
              <a:t>Here, in reality, the rotor is turning counterclockwise</a:t>
            </a:r>
          </a:p>
          <a:p>
            <a:r>
              <a:rPr lang="en-US" dirty="0"/>
              <a:t>But for the camera, it’s turning clockwise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896476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shows the angle of that single blade over time, going from 0 to 360 degrees. It’s choppy as it jumps from 360 -&gt; 0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68609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in magenta, the arrows are the times that the camera captures the rotor, and the dots are the rotation the rotor is at when the camera takes a picture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05154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 it what the rotation over time looks like for the camera. Again, almost no rotation, even though the actual rotation (in black)  happens fast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626186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41516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480791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There’s another </a:t>
            </a:r>
            <a:r>
              <a:rPr lang="en-US" dirty="0" err="1"/>
              <a:t>powerpoint</a:t>
            </a:r>
            <a:r>
              <a:rPr lang="en-US" dirty="0"/>
              <a:t> this class, that ends in _fr. Check that one now, and come back here when you’re done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98926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example how the typical jagged staircase happens. The curve is too complicated for the resolution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6268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here. If something covers the center of a pixels, it turns into a square pixel of that color. But the results looks nothing like the original. The triangles are too small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284222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in the front, we have enough pixels to show the checkered pattern. In the distance, we suddenly start skipping checks, and the whole pattern breaks apart.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011891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659467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281853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554042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328651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38440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8061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look to long at the image, it’s a bad one. Just remember TAA works by looking at multiple frame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367589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618302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hope you agree the right looks better</a:t>
            </a:r>
          </a:p>
          <a:p>
            <a:r>
              <a:rPr lang="en-US" dirty="0"/>
              <a:t>The right one is more correct because it more accurately represents the checkers: gray in the distance, because the squares blend together (white and black blended is gray). The left shows a weird, wavy checkers that is wrong.</a:t>
            </a:r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184653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texture has an array of smaller textures, aka ‘</a:t>
            </a:r>
            <a:r>
              <a:rPr lang="en-US" dirty="0" err="1"/>
              <a:t>mips</a:t>
            </a:r>
            <a:r>
              <a:rPr lang="en-US" dirty="0"/>
              <a:t>’. When the texture is being far away (with too much detail), it uses one of the smaller (blurrier) </a:t>
            </a:r>
            <a:r>
              <a:rPr lang="en-US" dirty="0" err="1"/>
              <a:t>mips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9472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also do this with meshes, but it’s simpler. We have a bunch of models with different triangle counts. When rendering, we choose the most appropriate one based on the distance between the model and the camera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337242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7078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89639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jp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7: Aliasing 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D23-D77C-70B3-2CC3-3B963972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DA8D2-CA6D-2610-89CE-68DEF02CC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604" y="-70303"/>
            <a:ext cx="10515600" cy="1325563"/>
          </a:xfrm>
        </p:spPr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33C93-BDDA-E53E-45B8-D25FB21FD02C}"/>
              </a:ext>
            </a:extLst>
          </p:cNvPr>
          <p:cNvSpPr txBox="1"/>
          <p:nvPr/>
        </p:nvSpPr>
        <p:spPr>
          <a:xfrm>
            <a:off x="595604" y="1087309"/>
            <a:ext cx="54295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Normal maps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49BFB2-00F0-0345-19B8-69CA94A33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770" y="2683460"/>
            <a:ext cx="3263692" cy="1932083"/>
          </a:xfrm>
          <a:prstGeom prst="rect">
            <a:avLst/>
          </a:prstGeom>
        </p:spPr>
      </p:pic>
      <p:pic>
        <p:nvPicPr>
          <p:cNvPr id="6" name="Picture 5" descr="A blue background with text&#10;&#10;Description automatically generated">
            <a:extLst>
              <a:ext uri="{FF2B5EF4-FFF2-40B4-BE49-F238E27FC236}">
                <a16:creationId xmlns:a16="http://schemas.microsoft.com/office/drawing/2014/main" id="{D4A8B062-7D1B-BFD0-D2DB-FD55A2186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7418"/>
            <a:ext cx="3920582" cy="39205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4C7471-04F0-826C-32DC-FA139E928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582" y="923097"/>
            <a:ext cx="4848902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27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696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EA932E-E82B-0F40-395E-38460627F1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43296"/>
              </p:ext>
            </p:extLst>
          </p:nvPr>
        </p:nvGraphicFramePr>
        <p:xfrm>
          <a:off x="5012846" y="101819"/>
          <a:ext cx="6659792" cy="6846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7950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830921">
                  <a:extLst>
                    <a:ext uri="{9D8B030D-6E8A-4147-A177-3AD203B41FA5}">
                      <a16:colId xmlns:a16="http://schemas.microsoft.com/office/drawing/2014/main" val="1002713060"/>
                    </a:ext>
                  </a:extLst>
                </a:gridCol>
                <a:gridCol w="2830921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440348"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Wed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591760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567694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 / Presentations</a:t>
                      </a:r>
                      <a:endParaRPr lang="en-B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09835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Forward rendering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pipeline:</a:t>
                      </a:r>
                      <a:br>
                        <a:rPr lang="en-US" dirty="0"/>
                      </a:br>
                      <a:r>
                        <a:rPr lang="en-US" dirty="0"/>
                        <a:t>Deferred rendering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771178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 Processing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527618">
                <a:tc>
                  <a:txBody>
                    <a:bodyPr/>
                    <a:lstStyle/>
                    <a:p>
                      <a:r>
                        <a:rPr lang="en-US" dirty="0"/>
                        <a:t>Week 10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440348">
                <a:tc>
                  <a:txBody>
                    <a:bodyPr/>
                    <a:lstStyle/>
                    <a:p>
                      <a:r>
                        <a:rPr lang="en-US" dirty="0"/>
                        <a:t>Week 11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7F2239F-9E21-9D30-9311-23FF7A1A3E6B}"/>
              </a:ext>
            </a:extLst>
          </p:cNvPr>
          <p:cNvSpPr/>
          <p:nvPr/>
        </p:nvSpPr>
        <p:spPr>
          <a:xfrm>
            <a:off x="8880227" y="3777230"/>
            <a:ext cx="2301551" cy="80171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2811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Temporal aliasing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Anti – Aliasing</a:t>
            </a: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B2FE3-57DC-D8EA-3558-14C67926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aliasing</a:t>
            </a:r>
            <a:endParaRPr lang="en-BE" dirty="0"/>
          </a:p>
        </p:txBody>
      </p:sp>
      <p:pic>
        <p:nvPicPr>
          <p:cNvPr id="7" name="Picture 6" descr="A helicopter flying in the sky&#10;&#10;Description automatically generated">
            <a:extLst>
              <a:ext uri="{FF2B5EF4-FFF2-40B4-BE49-F238E27FC236}">
                <a16:creationId xmlns:a16="http://schemas.microsoft.com/office/drawing/2014/main" id="{D426A1E7-49D8-8ABC-A913-5FC9B719C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143" y="1690688"/>
            <a:ext cx="6621020" cy="496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33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93E6-EB82-367B-74F4-8DDC0A8FC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Rotor does rotate over time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A29113-6D01-AAE3-FEF0-F9F914CD6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98367"/>
            <a:ext cx="12192000" cy="206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00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667BC-E65C-EBE3-5FE7-7E1FF877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capture (sample) at different times (and get unlucky)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934D79-DF06-20AC-C0D1-197ADE9DE9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210" y="1631898"/>
            <a:ext cx="9415579" cy="49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963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93E6-EB82-367B-74F4-8DDC0A8FC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 could appear to go backward as well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56CE46-A982-4F02-ADB2-F56C4CB93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117" y="1690688"/>
            <a:ext cx="8240383" cy="4900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187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E6A53-5F62-73BD-DE8F-AAEDD1086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09849" cy="1325563"/>
          </a:xfrm>
        </p:spPr>
        <p:txBody>
          <a:bodyPr/>
          <a:lstStyle/>
          <a:p>
            <a:r>
              <a:rPr lang="en-US" dirty="0"/>
              <a:t>We can draw the rotation as a function of time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C73A2D-9138-BFC7-6CE0-8C668D77A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26" y="2066088"/>
            <a:ext cx="11094720" cy="4791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524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FDBF7-F093-FF5E-B5D1-D72A05EED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1144"/>
            <a:ext cx="10922391" cy="1325563"/>
          </a:xfrm>
        </p:spPr>
        <p:txBody>
          <a:bodyPr/>
          <a:lstStyle/>
          <a:p>
            <a:r>
              <a:rPr lang="en-US" dirty="0"/>
              <a:t>We sample this function (sample = get 1 value) 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FFF7F4-FA19-D1ED-CACD-BC24BE83F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73241"/>
            <a:ext cx="10466363" cy="4884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14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3914-694A-80CA-A04F-377BDF55B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get a new function (a reconstruction)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9A80E2-5740-F871-F1C8-52BADA7FF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39" y="2151561"/>
            <a:ext cx="10193173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38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194CC-EC76-82E1-6B16-CB88806D2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725" y="0"/>
            <a:ext cx="10515600" cy="1325563"/>
          </a:xfrm>
        </p:spPr>
        <p:txBody>
          <a:bodyPr/>
          <a:lstStyle/>
          <a:p>
            <a:r>
              <a:rPr lang="en-US" dirty="0"/>
              <a:t>And it’s totally wrong!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0608EE-DF76-F28C-89C0-ABFC0B553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39" y="2151561"/>
            <a:ext cx="10193173" cy="44583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819E6D-0CAF-CCA0-F7B9-31C46DC77885}"/>
              </a:ext>
            </a:extLst>
          </p:cNvPr>
          <p:cNvSpPr txBox="1"/>
          <p:nvPr/>
        </p:nvSpPr>
        <p:spPr>
          <a:xfrm>
            <a:off x="1427871" y="1325563"/>
            <a:ext cx="69581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don’t take enough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get a function that is aliasing the </a:t>
            </a:r>
            <a:r>
              <a:rPr lang="en-US" sz="2400"/>
              <a:t>actual function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97583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Temporal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Aliasing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Anti – Aliasing</a:t>
            </a:r>
          </a:p>
        </p:txBody>
      </p:sp>
    </p:spTree>
    <p:extLst>
      <p:ext uri="{BB962C8B-B14F-4D97-AF65-F5344CB8AC3E}">
        <p14:creationId xmlns:p14="http://schemas.microsoft.com/office/powerpoint/2010/main" val="1138578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287F9-634F-9469-1542-F0A7AB846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 show foveation deck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04204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FB083-C419-DB64-5E03-D69A78C6E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staircasing</a:t>
            </a:r>
            <a:endParaRPr lang="en-BE" dirty="0"/>
          </a:p>
        </p:txBody>
      </p:sp>
      <p:pic>
        <p:nvPicPr>
          <p:cNvPr id="4" name="Picture 3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492621D-4C4F-50D5-6A40-42B04CADC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0" y="1816399"/>
            <a:ext cx="7556500" cy="5041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785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A2994-D19C-F841-EBE7-E30164A2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 much geometric detail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33127AF9-AF0F-6DE5-B517-15A93C98D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67237"/>
            <a:ext cx="7480300" cy="499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67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EEC4D-9515-31CE-6962-F9334AC4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 much texture detail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B56B2DC6-0F8F-7488-529E-6AA1065B7C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89298"/>
            <a:ext cx="7747000" cy="5168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554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89900" y="1690689"/>
            <a:ext cx="8726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Temporal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Anti – Aliasing </a:t>
            </a:r>
          </a:p>
        </p:txBody>
      </p:sp>
    </p:spTree>
    <p:extLst>
      <p:ext uri="{BB962C8B-B14F-4D97-AF65-F5344CB8AC3E}">
        <p14:creationId xmlns:p14="http://schemas.microsoft.com/office/powerpoint/2010/main" val="9344048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3622E-F11F-D51E-F0EA-1F01DBC6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Anti - Aliasing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A7EC3D-4947-B35E-5914-2D57E68F6A8F}"/>
              </a:ext>
            </a:extLst>
          </p:cNvPr>
          <p:cNvSpPr txBox="1"/>
          <p:nvPr/>
        </p:nvSpPr>
        <p:spPr>
          <a:xfrm>
            <a:off x="541176" y="1393371"/>
            <a:ext cx="862620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never remove aliasing completely without sampling more</a:t>
            </a:r>
            <a:br>
              <a:rPr lang="en-US" sz="2400" dirty="0"/>
            </a:br>
            <a:r>
              <a:rPr lang="en-US" sz="2400" dirty="0"/>
              <a:t>Why?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avoid the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remove the </a:t>
            </a:r>
            <a:r>
              <a:rPr lang="en-US" sz="2400" dirty="0" err="1"/>
              <a:t>reslting</a:t>
            </a:r>
            <a:r>
              <a:rPr lang="en-US" sz="2400" dirty="0"/>
              <a:t> issues </a:t>
            </a:r>
          </a:p>
        </p:txBody>
      </p:sp>
    </p:spTree>
    <p:extLst>
      <p:ext uri="{BB962C8B-B14F-4D97-AF65-F5344CB8AC3E}">
        <p14:creationId xmlns:p14="http://schemas.microsoft.com/office/powerpoint/2010/main" val="3446159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3622E-F11F-D51E-F0EA-1F01DBC6D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Anti - Aliasing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A7EC3D-4947-B35E-5914-2D57E68F6A8F}"/>
              </a:ext>
            </a:extLst>
          </p:cNvPr>
          <p:cNvSpPr txBox="1"/>
          <p:nvPr/>
        </p:nvSpPr>
        <p:spPr>
          <a:xfrm>
            <a:off x="1038809" y="1785257"/>
            <a:ext cx="676819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Varying techniques that help our renderer alias less</a:t>
            </a:r>
          </a:p>
          <a:p>
            <a:r>
              <a:rPr lang="en-US" sz="2400" dirty="0"/>
              <a:t>Some can coexist (LODing is almost always done)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Supersampling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MSAA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FXAA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TAA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LOD’s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72219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83B2-8443-FE7D-2306-98B9C0A0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Supersampling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FF3A06-FD1A-CC7E-E025-A27799062ED4}"/>
              </a:ext>
            </a:extLst>
          </p:cNvPr>
          <p:cNvSpPr txBox="1"/>
          <p:nvPr/>
        </p:nvSpPr>
        <p:spPr>
          <a:xfrm>
            <a:off x="422987" y="1592425"/>
            <a:ext cx="597077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Render at a higher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Downsample</a:t>
            </a:r>
            <a:r>
              <a:rPr lang="en-US" sz="2800" dirty="0"/>
              <a:t> to display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Eg</a:t>
            </a:r>
            <a:r>
              <a:rPr lang="en-US" sz="2800" dirty="0"/>
              <a:t> display is 1920 x 1080 </a:t>
            </a:r>
            <a:r>
              <a:rPr lang="en-US" sz="2800" dirty="0">
                <a:sym typeface="Wingdings" panose="05000000000000000000" pitchFamily="2" charset="2"/>
              </a:rPr>
              <a:t> render at 3840 x 2160 (4 samples per pixels)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Works very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Very expensive and wasteful (most pixels don’t need more samples)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Pixar does this (thousands of samples per pixel)</a:t>
            </a:r>
          </a:p>
        </p:txBody>
      </p:sp>
      <p:pic>
        <p:nvPicPr>
          <p:cNvPr id="5" name="Picture 4" descr="A diagram of a black and white striped pattern&#10;&#10;Description automatically generated">
            <a:extLst>
              <a:ext uri="{FF2B5EF4-FFF2-40B4-BE49-F238E27FC236}">
                <a16:creationId xmlns:a16="http://schemas.microsoft.com/office/drawing/2014/main" id="{2100D0C7-8AFF-D0F2-F105-84807776B5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816" y="1724165"/>
            <a:ext cx="4942449" cy="370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65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B45DA-C470-7F09-5167-4DB55A103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MSAA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511C7-8C4C-6107-FBEA-BC6056423DEB}"/>
              </a:ext>
            </a:extLst>
          </p:cNvPr>
          <p:cNvSpPr txBox="1"/>
          <p:nvPr/>
        </p:nvSpPr>
        <p:spPr>
          <a:xfrm>
            <a:off x="553617" y="1690688"/>
            <a:ext cx="52473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Multi sample antialiasing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More samples at the edge of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Works well with staircasing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“more samples where we need them”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Fragment shader run for each object!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Doesn’t work with modern pipelines</a:t>
            </a:r>
            <a:endParaRPr lang="en-BE" sz="2400" dirty="0"/>
          </a:p>
        </p:txBody>
      </p:sp>
      <p:pic>
        <p:nvPicPr>
          <p:cNvPr id="5" name="Picture 4" descr="A blue and black lines with black dots&#10;&#10;Description automatically generated">
            <a:extLst>
              <a:ext uri="{FF2B5EF4-FFF2-40B4-BE49-F238E27FC236}">
                <a16:creationId xmlns:a16="http://schemas.microsoft.com/office/drawing/2014/main" id="{4EFD8B96-AE45-F636-A809-3752D832F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6085" y="3429000"/>
            <a:ext cx="621591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793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FCF81-7261-99F7-A459-3BCEAD4AE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FXAA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80116-EBDB-91AD-8FAF-D1EB539E06C8}"/>
              </a:ext>
            </a:extLst>
          </p:cNvPr>
          <p:cNvSpPr txBox="1"/>
          <p:nvPr/>
        </p:nvSpPr>
        <p:spPr>
          <a:xfrm>
            <a:off x="528735" y="1647145"/>
            <a:ext cx="511338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Full screen pass (post process)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Doesn’t avoid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Tries to hide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“edge </a:t>
            </a:r>
            <a:r>
              <a:rPr lang="en-US" sz="2400" dirty="0" err="1"/>
              <a:t>blurrer</a:t>
            </a:r>
            <a:r>
              <a:rPr lang="en-US" sz="2400" dirty="0"/>
              <a:t>” : how does blur work?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Easy and cheap</a:t>
            </a:r>
            <a:endParaRPr lang="en-BE" sz="2400" dirty="0"/>
          </a:p>
        </p:txBody>
      </p:sp>
      <p:pic>
        <p:nvPicPr>
          <p:cNvPr id="5" name="Picture 4" descr="A collage of a stone and a stone with a helmet&#10;&#10;AI-generated content may be incorrect.">
            <a:extLst>
              <a:ext uri="{FF2B5EF4-FFF2-40B4-BE49-F238E27FC236}">
                <a16:creationId xmlns:a16="http://schemas.microsoft.com/office/drawing/2014/main" id="{4FD13A96-B1A0-D734-E7F9-F89EF85D3A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292" y="2220686"/>
            <a:ext cx="6557708" cy="4637314"/>
          </a:xfrm>
          <a:prstGeom prst="rect">
            <a:avLst/>
          </a:prstGeom>
        </p:spPr>
      </p:pic>
      <p:pic>
        <p:nvPicPr>
          <p:cNvPr id="9" name="Picture 8" descr="A close up of a black object&#10;&#10;AI-generated content may be incorrect.">
            <a:extLst>
              <a:ext uri="{FF2B5EF4-FFF2-40B4-BE49-F238E27FC236}">
                <a16:creationId xmlns:a16="http://schemas.microsoft.com/office/drawing/2014/main" id="{46D4B8F3-89E0-3F8C-F280-8A6987A2B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628" y="3586137"/>
            <a:ext cx="2766230" cy="2252502"/>
          </a:xfrm>
          <a:prstGeom prst="rect">
            <a:avLst/>
          </a:prstGeom>
        </p:spPr>
      </p:pic>
      <p:pic>
        <p:nvPicPr>
          <p:cNvPr id="11" name="Picture 10" descr="A close up of a black object&#10;&#10;AI-generated content may be incorrect.">
            <a:extLst>
              <a:ext uri="{FF2B5EF4-FFF2-40B4-BE49-F238E27FC236}">
                <a16:creationId xmlns:a16="http://schemas.microsoft.com/office/drawing/2014/main" id="{0609384E-912E-DC34-0D76-8FD88FCFBB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0602" y="3586137"/>
            <a:ext cx="2459629" cy="225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11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1D0BF-2503-4705-20F7-8B6AA699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TAA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49BB73-3A27-2B2E-C133-88D0EA45A7FB}"/>
              </a:ext>
            </a:extLst>
          </p:cNvPr>
          <p:cNvSpPr txBox="1"/>
          <p:nvPr/>
        </p:nvSpPr>
        <p:spPr>
          <a:xfrm>
            <a:off x="354563" y="1567543"/>
            <a:ext cx="85208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Temporal Anti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Gather samples over different frames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Complex : camera moves (have to find previous position of pixel)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Preferred method for AAA games</a:t>
            </a:r>
            <a:endParaRPr lang="en-BE" sz="2400" dirty="0"/>
          </a:p>
        </p:txBody>
      </p:sp>
      <p:pic>
        <p:nvPicPr>
          <p:cNvPr id="5" name="Picture 4" descr="A close up of a tunnel&#10;&#10;AI-generated content may be incorrect.">
            <a:extLst>
              <a:ext uri="{FF2B5EF4-FFF2-40B4-BE49-F238E27FC236}">
                <a16:creationId xmlns:a16="http://schemas.microsoft.com/office/drawing/2014/main" id="{731803AD-C1C0-ADD9-16BD-A497535944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63" y="3429000"/>
            <a:ext cx="10795000" cy="359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355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6B23F0D4-10D4-9948-58B2-965D1BDAB2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658" y="2847610"/>
            <a:ext cx="7535262" cy="39523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A7659D-5B16-5643-4D47-0E3AC1C85805}"/>
              </a:ext>
            </a:extLst>
          </p:cNvPr>
          <p:cNvSpPr txBox="1"/>
          <p:nvPr/>
        </p:nvSpPr>
        <p:spPr>
          <a:xfrm>
            <a:off x="616857" y="1110343"/>
            <a:ext cx="59566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frame:</a:t>
            </a:r>
            <a:br>
              <a:rPr lang="en-US" dirty="0"/>
            </a:br>
            <a:r>
              <a:rPr lang="en-US" dirty="0"/>
              <a:t>Take exact position on triangle: calculate in previous frame</a:t>
            </a:r>
            <a:br>
              <a:rPr lang="en-US" dirty="0"/>
            </a:br>
            <a:r>
              <a:rPr lang="en-US" dirty="0"/>
              <a:t>Take previous samples to detect aliasing </a:t>
            </a:r>
            <a:br>
              <a:rPr lang="en-US" dirty="0"/>
            </a:br>
            <a:r>
              <a:rPr lang="en-US" dirty="0" err="1"/>
              <a:t>Eg</a:t>
            </a:r>
            <a:r>
              <a:rPr lang="en-US" dirty="0"/>
              <a:t> 3 blue </a:t>
            </a:r>
            <a:r>
              <a:rPr lang="en-US" dirty="0" err="1"/>
              <a:t>camples</a:t>
            </a:r>
            <a:r>
              <a:rPr lang="en-US" dirty="0"/>
              <a:t>, one white : should be blue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0381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CA6AF-65B3-07C7-ED46-B8F99B52A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629" y="0"/>
            <a:ext cx="10515600" cy="1325563"/>
          </a:xfrm>
        </p:spPr>
        <p:txBody>
          <a:bodyPr/>
          <a:lstStyle/>
          <a:p>
            <a:r>
              <a:rPr lang="en-US" dirty="0"/>
              <a:t>LOD’s</a:t>
            </a:r>
            <a:endParaRPr lang="en-BE" dirty="0"/>
          </a:p>
        </p:txBody>
      </p:sp>
      <p:pic>
        <p:nvPicPr>
          <p:cNvPr id="4" name="Picture 3" descr="A black and white checkered surface&#10;&#10;Description automatically generated">
            <a:extLst>
              <a:ext uri="{FF2B5EF4-FFF2-40B4-BE49-F238E27FC236}">
                <a16:creationId xmlns:a16="http://schemas.microsoft.com/office/drawing/2014/main" id="{36A8B8A2-40DD-0EE1-F5BA-A95E9817A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665" y="2663371"/>
            <a:ext cx="8126077" cy="41186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36359A-0E17-E186-D5F4-C3EFD229DD57}"/>
              </a:ext>
            </a:extLst>
          </p:cNvPr>
          <p:cNvSpPr txBox="1"/>
          <p:nvPr/>
        </p:nvSpPr>
        <p:spPr>
          <a:xfrm>
            <a:off x="595086" y="1204460"/>
            <a:ext cx="79841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Use less detail in the distance, where there are less samples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Which one looks better?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Which one is more correct?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24556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78AF7-2298-AF07-D280-C1C534C5B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Mipmaps</a:t>
            </a:r>
            <a:endParaRPr lang="en-BE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40F4F743-0AE9-CF3B-7636-3EB23D510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650" y="2185987"/>
            <a:ext cx="6229350" cy="467201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07734A-500E-D1AA-4EC7-146A41B370F6}"/>
              </a:ext>
            </a:extLst>
          </p:cNvPr>
          <p:cNvSpPr txBox="1"/>
          <p:nvPr/>
        </p:nvSpPr>
        <p:spPr>
          <a:xfrm>
            <a:off x="689430" y="1857829"/>
            <a:ext cx="502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Mipmaps always have a dimensions / 2 compared to the previous </a:t>
            </a:r>
            <a:r>
              <a:rPr lang="en-US" dirty="0" err="1"/>
              <a:t>mip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It’s not a “simpler” version, it’s correctly filtered (less small detail)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044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0E67-FFE2-FB49-3E6F-90137DB0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Mesh LOD’s</a:t>
            </a:r>
            <a:endParaRPr lang="en-BE" dirty="0"/>
          </a:p>
        </p:txBody>
      </p:sp>
      <p:pic>
        <p:nvPicPr>
          <p:cNvPr id="4" name="Picture 3" descr="A statue of a person&#10;&#10;Description automatically generated">
            <a:extLst>
              <a:ext uri="{FF2B5EF4-FFF2-40B4-BE49-F238E27FC236}">
                <a16:creationId xmlns:a16="http://schemas.microsoft.com/office/drawing/2014/main" id="{565615F5-D37E-C3CF-A745-10D6BB552A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05" y="2587690"/>
            <a:ext cx="10432213" cy="33874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37FDA-1C08-94BD-BCC8-277427F6EE60}"/>
              </a:ext>
            </a:extLst>
          </p:cNvPr>
          <p:cNvSpPr txBox="1"/>
          <p:nvPr/>
        </p:nvSpPr>
        <p:spPr>
          <a:xfrm>
            <a:off x="685605" y="1585191"/>
            <a:ext cx="1033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difference with textures: the entire model is one LOD, while textures are sampled across all the LOD’s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05691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8CF6-CDFE-323F-5C43-F0BA14D91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Recap</a:t>
            </a:r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7BCC24-F2DD-9C30-3B99-6B713DA3BB43}"/>
              </a:ext>
            </a:extLst>
          </p:cNvPr>
          <p:cNvSpPr txBox="1"/>
          <p:nvPr/>
        </p:nvSpPr>
        <p:spPr>
          <a:xfrm>
            <a:off x="541729" y="1596492"/>
            <a:ext cx="11482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Aliasing happens when you have too much detail (geometry, texture, shader) for your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Looks like creeping pixels, loss of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Common on very thin geometry: grass, telephone wire, hair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Supersampling</a:t>
            </a:r>
            <a:r>
              <a:rPr lang="en-US" sz="2400" dirty="0"/>
              <a:t>, </a:t>
            </a:r>
            <a:r>
              <a:rPr lang="en-US" sz="2400" dirty="0" err="1"/>
              <a:t>fxaa</a:t>
            </a:r>
            <a:r>
              <a:rPr lang="en-US" sz="2400" dirty="0"/>
              <a:t>, </a:t>
            </a:r>
            <a:r>
              <a:rPr lang="en-US" sz="2400" dirty="0" err="1"/>
              <a:t>taa</a:t>
            </a:r>
            <a:r>
              <a:rPr lang="en-US" sz="2400" dirty="0"/>
              <a:t> can help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LODing is very important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038816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95785-1A60-E957-5F06-2FB2F1601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class(es)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E26AD-AFC5-8E33-C5E6-454F231D6F36}"/>
              </a:ext>
            </a:extLst>
          </p:cNvPr>
          <p:cNvSpPr txBox="1"/>
          <p:nvPr/>
        </p:nvSpPr>
        <p:spPr>
          <a:xfrm>
            <a:off x="838200" y="1690688"/>
            <a:ext cx="585968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Advanced pipeline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High level algorithms for using the 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Accounting for light, shadow, and camera’s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400" dirty="0"/>
          </a:p>
        </p:txBody>
      </p:sp>
      <p:pic>
        <p:nvPicPr>
          <p:cNvPr id="4" name="Picture 3" descr="A person standing in front of a car&#10;&#10;Description automatically generated">
            <a:extLst>
              <a:ext uri="{FF2B5EF4-FFF2-40B4-BE49-F238E27FC236}">
                <a16:creationId xmlns:a16="http://schemas.microsoft.com/office/drawing/2014/main" id="{C334D70C-4329-9E5C-5B02-446390F151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250"/>
            <a:ext cx="3377680" cy="1899007"/>
          </a:xfrm>
          <a:prstGeom prst="rect">
            <a:avLst/>
          </a:prstGeom>
        </p:spPr>
      </p:pic>
      <p:pic>
        <p:nvPicPr>
          <p:cNvPr id="5" name="Picture 4" descr="A person standing in front of a city&#10;&#10;Description automatically generated">
            <a:extLst>
              <a:ext uri="{FF2B5EF4-FFF2-40B4-BE49-F238E27FC236}">
                <a16:creationId xmlns:a16="http://schemas.microsoft.com/office/drawing/2014/main" id="{DE27FB5F-1985-67AD-0472-40EFFB20A8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64" y="3011307"/>
            <a:ext cx="3377680" cy="1899007"/>
          </a:xfrm>
          <a:prstGeom prst="rect">
            <a:avLst/>
          </a:prstGeom>
        </p:spPr>
      </p:pic>
      <p:pic>
        <p:nvPicPr>
          <p:cNvPr id="7" name="Picture 6" descr="A person standing in front of a white car&#10;&#10;Description automatically generated">
            <a:extLst>
              <a:ext uri="{FF2B5EF4-FFF2-40B4-BE49-F238E27FC236}">
                <a16:creationId xmlns:a16="http://schemas.microsoft.com/office/drawing/2014/main" id="{AC509101-DE02-26F0-0BF0-2C6EBABD3D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64" y="4958993"/>
            <a:ext cx="3377680" cy="1899007"/>
          </a:xfrm>
          <a:prstGeom prst="rect">
            <a:avLst/>
          </a:prstGeom>
        </p:spPr>
      </p:pic>
      <p:pic>
        <p:nvPicPr>
          <p:cNvPr id="9" name="Picture 8" descr="A person walking in a city&#10;&#10;Description automatically generated">
            <a:extLst>
              <a:ext uri="{FF2B5EF4-FFF2-40B4-BE49-F238E27FC236}">
                <a16:creationId xmlns:a16="http://schemas.microsoft.com/office/drawing/2014/main" id="{D2D482D0-5ADC-E5E9-869D-3FE82A5940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58992"/>
            <a:ext cx="3377682" cy="18990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0101886-52B0-7BA5-D368-680F58EEAB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3242" y="3011307"/>
            <a:ext cx="4210813" cy="3846693"/>
          </a:xfrm>
          <a:prstGeom prst="rect">
            <a:avLst/>
          </a:prstGeom>
        </p:spPr>
      </p:pic>
      <p:pic>
        <p:nvPicPr>
          <p:cNvPr id="11" name="Picture 10" descr="A blurry image of a person standing in a field&#10;&#10;Description automatically generated">
            <a:extLst>
              <a:ext uri="{FF2B5EF4-FFF2-40B4-BE49-F238E27FC236}">
                <a16:creationId xmlns:a16="http://schemas.microsoft.com/office/drawing/2014/main" id="{3E40BE55-61CC-E5B3-8C58-A3CAD7505D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588" y="597257"/>
            <a:ext cx="3887755" cy="2186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8272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30543</TotalTime>
  <Words>1174</Words>
  <Application>Microsoft Office PowerPoint</Application>
  <PresentationFormat>Widescreen</PresentationFormat>
  <Paragraphs>175</Paragraphs>
  <Slides>30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Calibri Light</vt:lpstr>
      <vt:lpstr>Tahoma</vt:lpstr>
      <vt:lpstr>Wingdings</vt:lpstr>
      <vt:lpstr>Kantoorthema</vt:lpstr>
      <vt:lpstr>PowerPoint Presentation</vt:lpstr>
      <vt:lpstr>Last class</vt:lpstr>
      <vt:lpstr>Course schedule</vt:lpstr>
      <vt:lpstr>This class</vt:lpstr>
      <vt:lpstr>Temporal aliasing</vt:lpstr>
      <vt:lpstr>Rotor does rotate over time</vt:lpstr>
      <vt:lpstr>We capture (sample) at different times (and get unlucky)</vt:lpstr>
      <vt:lpstr>It could appear to go backward as well</vt:lpstr>
      <vt:lpstr>We can draw the rotation as a function of time</vt:lpstr>
      <vt:lpstr>We sample this function (sample = get 1 value) </vt:lpstr>
      <vt:lpstr>And get a new function (a reconstruction)</vt:lpstr>
      <vt:lpstr>And it’s totally wrong!</vt:lpstr>
      <vt:lpstr>This class</vt:lpstr>
      <vt:lpstr>TODO show foveation deck</vt:lpstr>
      <vt:lpstr>Example of staircasing</vt:lpstr>
      <vt:lpstr>Too much geometric detail</vt:lpstr>
      <vt:lpstr>Too much texture detail</vt:lpstr>
      <vt:lpstr>This class</vt:lpstr>
      <vt:lpstr>Anti - Aliasing</vt:lpstr>
      <vt:lpstr>Anti - Aliasing</vt:lpstr>
      <vt:lpstr>Supersampling</vt:lpstr>
      <vt:lpstr>MSAA</vt:lpstr>
      <vt:lpstr>FXAA</vt:lpstr>
      <vt:lpstr>TAA</vt:lpstr>
      <vt:lpstr>PowerPoint Presentation</vt:lpstr>
      <vt:lpstr>LOD’s</vt:lpstr>
      <vt:lpstr>Mipmaps</vt:lpstr>
      <vt:lpstr>Mesh LOD’s</vt:lpstr>
      <vt:lpstr>Recap</vt:lpstr>
      <vt:lpstr>Next class(es)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106</cp:revision>
  <dcterms:created xsi:type="dcterms:W3CDTF">2024-01-29T23:06:06Z</dcterms:created>
  <dcterms:modified xsi:type="dcterms:W3CDTF">2025-03-28T23:04:52Z</dcterms:modified>
</cp:coreProperties>
</file>