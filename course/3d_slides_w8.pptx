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sldIdLst>
    <p:sldId id="256" r:id="rId2"/>
    <p:sldId id="502" r:id="rId3"/>
    <p:sldId id="625" r:id="rId4"/>
    <p:sldId id="364" r:id="rId5"/>
    <p:sldId id="439" r:id="rId6"/>
    <p:sldId id="630" r:id="rId7"/>
    <p:sldId id="631" r:id="rId8"/>
    <p:sldId id="652" r:id="rId9"/>
    <p:sldId id="626" r:id="rId10"/>
    <p:sldId id="632" r:id="rId11"/>
    <p:sldId id="633" r:id="rId12"/>
    <p:sldId id="473" r:id="rId13"/>
    <p:sldId id="477" r:id="rId14"/>
    <p:sldId id="475" r:id="rId15"/>
    <p:sldId id="634" r:id="rId16"/>
    <p:sldId id="482" r:id="rId17"/>
    <p:sldId id="653" r:id="rId18"/>
    <p:sldId id="639" r:id="rId19"/>
    <p:sldId id="417" r:id="rId20"/>
    <p:sldId id="418" r:id="rId21"/>
    <p:sldId id="419" r:id="rId22"/>
    <p:sldId id="637" r:id="rId23"/>
    <p:sldId id="638" r:id="rId24"/>
    <p:sldId id="640" r:id="rId25"/>
    <p:sldId id="641" r:id="rId26"/>
    <p:sldId id="642" r:id="rId27"/>
    <p:sldId id="643" r:id="rId28"/>
    <p:sldId id="644" r:id="rId29"/>
    <p:sldId id="645" r:id="rId30"/>
    <p:sldId id="609" r:id="rId31"/>
    <p:sldId id="604" r:id="rId32"/>
    <p:sldId id="605" r:id="rId33"/>
    <p:sldId id="606" r:id="rId34"/>
    <p:sldId id="607" r:id="rId35"/>
    <p:sldId id="608" r:id="rId36"/>
    <p:sldId id="654" r:id="rId37"/>
    <p:sldId id="584" r:id="rId38"/>
    <p:sldId id="598" r:id="rId39"/>
    <p:sldId id="599" r:id="rId40"/>
    <p:sldId id="585" r:id="rId41"/>
    <p:sldId id="586" r:id="rId42"/>
    <p:sldId id="588" r:id="rId43"/>
    <p:sldId id="589" r:id="rId44"/>
    <p:sldId id="590" r:id="rId45"/>
    <p:sldId id="591" r:id="rId46"/>
    <p:sldId id="592" r:id="rId47"/>
    <p:sldId id="587" r:id="rId48"/>
    <p:sldId id="595" r:id="rId49"/>
    <p:sldId id="594" r:id="rId50"/>
    <p:sldId id="593" r:id="rId51"/>
    <p:sldId id="596" r:id="rId52"/>
    <p:sldId id="597" r:id="rId53"/>
    <p:sldId id="600" r:id="rId54"/>
    <p:sldId id="601" r:id="rId55"/>
    <p:sldId id="647" r:id="rId56"/>
    <p:sldId id="650" r:id="rId57"/>
    <p:sldId id="655" r:id="rId58"/>
    <p:sldId id="429" r:id="rId59"/>
    <p:sldId id="430" r:id="rId60"/>
    <p:sldId id="431" r:id="rId61"/>
    <p:sldId id="432" r:id="rId62"/>
    <p:sldId id="635" r:id="rId63"/>
    <p:sldId id="602" r:id="rId64"/>
    <p:sldId id="649" r:id="rId65"/>
    <p:sldId id="648" r:id="rId66"/>
    <p:sldId id="651" r:id="rId67"/>
    <p:sldId id="628" r:id="rId68"/>
    <p:sldId id="627" r:id="rId69"/>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00FF"/>
    <a:srgbClr val="FF79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8010" autoAdjust="0"/>
    <p:restoredTop sz="94660"/>
  </p:normalViewPr>
  <p:slideViewPr>
    <p:cSldViewPr snapToGrid="0">
      <p:cViewPr varScale="1">
        <p:scale>
          <a:sx n="154" d="100"/>
          <a:sy n="154" d="100"/>
        </p:scale>
        <p:origin x="174" y="390"/>
      </p:cViewPr>
      <p:guideLst/>
    </p:cSldViewPr>
  </p:slideViewPr>
  <p:notesTextViewPr>
    <p:cViewPr>
      <p:scale>
        <a:sx n="1" d="1"/>
        <a:sy n="1" d="1"/>
      </p:scale>
      <p:origin x="0" y="0"/>
    </p:cViewPr>
  </p:notesTextViewPr>
  <p:notesViewPr>
    <p:cSldViewPr snapToGrid="0">
      <p:cViewPr varScale="1">
        <p:scale>
          <a:sx n="125" d="100"/>
          <a:sy n="125" d="100"/>
        </p:scale>
        <p:origin x="4716"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84BD-A9A3-4CBB-88D6-39267B7F5B46}" type="datetimeFigureOut">
              <a:rPr lang="en-BE" smtClean="0"/>
              <a:t>03/04/2025</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7F9D2B-EF00-4575-9013-113DEEFD58FD}" type="slidenum">
              <a:rPr lang="en-BE" smtClean="0"/>
              <a:t>‹#›</a:t>
            </a:fld>
            <a:endParaRPr lang="en-BE"/>
          </a:p>
        </p:txBody>
      </p:sp>
    </p:spTree>
    <p:extLst>
      <p:ext uri="{BB962C8B-B14F-4D97-AF65-F5344CB8AC3E}">
        <p14:creationId xmlns:p14="http://schemas.microsoft.com/office/powerpoint/2010/main" val="3208350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a:t>
            </a:fld>
            <a:endParaRPr lang="en-BE"/>
          </a:p>
        </p:txBody>
      </p:sp>
    </p:spTree>
    <p:extLst>
      <p:ext uri="{BB962C8B-B14F-4D97-AF65-F5344CB8AC3E}">
        <p14:creationId xmlns:p14="http://schemas.microsoft.com/office/powerpoint/2010/main" val="558860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a:t>
            </a:fld>
            <a:endParaRPr lang="en-BE"/>
          </a:p>
        </p:txBody>
      </p:sp>
    </p:spTree>
    <p:extLst>
      <p:ext uri="{BB962C8B-B14F-4D97-AF65-F5344CB8AC3E}">
        <p14:creationId xmlns:p14="http://schemas.microsoft.com/office/powerpoint/2010/main" val="2782088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a:t>
            </a:fld>
            <a:endParaRPr lang="en-BE"/>
          </a:p>
        </p:txBody>
      </p:sp>
    </p:spTree>
    <p:extLst>
      <p:ext uri="{BB962C8B-B14F-4D97-AF65-F5344CB8AC3E}">
        <p14:creationId xmlns:p14="http://schemas.microsoft.com/office/powerpoint/2010/main" val="1192864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a:t>
            </a:fld>
            <a:endParaRPr lang="en-BE"/>
          </a:p>
        </p:txBody>
      </p:sp>
    </p:spTree>
    <p:extLst>
      <p:ext uri="{BB962C8B-B14F-4D97-AF65-F5344CB8AC3E}">
        <p14:creationId xmlns:p14="http://schemas.microsoft.com/office/powerpoint/2010/main" val="3473047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a:t>
            </a:fld>
            <a:endParaRPr lang="en-BE"/>
          </a:p>
        </p:txBody>
      </p:sp>
    </p:spTree>
    <p:extLst>
      <p:ext uri="{BB962C8B-B14F-4D97-AF65-F5344CB8AC3E}">
        <p14:creationId xmlns:p14="http://schemas.microsoft.com/office/powerpoint/2010/main" val="372124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partial, because there’s a lot of stuff happening when we render an image that doesn’t fit in our vertex-&gt;rasterization-&gt;pixel pipeline. An example would be color correction</a:t>
            </a:r>
          </a:p>
          <a:p>
            <a:endParaRPr lang="en-US" dirty="0"/>
          </a:p>
          <a:p>
            <a:r>
              <a:rPr lang="en-US" dirty="0"/>
              <a:t>In detail, I mean that we use the shaders for actual graphics tasks, like transform our mesh into view space, or shading. This is also part of the pipeline, but not of the graphics </a:t>
            </a:r>
            <a:r>
              <a:rPr lang="en-US" dirty="0" err="1"/>
              <a:t>api</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a:t>
            </a:fld>
            <a:endParaRPr lang="en-BE"/>
          </a:p>
        </p:txBody>
      </p:sp>
    </p:spTree>
    <p:extLst>
      <p:ext uri="{BB962C8B-B14F-4D97-AF65-F5344CB8AC3E}">
        <p14:creationId xmlns:p14="http://schemas.microsoft.com/office/powerpoint/2010/main" val="2356424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7</a:t>
            </a:fld>
            <a:endParaRPr lang="en-BE"/>
          </a:p>
        </p:txBody>
      </p:sp>
    </p:spTree>
    <p:extLst>
      <p:ext uri="{BB962C8B-B14F-4D97-AF65-F5344CB8AC3E}">
        <p14:creationId xmlns:p14="http://schemas.microsoft.com/office/powerpoint/2010/main" val="2774019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8</a:t>
            </a:fld>
            <a:endParaRPr lang="en-BE"/>
          </a:p>
        </p:txBody>
      </p:sp>
    </p:spTree>
    <p:extLst>
      <p:ext uri="{BB962C8B-B14F-4D97-AF65-F5344CB8AC3E}">
        <p14:creationId xmlns:p14="http://schemas.microsoft.com/office/powerpoint/2010/main" val="15307493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going on a tangent, but becomes relevant later</a:t>
            </a:r>
          </a:p>
          <a:p>
            <a:endParaRPr lang="en-US" dirty="0"/>
          </a:p>
          <a:p>
            <a:r>
              <a:rPr lang="en-US" dirty="0"/>
              <a:t>In the early days of rendering, they faced a difficult problem. They could rasterize triangles by writing to a grid, just like you would paint them on a wall: first the one in back, then the one covering it.</a:t>
            </a:r>
          </a:p>
          <a:p>
            <a:endParaRPr lang="en-US" dirty="0"/>
          </a:p>
          <a:p>
            <a:r>
              <a:rPr lang="en-US" dirty="0"/>
              <a:t>What they could not due, was solve the problem where one wasn’t always completely behind the other.</a:t>
            </a:r>
          </a:p>
        </p:txBody>
      </p:sp>
      <p:sp>
        <p:nvSpPr>
          <p:cNvPr id="4" name="Slide Number Placeholder 3"/>
          <p:cNvSpPr>
            <a:spLocks noGrp="1"/>
          </p:cNvSpPr>
          <p:nvPr>
            <p:ph type="sldNum" sz="quarter" idx="5"/>
          </p:nvPr>
        </p:nvSpPr>
        <p:spPr/>
        <p:txBody>
          <a:bodyPr/>
          <a:lstStyle/>
          <a:p>
            <a:fld id="{947F9D2B-EF00-4575-9013-113DEEFD58FD}" type="slidenum">
              <a:rPr lang="en-BE" smtClean="0"/>
              <a:t>9</a:t>
            </a:fld>
            <a:endParaRPr lang="en-BE"/>
          </a:p>
        </p:txBody>
      </p:sp>
    </p:spTree>
    <p:extLst>
      <p:ext uri="{BB962C8B-B14F-4D97-AF65-F5344CB8AC3E}">
        <p14:creationId xmlns:p14="http://schemas.microsoft.com/office/powerpoint/2010/main" val="41865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10</a:t>
            </a:fld>
            <a:endParaRPr lang="en-BE"/>
          </a:p>
        </p:txBody>
      </p:sp>
    </p:spTree>
    <p:extLst>
      <p:ext uri="{BB962C8B-B14F-4D97-AF65-F5344CB8AC3E}">
        <p14:creationId xmlns:p14="http://schemas.microsoft.com/office/powerpoint/2010/main" val="2367480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11</a:t>
            </a:fld>
            <a:endParaRPr lang="en-BE"/>
          </a:p>
        </p:txBody>
      </p:sp>
    </p:spTree>
    <p:extLst>
      <p:ext uri="{BB962C8B-B14F-4D97-AF65-F5344CB8AC3E}">
        <p14:creationId xmlns:p14="http://schemas.microsoft.com/office/powerpoint/2010/main" val="2628539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render a ball that sinks into the plane</a:t>
            </a:r>
          </a:p>
          <a:p>
            <a:endParaRPr lang="en-US" dirty="0"/>
          </a:p>
          <a:p>
            <a:r>
              <a:rPr lang="en-US" dirty="0"/>
              <a:t>We render the plane first, and then the ball</a:t>
            </a:r>
          </a:p>
          <a:p>
            <a:endParaRPr lang="en-US" dirty="0"/>
          </a:p>
          <a:p>
            <a:r>
              <a:rPr lang="en-US" dirty="0"/>
              <a:t>But now the ball looks like it’s standing on the plane</a:t>
            </a:r>
          </a:p>
        </p:txBody>
      </p:sp>
      <p:sp>
        <p:nvSpPr>
          <p:cNvPr id="4" name="Slide Number Placeholder 3"/>
          <p:cNvSpPr>
            <a:spLocks noGrp="1"/>
          </p:cNvSpPr>
          <p:nvPr>
            <p:ph type="sldNum" sz="quarter" idx="5"/>
          </p:nvPr>
        </p:nvSpPr>
        <p:spPr/>
        <p:txBody>
          <a:bodyPr/>
          <a:lstStyle/>
          <a:p>
            <a:fld id="{947F9D2B-EF00-4575-9013-113DEEFD58FD}" type="slidenum">
              <a:rPr lang="en-BE" smtClean="0"/>
              <a:t>12</a:t>
            </a:fld>
            <a:endParaRPr lang="en-BE"/>
          </a:p>
        </p:txBody>
      </p:sp>
    </p:spTree>
    <p:extLst>
      <p:ext uri="{BB962C8B-B14F-4D97-AF65-F5344CB8AC3E}">
        <p14:creationId xmlns:p14="http://schemas.microsoft.com/office/powerpoint/2010/main" val="28791676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13</a:t>
            </a:fld>
            <a:endParaRPr lang="en-BE"/>
          </a:p>
        </p:txBody>
      </p:sp>
    </p:spTree>
    <p:extLst>
      <p:ext uri="{BB962C8B-B14F-4D97-AF65-F5344CB8AC3E}">
        <p14:creationId xmlns:p14="http://schemas.microsoft.com/office/powerpoint/2010/main" val="1503381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of the plane is behind the ball</a:t>
            </a:r>
          </a:p>
          <a:p>
            <a:endParaRPr lang="en-US" dirty="0"/>
          </a:p>
          <a:p>
            <a:r>
              <a:rPr lang="en-US" dirty="0"/>
              <a:t>Part of the plane is in front of the ball</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14</a:t>
            </a:fld>
            <a:endParaRPr lang="en-BE"/>
          </a:p>
        </p:txBody>
      </p:sp>
    </p:spTree>
    <p:extLst>
      <p:ext uri="{BB962C8B-B14F-4D97-AF65-F5344CB8AC3E}">
        <p14:creationId xmlns:p14="http://schemas.microsoft.com/office/powerpoint/2010/main" val="1949097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7F9D2B-EF00-4575-9013-113DEEFD58FD}" type="slidenum">
              <a:rPr lang="en-BE" smtClean="0"/>
              <a:t>15</a:t>
            </a:fld>
            <a:endParaRPr lang="en-BE"/>
          </a:p>
        </p:txBody>
      </p:sp>
    </p:spTree>
    <p:extLst>
      <p:ext uri="{BB962C8B-B14F-4D97-AF65-F5344CB8AC3E}">
        <p14:creationId xmlns:p14="http://schemas.microsoft.com/office/powerpoint/2010/main" val="2099521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now drawing the ball</a:t>
            </a:r>
          </a:p>
          <a:p>
            <a:endParaRPr lang="en-US" dirty="0"/>
          </a:p>
          <a:p>
            <a:r>
              <a:rPr lang="en-US" dirty="0"/>
              <a:t>The green pixels are closer to the camera than the plane in the same pixel position, so the ball color is set in that pixel</a:t>
            </a:r>
          </a:p>
          <a:p>
            <a:endParaRPr lang="en-US" dirty="0"/>
          </a:p>
          <a:p>
            <a:r>
              <a:rPr lang="en-US" dirty="0"/>
              <a:t>The red pixels have the ball further from the camera than the plane. We’re going to skip it and just keep the pixel from the plane</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16</a:t>
            </a:fld>
            <a:endParaRPr lang="en-BE"/>
          </a:p>
        </p:txBody>
      </p:sp>
    </p:spTree>
    <p:extLst>
      <p:ext uri="{BB962C8B-B14F-4D97-AF65-F5344CB8AC3E}">
        <p14:creationId xmlns:p14="http://schemas.microsoft.com/office/powerpoint/2010/main" val="2399336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17</a:t>
            </a:fld>
            <a:endParaRPr lang="en-BE"/>
          </a:p>
        </p:txBody>
      </p:sp>
    </p:spTree>
    <p:extLst>
      <p:ext uri="{BB962C8B-B14F-4D97-AF65-F5344CB8AC3E}">
        <p14:creationId xmlns:p14="http://schemas.microsoft.com/office/powerpoint/2010/main" val="4293325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18</a:t>
            </a:fld>
            <a:endParaRPr lang="en-BE"/>
          </a:p>
        </p:txBody>
      </p:sp>
    </p:spTree>
    <p:extLst>
      <p:ext uri="{BB962C8B-B14F-4D97-AF65-F5344CB8AC3E}">
        <p14:creationId xmlns:p14="http://schemas.microsoft.com/office/powerpoint/2010/main" val="2600986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19</a:t>
            </a:fld>
            <a:endParaRPr lang="en-BE"/>
          </a:p>
        </p:txBody>
      </p:sp>
    </p:spTree>
    <p:extLst>
      <p:ext uri="{BB962C8B-B14F-4D97-AF65-F5344CB8AC3E}">
        <p14:creationId xmlns:p14="http://schemas.microsoft.com/office/powerpoint/2010/main" val="3089121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20</a:t>
            </a:fld>
            <a:endParaRPr lang="en-BE"/>
          </a:p>
        </p:txBody>
      </p:sp>
    </p:spTree>
    <p:extLst>
      <p:ext uri="{BB962C8B-B14F-4D97-AF65-F5344CB8AC3E}">
        <p14:creationId xmlns:p14="http://schemas.microsoft.com/office/powerpoint/2010/main" val="3846670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21</a:t>
            </a:fld>
            <a:endParaRPr lang="en-BE"/>
          </a:p>
        </p:txBody>
      </p:sp>
    </p:spTree>
    <p:extLst>
      <p:ext uri="{BB962C8B-B14F-4D97-AF65-F5344CB8AC3E}">
        <p14:creationId xmlns:p14="http://schemas.microsoft.com/office/powerpoint/2010/main" val="661970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22</a:t>
            </a:fld>
            <a:endParaRPr lang="en-BE"/>
          </a:p>
        </p:txBody>
      </p:sp>
    </p:spTree>
    <p:extLst>
      <p:ext uri="{BB962C8B-B14F-4D97-AF65-F5344CB8AC3E}">
        <p14:creationId xmlns:p14="http://schemas.microsoft.com/office/powerpoint/2010/main" val="1286263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23</a:t>
            </a:fld>
            <a:endParaRPr lang="en-BE"/>
          </a:p>
        </p:txBody>
      </p:sp>
    </p:spTree>
    <p:extLst>
      <p:ext uri="{BB962C8B-B14F-4D97-AF65-F5344CB8AC3E}">
        <p14:creationId xmlns:p14="http://schemas.microsoft.com/office/powerpoint/2010/main" val="31814860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24</a:t>
            </a:fld>
            <a:endParaRPr lang="en-BE"/>
          </a:p>
        </p:txBody>
      </p:sp>
    </p:spTree>
    <p:extLst>
      <p:ext uri="{BB962C8B-B14F-4D97-AF65-F5344CB8AC3E}">
        <p14:creationId xmlns:p14="http://schemas.microsoft.com/office/powerpoint/2010/main" val="28485844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25</a:t>
            </a:fld>
            <a:endParaRPr lang="en-BE"/>
          </a:p>
        </p:txBody>
      </p:sp>
    </p:spTree>
    <p:extLst>
      <p:ext uri="{BB962C8B-B14F-4D97-AF65-F5344CB8AC3E}">
        <p14:creationId xmlns:p14="http://schemas.microsoft.com/office/powerpoint/2010/main" val="8124895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26</a:t>
            </a:fld>
            <a:endParaRPr lang="en-BE"/>
          </a:p>
        </p:txBody>
      </p:sp>
    </p:spTree>
    <p:extLst>
      <p:ext uri="{BB962C8B-B14F-4D97-AF65-F5344CB8AC3E}">
        <p14:creationId xmlns:p14="http://schemas.microsoft.com/office/powerpoint/2010/main" val="423464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27</a:t>
            </a:fld>
            <a:endParaRPr lang="en-BE"/>
          </a:p>
        </p:txBody>
      </p:sp>
    </p:spTree>
    <p:extLst>
      <p:ext uri="{BB962C8B-B14F-4D97-AF65-F5344CB8AC3E}">
        <p14:creationId xmlns:p14="http://schemas.microsoft.com/office/powerpoint/2010/main" val="36354979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 depth buffer from the position of the light. This tells us how far thigs are from the light</a:t>
            </a:r>
          </a:p>
          <a:p>
            <a:r>
              <a:rPr lang="en-US" dirty="0"/>
              <a:t>Middle: we’re shading a pixel, the one with the orange color. We know it’s </a:t>
            </a:r>
            <a:r>
              <a:rPr lang="en-US" dirty="0" err="1"/>
              <a:t>worldspace</a:t>
            </a:r>
            <a:r>
              <a:rPr lang="en-US" dirty="0"/>
              <a:t> position, and, using a transform, know the position from the </a:t>
            </a:r>
            <a:r>
              <a:rPr lang="en-US" dirty="0" err="1"/>
              <a:t>pov</a:t>
            </a:r>
            <a:r>
              <a:rPr lang="en-US" dirty="0"/>
              <a:t> of the light. So we know how far it is from the light. That gives us the information if something is even closer (here, the teapot), and is occluding (casting a shadow) the floor.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28</a:t>
            </a:fld>
            <a:endParaRPr lang="en-BE"/>
          </a:p>
        </p:txBody>
      </p:sp>
    </p:spTree>
    <p:extLst>
      <p:ext uri="{BB962C8B-B14F-4D97-AF65-F5344CB8AC3E}">
        <p14:creationId xmlns:p14="http://schemas.microsoft.com/office/powerpoint/2010/main" val="33683857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“Shadow acne” where the pixels flip on and off on the floor</a:t>
            </a:r>
          </a:p>
          <a:p>
            <a:r>
              <a:rPr lang="en-US" dirty="0"/>
              <a:t>“Peter panning”, where the shadow of the wall doesn’t properly hit the wall</a:t>
            </a:r>
          </a:p>
          <a:p>
            <a:endParaRPr lang="en-US" dirty="0"/>
          </a:p>
          <a:p>
            <a:r>
              <a:rPr lang="en-US" dirty="0"/>
              <a:t>Both are caused by floating point precision issues</a:t>
            </a:r>
          </a:p>
          <a:p>
            <a:endParaRPr lang="en-US" dirty="0"/>
          </a:p>
          <a:p>
            <a:r>
              <a:rPr lang="en-US" dirty="0"/>
              <a:t>And also, the edge of the big shadow plane is very jagged, which is due to low-quality texture filtering</a:t>
            </a:r>
          </a:p>
        </p:txBody>
      </p:sp>
      <p:sp>
        <p:nvSpPr>
          <p:cNvPr id="4" name="Slide Number Placeholder 3"/>
          <p:cNvSpPr>
            <a:spLocks noGrp="1"/>
          </p:cNvSpPr>
          <p:nvPr>
            <p:ph type="sldNum" sz="quarter" idx="5"/>
          </p:nvPr>
        </p:nvSpPr>
        <p:spPr/>
        <p:txBody>
          <a:bodyPr/>
          <a:lstStyle/>
          <a:p>
            <a:fld id="{947F9D2B-EF00-4575-9013-113DEEFD58FD}" type="slidenum">
              <a:rPr lang="en-BE" smtClean="0"/>
              <a:t>29</a:t>
            </a:fld>
            <a:endParaRPr lang="en-BE"/>
          </a:p>
        </p:txBody>
      </p:sp>
    </p:spTree>
    <p:extLst>
      <p:ext uri="{BB962C8B-B14F-4D97-AF65-F5344CB8AC3E}">
        <p14:creationId xmlns:p14="http://schemas.microsoft.com/office/powerpoint/2010/main" val="2459818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30</a:t>
            </a:fld>
            <a:endParaRPr lang="en-BE"/>
          </a:p>
        </p:txBody>
      </p:sp>
    </p:spTree>
    <p:extLst>
      <p:ext uri="{BB962C8B-B14F-4D97-AF65-F5344CB8AC3E}">
        <p14:creationId xmlns:p14="http://schemas.microsoft.com/office/powerpoint/2010/main" val="1817342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31</a:t>
            </a:fld>
            <a:endParaRPr lang="en-BE"/>
          </a:p>
        </p:txBody>
      </p:sp>
    </p:spTree>
    <p:extLst>
      <p:ext uri="{BB962C8B-B14F-4D97-AF65-F5344CB8AC3E}">
        <p14:creationId xmlns:p14="http://schemas.microsoft.com/office/powerpoint/2010/main" val="974675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32</a:t>
            </a:fld>
            <a:endParaRPr lang="en-BE"/>
          </a:p>
        </p:txBody>
      </p:sp>
    </p:spTree>
    <p:extLst>
      <p:ext uri="{BB962C8B-B14F-4D97-AF65-F5344CB8AC3E}">
        <p14:creationId xmlns:p14="http://schemas.microsoft.com/office/powerpoint/2010/main" val="9117606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as point light, but with two angles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33</a:t>
            </a:fld>
            <a:endParaRPr lang="en-BE"/>
          </a:p>
        </p:txBody>
      </p:sp>
    </p:spTree>
    <p:extLst>
      <p:ext uri="{BB962C8B-B14F-4D97-AF65-F5344CB8AC3E}">
        <p14:creationId xmlns:p14="http://schemas.microsoft.com/office/powerpoint/2010/main" val="17886125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light doesn’t spread out, like it does for point and spot lights.</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34</a:t>
            </a:fld>
            <a:endParaRPr lang="en-BE"/>
          </a:p>
        </p:txBody>
      </p:sp>
    </p:spTree>
    <p:extLst>
      <p:ext uri="{BB962C8B-B14F-4D97-AF65-F5344CB8AC3E}">
        <p14:creationId xmlns:p14="http://schemas.microsoft.com/office/powerpoint/2010/main" val="12482345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35</a:t>
            </a:fld>
            <a:endParaRPr lang="en-BE"/>
          </a:p>
        </p:txBody>
      </p:sp>
    </p:spTree>
    <p:extLst>
      <p:ext uri="{BB962C8B-B14F-4D97-AF65-F5344CB8AC3E}">
        <p14:creationId xmlns:p14="http://schemas.microsoft.com/office/powerpoint/2010/main" val="18196173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36</a:t>
            </a:fld>
            <a:endParaRPr lang="en-BE"/>
          </a:p>
        </p:txBody>
      </p:sp>
    </p:spTree>
    <p:extLst>
      <p:ext uri="{BB962C8B-B14F-4D97-AF65-F5344CB8AC3E}">
        <p14:creationId xmlns:p14="http://schemas.microsoft.com/office/powerpoint/2010/main" val="22249623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37</a:t>
            </a:fld>
            <a:endParaRPr lang="en-BE"/>
          </a:p>
        </p:txBody>
      </p:sp>
    </p:spTree>
    <p:extLst>
      <p:ext uri="{BB962C8B-B14F-4D97-AF65-F5344CB8AC3E}">
        <p14:creationId xmlns:p14="http://schemas.microsoft.com/office/powerpoint/2010/main" val="36379721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38</a:t>
            </a:fld>
            <a:endParaRPr lang="en-BE"/>
          </a:p>
        </p:txBody>
      </p:sp>
    </p:spTree>
    <p:extLst>
      <p:ext uri="{BB962C8B-B14F-4D97-AF65-F5344CB8AC3E}">
        <p14:creationId xmlns:p14="http://schemas.microsoft.com/office/powerpoint/2010/main" val="7374880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39</a:t>
            </a:fld>
            <a:endParaRPr lang="en-BE"/>
          </a:p>
        </p:txBody>
      </p:sp>
    </p:spTree>
    <p:extLst>
      <p:ext uri="{BB962C8B-B14F-4D97-AF65-F5344CB8AC3E}">
        <p14:creationId xmlns:p14="http://schemas.microsoft.com/office/powerpoint/2010/main" val="2382031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40</a:t>
            </a:fld>
            <a:endParaRPr lang="en-BE"/>
          </a:p>
        </p:txBody>
      </p:sp>
    </p:spTree>
    <p:extLst>
      <p:ext uri="{BB962C8B-B14F-4D97-AF65-F5344CB8AC3E}">
        <p14:creationId xmlns:p14="http://schemas.microsoft.com/office/powerpoint/2010/main" val="40222788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41</a:t>
            </a:fld>
            <a:endParaRPr lang="en-BE"/>
          </a:p>
        </p:txBody>
      </p:sp>
    </p:spTree>
    <p:extLst>
      <p:ext uri="{BB962C8B-B14F-4D97-AF65-F5344CB8AC3E}">
        <p14:creationId xmlns:p14="http://schemas.microsoft.com/office/powerpoint/2010/main" val="11451100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42</a:t>
            </a:fld>
            <a:endParaRPr lang="en-BE"/>
          </a:p>
        </p:txBody>
      </p:sp>
    </p:spTree>
    <p:extLst>
      <p:ext uri="{BB962C8B-B14F-4D97-AF65-F5344CB8AC3E}">
        <p14:creationId xmlns:p14="http://schemas.microsoft.com/office/powerpoint/2010/main" val="5131667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43</a:t>
            </a:fld>
            <a:endParaRPr lang="en-BE"/>
          </a:p>
        </p:txBody>
      </p:sp>
    </p:spTree>
    <p:extLst>
      <p:ext uri="{BB962C8B-B14F-4D97-AF65-F5344CB8AC3E}">
        <p14:creationId xmlns:p14="http://schemas.microsoft.com/office/powerpoint/2010/main" val="31364942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44</a:t>
            </a:fld>
            <a:endParaRPr lang="en-BE"/>
          </a:p>
        </p:txBody>
      </p:sp>
    </p:spTree>
    <p:extLst>
      <p:ext uri="{BB962C8B-B14F-4D97-AF65-F5344CB8AC3E}">
        <p14:creationId xmlns:p14="http://schemas.microsoft.com/office/powerpoint/2010/main" val="16902948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45</a:t>
            </a:fld>
            <a:endParaRPr lang="en-BE"/>
          </a:p>
        </p:txBody>
      </p:sp>
    </p:spTree>
    <p:extLst>
      <p:ext uri="{BB962C8B-B14F-4D97-AF65-F5344CB8AC3E}">
        <p14:creationId xmlns:p14="http://schemas.microsoft.com/office/powerpoint/2010/main" val="37096429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46</a:t>
            </a:fld>
            <a:endParaRPr lang="en-BE"/>
          </a:p>
        </p:txBody>
      </p:sp>
    </p:spTree>
    <p:extLst>
      <p:ext uri="{BB962C8B-B14F-4D97-AF65-F5344CB8AC3E}">
        <p14:creationId xmlns:p14="http://schemas.microsoft.com/office/powerpoint/2010/main" val="39432937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47</a:t>
            </a:fld>
            <a:endParaRPr lang="en-BE"/>
          </a:p>
        </p:txBody>
      </p:sp>
    </p:spTree>
    <p:extLst>
      <p:ext uri="{BB962C8B-B14F-4D97-AF65-F5344CB8AC3E}">
        <p14:creationId xmlns:p14="http://schemas.microsoft.com/office/powerpoint/2010/main" val="424701563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48</a:t>
            </a:fld>
            <a:endParaRPr lang="en-BE"/>
          </a:p>
        </p:txBody>
      </p:sp>
    </p:spTree>
    <p:extLst>
      <p:ext uri="{BB962C8B-B14F-4D97-AF65-F5344CB8AC3E}">
        <p14:creationId xmlns:p14="http://schemas.microsoft.com/office/powerpoint/2010/main" val="24157802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49</a:t>
            </a:fld>
            <a:endParaRPr lang="en-BE"/>
          </a:p>
        </p:txBody>
      </p:sp>
    </p:spTree>
    <p:extLst>
      <p:ext uri="{BB962C8B-B14F-4D97-AF65-F5344CB8AC3E}">
        <p14:creationId xmlns:p14="http://schemas.microsoft.com/office/powerpoint/2010/main" val="383465497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50</a:t>
            </a:fld>
            <a:endParaRPr lang="en-BE"/>
          </a:p>
        </p:txBody>
      </p:sp>
    </p:spTree>
    <p:extLst>
      <p:ext uri="{BB962C8B-B14F-4D97-AF65-F5344CB8AC3E}">
        <p14:creationId xmlns:p14="http://schemas.microsoft.com/office/powerpoint/2010/main" val="125367137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51</a:t>
            </a:fld>
            <a:endParaRPr lang="en-BE"/>
          </a:p>
        </p:txBody>
      </p:sp>
    </p:spTree>
    <p:extLst>
      <p:ext uri="{BB962C8B-B14F-4D97-AF65-F5344CB8AC3E}">
        <p14:creationId xmlns:p14="http://schemas.microsoft.com/office/powerpoint/2010/main" val="1111257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52</a:t>
            </a:fld>
            <a:endParaRPr lang="en-BE"/>
          </a:p>
        </p:txBody>
      </p:sp>
    </p:spTree>
    <p:extLst>
      <p:ext uri="{BB962C8B-B14F-4D97-AF65-F5344CB8AC3E}">
        <p14:creationId xmlns:p14="http://schemas.microsoft.com/office/powerpoint/2010/main" val="41095525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53</a:t>
            </a:fld>
            <a:endParaRPr lang="en-BE"/>
          </a:p>
        </p:txBody>
      </p:sp>
    </p:spTree>
    <p:extLst>
      <p:ext uri="{BB962C8B-B14F-4D97-AF65-F5344CB8AC3E}">
        <p14:creationId xmlns:p14="http://schemas.microsoft.com/office/powerpoint/2010/main" val="246404366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54</a:t>
            </a:fld>
            <a:endParaRPr lang="en-BE"/>
          </a:p>
        </p:txBody>
      </p:sp>
    </p:spTree>
    <p:extLst>
      <p:ext uri="{BB962C8B-B14F-4D97-AF65-F5344CB8AC3E}">
        <p14:creationId xmlns:p14="http://schemas.microsoft.com/office/powerpoint/2010/main" val="22926950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55</a:t>
            </a:fld>
            <a:endParaRPr lang="en-BE"/>
          </a:p>
        </p:txBody>
      </p:sp>
    </p:spTree>
    <p:extLst>
      <p:ext uri="{BB962C8B-B14F-4D97-AF65-F5344CB8AC3E}">
        <p14:creationId xmlns:p14="http://schemas.microsoft.com/office/powerpoint/2010/main" val="6933449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56</a:t>
            </a:fld>
            <a:endParaRPr lang="en-BE"/>
          </a:p>
        </p:txBody>
      </p:sp>
    </p:spTree>
    <p:extLst>
      <p:ext uri="{BB962C8B-B14F-4D97-AF65-F5344CB8AC3E}">
        <p14:creationId xmlns:p14="http://schemas.microsoft.com/office/powerpoint/2010/main" val="362146739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57</a:t>
            </a:fld>
            <a:endParaRPr lang="en-BE"/>
          </a:p>
        </p:txBody>
      </p:sp>
    </p:spTree>
    <p:extLst>
      <p:ext uri="{BB962C8B-B14F-4D97-AF65-F5344CB8AC3E}">
        <p14:creationId xmlns:p14="http://schemas.microsoft.com/office/powerpoint/2010/main" val="324443607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58</a:t>
            </a:fld>
            <a:endParaRPr lang="en-BE"/>
          </a:p>
        </p:txBody>
      </p:sp>
    </p:spTree>
    <p:extLst>
      <p:ext uri="{BB962C8B-B14F-4D97-AF65-F5344CB8AC3E}">
        <p14:creationId xmlns:p14="http://schemas.microsoft.com/office/powerpoint/2010/main" val="11761212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59</a:t>
            </a:fld>
            <a:endParaRPr lang="en-BE"/>
          </a:p>
        </p:txBody>
      </p:sp>
    </p:spTree>
    <p:extLst>
      <p:ext uri="{BB962C8B-B14F-4D97-AF65-F5344CB8AC3E}">
        <p14:creationId xmlns:p14="http://schemas.microsoft.com/office/powerpoint/2010/main" val="42068895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60</a:t>
            </a:fld>
            <a:endParaRPr lang="en-BE"/>
          </a:p>
        </p:txBody>
      </p:sp>
    </p:spTree>
    <p:extLst>
      <p:ext uri="{BB962C8B-B14F-4D97-AF65-F5344CB8AC3E}">
        <p14:creationId xmlns:p14="http://schemas.microsoft.com/office/powerpoint/2010/main" val="2160281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is king in </a:t>
            </a:r>
            <a:r>
              <a:rPr lang="en-US" dirty="0" err="1"/>
              <a:t>realtime</a:t>
            </a:r>
            <a:r>
              <a:rPr lang="en-US" dirty="0"/>
              <a:t> rendering. If we can render a scene faster, we can add more detail, making it slower, so we make it faster…. </a:t>
            </a:r>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61</a:t>
            </a:fld>
            <a:endParaRPr lang="en-BE"/>
          </a:p>
        </p:txBody>
      </p:sp>
    </p:spTree>
    <p:extLst>
      <p:ext uri="{BB962C8B-B14F-4D97-AF65-F5344CB8AC3E}">
        <p14:creationId xmlns:p14="http://schemas.microsoft.com/office/powerpoint/2010/main" val="108915014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62</a:t>
            </a:fld>
            <a:endParaRPr lang="en-BE"/>
          </a:p>
        </p:txBody>
      </p:sp>
    </p:spTree>
    <p:extLst>
      <p:ext uri="{BB962C8B-B14F-4D97-AF65-F5344CB8AC3E}">
        <p14:creationId xmlns:p14="http://schemas.microsoft.com/office/powerpoint/2010/main" val="368984663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63</a:t>
            </a:fld>
            <a:endParaRPr lang="en-BE"/>
          </a:p>
        </p:txBody>
      </p:sp>
    </p:spTree>
    <p:extLst>
      <p:ext uri="{BB962C8B-B14F-4D97-AF65-F5344CB8AC3E}">
        <p14:creationId xmlns:p14="http://schemas.microsoft.com/office/powerpoint/2010/main" val="22525072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64</a:t>
            </a:fld>
            <a:endParaRPr lang="en-BE"/>
          </a:p>
        </p:txBody>
      </p:sp>
    </p:spTree>
    <p:extLst>
      <p:ext uri="{BB962C8B-B14F-4D97-AF65-F5344CB8AC3E}">
        <p14:creationId xmlns:p14="http://schemas.microsoft.com/office/powerpoint/2010/main" val="249733806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65</a:t>
            </a:fld>
            <a:endParaRPr lang="en-BE"/>
          </a:p>
        </p:txBody>
      </p:sp>
    </p:spTree>
    <p:extLst>
      <p:ext uri="{BB962C8B-B14F-4D97-AF65-F5344CB8AC3E}">
        <p14:creationId xmlns:p14="http://schemas.microsoft.com/office/powerpoint/2010/main" val="20666132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66</a:t>
            </a:fld>
            <a:endParaRPr lang="en-BE"/>
          </a:p>
        </p:txBody>
      </p:sp>
    </p:spTree>
    <p:extLst>
      <p:ext uri="{BB962C8B-B14F-4D97-AF65-F5344CB8AC3E}">
        <p14:creationId xmlns:p14="http://schemas.microsoft.com/office/powerpoint/2010/main" val="346082411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a:p>
        </p:txBody>
      </p:sp>
      <p:sp>
        <p:nvSpPr>
          <p:cNvPr id="4" name="Slide Number Placeholder 3"/>
          <p:cNvSpPr>
            <a:spLocks noGrp="1"/>
          </p:cNvSpPr>
          <p:nvPr>
            <p:ph type="sldNum" sz="quarter" idx="5"/>
          </p:nvPr>
        </p:nvSpPr>
        <p:spPr/>
        <p:txBody>
          <a:bodyPr/>
          <a:lstStyle/>
          <a:p>
            <a:fld id="{947F9D2B-EF00-4575-9013-113DEEFD58FD}" type="slidenum">
              <a:rPr lang="en-BE" smtClean="0"/>
              <a:t>67</a:t>
            </a:fld>
            <a:endParaRPr lang="en-BE"/>
          </a:p>
        </p:txBody>
      </p:sp>
    </p:spTree>
    <p:extLst>
      <p:ext uri="{BB962C8B-B14F-4D97-AF65-F5344CB8AC3E}">
        <p14:creationId xmlns:p14="http://schemas.microsoft.com/office/powerpoint/2010/main" val="345905096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E" dirty="0"/>
          </a:p>
        </p:txBody>
      </p:sp>
      <p:sp>
        <p:nvSpPr>
          <p:cNvPr id="4" name="Slide Number Placeholder 3"/>
          <p:cNvSpPr>
            <a:spLocks noGrp="1"/>
          </p:cNvSpPr>
          <p:nvPr>
            <p:ph type="sldNum" sz="quarter" idx="5"/>
          </p:nvPr>
        </p:nvSpPr>
        <p:spPr/>
        <p:txBody>
          <a:bodyPr/>
          <a:lstStyle/>
          <a:p>
            <a:fld id="{947F9D2B-EF00-4575-9013-113DEEFD58FD}" type="slidenum">
              <a:rPr lang="en-BE" smtClean="0"/>
              <a:t>68</a:t>
            </a:fld>
            <a:endParaRPr lang="en-BE"/>
          </a:p>
        </p:txBody>
      </p:sp>
    </p:spTree>
    <p:extLst>
      <p:ext uri="{BB962C8B-B14F-4D97-AF65-F5344CB8AC3E}">
        <p14:creationId xmlns:p14="http://schemas.microsoft.com/office/powerpoint/2010/main" val="31750568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1A99A4F-35CE-47F0-8C3E-203AE0949DAD}"/>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8666640" y="203420"/>
            <a:ext cx="3297850" cy="1261472"/>
          </a:xfrm>
          <a:prstGeom prst="rect">
            <a:avLst/>
          </a:prstGeom>
          <a:noFill/>
          <a:extLst>
            <a:ext uri="{909E8E84-426E-40DD-AFC4-6F175D3DCCD1}">
              <a14:hiddenFill xmlns:a14="http://schemas.microsoft.com/office/drawing/2010/main">
                <a:solidFill>
                  <a:srgbClr val="FFFFFF"/>
                </a:solidFill>
              </a14:hiddenFill>
            </a:ext>
          </a:extLst>
        </p:spPr>
      </p:pic>
      <p:sp>
        <p:nvSpPr>
          <p:cNvPr id="26" name="Ondertitel 2">
            <a:extLst>
              <a:ext uri="{FF2B5EF4-FFF2-40B4-BE49-F238E27FC236}">
                <a16:creationId xmlns:a16="http://schemas.microsoft.com/office/drawing/2014/main" id="{7A68A714-4E45-4A04-B828-B282FA62E7BB}"/>
              </a:ext>
            </a:extLst>
          </p:cNvPr>
          <p:cNvSpPr txBox="1">
            <a:spLocks/>
          </p:cNvSpPr>
          <p:nvPr/>
        </p:nvSpPr>
        <p:spPr>
          <a:xfrm>
            <a:off x="1450282" y="5343926"/>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28" name="Ondertitel 2">
            <a:extLst>
              <a:ext uri="{FF2B5EF4-FFF2-40B4-BE49-F238E27FC236}">
                <a16:creationId xmlns:a16="http://schemas.microsoft.com/office/drawing/2014/main" id="{8A446F7F-F106-4612-85BC-FC020C0B34DC}"/>
              </a:ext>
            </a:extLst>
          </p:cNvPr>
          <p:cNvSpPr txBox="1">
            <a:spLocks/>
          </p:cNvSpPr>
          <p:nvPr/>
        </p:nvSpPr>
        <p:spPr>
          <a:xfrm>
            <a:off x="1450282" y="5898693"/>
            <a:ext cx="4074659" cy="554767"/>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dirty="0"/>
          </a:p>
        </p:txBody>
      </p:sp>
      <p:sp>
        <p:nvSpPr>
          <p:cNvPr id="36" name="Ondertitel 2">
            <a:extLst>
              <a:ext uri="{FF2B5EF4-FFF2-40B4-BE49-F238E27FC236}">
                <a16:creationId xmlns:a16="http://schemas.microsoft.com/office/drawing/2014/main" id="{DB1150AE-9B1F-43AF-B4A6-C1581C0B3127}"/>
              </a:ext>
            </a:extLst>
          </p:cNvPr>
          <p:cNvSpPr txBox="1">
            <a:spLocks/>
          </p:cNvSpPr>
          <p:nvPr/>
        </p:nvSpPr>
        <p:spPr>
          <a:xfrm>
            <a:off x="1" y="462498"/>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nl-NL" sz="1200" dirty="0"/>
              <a:t>Toegepaste Informatica</a:t>
            </a:r>
          </a:p>
        </p:txBody>
      </p:sp>
      <p:sp>
        <p:nvSpPr>
          <p:cNvPr id="38" name="Minteken 37">
            <a:extLst>
              <a:ext uri="{FF2B5EF4-FFF2-40B4-BE49-F238E27FC236}">
                <a16:creationId xmlns:a16="http://schemas.microsoft.com/office/drawing/2014/main" id="{FFEC5E01-43EA-497E-BCC0-939DBCAFA0AC}"/>
              </a:ext>
            </a:extLst>
          </p:cNvPr>
          <p:cNvSpPr/>
          <p:nvPr/>
        </p:nvSpPr>
        <p:spPr>
          <a:xfrm rot="5400000">
            <a:off x="-183168" y="5307680"/>
            <a:ext cx="2851263"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1" name="Ondertitel 2">
            <a:extLst>
              <a:ext uri="{FF2B5EF4-FFF2-40B4-BE49-F238E27FC236}">
                <a16:creationId xmlns:a16="http://schemas.microsoft.com/office/drawing/2014/main" id="{DCD259FC-79B5-41AB-BBC2-4D07C62B0949}"/>
              </a:ext>
            </a:extLst>
          </p:cNvPr>
          <p:cNvSpPr txBox="1">
            <a:spLocks/>
          </p:cNvSpPr>
          <p:nvPr/>
        </p:nvSpPr>
        <p:spPr>
          <a:xfrm>
            <a:off x="-31204" y="1442735"/>
            <a:ext cx="1481486"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endParaRPr>
          </a:p>
        </p:txBody>
      </p:sp>
      <p:sp>
        <p:nvSpPr>
          <p:cNvPr id="42" name="Minteken 41">
            <a:extLst>
              <a:ext uri="{FF2B5EF4-FFF2-40B4-BE49-F238E27FC236}">
                <a16:creationId xmlns:a16="http://schemas.microsoft.com/office/drawing/2014/main" id="{FB0D61FF-F819-41D6-9F0E-2A87A96AF34A}"/>
              </a:ext>
            </a:extLst>
          </p:cNvPr>
          <p:cNvSpPr/>
          <p:nvPr/>
        </p:nvSpPr>
        <p:spPr>
          <a:xfrm>
            <a:off x="-353435" y="166756"/>
            <a:ext cx="2776160"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3" name="Minteken 42">
            <a:extLst>
              <a:ext uri="{FF2B5EF4-FFF2-40B4-BE49-F238E27FC236}">
                <a16:creationId xmlns:a16="http://schemas.microsoft.com/office/drawing/2014/main" id="{1A9D60B7-98CA-44B4-A342-238265272E5D}"/>
              </a:ext>
            </a:extLst>
          </p:cNvPr>
          <p:cNvSpPr/>
          <p:nvPr/>
        </p:nvSpPr>
        <p:spPr>
          <a:xfrm>
            <a:off x="-221962" y="626338"/>
            <a:ext cx="1762587"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44" name="Minteken 43">
            <a:extLst>
              <a:ext uri="{FF2B5EF4-FFF2-40B4-BE49-F238E27FC236}">
                <a16:creationId xmlns:a16="http://schemas.microsoft.com/office/drawing/2014/main" id="{2AD40B60-09F3-42CA-BFC7-F232D5069233}"/>
              </a:ext>
            </a:extLst>
          </p:cNvPr>
          <p:cNvSpPr/>
          <p:nvPr/>
        </p:nvSpPr>
        <p:spPr>
          <a:xfrm>
            <a:off x="-155460" y="1111987"/>
            <a:ext cx="1256606" cy="415636"/>
          </a:xfrm>
          <a:prstGeom prst="mathMinus">
            <a:avLst/>
          </a:prstGeom>
          <a:solidFill>
            <a:srgbClr val="E30046">
              <a:alpha val="3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nl-BE">
              <a:solidFill>
                <a:srgbClr val="E00049"/>
              </a:solidFill>
            </a:endParaRPr>
          </a:p>
        </p:txBody>
      </p:sp>
      <p:sp>
        <p:nvSpPr>
          <p:cNvPr id="14" name="Ondertitel 2">
            <a:extLst>
              <a:ext uri="{FF2B5EF4-FFF2-40B4-BE49-F238E27FC236}">
                <a16:creationId xmlns:a16="http://schemas.microsoft.com/office/drawing/2014/main" id="{DA9D40DB-B7E8-4A33-B5FB-9DD5105C49A1}"/>
              </a:ext>
            </a:extLst>
          </p:cNvPr>
          <p:cNvSpPr txBox="1">
            <a:spLocks/>
          </p:cNvSpPr>
          <p:nvPr/>
        </p:nvSpPr>
        <p:spPr>
          <a:xfrm>
            <a:off x="-31204" y="957086"/>
            <a:ext cx="1853738" cy="309801"/>
          </a:xfrm>
          <a:prstGeom prst="rect">
            <a:avLst/>
          </a:prstGeom>
          <a:ln>
            <a:noFill/>
          </a:ln>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lang="nl-BE"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nl-NL" sz="1200" dirty="0"/>
          </a:p>
        </p:txBody>
      </p:sp>
      <p:sp>
        <p:nvSpPr>
          <p:cNvPr id="12" name="Tijdelijke aanduiding voor tekst 11">
            <a:extLst>
              <a:ext uri="{FF2B5EF4-FFF2-40B4-BE49-F238E27FC236}">
                <a16:creationId xmlns:a16="http://schemas.microsoft.com/office/drawing/2014/main" id="{684198A2-C59F-4C38-9F72-765E48FA8235}"/>
              </a:ext>
            </a:extLst>
          </p:cNvPr>
          <p:cNvSpPr>
            <a:spLocks noGrp="1"/>
          </p:cNvSpPr>
          <p:nvPr>
            <p:ph type="body" sz="quarter" idx="10" hasCustomPrompt="1"/>
          </p:nvPr>
        </p:nvSpPr>
        <p:spPr>
          <a:xfrm>
            <a:off x="1495855" y="4825632"/>
            <a:ext cx="1853739"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3D Graphics</a:t>
            </a:r>
          </a:p>
        </p:txBody>
      </p:sp>
      <p:sp>
        <p:nvSpPr>
          <p:cNvPr id="29" name="Tijdelijke aanduiding voor tekst 11">
            <a:extLst>
              <a:ext uri="{FF2B5EF4-FFF2-40B4-BE49-F238E27FC236}">
                <a16:creationId xmlns:a16="http://schemas.microsoft.com/office/drawing/2014/main" id="{9B9004F5-4339-48FE-B04B-599527A63599}"/>
              </a:ext>
            </a:extLst>
          </p:cNvPr>
          <p:cNvSpPr>
            <a:spLocks noGrp="1"/>
          </p:cNvSpPr>
          <p:nvPr>
            <p:ph type="body" sz="quarter" idx="11" hasCustomPrompt="1"/>
          </p:nvPr>
        </p:nvSpPr>
        <p:spPr>
          <a:xfrm>
            <a:off x="1495855" y="5411372"/>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Week 1a</a:t>
            </a:r>
          </a:p>
        </p:txBody>
      </p:sp>
      <p:sp>
        <p:nvSpPr>
          <p:cNvPr id="30" name="Tijdelijke aanduiding voor tekst 11">
            <a:extLst>
              <a:ext uri="{FF2B5EF4-FFF2-40B4-BE49-F238E27FC236}">
                <a16:creationId xmlns:a16="http://schemas.microsoft.com/office/drawing/2014/main" id="{73EE6705-1665-43A1-AB37-E50C48AA3F86}"/>
              </a:ext>
            </a:extLst>
          </p:cNvPr>
          <p:cNvSpPr>
            <a:spLocks noGrp="1"/>
          </p:cNvSpPr>
          <p:nvPr>
            <p:ph type="body" sz="quarter" idx="12" hasCustomPrompt="1"/>
          </p:nvPr>
        </p:nvSpPr>
        <p:spPr>
          <a:xfrm>
            <a:off x="1495855" y="5993878"/>
            <a:ext cx="4594995" cy="459582"/>
          </a:xfrm>
        </p:spPr>
        <p:txBody>
          <a:bodyPr>
            <a:normAutofit/>
          </a:bodyPr>
          <a:lstStyle>
            <a:lvl1pPr marL="0" indent="0">
              <a:buNone/>
              <a:defRPr lang="nl-NL" sz="20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dirty="0"/>
              <a:t>Daan Nijs</a:t>
            </a:r>
          </a:p>
        </p:txBody>
      </p:sp>
      <p:sp>
        <p:nvSpPr>
          <p:cNvPr id="17" name="Tijdelijke aanduiding voor tekst 16">
            <a:extLst>
              <a:ext uri="{FF2B5EF4-FFF2-40B4-BE49-F238E27FC236}">
                <a16:creationId xmlns:a16="http://schemas.microsoft.com/office/drawing/2014/main" id="{B2803BC5-4FBF-4FFC-8CD7-56A7494327D9}"/>
              </a:ext>
            </a:extLst>
          </p:cNvPr>
          <p:cNvSpPr>
            <a:spLocks noGrp="1"/>
          </p:cNvSpPr>
          <p:nvPr>
            <p:ph type="body" sz="quarter" idx="13" hasCustomPrompt="1"/>
          </p:nvPr>
        </p:nvSpPr>
        <p:spPr>
          <a:xfrm>
            <a:off x="12937" y="923475"/>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pPr lvl="0"/>
            <a:r>
              <a:rPr lang="nl-NL" dirty="0"/>
              <a:t>DE</a:t>
            </a:r>
            <a:endParaRPr lang="nl-BE" dirty="0"/>
          </a:p>
        </p:txBody>
      </p:sp>
      <p:sp>
        <p:nvSpPr>
          <p:cNvPr id="32" name="Tijdelijke aanduiding voor tekst 16">
            <a:extLst>
              <a:ext uri="{FF2B5EF4-FFF2-40B4-BE49-F238E27FC236}">
                <a16:creationId xmlns:a16="http://schemas.microsoft.com/office/drawing/2014/main" id="{2F60E031-BF26-44A1-A0B6-D48454BFD945}"/>
              </a:ext>
            </a:extLst>
          </p:cNvPr>
          <p:cNvSpPr>
            <a:spLocks noGrp="1"/>
          </p:cNvSpPr>
          <p:nvPr>
            <p:ph type="body" sz="quarter" idx="14" hasCustomPrompt="1"/>
          </p:nvPr>
        </p:nvSpPr>
        <p:spPr>
          <a:xfrm>
            <a:off x="12936" y="1429630"/>
            <a:ext cx="1641443" cy="303286"/>
          </a:xfr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lang="nl-BE" sz="1200" kern="1200" cap="none" baseline="0" dirty="0" smtClean="0">
                <a:solidFill>
                  <a:srgbClr val="002757"/>
                </a:solidFill>
                <a:latin typeface="Tahoma" panose="020B0604030504040204" pitchFamily="34" charset="0"/>
                <a:ea typeface="Tahoma" panose="020B0604030504040204" pitchFamily="34" charset="0"/>
                <a:cs typeface="Tahoma" panose="020B0604030504040204" pitchFamily="34" charset="0"/>
              </a:defRPr>
            </a:lvl1pPr>
          </a:lstStyle>
          <a:p>
            <a:r>
              <a:rPr lang="nl-NL" sz="1200" kern="1200" cap="none" baseline="0" dirty="0">
                <a:solidFill>
                  <a:srgbClr val="002757"/>
                </a:solidFill>
                <a:latin typeface="Tahoma" panose="020B0604030504040204" pitchFamily="34" charset="0"/>
                <a:ea typeface="Tahoma" panose="020B0604030504040204" pitchFamily="34" charset="0"/>
                <a:cs typeface="Tahoma" panose="020B0604030504040204" pitchFamily="34" charset="0"/>
              </a:rPr>
              <a:t>2023</a:t>
            </a:r>
          </a:p>
        </p:txBody>
      </p:sp>
      <p:pic>
        <p:nvPicPr>
          <p:cNvPr id="3" name="Picture 2" descr="A room with a white cube and red and green walls&#10;&#10;Description automatically generated">
            <a:extLst>
              <a:ext uri="{FF2B5EF4-FFF2-40B4-BE49-F238E27FC236}">
                <a16:creationId xmlns:a16="http://schemas.microsoft.com/office/drawing/2014/main" id="{52382748-B3A1-4041-F0B7-3FD688D997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97310" y="1463310"/>
            <a:ext cx="5394690" cy="5394690"/>
          </a:xfrm>
          <a:prstGeom prst="rect">
            <a:avLst/>
          </a:prstGeom>
        </p:spPr>
      </p:pic>
    </p:spTree>
    <p:extLst>
      <p:ext uri="{BB962C8B-B14F-4D97-AF65-F5344CB8AC3E}">
        <p14:creationId xmlns:p14="http://schemas.microsoft.com/office/powerpoint/2010/main" val="38402244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ngepaste indel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1641C2-BF9B-4FDD-914E-B64C21E0036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10DFE554-7232-4244-8A56-332314AEEEC3}"/>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4" name="Tijdelijke aanduiding voor voettekst 3">
            <a:extLst>
              <a:ext uri="{FF2B5EF4-FFF2-40B4-BE49-F238E27FC236}">
                <a16:creationId xmlns:a16="http://schemas.microsoft.com/office/drawing/2014/main" id="{DEC717CF-2817-47D4-8B6A-AC3FF5712DF8}"/>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BE2D9812-56C8-4D19-8865-A6D4C4A6D336}"/>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042795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F78E84-41E7-4C0B-9876-95A81A828B2F}"/>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BADAD563-D612-4769-9B0D-FF5F1C302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22BECD8B-CD05-4F1D-A5CC-3FEA703FE793}"/>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5" name="Tijdelijke aanduiding voor voettekst 4">
            <a:extLst>
              <a:ext uri="{FF2B5EF4-FFF2-40B4-BE49-F238E27FC236}">
                <a16:creationId xmlns:a16="http://schemas.microsoft.com/office/drawing/2014/main" id="{F562C523-B3D7-4EB4-A7D6-382F9B9CC4AA}"/>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389EF5C4-6487-432E-AB47-26229FE019EF}"/>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80527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0F1C78-2104-4398-AD52-6781C48DD42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2E324310-16AB-4268-B0C6-CF8B77613A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Tijdelijke aanduiding voor datum 3">
            <a:extLst>
              <a:ext uri="{FF2B5EF4-FFF2-40B4-BE49-F238E27FC236}">
                <a16:creationId xmlns:a16="http://schemas.microsoft.com/office/drawing/2014/main" id="{60CD69EF-E63A-4D9C-8EFE-E80749E03A31}"/>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5" name="Tijdelijke aanduiding voor voettekst 4">
            <a:extLst>
              <a:ext uri="{FF2B5EF4-FFF2-40B4-BE49-F238E27FC236}">
                <a16:creationId xmlns:a16="http://schemas.microsoft.com/office/drawing/2014/main" id="{71547F23-F0D7-4208-A013-9AE0FF2EADD9}"/>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94AE972C-86E8-4E5F-8E59-2FB14076CEF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6263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7DCFF4-3B50-4930-AEAE-782904E7527C}"/>
              </a:ext>
            </a:extLst>
          </p:cNvPr>
          <p:cNvSpPr>
            <a:spLocks noGrp="1"/>
          </p:cNvSpPr>
          <p:nvPr>
            <p:ph type="title"/>
          </p:nvPr>
        </p:nvSpPr>
        <p:spPr/>
        <p:txBody>
          <a:body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19E7AE46-BCF9-47C8-9BCC-B7B1F520A3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inhoud 3">
            <a:extLst>
              <a:ext uri="{FF2B5EF4-FFF2-40B4-BE49-F238E27FC236}">
                <a16:creationId xmlns:a16="http://schemas.microsoft.com/office/drawing/2014/main" id="{B6C2F997-1F41-4A6F-9193-4DE7735ACD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datum 4">
            <a:extLst>
              <a:ext uri="{FF2B5EF4-FFF2-40B4-BE49-F238E27FC236}">
                <a16:creationId xmlns:a16="http://schemas.microsoft.com/office/drawing/2014/main" id="{3B370E2F-2B3F-41AC-9A34-276EA7450FA3}"/>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6" name="Tijdelijke aanduiding voor voettekst 5">
            <a:extLst>
              <a:ext uri="{FF2B5EF4-FFF2-40B4-BE49-F238E27FC236}">
                <a16:creationId xmlns:a16="http://schemas.microsoft.com/office/drawing/2014/main" id="{CD63B9D7-3594-4F78-B540-B15463859D8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079CDB93-518D-4FDA-849A-10DC0942DF1D}"/>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44087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594D81-B112-42DA-9826-23E1C6113B41}"/>
              </a:ext>
            </a:extLst>
          </p:cNvPr>
          <p:cNvSpPr>
            <a:spLocks noGrp="1"/>
          </p:cNvSpPr>
          <p:nvPr>
            <p:ph type="title"/>
          </p:nvPr>
        </p:nvSpPr>
        <p:spPr>
          <a:xfrm>
            <a:off x="839788" y="365125"/>
            <a:ext cx="10515600" cy="1325563"/>
          </a:xfrm>
        </p:spPr>
        <p:txBody>
          <a:bodyPr/>
          <a:lstStyle/>
          <a:p>
            <a:r>
              <a:rPr lang="en-US"/>
              <a:t>Click to edit Master title style</a:t>
            </a:r>
            <a:endParaRPr lang="nl-BE"/>
          </a:p>
        </p:txBody>
      </p:sp>
      <p:sp>
        <p:nvSpPr>
          <p:cNvPr id="3" name="Tijdelijke aanduiding voor tekst 2">
            <a:extLst>
              <a:ext uri="{FF2B5EF4-FFF2-40B4-BE49-F238E27FC236}">
                <a16:creationId xmlns:a16="http://schemas.microsoft.com/office/drawing/2014/main" id="{5B25F2C9-29C7-4222-81BA-825176D7A8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ijdelijke aanduiding voor inhoud 3">
            <a:extLst>
              <a:ext uri="{FF2B5EF4-FFF2-40B4-BE49-F238E27FC236}">
                <a16:creationId xmlns:a16="http://schemas.microsoft.com/office/drawing/2014/main" id="{07496213-5C84-46EC-B711-CDF9FF6B6B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ijdelijke aanduiding voor tekst 4">
            <a:extLst>
              <a:ext uri="{FF2B5EF4-FFF2-40B4-BE49-F238E27FC236}">
                <a16:creationId xmlns:a16="http://schemas.microsoft.com/office/drawing/2014/main" id="{90DE4F81-0BA7-4244-BB5B-492AB97EF8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ijdelijke aanduiding voor inhoud 5">
            <a:extLst>
              <a:ext uri="{FF2B5EF4-FFF2-40B4-BE49-F238E27FC236}">
                <a16:creationId xmlns:a16="http://schemas.microsoft.com/office/drawing/2014/main" id="{E79B47A1-EE33-4FAB-B7C3-E0E137931E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Tijdelijke aanduiding voor datum 6">
            <a:extLst>
              <a:ext uri="{FF2B5EF4-FFF2-40B4-BE49-F238E27FC236}">
                <a16:creationId xmlns:a16="http://schemas.microsoft.com/office/drawing/2014/main" id="{34D9D81A-0C3E-473B-ACBE-F498DB484952}"/>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8" name="Tijdelijke aanduiding voor voettekst 7">
            <a:extLst>
              <a:ext uri="{FF2B5EF4-FFF2-40B4-BE49-F238E27FC236}">
                <a16:creationId xmlns:a16="http://schemas.microsoft.com/office/drawing/2014/main" id="{58E84A63-52E6-431C-9002-3F2381DF1841}"/>
              </a:ext>
            </a:extLst>
          </p:cNvPr>
          <p:cNvSpPr>
            <a:spLocks noGrp="1"/>
          </p:cNvSpPr>
          <p:nvPr>
            <p:ph type="ftr" sz="quarter" idx="11"/>
          </p:nvPr>
        </p:nvSpPr>
        <p:spPr/>
        <p:txBody>
          <a:bodyPr/>
          <a:lstStyle/>
          <a:p>
            <a:endParaRPr lang="en-BE"/>
          </a:p>
        </p:txBody>
      </p:sp>
      <p:sp>
        <p:nvSpPr>
          <p:cNvPr id="9" name="Tijdelijke aanduiding voor dianummer 8">
            <a:extLst>
              <a:ext uri="{FF2B5EF4-FFF2-40B4-BE49-F238E27FC236}">
                <a16:creationId xmlns:a16="http://schemas.microsoft.com/office/drawing/2014/main" id="{D27C1939-B8AA-4E0F-96C6-B7E933D9F811}"/>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00847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ECCACC-50FC-4D5D-B072-A22D8C73E6FD}"/>
              </a:ext>
            </a:extLst>
          </p:cNvPr>
          <p:cNvSpPr>
            <a:spLocks noGrp="1"/>
          </p:cNvSpPr>
          <p:nvPr>
            <p:ph type="title"/>
          </p:nvPr>
        </p:nvSpPr>
        <p:spPr/>
        <p:txBody>
          <a:bodyPr/>
          <a:lstStyle/>
          <a:p>
            <a:r>
              <a:rPr lang="en-US"/>
              <a:t>Click to edit Master title style</a:t>
            </a:r>
            <a:endParaRPr lang="nl-BE"/>
          </a:p>
        </p:txBody>
      </p:sp>
      <p:sp>
        <p:nvSpPr>
          <p:cNvPr id="3" name="Tijdelijke aanduiding voor datum 2">
            <a:extLst>
              <a:ext uri="{FF2B5EF4-FFF2-40B4-BE49-F238E27FC236}">
                <a16:creationId xmlns:a16="http://schemas.microsoft.com/office/drawing/2014/main" id="{B6B9E831-EE77-4B49-A32D-C50EA5628310}"/>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4" name="Tijdelijke aanduiding voor voettekst 3">
            <a:extLst>
              <a:ext uri="{FF2B5EF4-FFF2-40B4-BE49-F238E27FC236}">
                <a16:creationId xmlns:a16="http://schemas.microsoft.com/office/drawing/2014/main" id="{A471B315-B360-4DC4-BA25-C0DA3FE06DF9}"/>
              </a:ext>
            </a:extLst>
          </p:cNvPr>
          <p:cNvSpPr>
            <a:spLocks noGrp="1"/>
          </p:cNvSpPr>
          <p:nvPr>
            <p:ph type="ftr" sz="quarter" idx="11"/>
          </p:nvPr>
        </p:nvSpPr>
        <p:spPr/>
        <p:txBody>
          <a:bodyPr/>
          <a:lstStyle/>
          <a:p>
            <a:endParaRPr lang="en-BE"/>
          </a:p>
        </p:txBody>
      </p:sp>
      <p:sp>
        <p:nvSpPr>
          <p:cNvPr id="5" name="Tijdelijke aanduiding voor dianummer 4">
            <a:extLst>
              <a:ext uri="{FF2B5EF4-FFF2-40B4-BE49-F238E27FC236}">
                <a16:creationId xmlns:a16="http://schemas.microsoft.com/office/drawing/2014/main" id="{586BE35D-89CF-4C78-936F-3A422D2BC19C}"/>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547937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F2371665-6504-46CE-8623-7D4BFBF0630A}"/>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3" name="Tijdelijke aanduiding voor voettekst 2">
            <a:extLst>
              <a:ext uri="{FF2B5EF4-FFF2-40B4-BE49-F238E27FC236}">
                <a16:creationId xmlns:a16="http://schemas.microsoft.com/office/drawing/2014/main" id="{784B7614-A5E9-4A26-93ED-1BD778884699}"/>
              </a:ext>
            </a:extLst>
          </p:cNvPr>
          <p:cNvSpPr>
            <a:spLocks noGrp="1"/>
          </p:cNvSpPr>
          <p:nvPr>
            <p:ph type="ftr" sz="quarter" idx="11"/>
          </p:nvPr>
        </p:nvSpPr>
        <p:spPr/>
        <p:txBody>
          <a:bodyPr/>
          <a:lstStyle/>
          <a:p>
            <a:endParaRPr lang="en-BE"/>
          </a:p>
        </p:txBody>
      </p:sp>
      <p:sp>
        <p:nvSpPr>
          <p:cNvPr id="4" name="Tijdelijke aanduiding voor dianummer 3">
            <a:extLst>
              <a:ext uri="{FF2B5EF4-FFF2-40B4-BE49-F238E27FC236}">
                <a16:creationId xmlns:a16="http://schemas.microsoft.com/office/drawing/2014/main" id="{36192D73-DEF2-4B61-8197-3941A2083E7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1907551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3ACD61-1A8D-412E-A5FB-A8531A8CE7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inhoud 2">
            <a:extLst>
              <a:ext uri="{FF2B5EF4-FFF2-40B4-BE49-F238E27FC236}">
                <a16:creationId xmlns:a16="http://schemas.microsoft.com/office/drawing/2014/main" id="{4B81E522-E269-4346-BBFB-AA9518F2B9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tekst 3">
            <a:extLst>
              <a:ext uri="{FF2B5EF4-FFF2-40B4-BE49-F238E27FC236}">
                <a16:creationId xmlns:a16="http://schemas.microsoft.com/office/drawing/2014/main" id="{B5BB402B-825A-444A-8506-A9ADBFE65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7827B8B6-F476-41CE-A0FB-94F76E07D16B}"/>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6" name="Tijdelijke aanduiding voor voettekst 5">
            <a:extLst>
              <a:ext uri="{FF2B5EF4-FFF2-40B4-BE49-F238E27FC236}">
                <a16:creationId xmlns:a16="http://schemas.microsoft.com/office/drawing/2014/main" id="{E8C2B97C-695E-461A-825C-FBD17E162F60}"/>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EA72EF0F-A630-466B-B88F-96526CAB13C5}"/>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260970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0E7DD-EE9A-4CC9-8C25-676E51EFE1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BE"/>
          </a:p>
        </p:txBody>
      </p:sp>
      <p:sp>
        <p:nvSpPr>
          <p:cNvPr id="3" name="Tijdelijke aanduiding voor afbeelding 2">
            <a:extLst>
              <a:ext uri="{FF2B5EF4-FFF2-40B4-BE49-F238E27FC236}">
                <a16:creationId xmlns:a16="http://schemas.microsoft.com/office/drawing/2014/main" id="{E48A5BBD-EB4E-45D6-AE42-E48427169E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nl-BE"/>
          </a:p>
        </p:txBody>
      </p:sp>
      <p:sp>
        <p:nvSpPr>
          <p:cNvPr id="4" name="Tijdelijke aanduiding voor tekst 3">
            <a:extLst>
              <a:ext uri="{FF2B5EF4-FFF2-40B4-BE49-F238E27FC236}">
                <a16:creationId xmlns:a16="http://schemas.microsoft.com/office/drawing/2014/main" id="{D66EB8EC-DE0A-4D55-BC4C-614275BE12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jdelijke aanduiding voor datum 4">
            <a:extLst>
              <a:ext uri="{FF2B5EF4-FFF2-40B4-BE49-F238E27FC236}">
                <a16:creationId xmlns:a16="http://schemas.microsoft.com/office/drawing/2014/main" id="{80F5DBFE-351E-4EE8-ADAB-1EEF823A637C}"/>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6" name="Tijdelijke aanduiding voor voettekst 5">
            <a:extLst>
              <a:ext uri="{FF2B5EF4-FFF2-40B4-BE49-F238E27FC236}">
                <a16:creationId xmlns:a16="http://schemas.microsoft.com/office/drawing/2014/main" id="{BE0E090A-C01F-416E-BF13-483497611EBB}"/>
              </a:ext>
            </a:extLst>
          </p:cNvPr>
          <p:cNvSpPr>
            <a:spLocks noGrp="1"/>
          </p:cNvSpPr>
          <p:nvPr>
            <p:ph type="ftr" sz="quarter" idx="11"/>
          </p:nvPr>
        </p:nvSpPr>
        <p:spPr/>
        <p:txBody>
          <a:bodyPr/>
          <a:lstStyle/>
          <a:p>
            <a:endParaRPr lang="en-BE"/>
          </a:p>
        </p:txBody>
      </p:sp>
      <p:sp>
        <p:nvSpPr>
          <p:cNvPr id="7" name="Tijdelijke aanduiding voor dianummer 6">
            <a:extLst>
              <a:ext uri="{FF2B5EF4-FFF2-40B4-BE49-F238E27FC236}">
                <a16:creationId xmlns:a16="http://schemas.microsoft.com/office/drawing/2014/main" id="{5790A0E5-2670-4891-8045-AB40C835E0A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3427790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BEACC51-F7E5-40B9-80E8-1EF2107F0791}"/>
              </a:ext>
            </a:extLst>
          </p:cNvPr>
          <p:cNvSpPr>
            <a:spLocks noGrp="1"/>
          </p:cNvSpPr>
          <p:nvPr>
            <p:ph type="title"/>
          </p:nvPr>
        </p:nvSpPr>
        <p:spPr/>
        <p:txBody>
          <a:bodyPr/>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4CEA346F-2455-4321-99FC-0F55ECBC5E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8DD5A672-E901-441A-AA8C-342314F34F21}"/>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5" name="Tijdelijke aanduiding voor voettekst 4">
            <a:extLst>
              <a:ext uri="{FF2B5EF4-FFF2-40B4-BE49-F238E27FC236}">
                <a16:creationId xmlns:a16="http://schemas.microsoft.com/office/drawing/2014/main" id="{FE36B37C-979A-4CE2-BFB9-1CEE33789817}"/>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C66F279E-64B7-4995-8B2D-9E98200DC474}"/>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4691028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54A3048B-7CB7-4CB7-9036-E1072F65679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BE"/>
          </a:p>
        </p:txBody>
      </p:sp>
      <p:sp>
        <p:nvSpPr>
          <p:cNvPr id="3" name="Tijdelijke aanduiding voor verticale tekst 2">
            <a:extLst>
              <a:ext uri="{FF2B5EF4-FFF2-40B4-BE49-F238E27FC236}">
                <a16:creationId xmlns:a16="http://schemas.microsoft.com/office/drawing/2014/main" id="{977AF696-8160-4BEE-B594-08AA6ED4B9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ijdelijke aanduiding voor datum 3">
            <a:extLst>
              <a:ext uri="{FF2B5EF4-FFF2-40B4-BE49-F238E27FC236}">
                <a16:creationId xmlns:a16="http://schemas.microsoft.com/office/drawing/2014/main" id="{F70B8EA8-32FF-45D6-BDF4-DEC9D5665FEE}"/>
              </a:ext>
            </a:extLst>
          </p:cNvPr>
          <p:cNvSpPr>
            <a:spLocks noGrp="1"/>
          </p:cNvSpPr>
          <p:nvPr>
            <p:ph type="dt" sz="half" idx="10"/>
          </p:nvPr>
        </p:nvSpPr>
        <p:spPr/>
        <p:txBody>
          <a:bodyPr/>
          <a:lstStyle/>
          <a:p>
            <a:fld id="{B21044C9-3718-44C4-9063-5DAD08408240}" type="datetimeFigureOut">
              <a:rPr lang="en-BE" smtClean="0"/>
              <a:t>03/04/2025</a:t>
            </a:fld>
            <a:endParaRPr lang="en-BE"/>
          </a:p>
        </p:txBody>
      </p:sp>
      <p:sp>
        <p:nvSpPr>
          <p:cNvPr id="5" name="Tijdelijke aanduiding voor voettekst 4">
            <a:extLst>
              <a:ext uri="{FF2B5EF4-FFF2-40B4-BE49-F238E27FC236}">
                <a16:creationId xmlns:a16="http://schemas.microsoft.com/office/drawing/2014/main" id="{701F5F5D-B431-4297-94E5-5C3E63450DEC}"/>
              </a:ext>
            </a:extLst>
          </p:cNvPr>
          <p:cNvSpPr>
            <a:spLocks noGrp="1"/>
          </p:cNvSpPr>
          <p:nvPr>
            <p:ph type="ftr" sz="quarter" idx="11"/>
          </p:nvPr>
        </p:nvSpPr>
        <p:spPr/>
        <p:txBody>
          <a:bodyPr/>
          <a:lstStyle/>
          <a:p>
            <a:endParaRPr lang="en-BE"/>
          </a:p>
        </p:txBody>
      </p:sp>
      <p:sp>
        <p:nvSpPr>
          <p:cNvPr id="6" name="Tijdelijke aanduiding voor dianummer 5">
            <a:extLst>
              <a:ext uri="{FF2B5EF4-FFF2-40B4-BE49-F238E27FC236}">
                <a16:creationId xmlns:a16="http://schemas.microsoft.com/office/drawing/2014/main" id="{AD29EC59-10E4-4E90-AEF4-F74EC07C825E}"/>
              </a:ext>
            </a:extLst>
          </p:cNvPr>
          <p:cNvSpPr>
            <a:spLocks noGrp="1"/>
          </p:cNvSpPr>
          <p:nvPr>
            <p:ph type="sldNum" sz="quarter" idx="12"/>
          </p:nvPr>
        </p:nvSpPr>
        <p:spPr/>
        <p:txBody>
          <a:bodyPr/>
          <a:lstStyle/>
          <a:p>
            <a:fld id="{25D63EFA-E134-4F46-A1DA-4D0D4B8DD6EC}" type="slidenum">
              <a:rPr lang="en-BE" smtClean="0"/>
              <a:t>‹#›</a:t>
            </a:fld>
            <a:endParaRPr lang="en-BE"/>
          </a:p>
        </p:txBody>
      </p:sp>
    </p:spTree>
    <p:extLst>
      <p:ext uri="{BB962C8B-B14F-4D97-AF65-F5344CB8AC3E}">
        <p14:creationId xmlns:p14="http://schemas.microsoft.com/office/powerpoint/2010/main" val="8224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16C0F430-02B8-470E-88C4-D3F6A6EEE5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2FBDBA69-9857-4F89-AB15-40D66350F9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a:extLst>
              <a:ext uri="{FF2B5EF4-FFF2-40B4-BE49-F238E27FC236}">
                <a16:creationId xmlns:a16="http://schemas.microsoft.com/office/drawing/2014/main" id="{7700B282-C115-4189-B97C-2C968D73F09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44C9-3718-44C4-9063-5DAD08408240}" type="datetimeFigureOut">
              <a:rPr lang="en-BE" smtClean="0"/>
              <a:t>03/04/2025</a:t>
            </a:fld>
            <a:endParaRPr lang="en-BE"/>
          </a:p>
        </p:txBody>
      </p:sp>
      <p:sp>
        <p:nvSpPr>
          <p:cNvPr id="5" name="Tijdelijke aanduiding voor voettekst 4">
            <a:extLst>
              <a:ext uri="{FF2B5EF4-FFF2-40B4-BE49-F238E27FC236}">
                <a16:creationId xmlns:a16="http://schemas.microsoft.com/office/drawing/2014/main" id="{3C35CFB0-104D-43DF-ABAD-E8ED1A7E01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Tijdelijke aanduiding voor dianummer 5">
            <a:extLst>
              <a:ext uri="{FF2B5EF4-FFF2-40B4-BE49-F238E27FC236}">
                <a16:creationId xmlns:a16="http://schemas.microsoft.com/office/drawing/2014/main" id="{25331830-0F71-46FB-910E-F57D488F68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63EFA-E134-4F46-A1DA-4D0D4B8DD6EC}" type="slidenum">
              <a:rPr lang="en-BE" smtClean="0"/>
              <a:t>‹#›</a:t>
            </a:fld>
            <a:endParaRPr lang="en-BE"/>
          </a:p>
        </p:txBody>
      </p:sp>
    </p:spTree>
    <p:extLst>
      <p:ext uri="{BB962C8B-B14F-4D97-AF65-F5344CB8AC3E}">
        <p14:creationId xmlns:p14="http://schemas.microsoft.com/office/powerpoint/2010/main" val="5918836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https://www.youtube.com/embed/fDUFP7EeXLE?feature=oembed" TargetMode="External"/><Relationship Id="rId1" Type="http://schemas.openxmlformats.org/officeDocument/2006/relationships/video" Target="https://www.youtube.com/embed/nkA7D9i0dbk?feature=oembed" TargetMode="Externa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2.svg"/></Relationships>
</file>

<file path=ppt/slides/_rels/slide33.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5.sv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8.jp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45.jpg"/></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53.png"/><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3" Type="http://schemas.openxmlformats.org/officeDocument/2006/relationships/image" Target="../media/image54.gif"/><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21.jpg"/></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8.xml"/><Relationship Id="rId1" Type="http://schemas.openxmlformats.org/officeDocument/2006/relationships/slideLayout" Target="../slideLayouts/slideLayout2.xml"/><Relationship Id="rId4" Type="http://schemas.openxmlformats.org/officeDocument/2006/relationships/image" Target="../media/image5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AF5DD37-2212-916B-E357-43E8D3EA5D93}"/>
              </a:ext>
            </a:extLst>
          </p:cNvPr>
          <p:cNvSpPr>
            <a:spLocks noGrp="1"/>
          </p:cNvSpPr>
          <p:nvPr>
            <p:ph type="body" sz="quarter" idx="10"/>
          </p:nvPr>
        </p:nvSpPr>
        <p:spPr/>
        <p:txBody>
          <a:bodyPr/>
          <a:lstStyle/>
          <a:p>
            <a:endParaRPr lang="en-BE"/>
          </a:p>
        </p:txBody>
      </p:sp>
      <p:sp>
        <p:nvSpPr>
          <p:cNvPr id="3" name="Text Placeholder 2">
            <a:extLst>
              <a:ext uri="{FF2B5EF4-FFF2-40B4-BE49-F238E27FC236}">
                <a16:creationId xmlns:a16="http://schemas.microsoft.com/office/drawing/2014/main" id="{3D20F862-7245-5FF3-F9FF-A37F0519F773}"/>
              </a:ext>
            </a:extLst>
          </p:cNvPr>
          <p:cNvSpPr>
            <a:spLocks noGrp="1"/>
          </p:cNvSpPr>
          <p:nvPr>
            <p:ph type="body" sz="quarter" idx="11"/>
          </p:nvPr>
        </p:nvSpPr>
        <p:spPr/>
        <p:txBody>
          <a:bodyPr/>
          <a:lstStyle/>
          <a:p>
            <a:r>
              <a:rPr lang="en-US" dirty="0"/>
              <a:t>Week 8: Advanced pipeline </a:t>
            </a:r>
            <a:endParaRPr lang="en-BE" dirty="0"/>
          </a:p>
        </p:txBody>
      </p:sp>
      <p:sp>
        <p:nvSpPr>
          <p:cNvPr id="4" name="Text Placeholder 3">
            <a:extLst>
              <a:ext uri="{FF2B5EF4-FFF2-40B4-BE49-F238E27FC236}">
                <a16:creationId xmlns:a16="http://schemas.microsoft.com/office/drawing/2014/main" id="{6C0B0F53-1B0B-247E-5331-DFF63A59F513}"/>
              </a:ext>
            </a:extLst>
          </p:cNvPr>
          <p:cNvSpPr>
            <a:spLocks noGrp="1"/>
          </p:cNvSpPr>
          <p:nvPr>
            <p:ph type="body" sz="quarter" idx="12"/>
          </p:nvPr>
        </p:nvSpPr>
        <p:spPr/>
        <p:txBody>
          <a:bodyPr/>
          <a:lstStyle/>
          <a:p>
            <a:endParaRPr lang="en-BE"/>
          </a:p>
        </p:txBody>
      </p:sp>
      <p:sp>
        <p:nvSpPr>
          <p:cNvPr id="5" name="Text Placeholder 4">
            <a:extLst>
              <a:ext uri="{FF2B5EF4-FFF2-40B4-BE49-F238E27FC236}">
                <a16:creationId xmlns:a16="http://schemas.microsoft.com/office/drawing/2014/main" id="{81906C7B-D22F-6554-53F2-0FB13D199EF6}"/>
              </a:ext>
            </a:extLst>
          </p:cNvPr>
          <p:cNvSpPr>
            <a:spLocks noGrp="1"/>
          </p:cNvSpPr>
          <p:nvPr>
            <p:ph type="body" sz="quarter" idx="13"/>
          </p:nvPr>
        </p:nvSpPr>
        <p:spPr/>
        <p:txBody>
          <a:bodyPr/>
          <a:lstStyle/>
          <a:p>
            <a:endParaRPr lang="en-BE"/>
          </a:p>
        </p:txBody>
      </p:sp>
      <p:sp>
        <p:nvSpPr>
          <p:cNvPr id="6" name="Text Placeholder 5">
            <a:extLst>
              <a:ext uri="{FF2B5EF4-FFF2-40B4-BE49-F238E27FC236}">
                <a16:creationId xmlns:a16="http://schemas.microsoft.com/office/drawing/2014/main" id="{ABFE3868-CBE1-5055-4906-5E64ED6ECD99}"/>
              </a:ext>
            </a:extLst>
          </p:cNvPr>
          <p:cNvSpPr>
            <a:spLocks noGrp="1"/>
          </p:cNvSpPr>
          <p:nvPr>
            <p:ph type="body" sz="quarter" idx="14"/>
          </p:nvPr>
        </p:nvSpPr>
        <p:spPr/>
        <p:txBody>
          <a:bodyPr/>
          <a:lstStyle/>
          <a:p>
            <a:r>
              <a:rPr lang="en-US" dirty="0"/>
              <a:t>2024</a:t>
            </a:r>
          </a:p>
          <a:p>
            <a:endParaRPr lang="en-BE" dirty="0"/>
          </a:p>
        </p:txBody>
      </p:sp>
      <p:pic>
        <p:nvPicPr>
          <p:cNvPr id="7" name="Online Media 6" title="Lord Of The Rings Ghibli VS Original Side-By-Side">
            <a:hlinkClick r:id="" action="ppaction://media"/>
            <a:extLst>
              <a:ext uri="{FF2B5EF4-FFF2-40B4-BE49-F238E27FC236}">
                <a16:creationId xmlns:a16="http://schemas.microsoft.com/office/drawing/2014/main" id="{F4AB95CE-A6B0-3ECF-2C57-1E21BE319FF2}"/>
              </a:ext>
            </a:extLst>
          </p:cNvPr>
          <p:cNvPicPr>
            <a:picLocks noRot="1" noChangeAspect="1"/>
          </p:cNvPicPr>
          <p:nvPr>
            <a:videoFile r:link="rId1"/>
          </p:nvPr>
        </p:nvPicPr>
        <p:blipFill>
          <a:blip r:embed="rId5"/>
          <a:stretch>
            <a:fillRect/>
          </a:stretch>
        </p:blipFill>
        <p:spPr>
          <a:xfrm>
            <a:off x="1057502" y="1290284"/>
            <a:ext cx="5756955" cy="3252687"/>
          </a:xfrm>
          <a:prstGeom prst="rect">
            <a:avLst/>
          </a:prstGeom>
        </p:spPr>
      </p:pic>
      <p:pic>
        <p:nvPicPr>
          <p:cNvPr id="10" name="Online Media 9" title="SPIRITED AWAY | Official English Trailer">
            <a:hlinkClick r:id="" action="ppaction://media"/>
            <a:extLst>
              <a:ext uri="{FF2B5EF4-FFF2-40B4-BE49-F238E27FC236}">
                <a16:creationId xmlns:a16="http://schemas.microsoft.com/office/drawing/2014/main" id="{C14B4A15-4F89-8C71-BE7E-F0595016C166}"/>
              </a:ext>
            </a:extLst>
          </p:cNvPr>
          <p:cNvPicPr>
            <a:picLocks noRot="1" noChangeAspect="1"/>
          </p:cNvPicPr>
          <p:nvPr>
            <a:videoFile r:link="rId2"/>
          </p:nvPr>
        </p:nvPicPr>
        <p:blipFill>
          <a:blip r:embed="rId6"/>
          <a:stretch>
            <a:fillRect/>
          </a:stretch>
        </p:blipFill>
        <p:spPr>
          <a:xfrm>
            <a:off x="6743307" y="1504302"/>
            <a:ext cx="5378163" cy="3038669"/>
          </a:xfrm>
          <a:prstGeom prst="rect">
            <a:avLst/>
          </a:prstGeom>
        </p:spPr>
      </p:pic>
    </p:spTree>
    <p:extLst>
      <p:ext uri="{BB962C8B-B14F-4D97-AF65-F5344CB8AC3E}">
        <p14:creationId xmlns:p14="http://schemas.microsoft.com/office/powerpoint/2010/main" val="190550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11" restart="whenNotActive" fill="hold" evtFilter="cancelBubble" nodeType="interactiveSeq">
                <p:stCondLst>
                  <p:cond evt="onClick" delay="0">
                    <p:tgtEl>
                      <p:spTgt spid="7"/>
                    </p:tgtEl>
                  </p:cond>
                </p:stCondLst>
                <p:endSync evt="end" delay="0">
                  <p:rtn val="all"/>
                </p:endSync>
                <p:childTnLst>
                  <p:par>
                    <p:cTn id="12" fill="hold">
                      <p:stCondLst>
                        <p:cond delay="0"/>
                      </p:stCondLst>
                      <p:childTnLst>
                        <p:par>
                          <p:cTn id="13" fill="hold">
                            <p:stCondLst>
                              <p:cond delay="0"/>
                            </p:stCondLst>
                            <p:childTnLst>
                              <p:par>
                                <p:cTn id="14" presetID="2" presetClass="mediacall" presetSubtype="0" fill="hold" nodeType="clickEffect">
                                  <p:stCondLst>
                                    <p:cond delay="0"/>
                                  </p:stCondLst>
                                  <p:childTnLst>
                                    <p:cmd type="call" cmd="togglePause">
                                      <p:cBhvr>
                                        <p:cTn id="15" dur="1" fill="hold"/>
                                        <p:tgtEl>
                                          <p:spTgt spid="7"/>
                                        </p:tgtEl>
                                      </p:cBhvr>
                                    </p:cmd>
                                  </p:childTnLst>
                                </p:cTn>
                              </p:par>
                            </p:childTnLst>
                          </p:cTn>
                        </p:par>
                      </p:childTnLst>
                    </p:cTn>
                  </p:par>
                </p:childTnLst>
              </p:cTn>
              <p:nextCondLst>
                <p:cond evt="onClick" delay="0">
                  <p:tgtEl>
                    <p:spTgt spid="7"/>
                  </p:tgtEl>
                </p:cond>
              </p:nextCondLst>
            </p:seq>
            <p:video>
              <p:cMediaNode vol="80000">
                <p:cTn id="16" fill="hold" display="0">
                  <p:stCondLst>
                    <p:cond delay="indefinite"/>
                  </p:stCondLst>
                </p:cTn>
                <p:tgtEl>
                  <p:spTgt spid="7"/>
                </p:tgtEl>
              </p:cMediaNode>
            </p:video>
            <p:video>
              <p:cMediaNode vol="80000">
                <p:cTn id="17" fill="hold" display="0">
                  <p:stCondLst>
                    <p:cond delay="indefinite"/>
                  </p:stCondLst>
                </p:cTn>
                <p:tgtEl>
                  <p:spTgt spid="10"/>
                </p:tgtEl>
              </p:cMediaNode>
            </p:video>
            <p:seq concurrent="1" nextAc="seek">
              <p:cTn id="18" restart="whenNotActive" fill="hold" evtFilter="cancelBubble" nodeType="interactiveSeq">
                <p:stCondLst>
                  <p:cond evt="onClick" delay="0">
                    <p:tgtEl>
                      <p:spTgt spid="10"/>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9FD23-D77C-70B3-2CC3-3B9639720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DA8D2-CA6D-2610-89CE-68DEF02CC0F7}"/>
              </a:ext>
            </a:extLst>
          </p:cNvPr>
          <p:cNvSpPr>
            <a:spLocks noGrp="1"/>
          </p:cNvSpPr>
          <p:nvPr>
            <p:ph type="title"/>
          </p:nvPr>
        </p:nvSpPr>
        <p:spPr>
          <a:xfrm>
            <a:off x="595604" y="-70303"/>
            <a:ext cx="10515600" cy="1325563"/>
          </a:xfrm>
        </p:spPr>
        <p:txBody>
          <a:bodyPr/>
          <a:lstStyle/>
          <a:p>
            <a:r>
              <a:rPr lang="en-US" dirty="0"/>
              <a:t>Last class</a:t>
            </a:r>
            <a:endParaRPr lang="en-BE" dirty="0"/>
          </a:p>
        </p:txBody>
      </p:sp>
      <p:sp>
        <p:nvSpPr>
          <p:cNvPr id="3" name="TextBox 2">
            <a:extLst>
              <a:ext uri="{FF2B5EF4-FFF2-40B4-BE49-F238E27FC236}">
                <a16:creationId xmlns:a16="http://schemas.microsoft.com/office/drawing/2014/main" id="{0D033C93-BDDA-E53E-45B8-D25FB21FD02C}"/>
              </a:ext>
            </a:extLst>
          </p:cNvPr>
          <p:cNvSpPr txBox="1"/>
          <p:nvPr/>
        </p:nvSpPr>
        <p:spPr>
          <a:xfrm>
            <a:off x="595604" y="1087309"/>
            <a:ext cx="5429559" cy="954107"/>
          </a:xfrm>
          <a:prstGeom prst="rect">
            <a:avLst/>
          </a:prstGeom>
          <a:noFill/>
        </p:spPr>
        <p:txBody>
          <a:bodyPr wrap="square" rtlCol="0">
            <a:spAutoFit/>
          </a:bodyPr>
          <a:lstStyle/>
          <a:p>
            <a:pPr marL="285750" indent="-285750">
              <a:buFont typeface="Arial" panose="020B0604020202020204" pitchFamily="34" charset="0"/>
              <a:buChar char="•"/>
            </a:pPr>
            <a:r>
              <a:rPr lang="en-US" sz="2800" dirty="0"/>
              <a:t>Aliasing </a:t>
            </a:r>
          </a:p>
          <a:p>
            <a:endParaRPr lang="en-US" sz="2800" dirty="0"/>
          </a:p>
        </p:txBody>
      </p:sp>
      <p:pic>
        <p:nvPicPr>
          <p:cNvPr id="7" name="Picture 6">
            <a:extLst>
              <a:ext uri="{FF2B5EF4-FFF2-40B4-BE49-F238E27FC236}">
                <a16:creationId xmlns:a16="http://schemas.microsoft.com/office/drawing/2014/main" id="{989D6669-752E-C64F-9631-A01F2E2A4512}"/>
              </a:ext>
            </a:extLst>
          </p:cNvPr>
          <p:cNvPicPr>
            <a:picLocks noChangeAspect="1"/>
          </p:cNvPicPr>
          <p:nvPr/>
        </p:nvPicPr>
        <p:blipFill>
          <a:blip r:embed="rId3"/>
          <a:stretch>
            <a:fillRect/>
          </a:stretch>
        </p:blipFill>
        <p:spPr>
          <a:xfrm>
            <a:off x="4014443" y="1915886"/>
            <a:ext cx="8177558" cy="4995689"/>
          </a:xfrm>
          <a:prstGeom prst="rect">
            <a:avLst/>
          </a:prstGeom>
        </p:spPr>
      </p:pic>
    </p:spTree>
    <p:extLst>
      <p:ext uri="{BB962C8B-B14F-4D97-AF65-F5344CB8AC3E}">
        <p14:creationId xmlns:p14="http://schemas.microsoft.com/office/powerpoint/2010/main" val="2203527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564-CA9E-3D87-8903-3909F7D428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B9F79E-D81D-C0B7-2D18-4AECB866817D}"/>
              </a:ext>
            </a:extLst>
          </p:cNvPr>
          <p:cNvSpPr>
            <a:spLocks noGrp="1"/>
          </p:cNvSpPr>
          <p:nvPr>
            <p:ph type="title"/>
          </p:nvPr>
        </p:nvSpPr>
        <p:spPr>
          <a:xfrm>
            <a:off x="519362" y="238794"/>
            <a:ext cx="10515600" cy="1325563"/>
          </a:xfrm>
        </p:spPr>
        <p:txBody>
          <a:bodyPr/>
          <a:lstStyle/>
          <a:p>
            <a:r>
              <a:rPr lang="en-US" dirty="0"/>
              <a:t>Course schedule</a:t>
            </a:r>
            <a:endParaRPr lang="en-BE" dirty="0"/>
          </a:p>
        </p:txBody>
      </p:sp>
      <p:pic>
        <p:nvPicPr>
          <p:cNvPr id="4" name="Picture 3">
            <a:extLst>
              <a:ext uri="{FF2B5EF4-FFF2-40B4-BE49-F238E27FC236}">
                <a16:creationId xmlns:a16="http://schemas.microsoft.com/office/drawing/2014/main" id="{44AD8DA9-97E3-0B9A-E8CC-21F1C6CD170F}"/>
              </a:ext>
            </a:extLst>
          </p:cNvPr>
          <p:cNvPicPr>
            <a:picLocks noChangeAspect="1"/>
          </p:cNvPicPr>
          <p:nvPr/>
        </p:nvPicPr>
        <p:blipFill>
          <a:blip r:embed="rId3"/>
          <a:stretch>
            <a:fillRect/>
          </a:stretch>
        </p:blipFill>
        <p:spPr>
          <a:xfrm>
            <a:off x="0" y="4223671"/>
            <a:ext cx="4032180" cy="2639927"/>
          </a:xfrm>
          <a:prstGeom prst="rect">
            <a:avLst/>
          </a:prstGeom>
        </p:spPr>
      </p:pic>
      <p:sp>
        <p:nvSpPr>
          <p:cNvPr id="3" name="TextBox 2">
            <a:extLst>
              <a:ext uri="{FF2B5EF4-FFF2-40B4-BE49-F238E27FC236}">
                <a16:creationId xmlns:a16="http://schemas.microsoft.com/office/drawing/2014/main" id="{32CA2FDF-DB18-1375-BEF9-8DA80A37B085}"/>
              </a:ext>
            </a:extLst>
          </p:cNvPr>
          <p:cNvSpPr txBox="1"/>
          <p:nvPr/>
        </p:nvSpPr>
        <p:spPr>
          <a:xfrm>
            <a:off x="379445" y="1741714"/>
            <a:ext cx="4696408" cy="523220"/>
          </a:xfrm>
          <a:prstGeom prst="rect">
            <a:avLst/>
          </a:prstGeom>
          <a:noFill/>
        </p:spPr>
        <p:txBody>
          <a:bodyPr wrap="square" rtlCol="0">
            <a:spAutoFit/>
          </a:bodyPr>
          <a:lstStyle/>
          <a:p>
            <a:r>
              <a:rPr lang="en-US" sz="2800" dirty="0"/>
              <a:t>Highly likely to change </a:t>
            </a:r>
            <a:r>
              <a:rPr lang="en-US" sz="2800" dirty="0">
                <a:sym typeface="Wingdings" panose="05000000000000000000" pitchFamily="2" charset="2"/>
              </a:rPr>
              <a:t></a:t>
            </a:r>
          </a:p>
        </p:txBody>
      </p:sp>
      <p:graphicFrame>
        <p:nvGraphicFramePr>
          <p:cNvPr id="6" name="Table 5">
            <a:extLst>
              <a:ext uri="{FF2B5EF4-FFF2-40B4-BE49-F238E27FC236}">
                <a16:creationId xmlns:a16="http://schemas.microsoft.com/office/drawing/2014/main" id="{6CEA932E-E82B-0F40-395E-38460627F163}"/>
              </a:ext>
            </a:extLst>
          </p:cNvPr>
          <p:cNvGraphicFramePr>
            <a:graphicFrameLocks noGrp="1"/>
          </p:cNvGraphicFramePr>
          <p:nvPr>
            <p:extLst>
              <p:ext uri="{D42A27DB-BD31-4B8C-83A1-F6EECF244321}">
                <p14:modId xmlns:p14="http://schemas.microsoft.com/office/powerpoint/2010/main" val="3969821248"/>
              </p:ext>
            </p:extLst>
          </p:nvPr>
        </p:nvGraphicFramePr>
        <p:xfrm>
          <a:off x="5012846" y="101819"/>
          <a:ext cx="6659792" cy="6846918"/>
        </p:xfrm>
        <a:graphic>
          <a:graphicData uri="http://schemas.openxmlformats.org/drawingml/2006/table">
            <a:tbl>
              <a:tblPr firstRow="1" bandRow="1">
                <a:tableStyleId>{5C22544A-7EE6-4342-B048-85BDC9FD1C3A}</a:tableStyleId>
              </a:tblPr>
              <a:tblGrid>
                <a:gridCol w="997950">
                  <a:extLst>
                    <a:ext uri="{9D8B030D-6E8A-4147-A177-3AD203B41FA5}">
                      <a16:colId xmlns:a16="http://schemas.microsoft.com/office/drawing/2014/main" val="4215952977"/>
                    </a:ext>
                  </a:extLst>
                </a:gridCol>
                <a:gridCol w="2830921">
                  <a:extLst>
                    <a:ext uri="{9D8B030D-6E8A-4147-A177-3AD203B41FA5}">
                      <a16:colId xmlns:a16="http://schemas.microsoft.com/office/drawing/2014/main" val="1002713060"/>
                    </a:ext>
                  </a:extLst>
                </a:gridCol>
                <a:gridCol w="2830921">
                  <a:extLst>
                    <a:ext uri="{9D8B030D-6E8A-4147-A177-3AD203B41FA5}">
                      <a16:colId xmlns:a16="http://schemas.microsoft.com/office/drawing/2014/main" val="1545778933"/>
                    </a:ext>
                  </a:extLst>
                </a:gridCol>
              </a:tblGrid>
              <a:tr h="440348">
                <a:tc>
                  <a:txBody>
                    <a:bodyPr/>
                    <a:lstStyle/>
                    <a:p>
                      <a:endParaRPr lang="en-BE" dirty="0"/>
                    </a:p>
                  </a:txBody>
                  <a:tcPr/>
                </a:tc>
                <a:tc>
                  <a:txBody>
                    <a:bodyPr/>
                    <a:lstStyle/>
                    <a:p>
                      <a:endParaRPr lang="en-BE" dirty="0"/>
                    </a:p>
                  </a:txBody>
                  <a:tcPr/>
                </a:tc>
                <a:tc>
                  <a:txBody>
                    <a:bodyPr/>
                    <a:lstStyle/>
                    <a:p>
                      <a:r>
                        <a:rPr lang="en-US" dirty="0"/>
                        <a:t>Wed</a:t>
                      </a:r>
                      <a:endParaRPr lang="en-BE" dirty="0"/>
                    </a:p>
                  </a:txBody>
                  <a:tcPr/>
                </a:tc>
                <a:extLst>
                  <a:ext uri="{0D108BD9-81ED-4DB2-BD59-A6C34878D82A}">
                    <a16:rowId xmlns:a16="http://schemas.microsoft.com/office/drawing/2014/main" val="3632591760"/>
                  </a:ext>
                </a:extLst>
              </a:tr>
              <a:tr h="440348">
                <a:tc>
                  <a:txBody>
                    <a:bodyPr/>
                    <a:lstStyle/>
                    <a:p>
                      <a:r>
                        <a:rPr lang="en-US" dirty="0"/>
                        <a:t>Week 1</a:t>
                      </a:r>
                      <a:endParaRPr lang="en-BE" dirty="0"/>
                    </a:p>
                  </a:txBody>
                  <a:tcPr/>
                </a:tc>
                <a:tc>
                  <a:txBody>
                    <a:bodyPr/>
                    <a:lstStyle/>
                    <a:p>
                      <a:endParaRPr lang="en-BE" dirty="0"/>
                    </a:p>
                  </a:txBody>
                  <a:tcPr/>
                </a:tc>
                <a:tc>
                  <a:txBody>
                    <a:bodyPr/>
                    <a:lstStyle/>
                    <a:p>
                      <a:r>
                        <a:rPr lang="en-US" dirty="0"/>
                        <a:t>Introduction</a:t>
                      </a:r>
                      <a:endParaRPr lang="en-BE" dirty="0"/>
                    </a:p>
                  </a:txBody>
                  <a:tcPr/>
                </a:tc>
                <a:extLst>
                  <a:ext uri="{0D108BD9-81ED-4DB2-BD59-A6C34878D82A}">
                    <a16:rowId xmlns:a16="http://schemas.microsoft.com/office/drawing/2014/main" val="3121121218"/>
                  </a:ext>
                </a:extLst>
              </a:tr>
              <a:tr h="440348">
                <a:tc>
                  <a:txBody>
                    <a:bodyPr/>
                    <a:lstStyle/>
                    <a:p>
                      <a:r>
                        <a:rPr lang="en-US" dirty="0"/>
                        <a:t>Week 2</a:t>
                      </a:r>
                      <a:endParaRPr lang="en-BE" dirty="0"/>
                    </a:p>
                  </a:txBody>
                  <a:tcPr/>
                </a:tc>
                <a:tc>
                  <a:txBody>
                    <a:bodyPr/>
                    <a:lstStyle/>
                    <a:p>
                      <a:endParaRPr lang="en-BE" dirty="0"/>
                    </a:p>
                  </a:txBody>
                  <a:tcPr/>
                </a:tc>
                <a:tc>
                  <a:txBody>
                    <a:bodyPr/>
                    <a:lstStyle/>
                    <a:p>
                      <a:r>
                        <a:rPr lang="en-US" dirty="0"/>
                        <a:t>3D reasoning</a:t>
                      </a:r>
                      <a:endParaRPr lang="en-BE" dirty="0"/>
                    </a:p>
                  </a:txBody>
                  <a:tcPr/>
                </a:tc>
                <a:extLst>
                  <a:ext uri="{0D108BD9-81ED-4DB2-BD59-A6C34878D82A}">
                    <a16:rowId xmlns:a16="http://schemas.microsoft.com/office/drawing/2014/main" val="1569727011"/>
                  </a:ext>
                </a:extLst>
              </a:tr>
              <a:tr h="609835">
                <a:tc>
                  <a:txBody>
                    <a:bodyPr/>
                    <a:lstStyle/>
                    <a:p>
                      <a:r>
                        <a:rPr lang="en-US" dirty="0"/>
                        <a:t>Week 3</a:t>
                      </a:r>
                      <a:endParaRPr lang="en-BE" dirty="0"/>
                    </a:p>
                  </a:txBody>
                  <a:tcPr/>
                </a:tc>
                <a:tc>
                  <a:txBody>
                    <a:bodyPr/>
                    <a:lstStyle/>
                    <a:p>
                      <a:endParaRPr lang="en-BE" dirty="0"/>
                    </a:p>
                  </a:txBody>
                  <a:tcPr/>
                </a:tc>
                <a:tc>
                  <a:txBody>
                    <a:bodyPr/>
                    <a:lstStyle/>
                    <a:p>
                      <a:r>
                        <a:rPr lang="en-US" dirty="0"/>
                        <a:t>Geometry</a:t>
                      </a:r>
                    </a:p>
                    <a:p>
                      <a:endParaRPr lang="en-BE" dirty="0"/>
                    </a:p>
                  </a:txBody>
                  <a:tcPr/>
                </a:tc>
                <a:extLst>
                  <a:ext uri="{0D108BD9-81ED-4DB2-BD59-A6C34878D82A}">
                    <a16:rowId xmlns:a16="http://schemas.microsoft.com/office/drawing/2014/main" val="3180221313"/>
                  </a:ext>
                </a:extLst>
              </a:tr>
              <a:tr h="527618">
                <a:tc>
                  <a:txBody>
                    <a:bodyPr/>
                    <a:lstStyle/>
                    <a:p>
                      <a:r>
                        <a:rPr lang="en-US" dirty="0"/>
                        <a:t>Week 4</a:t>
                      </a:r>
                      <a:endParaRPr lang="en-BE" dirty="0"/>
                    </a:p>
                  </a:txBody>
                  <a:tcPr/>
                </a:tc>
                <a:tc>
                  <a:txBody>
                    <a:bodyPr/>
                    <a:lstStyle/>
                    <a:p>
                      <a:endParaRPr lang="en-BE" dirty="0"/>
                    </a:p>
                  </a:txBody>
                  <a:tcPr/>
                </a:tc>
                <a:tc>
                  <a:txBody>
                    <a:bodyPr/>
                    <a:lstStyle/>
                    <a:p>
                      <a:r>
                        <a:rPr lang="en-US" dirty="0"/>
                        <a:t>Pipeline &amp; Materials</a:t>
                      </a:r>
                      <a:endParaRPr lang="en-BE" dirty="0"/>
                    </a:p>
                  </a:txBody>
                  <a:tcPr/>
                </a:tc>
                <a:extLst>
                  <a:ext uri="{0D108BD9-81ED-4DB2-BD59-A6C34878D82A}">
                    <a16:rowId xmlns:a16="http://schemas.microsoft.com/office/drawing/2014/main" val="3441918310"/>
                  </a:ext>
                </a:extLst>
              </a:tr>
              <a:tr h="567694">
                <a:tc>
                  <a:txBody>
                    <a:bodyPr/>
                    <a:lstStyle/>
                    <a:p>
                      <a:r>
                        <a:rPr lang="en-US" dirty="0"/>
                        <a:t>Week 5</a:t>
                      </a:r>
                      <a:endParaRPr lang="en-BE" dirty="0"/>
                    </a:p>
                  </a:txBody>
                  <a:tcPr/>
                </a:tc>
                <a:tc>
                  <a:txBody>
                    <a:bodyPr/>
                    <a:lstStyle/>
                    <a:p>
                      <a:endParaRPr lang="en-BE" dirty="0"/>
                    </a:p>
                  </a:txBody>
                  <a:tcPr/>
                </a:tc>
                <a:tc>
                  <a:txBody>
                    <a:bodyPr/>
                    <a:lstStyle/>
                    <a:p>
                      <a:r>
                        <a:rPr lang="en-US" dirty="0"/>
                        <a:t>Proceduralism</a:t>
                      </a:r>
                      <a:endParaRPr lang="en-BE" dirty="0"/>
                    </a:p>
                  </a:txBody>
                  <a:tcPr/>
                </a:tc>
                <a:extLst>
                  <a:ext uri="{0D108BD9-81ED-4DB2-BD59-A6C34878D82A}">
                    <a16:rowId xmlns:a16="http://schemas.microsoft.com/office/drawing/2014/main" val="591078510"/>
                  </a:ext>
                </a:extLst>
              </a:tr>
              <a:tr h="771178">
                <a:tc>
                  <a:txBody>
                    <a:bodyPr/>
                    <a:lstStyle/>
                    <a:p>
                      <a:r>
                        <a:rPr lang="en-US" dirty="0"/>
                        <a:t>Week 6</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Textures &amp; Normal maps</a:t>
                      </a:r>
                      <a:endParaRPr lang="en-BE" dirty="0"/>
                    </a:p>
                  </a:txBody>
                  <a:tcPr/>
                </a:tc>
                <a:extLst>
                  <a:ext uri="{0D108BD9-81ED-4DB2-BD59-A6C34878D82A}">
                    <a16:rowId xmlns:a16="http://schemas.microsoft.com/office/drawing/2014/main" val="1977941231"/>
                  </a:ext>
                </a:extLst>
              </a:tr>
              <a:tr h="609835">
                <a:tc>
                  <a:txBody>
                    <a:bodyPr/>
                    <a:lstStyle/>
                    <a:p>
                      <a:r>
                        <a:rPr lang="en-US" dirty="0"/>
                        <a:t>Week 7</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Aliasing  / Presentations</a:t>
                      </a:r>
                      <a:endParaRPr lang="en-BE"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BE" dirty="0"/>
                    </a:p>
                  </a:txBody>
                  <a:tcPr/>
                </a:tc>
                <a:extLst>
                  <a:ext uri="{0D108BD9-81ED-4DB2-BD59-A6C34878D82A}">
                    <a16:rowId xmlns:a16="http://schemas.microsoft.com/office/drawing/2014/main" val="4124929814"/>
                  </a:ext>
                </a:extLst>
              </a:tr>
              <a:tr h="609835">
                <a:tc>
                  <a:txBody>
                    <a:bodyPr/>
                    <a:lstStyle/>
                    <a:p>
                      <a:r>
                        <a:rPr lang="en-US" dirty="0"/>
                        <a:t>Week 8</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Lab</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Advanced pipeline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Lab</a:t>
                      </a:r>
                      <a:endParaRPr lang="en-BE" dirty="0"/>
                    </a:p>
                  </a:txBody>
                  <a:tcPr/>
                </a:tc>
                <a:extLst>
                  <a:ext uri="{0D108BD9-81ED-4DB2-BD59-A6C34878D82A}">
                    <a16:rowId xmlns:a16="http://schemas.microsoft.com/office/drawing/2014/main" val="3765942271"/>
                  </a:ext>
                </a:extLst>
              </a:tr>
              <a:tr h="771178">
                <a:tc>
                  <a:txBody>
                    <a:bodyPr/>
                    <a:lstStyle/>
                    <a:p>
                      <a:r>
                        <a:rPr lang="en-US" dirty="0"/>
                        <a:t>Week 9</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Advanced pipeline 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Lab</a:t>
                      </a:r>
                      <a:endParaRPr lang="en-B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Post Processing</a:t>
                      </a:r>
                      <a:endParaRPr lang="en-BE" dirty="0"/>
                    </a:p>
                  </a:txBody>
                  <a:tcPr/>
                </a:tc>
                <a:extLst>
                  <a:ext uri="{0D108BD9-81ED-4DB2-BD59-A6C34878D82A}">
                    <a16:rowId xmlns:a16="http://schemas.microsoft.com/office/drawing/2014/main" val="3316500834"/>
                  </a:ext>
                </a:extLst>
              </a:tr>
              <a:tr h="527618">
                <a:tc>
                  <a:txBody>
                    <a:bodyPr/>
                    <a:lstStyle/>
                    <a:p>
                      <a:r>
                        <a:rPr lang="en-US" dirty="0"/>
                        <a:t>Week 10</a:t>
                      </a:r>
                      <a:endParaRPr lang="en-BE" dirty="0"/>
                    </a:p>
                  </a:txBody>
                  <a:tcPr/>
                </a:tc>
                <a:tc>
                  <a:txBody>
                    <a:bodyPr/>
                    <a:lstStyle/>
                    <a:p>
                      <a:r>
                        <a:rPr lang="en-US" dirty="0"/>
                        <a:t>?</a:t>
                      </a:r>
                      <a:endParaRPr lang="en-BE" dirty="0"/>
                    </a:p>
                  </a:txBody>
                  <a:tcPr/>
                </a:tc>
                <a:tc>
                  <a:txBody>
                    <a:bodyPr/>
                    <a:lstStyle/>
                    <a:p>
                      <a:r>
                        <a:rPr lang="en-US" dirty="0"/>
                        <a:t>Project</a:t>
                      </a:r>
                      <a:endParaRPr lang="en-BE" dirty="0"/>
                    </a:p>
                  </a:txBody>
                  <a:tcPr/>
                </a:tc>
                <a:extLst>
                  <a:ext uri="{0D108BD9-81ED-4DB2-BD59-A6C34878D82A}">
                    <a16:rowId xmlns:a16="http://schemas.microsoft.com/office/drawing/2014/main" val="2746961463"/>
                  </a:ext>
                </a:extLst>
              </a:tr>
              <a:tr h="440348">
                <a:tc>
                  <a:txBody>
                    <a:bodyPr/>
                    <a:lstStyle/>
                    <a:p>
                      <a:r>
                        <a:rPr lang="en-US" dirty="0"/>
                        <a:t>Week 11</a:t>
                      </a:r>
                      <a:endParaRPr lang="en-BE" dirty="0"/>
                    </a:p>
                  </a:txBody>
                  <a:tcPr/>
                </a:tc>
                <a:tc>
                  <a:txBody>
                    <a:bodyPr/>
                    <a:lstStyle/>
                    <a:p>
                      <a:r>
                        <a:rPr lang="en-US" dirty="0"/>
                        <a:t>?</a:t>
                      </a:r>
                      <a:endParaRPr lang="en-BE" dirty="0"/>
                    </a:p>
                  </a:txBody>
                  <a:tcPr/>
                </a:tc>
                <a:tc>
                  <a:txBody>
                    <a:bodyPr/>
                    <a:lstStyle/>
                    <a:p>
                      <a:r>
                        <a:rPr lang="en-US" dirty="0"/>
                        <a:t>Revision</a:t>
                      </a:r>
                      <a:endParaRPr lang="en-BE" dirty="0"/>
                    </a:p>
                  </a:txBody>
                  <a:tcPr/>
                </a:tc>
                <a:extLst>
                  <a:ext uri="{0D108BD9-81ED-4DB2-BD59-A6C34878D82A}">
                    <a16:rowId xmlns:a16="http://schemas.microsoft.com/office/drawing/2014/main" val="776446022"/>
                  </a:ext>
                </a:extLst>
              </a:tr>
            </a:tbl>
          </a:graphicData>
        </a:graphic>
      </p:graphicFrame>
      <p:sp>
        <p:nvSpPr>
          <p:cNvPr id="7" name="Rectangle 6">
            <a:extLst>
              <a:ext uri="{FF2B5EF4-FFF2-40B4-BE49-F238E27FC236}">
                <a16:creationId xmlns:a16="http://schemas.microsoft.com/office/drawing/2014/main" id="{27F2239F-9E21-9D30-9311-23FF7A1A3E6B}"/>
              </a:ext>
            </a:extLst>
          </p:cNvPr>
          <p:cNvSpPr/>
          <p:nvPr/>
        </p:nvSpPr>
        <p:spPr>
          <a:xfrm>
            <a:off x="8842904" y="4473915"/>
            <a:ext cx="2301551" cy="801713"/>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282811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73297-8044-DFEA-04F5-D9FB0C6580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C2D51-1E40-FA66-F1C2-BA0D541193B7}"/>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13CB8313-D9B1-33D6-9A00-505148019F20}"/>
              </a:ext>
            </a:extLst>
          </p:cNvPr>
          <p:cNvSpPr txBox="1"/>
          <p:nvPr/>
        </p:nvSpPr>
        <p:spPr>
          <a:xfrm>
            <a:off x="989900" y="1690689"/>
            <a:ext cx="8726377"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 Pipeline recap </a:t>
            </a:r>
          </a:p>
          <a:p>
            <a:pPr marL="285750" indent="-285750">
              <a:buFont typeface="Arial" panose="020B0604020202020204" pitchFamily="34" charset="0"/>
              <a:buChar char="•"/>
            </a:pPr>
            <a:r>
              <a:rPr lang="en-US" sz="2800" dirty="0">
                <a:sym typeface="Wingdings" panose="05000000000000000000" pitchFamily="2" charset="2"/>
              </a:rPr>
              <a:t>Back in the day</a:t>
            </a:r>
          </a:p>
          <a:p>
            <a:pPr marL="285750" indent="-285750">
              <a:buFont typeface="Arial" panose="020B0604020202020204" pitchFamily="34" charset="0"/>
              <a:buChar char="•"/>
            </a:pPr>
            <a:r>
              <a:rPr lang="en-US" sz="2800" dirty="0">
                <a:sym typeface="Wingdings" panose="05000000000000000000" pitchFamily="2" charset="2"/>
              </a:rPr>
              <a:t>Light &amp; Shadow</a:t>
            </a:r>
          </a:p>
          <a:p>
            <a:pPr marL="285750" indent="-285750">
              <a:buFont typeface="Arial" panose="020B0604020202020204" pitchFamily="34" charset="0"/>
              <a:buChar char="•"/>
            </a:pPr>
            <a:r>
              <a:rPr lang="en-US" sz="2800" dirty="0">
                <a:sym typeface="Wingdings" panose="05000000000000000000" pitchFamily="2" charset="2"/>
              </a:rPr>
              <a:t>Camera</a:t>
            </a:r>
          </a:p>
          <a:p>
            <a:pPr marL="285750" indent="-285750">
              <a:buFont typeface="Arial" panose="020B0604020202020204" pitchFamily="34" charset="0"/>
              <a:buChar char="•"/>
            </a:pPr>
            <a:r>
              <a:rPr lang="en-US" sz="2800" dirty="0">
                <a:sym typeface="Wingdings" panose="05000000000000000000" pitchFamily="2" charset="2"/>
              </a:rPr>
              <a:t>Ray Tracing vs Rasterization</a:t>
            </a:r>
          </a:p>
          <a:p>
            <a:pPr marL="285750" indent="-285750">
              <a:buFont typeface="Arial" panose="020B0604020202020204" pitchFamily="34" charset="0"/>
              <a:buChar char="•"/>
            </a:pPr>
            <a:r>
              <a:rPr lang="en-US" sz="2800" dirty="0">
                <a:sym typeface="Wingdings" panose="05000000000000000000" pitchFamily="2" charset="2"/>
              </a:rPr>
              <a:t>Forward rendering</a:t>
            </a:r>
          </a:p>
        </p:txBody>
      </p:sp>
    </p:spTree>
    <p:extLst>
      <p:ext uri="{BB962C8B-B14F-4D97-AF65-F5344CB8AC3E}">
        <p14:creationId xmlns:p14="http://schemas.microsoft.com/office/powerpoint/2010/main" val="1372615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34586-C607-EC20-3F69-EEFF6D3B19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5DAF8-8C4F-B228-9870-4E49C098FA19}"/>
              </a:ext>
            </a:extLst>
          </p:cNvPr>
          <p:cNvSpPr>
            <a:spLocks noGrp="1"/>
          </p:cNvSpPr>
          <p:nvPr>
            <p:ph type="title"/>
          </p:nvPr>
        </p:nvSpPr>
        <p:spPr>
          <a:xfrm>
            <a:off x="838200" y="178103"/>
            <a:ext cx="10515600" cy="1325563"/>
          </a:xfrm>
        </p:spPr>
        <p:txBody>
          <a:bodyPr/>
          <a:lstStyle/>
          <a:p>
            <a:r>
              <a:rPr lang="en-US" dirty="0"/>
              <a:t>GPU Pipeline</a:t>
            </a:r>
            <a:endParaRPr lang="en-BE" dirty="0"/>
          </a:p>
        </p:txBody>
      </p:sp>
      <p:pic>
        <p:nvPicPr>
          <p:cNvPr id="3" name="Picture 2" descr="A picture containing traffic light&#10;&#10;Description automatically generated">
            <a:extLst>
              <a:ext uri="{FF2B5EF4-FFF2-40B4-BE49-F238E27FC236}">
                <a16:creationId xmlns:a16="http://schemas.microsoft.com/office/drawing/2014/main" id="{AF880B2F-1481-EEDE-73B4-F9A8D3E27C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845" y="4030510"/>
            <a:ext cx="2142478" cy="1067344"/>
          </a:xfrm>
          <a:prstGeom prst="rect">
            <a:avLst/>
          </a:prstGeom>
        </p:spPr>
      </p:pic>
      <p:pic>
        <p:nvPicPr>
          <p:cNvPr id="4" name="Picture 3" descr="A picture containing object&#10;&#10;Description automatically generated">
            <a:extLst>
              <a:ext uri="{FF2B5EF4-FFF2-40B4-BE49-F238E27FC236}">
                <a16:creationId xmlns:a16="http://schemas.microsoft.com/office/drawing/2014/main" id="{F1E41020-E8CD-E39C-3A95-7D61480E62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8638" y="3994074"/>
            <a:ext cx="2009186" cy="1143409"/>
          </a:xfrm>
          <a:prstGeom prst="rect">
            <a:avLst/>
          </a:prstGeom>
        </p:spPr>
      </p:pic>
      <p:pic>
        <p:nvPicPr>
          <p:cNvPr id="5" name="Picture 4">
            <a:extLst>
              <a:ext uri="{FF2B5EF4-FFF2-40B4-BE49-F238E27FC236}">
                <a16:creationId xmlns:a16="http://schemas.microsoft.com/office/drawing/2014/main" id="{8FB6BED6-BE46-DFFE-E56C-63803174336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4806" y="3994075"/>
            <a:ext cx="1933806" cy="1014596"/>
          </a:xfrm>
          <a:prstGeom prst="rect">
            <a:avLst/>
          </a:prstGeom>
        </p:spPr>
      </p:pic>
      <p:pic>
        <p:nvPicPr>
          <p:cNvPr id="6" name="Picture 5" descr="A picture containing building&#10;&#10;Description automatically generated">
            <a:extLst>
              <a:ext uri="{FF2B5EF4-FFF2-40B4-BE49-F238E27FC236}">
                <a16:creationId xmlns:a16="http://schemas.microsoft.com/office/drawing/2014/main" id="{F8C6FD52-C090-090D-B096-500C4C88BF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13300" y="4002967"/>
            <a:ext cx="1933806" cy="1014596"/>
          </a:xfrm>
          <a:prstGeom prst="rect">
            <a:avLst/>
          </a:prstGeom>
        </p:spPr>
      </p:pic>
      <p:sp>
        <p:nvSpPr>
          <p:cNvPr id="7" name="TextBox 6">
            <a:extLst>
              <a:ext uri="{FF2B5EF4-FFF2-40B4-BE49-F238E27FC236}">
                <a16:creationId xmlns:a16="http://schemas.microsoft.com/office/drawing/2014/main" id="{52C1DF5E-1BA3-6E5E-AB81-8213A538F3DA}"/>
              </a:ext>
            </a:extLst>
          </p:cNvPr>
          <p:cNvSpPr txBox="1"/>
          <p:nvPr/>
        </p:nvSpPr>
        <p:spPr>
          <a:xfrm>
            <a:off x="1847752" y="5763783"/>
            <a:ext cx="1929439" cy="461665"/>
          </a:xfrm>
          <a:prstGeom prst="rect">
            <a:avLst/>
          </a:prstGeom>
          <a:noFill/>
        </p:spPr>
        <p:txBody>
          <a:bodyPr wrap="none" rtlCol="0">
            <a:spAutoFit/>
          </a:bodyPr>
          <a:lstStyle/>
          <a:p>
            <a:r>
              <a:rPr lang="en-US" sz="2400" dirty="0"/>
              <a:t>Vertex Shader</a:t>
            </a:r>
            <a:endParaRPr lang="en-BE" sz="2400" dirty="0"/>
          </a:p>
        </p:txBody>
      </p:sp>
      <p:sp>
        <p:nvSpPr>
          <p:cNvPr id="8" name="TextBox 7">
            <a:extLst>
              <a:ext uri="{FF2B5EF4-FFF2-40B4-BE49-F238E27FC236}">
                <a16:creationId xmlns:a16="http://schemas.microsoft.com/office/drawing/2014/main" id="{324F51B8-2488-8BA0-A9F2-E9838F7D68BF}"/>
              </a:ext>
            </a:extLst>
          </p:cNvPr>
          <p:cNvSpPr txBox="1"/>
          <p:nvPr/>
        </p:nvSpPr>
        <p:spPr>
          <a:xfrm>
            <a:off x="5599318" y="5763784"/>
            <a:ext cx="1315488" cy="461665"/>
          </a:xfrm>
          <a:prstGeom prst="rect">
            <a:avLst/>
          </a:prstGeom>
          <a:noFill/>
        </p:spPr>
        <p:txBody>
          <a:bodyPr wrap="none" rtlCol="0">
            <a:spAutoFit/>
          </a:bodyPr>
          <a:lstStyle/>
          <a:p>
            <a:r>
              <a:rPr lang="en-US" sz="2400" dirty="0"/>
              <a:t>Rasterize</a:t>
            </a:r>
            <a:endParaRPr lang="en-BE" sz="2400" dirty="0"/>
          </a:p>
        </p:txBody>
      </p:sp>
      <p:sp>
        <p:nvSpPr>
          <p:cNvPr id="9" name="TextBox 8">
            <a:extLst>
              <a:ext uri="{FF2B5EF4-FFF2-40B4-BE49-F238E27FC236}">
                <a16:creationId xmlns:a16="http://schemas.microsoft.com/office/drawing/2014/main" id="{7DDC59FF-E47A-12C3-11DF-87E440F4AF35}"/>
              </a:ext>
            </a:extLst>
          </p:cNvPr>
          <p:cNvSpPr txBox="1"/>
          <p:nvPr/>
        </p:nvSpPr>
        <p:spPr>
          <a:xfrm>
            <a:off x="8175882" y="5763784"/>
            <a:ext cx="2674835" cy="461665"/>
          </a:xfrm>
          <a:prstGeom prst="rect">
            <a:avLst/>
          </a:prstGeom>
          <a:noFill/>
        </p:spPr>
        <p:txBody>
          <a:bodyPr wrap="none" rtlCol="0">
            <a:spAutoFit/>
          </a:bodyPr>
          <a:lstStyle/>
          <a:p>
            <a:r>
              <a:rPr lang="en-US" sz="2400" dirty="0"/>
              <a:t>Calculate pixel color</a:t>
            </a:r>
            <a:endParaRPr lang="en-BE" sz="2400" dirty="0"/>
          </a:p>
        </p:txBody>
      </p:sp>
      <p:sp>
        <p:nvSpPr>
          <p:cNvPr id="10" name="Arrow: Right 9">
            <a:extLst>
              <a:ext uri="{FF2B5EF4-FFF2-40B4-BE49-F238E27FC236}">
                <a16:creationId xmlns:a16="http://schemas.microsoft.com/office/drawing/2014/main" id="{482D5567-B874-F6D5-EF66-C79349A53D5A}"/>
              </a:ext>
            </a:extLst>
          </p:cNvPr>
          <p:cNvSpPr/>
          <p:nvPr/>
        </p:nvSpPr>
        <p:spPr>
          <a:xfrm>
            <a:off x="2698022" y="4473618"/>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Arrow: Right 10">
            <a:extLst>
              <a:ext uri="{FF2B5EF4-FFF2-40B4-BE49-F238E27FC236}">
                <a16:creationId xmlns:a16="http://schemas.microsoft.com/office/drawing/2014/main" id="{EB05A57B-12E3-A2D2-29D5-609E62FF50C2}"/>
              </a:ext>
            </a:extLst>
          </p:cNvPr>
          <p:cNvSpPr/>
          <p:nvPr/>
        </p:nvSpPr>
        <p:spPr>
          <a:xfrm>
            <a:off x="5807129" y="4431965"/>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Arrow: Right 11">
            <a:extLst>
              <a:ext uri="{FF2B5EF4-FFF2-40B4-BE49-F238E27FC236}">
                <a16:creationId xmlns:a16="http://schemas.microsoft.com/office/drawing/2014/main" id="{C4D2A4D7-5D78-13E2-79F3-5A98470CEEAF}"/>
              </a:ext>
            </a:extLst>
          </p:cNvPr>
          <p:cNvSpPr/>
          <p:nvPr/>
        </p:nvSpPr>
        <p:spPr>
          <a:xfrm>
            <a:off x="8848612" y="4428177"/>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TextBox 12">
            <a:extLst>
              <a:ext uri="{FF2B5EF4-FFF2-40B4-BE49-F238E27FC236}">
                <a16:creationId xmlns:a16="http://schemas.microsoft.com/office/drawing/2014/main" id="{617A0AF0-1EB5-E09C-6B20-D30B03F1EECD}"/>
              </a:ext>
            </a:extLst>
          </p:cNvPr>
          <p:cNvSpPr txBox="1"/>
          <p:nvPr/>
        </p:nvSpPr>
        <p:spPr>
          <a:xfrm>
            <a:off x="510075" y="1381493"/>
            <a:ext cx="9703836"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a:t>Remember, the GPU pipeline was a series of steps (and hardware) developed for rendering</a:t>
            </a:r>
          </a:p>
          <a:p>
            <a:pPr marL="285750" indent="-285750">
              <a:buFont typeface="Arial" panose="020B0604020202020204" pitchFamily="34" charset="0"/>
              <a:buChar char="•"/>
            </a:pPr>
            <a:r>
              <a:rPr lang="en-US" sz="2400" dirty="0"/>
              <a:t>It’s very low level. It allows us to do rendering, but doesn’t do many features. That’s for engines (like Unity)</a:t>
            </a:r>
          </a:p>
          <a:p>
            <a:pPr marL="285750" indent="-285750">
              <a:buFont typeface="Arial" panose="020B0604020202020204" pitchFamily="34" charset="0"/>
              <a:buChar char="•"/>
            </a:pPr>
            <a:r>
              <a:rPr lang="en-US" sz="2400" dirty="0"/>
              <a:t>For example, it doesn’t do lights, shadows, camera’s. It does matrices, vectors, textures</a:t>
            </a:r>
            <a:endParaRPr lang="en-BE" sz="2400" dirty="0"/>
          </a:p>
        </p:txBody>
      </p:sp>
    </p:spTree>
    <p:extLst>
      <p:ext uri="{BB962C8B-B14F-4D97-AF65-F5344CB8AC3E}">
        <p14:creationId xmlns:p14="http://schemas.microsoft.com/office/powerpoint/2010/main" val="580916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D2D56-19FF-107D-189B-C760A5A00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42DD9B-FC71-D6A3-695A-5AD7A94E492B}"/>
              </a:ext>
            </a:extLst>
          </p:cNvPr>
          <p:cNvSpPr>
            <a:spLocks noGrp="1"/>
          </p:cNvSpPr>
          <p:nvPr>
            <p:ph type="title"/>
          </p:nvPr>
        </p:nvSpPr>
        <p:spPr/>
        <p:txBody>
          <a:bodyPr/>
          <a:lstStyle/>
          <a:p>
            <a:r>
              <a:rPr lang="en-US" dirty="0"/>
              <a:t>Graphics Pipeline (partially)</a:t>
            </a:r>
            <a:endParaRPr lang="en-BE" dirty="0"/>
          </a:p>
        </p:txBody>
      </p:sp>
      <p:pic>
        <p:nvPicPr>
          <p:cNvPr id="3" name="Picture 2" descr="A picture containing traffic light&#10;&#10;Description automatically generated">
            <a:extLst>
              <a:ext uri="{FF2B5EF4-FFF2-40B4-BE49-F238E27FC236}">
                <a16:creationId xmlns:a16="http://schemas.microsoft.com/office/drawing/2014/main" id="{C58A4C04-A79C-EDD2-C84C-DDAE8E7A45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539" y="2008877"/>
            <a:ext cx="2142478" cy="1067344"/>
          </a:xfrm>
          <a:prstGeom prst="rect">
            <a:avLst/>
          </a:prstGeom>
        </p:spPr>
      </p:pic>
      <p:pic>
        <p:nvPicPr>
          <p:cNvPr id="4" name="Picture 3" descr="A picture containing object&#10;&#10;Description automatically generated">
            <a:extLst>
              <a:ext uri="{FF2B5EF4-FFF2-40B4-BE49-F238E27FC236}">
                <a16:creationId xmlns:a16="http://schemas.microsoft.com/office/drawing/2014/main" id="{F49E91AD-4721-BCBC-3B1A-65635292D9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35332" y="1972441"/>
            <a:ext cx="2009186" cy="1143409"/>
          </a:xfrm>
          <a:prstGeom prst="rect">
            <a:avLst/>
          </a:prstGeom>
        </p:spPr>
      </p:pic>
      <p:pic>
        <p:nvPicPr>
          <p:cNvPr id="5" name="Picture 4">
            <a:extLst>
              <a:ext uri="{FF2B5EF4-FFF2-40B4-BE49-F238E27FC236}">
                <a16:creationId xmlns:a16="http://schemas.microsoft.com/office/drawing/2014/main" id="{E9483534-A108-F1C1-7A01-E00C5199A4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1500" y="1972442"/>
            <a:ext cx="1933806" cy="1014596"/>
          </a:xfrm>
          <a:prstGeom prst="rect">
            <a:avLst/>
          </a:prstGeom>
        </p:spPr>
      </p:pic>
      <p:pic>
        <p:nvPicPr>
          <p:cNvPr id="6" name="Picture 5" descr="A picture containing building&#10;&#10;Description automatically generated">
            <a:extLst>
              <a:ext uri="{FF2B5EF4-FFF2-40B4-BE49-F238E27FC236}">
                <a16:creationId xmlns:a16="http://schemas.microsoft.com/office/drawing/2014/main" id="{0FE22AC2-520B-00C6-4C60-A5C970A466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19994" y="1981334"/>
            <a:ext cx="1933806" cy="1014596"/>
          </a:xfrm>
          <a:prstGeom prst="rect">
            <a:avLst/>
          </a:prstGeom>
        </p:spPr>
      </p:pic>
      <p:sp>
        <p:nvSpPr>
          <p:cNvPr id="7" name="TextBox 6">
            <a:extLst>
              <a:ext uri="{FF2B5EF4-FFF2-40B4-BE49-F238E27FC236}">
                <a16:creationId xmlns:a16="http://schemas.microsoft.com/office/drawing/2014/main" id="{97DE4CD4-F867-A57A-90C1-6DCCF335B6EA}"/>
              </a:ext>
            </a:extLst>
          </p:cNvPr>
          <p:cNvSpPr txBox="1"/>
          <p:nvPr/>
        </p:nvSpPr>
        <p:spPr>
          <a:xfrm>
            <a:off x="2461824" y="3397603"/>
            <a:ext cx="2490490" cy="1077218"/>
          </a:xfrm>
          <a:prstGeom prst="rect">
            <a:avLst/>
          </a:prstGeom>
          <a:noFill/>
        </p:spPr>
        <p:txBody>
          <a:bodyPr wrap="none" rtlCol="0">
            <a:spAutoFit/>
          </a:bodyPr>
          <a:lstStyle/>
          <a:p>
            <a:r>
              <a:rPr lang="en-US" sz="2400" dirty="0"/>
              <a:t>Transform vertices</a:t>
            </a:r>
            <a:br>
              <a:rPr lang="en-US" sz="2400" dirty="0"/>
            </a:br>
            <a:r>
              <a:rPr lang="en-US" sz="4000" dirty="0"/>
              <a:t>In Detail</a:t>
            </a:r>
            <a:endParaRPr lang="en-BE" sz="2400" dirty="0"/>
          </a:p>
        </p:txBody>
      </p:sp>
      <p:sp>
        <p:nvSpPr>
          <p:cNvPr id="8" name="TextBox 7">
            <a:extLst>
              <a:ext uri="{FF2B5EF4-FFF2-40B4-BE49-F238E27FC236}">
                <a16:creationId xmlns:a16="http://schemas.microsoft.com/office/drawing/2014/main" id="{29656140-0AB8-3B30-4092-5B1CAF6858AB}"/>
              </a:ext>
            </a:extLst>
          </p:cNvPr>
          <p:cNvSpPr txBox="1"/>
          <p:nvPr/>
        </p:nvSpPr>
        <p:spPr>
          <a:xfrm>
            <a:off x="5506012" y="3742151"/>
            <a:ext cx="1315488" cy="461665"/>
          </a:xfrm>
          <a:prstGeom prst="rect">
            <a:avLst/>
          </a:prstGeom>
          <a:noFill/>
        </p:spPr>
        <p:txBody>
          <a:bodyPr wrap="none" rtlCol="0">
            <a:spAutoFit/>
          </a:bodyPr>
          <a:lstStyle/>
          <a:p>
            <a:r>
              <a:rPr lang="en-US" sz="2400" dirty="0"/>
              <a:t>Rasterize</a:t>
            </a:r>
            <a:endParaRPr lang="en-BE" sz="2400" dirty="0"/>
          </a:p>
        </p:txBody>
      </p:sp>
      <p:sp>
        <p:nvSpPr>
          <p:cNvPr id="9" name="TextBox 8">
            <a:extLst>
              <a:ext uri="{FF2B5EF4-FFF2-40B4-BE49-F238E27FC236}">
                <a16:creationId xmlns:a16="http://schemas.microsoft.com/office/drawing/2014/main" id="{E97AA5EB-F5B3-644E-4E91-920C5676D3E6}"/>
              </a:ext>
            </a:extLst>
          </p:cNvPr>
          <p:cNvSpPr txBox="1"/>
          <p:nvPr/>
        </p:nvSpPr>
        <p:spPr>
          <a:xfrm>
            <a:off x="8082576" y="3742151"/>
            <a:ext cx="2674835" cy="1015663"/>
          </a:xfrm>
          <a:prstGeom prst="rect">
            <a:avLst/>
          </a:prstGeom>
          <a:noFill/>
        </p:spPr>
        <p:txBody>
          <a:bodyPr wrap="none" rtlCol="0">
            <a:spAutoFit/>
          </a:bodyPr>
          <a:lstStyle/>
          <a:p>
            <a:r>
              <a:rPr lang="en-US" sz="2400" dirty="0"/>
              <a:t>Calculate pixel color</a:t>
            </a:r>
          </a:p>
          <a:p>
            <a:r>
              <a:rPr lang="en-US" sz="3600" dirty="0"/>
              <a:t>In Detail</a:t>
            </a:r>
            <a:endParaRPr lang="en-BE" sz="3600" dirty="0"/>
          </a:p>
        </p:txBody>
      </p:sp>
      <p:sp>
        <p:nvSpPr>
          <p:cNvPr id="10" name="Arrow: Right 9">
            <a:extLst>
              <a:ext uri="{FF2B5EF4-FFF2-40B4-BE49-F238E27FC236}">
                <a16:creationId xmlns:a16="http://schemas.microsoft.com/office/drawing/2014/main" id="{B8AFA4BA-0393-4AFE-FFDD-BB9CAC7F2BBF}"/>
              </a:ext>
            </a:extLst>
          </p:cNvPr>
          <p:cNvSpPr/>
          <p:nvPr/>
        </p:nvSpPr>
        <p:spPr>
          <a:xfrm>
            <a:off x="2604716" y="2451985"/>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1" name="Arrow: Right 10">
            <a:extLst>
              <a:ext uri="{FF2B5EF4-FFF2-40B4-BE49-F238E27FC236}">
                <a16:creationId xmlns:a16="http://schemas.microsoft.com/office/drawing/2014/main" id="{E0B63177-E030-2C8B-16C9-8C08B7711AF7}"/>
              </a:ext>
            </a:extLst>
          </p:cNvPr>
          <p:cNvSpPr/>
          <p:nvPr/>
        </p:nvSpPr>
        <p:spPr>
          <a:xfrm>
            <a:off x="5713823" y="2410332"/>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2" name="Arrow: Right 11">
            <a:extLst>
              <a:ext uri="{FF2B5EF4-FFF2-40B4-BE49-F238E27FC236}">
                <a16:creationId xmlns:a16="http://schemas.microsoft.com/office/drawing/2014/main" id="{17ECF3D5-A2F9-B0BE-B2E7-02B6FB339097}"/>
              </a:ext>
            </a:extLst>
          </p:cNvPr>
          <p:cNvSpPr/>
          <p:nvPr/>
        </p:nvSpPr>
        <p:spPr>
          <a:xfrm>
            <a:off x="8755306" y="2406544"/>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14" name="Picture 13" descr="A close-up of a kite&#10;&#10;Description automatically generated">
            <a:extLst>
              <a:ext uri="{FF2B5EF4-FFF2-40B4-BE49-F238E27FC236}">
                <a16:creationId xmlns:a16="http://schemas.microsoft.com/office/drawing/2014/main" id="{A9DD4D1B-70C4-C469-47E4-CD4D3C1ED18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68" y="5057192"/>
            <a:ext cx="4588733" cy="1435683"/>
          </a:xfrm>
          <a:prstGeom prst="rect">
            <a:avLst/>
          </a:prstGeom>
        </p:spPr>
      </p:pic>
      <p:pic>
        <p:nvPicPr>
          <p:cNvPr id="15" name="Picture 14">
            <a:extLst>
              <a:ext uri="{FF2B5EF4-FFF2-40B4-BE49-F238E27FC236}">
                <a16:creationId xmlns:a16="http://schemas.microsoft.com/office/drawing/2014/main" id="{AAE05CFE-E8AA-695C-57DB-E524F1BF2AB5}"/>
              </a:ext>
            </a:extLst>
          </p:cNvPr>
          <p:cNvPicPr>
            <a:picLocks noChangeAspect="1"/>
          </p:cNvPicPr>
          <p:nvPr/>
        </p:nvPicPr>
        <p:blipFill>
          <a:blip r:embed="rId8"/>
          <a:stretch>
            <a:fillRect/>
          </a:stretch>
        </p:blipFill>
        <p:spPr>
          <a:xfrm>
            <a:off x="10788507" y="3742150"/>
            <a:ext cx="1403493" cy="1201390"/>
          </a:xfrm>
          <a:prstGeom prst="rect">
            <a:avLst/>
          </a:prstGeom>
        </p:spPr>
      </p:pic>
      <p:sp>
        <p:nvSpPr>
          <p:cNvPr id="16" name="TextBox 15">
            <a:extLst>
              <a:ext uri="{FF2B5EF4-FFF2-40B4-BE49-F238E27FC236}">
                <a16:creationId xmlns:a16="http://schemas.microsoft.com/office/drawing/2014/main" id="{A8DD41A1-EF3B-B65F-5E6F-FE51687B1283}"/>
              </a:ext>
            </a:extLst>
          </p:cNvPr>
          <p:cNvSpPr txBox="1"/>
          <p:nvPr/>
        </p:nvSpPr>
        <p:spPr>
          <a:xfrm>
            <a:off x="6096000" y="5561045"/>
            <a:ext cx="5970930" cy="646331"/>
          </a:xfrm>
          <a:prstGeom prst="rect">
            <a:avLst/>
          </a:prstGeom>
          <a:noFill/>
        </p:spPr>
        <p:txBody>
          <a:bodyPr wrap="none" rtlCol="0">
            <a:spAutoFit/>
          </a:bodyPr>
          <a:lstStyle/>
          <a:p>
            <a:pPr marL="285750" indent="-285750">
              <a:buFont typeface="Arial" panose="020B0604020202020204" pitchFamily="34" charset="0"/>
              <a:buChar char="•"/>
            </a:pPr>
            <a:r>
              <a:rPr lang="en-US" dirty="0"/>
              <a:t>These features, like shading and projection, are done by us</a:t>
            </a:r>
          </a:p>
          <a:p>
            <a:pPr marL="285750" indent="-285750">
              <a:buFont typeface="Arial" panose="020B0604020202020204" pitchFamily="34" charset="0"/>
              <a:buChar char="•"/>
            </a:pPr>
            <a:r>
              <a:rPr lang="en-US" dirty="0"/>
              <a:t>We use shaders to implement them</a:t>
            </a:r>
            <a:endParaRPr lang="en-BE" dirty="0"/>
          </a:p>
        </p:txBody>
      </p:sp>
    </p:spTree>
    <p:extLst>
      <p:ext uri="{BB962C8B-B14F-4D97-AF65-F5344CB8AC3E}">
        <p14:creationId xmlns:p14="http://schemas.microsoft.com/office/powerpoint/2010/main" val="2446206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79BC5-E165-F342-4767-BE136ABD66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14070-A80B-8B1D-5443-7432F6AFA384}"/>
              </a:ext>
            </a:extLst>
          </p:cNvPr>
          <p:cNvSpPr>
            <a:spLocks noGrp="1"/>
          </p:cNvSpPr>
          <p:nvPr>
            <p:ph type="title"/>
          </p:nvPr>
        </p:nvSpPr>
        <p:spPr/>
        <p:txBody>
          <a:bodyPr/>
          <a:lstStyle/>
          <a:p>
            <a:r>
              <a:rPr lang="en-US" dirty="0"/>
              <a:t>Graphics Pipeline</a:t>
            </a:r>
            <a:endParaRPr lang="en-BE" dirty="0"/>
          </a:p>
        </p:txBody>
      </p:sp>
      <p:pic>
        <p:nvPicPr>
          <p:cNvPr id="16" name="Picture 15">
            <a:extLst>
              <a:ext uri="{FF2B5EF4-FFF2-40B4-BE49-F238E27FC236}">
                <a16:creationId xmlns:a16="http://schemas.microsoft.com/office/drawing/2014/main" id="{89B67DAA-4BA3-21FD-93F7-45572411C9C3}"/>
              </a:ext>
            </a:extLst>
          </p:cNvPr>
          <p:cNvPicPr>
            <a:picLocks noChangeAspect="1"/>
          </p:cNvPicPr>
          <p:nvPr/>
        </p:nvPicPr>
        <p:blipFill>
          <a:blip r:embed="rId3"/>
          <a:stretch>
            <a:fillRect/>
          </a:stretch>
        </p:blipFill>
        <p:spPr>
          <a:xfrm>
            <a:off x="3562662" y="5108039"/>
            <a:ext cx="5424196" cy="1478236"/>
          </a:xfrm>
          <a:prstGeom prst="rect">
            <a:avLst/>
          </a:prstGeom>
        </p:spPr>
      </p:pic>
      <p:sp>
        <p:nvSpPr>
          <p:cNvPr id="17" name="Arrow: Right 16">
            <a:extLst>
              <a:ext uri="{FF2B5EF4-FFF2-40B4-BE49-F238E27FC236}">
                <a16:creationId xmlns:a16="http://schemas.microsoft.com/office/drawing/2014/main" id="{BD071EDC-B283-76FE-4B9B-268A07C12413}"/>
              </a:ext>
            </a:extLst>
          </p:cNvPr>
          <p:cNvSpPr/>
          <p:nvPr/>
        </p:nvSpPr>
        <p:spPr>
          <a:xfrm>
            <a:off x="2229860" y="5375577"/>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8" name="Arrow: Right 17">
            <a:extLst>
              <a:ext uri="{FF2B5EF4-FFF2-40B4-BE49-F238E27FC236}">
                <a16:creationId xmlns:a16="http://schemas.microsoft.com/office/drawing/2014/main" id="{9347354A-E7B1-357E-72FB-ABB130A57679}"/>
              </a:ext>
            </a:extLst>
          </p:cNvPr>
          <p:cNvSpPr/>
          <p:nvPr/>
        </p:nvSpPr>
        <p:spPr>
          <a:xfrm>
            <a:off x="9458564" y="5375577"/>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9" name="TextBox 18">
            <a:extLst>
              <a:ext uri="{FF2B5EF4-FFF2-40B4-BE49-F238E27FC236}">
                <a16:creationId xmlns:a16="http://schemas.microsoft.com/office/drawing/2014/main" id="{97F6A0FE-E9D6-6E4D-0ECA-CD7632CF79FF}"/>
              </a:ext>
            </a:extLst>
          </p:cNvPr>
          <p:cNvSpPr txBox="1"/>
          <p:nvPr/>
        </p:nvSpPr>
        <p:spPr>
          <a:xfrm>
            <a:off x="1347563" y="4722964"/>
            <a:ext cx="755335" cy="1569660"/>
          </a:xfrm>
          <a:prstGeom prst="rect">
            <a:avLst/>
          </a:prstGeom>
          <a:noFill/>
        </p:spPr>
        <p:txBody>
          <a:bodyPr wrap="none" rtlCol="0">
            <a:spAutoFit/>
          </a:bodyPr>
          <a:lstStyle/>
          <a:p>
            <a:r>
              <a:rPr lang="en-US" sz="9600" b="1" dirty="0"/>
              <a:t>?</a:t>
            </a:r>
            <a:endParaRPr lang="en-BE" sz="9600" b="1" dirty="0"/>
          </a:p>
        </p:txBody>
      </p:sp>
      <p:sp>
        <p:nvSpPr>
          <p:cNvPr id="20" name="TextBox 19">
            <a:extLst>
              <a:ext uri="{FF2B5EF4-FFF2-40B4-BE49-F238E27FC236}">
                <a16:creationId xmlns:a16="http://schemas.microsoft.com/office/drawing/2014/main" id="{5B87388F-EAA8-0F9B-CA32-5FC40D3EC70C}"/>
              </a:ext>
            </a:extLst>
          </p:cNvPr>
          <p:cNvSpPr txBox="1"/>
          <p:nvPr/>
        </p:nvSpPr>
        <p:spPr>
          <a:xfrm>
            <a:off x="10598465" y="4855181"/>
            <a:ext cx="755335" cy="1569660"/>
          </a:xfrm>
          <a:prstGeom prst="rect">
            <a:avLst/>
          </a:prstGeom>
          <a:noFill/>
        </p:spPr>
        <p:txBody>
          <a:bodyPr wrap="none" rtlCol="0">
            <a:spAutoFit/>
          </a:bodyPr>
          <a:lstStyle/>
          <a:p>
            <a:r>
              <a:rPr lang="en-US" sz="9600" b="1" dirty="0"/>
              <a:t>?</a:t>
            </a:r>
            <a:endParaRPr lang="en-BE" sz="9600" b="1" dirty="0"/>
          </a:p>
        </p:txBody>
      </p:sp>
      <p:sp>
        <p:nvSpPr>
          <p:cNvPr id="22" name="TextBox 21">
            <a:extLst>
              <a:ext uri="{FF2B5EF4-FFF2-40B4-BE49-F238E27FC236}">
                <a16:creationId xmlns:a16="http://schemas.microsoft.com/office/drawing/2014/main" id="{79FC281D-B18D-A945-F946-E460FF7F0E02}"/>
              </a:ext>
            </a:extLst>
          </p:cNvPr>
          <p:cNvSpPr txBox="1"/>
          <p:nvPr/>
        </p:nvSpPr>
        <p:spPr>
          <a:xfrm>
            <a:off x="205274" y="1690688"/>
            <a:ext cx="11304954" cy="2215991"/>
          </a:xfrm>
          <a:prstGeom prst="rect">
            <a:avLst/>
          </a:prstGeom>
          <a:noFill/>
        </p:spPr>
        <p:txBody>
          <a:bodyPr wrap="none" rtlCol="0">
            <a:spAutoFit/>
          </a:bodyPr>
          <a:lstStyle/>
          <a:p>
            <a:pPr marL="285750" indent="-285750">
              <a:buFont typeface="Arial" panose="020B0604020202020204" pitchFamily="34" charset="0"/>
              <a:buChar char="•"/>
            </a:pPr>
            <a:r>
              <a:rPr lang="en-US" sz="2400" dirty="0"/>
              <a:t>There’s a ton more things that we can’t just fit in the vertex of pixel shader of an object</a:t>
            </a:r>
          </a:p>
          <a:p>
            <a:pPr marL="285750" indent="-285750">
              <a:buFont typeface="Arial" panose="020B0604020202020204" pitchFamily="34" charset="0"/>
              <a:buChar char="•"/>
            </a:pPr>
            <a:r>
              <a:rPr lang="en-US" sz="2400" dirty="0"/>
              <a:t>How does fog work?</a:t>
            </a:r>
          </a:p>
          <a:p>
            <a:pPr marL="285750" indent="-285750">
              <a:buFont typeface="Arial" panose="020B0604020202020204" pitchFamily="34" charset="0"/>
              <a:buChar char="•"/>
            </a:pPr>
            <a:r>
              <a:rPr lang="en-US" sz="2400" dirty="0"/>
              <a:t>How does HDR work?</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There’s more to the pipeline than rendering a single object</a:t>
            </a:r>
          </a:p>
          <a:p>
            <a:pPr marL="285750" indent="-285750">
              <a:buFont typeface="Arial" panose="020B0604020202020204" pitchFamily="34" charset="0"/>
              <a:buChar char="•"/>
            </a:pPr>
            <a:endParaRPr lang="en-BE" dirty="0"/>
          </a:p>
        </p:txBody>
      </p:sp>
    </p:spTree>
    <p:extLst>
      <p:ext uri="{BB962C8B-B14F-4D97-AF65-F5344CB8AC3E}">
        <p14:creationId xmlns:p14="http://schemas.microsoft.com/office/powerpoint/2010/main" val="1304339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487C2-F767-DF37-6774-3A0FCC78D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331DB-F964-9E3F-A406-4589E7385A10}"/>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60800456-64C0-F82F-88E7-B92404591C4F}"/>
              </a:ext>
            </a:extLst>
          </p:cNvPr>
          <p:cNvSpPr txBox="1"/>
          <p:nvPr/>
        </p:nvSpPr>
        <p:spPr>
          <a:xfrm>
            <a:off x="989900" y="1690689"/>
            <a:ext cx="8726377"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Pipeline recap</a:t>
            </a:r>
          </a:p>
          <a:p>
            <a:pPr marL="285750" indent="-285750">
              <a:buFont typeface="Arial" panose="020B0604020202020204" pitchFamily="34" charset="0"/>
              <a:buChar char="•"/>
            </a:pPr>
            <a:r>
              <a:rPr lang="en-US" sz="2800" dirty="0">
                <a:sym typeface="Wingdings" panose="05000000000000000000" pitchFamily="2" charset="2"/>
              </a:rPr>
              <a:t> Back in the day </a:t>
            </a:r>
          </a:p>
          <a:p>
            <a:pPr marL="285750" indent="-285750">
              <a:buFont typeface="Arial" panose="020B0604020202020204" pitchFamily="34" charset="0"/>
              <a:buChar char="•"/>
            </a:pPr>
            <a:r>
              <a:rPr lang="en-US" sz="2800" dirty="0">
                <a:sym typeface="Wingdings" panose="05000000000000000000" pitchFamily="2" charset="2"/>
              </a:rPr>
              <a:t>Light &amp; Shadow</a:t>
            </a:r>
          </a:p>
          <a:p>
            <a:pPr marL="285750" indent="-285750">
              <a:buFont typeface="Arial" panose="020B0604020202020204" pitchFamily="34" charset="0"/>
              <a:buChar char="•"/>
            </a:pPr>
            <a:r>
              <a:rPr lang="en-US" sz="2800" dirty="0">
                <a:sym typeface="Wingdings" panose="05000000000000000000" pitchFamily="2" charset="2"/>
              </a:rPr>
              <a:t>Camera</a:t>
            </a:r>
          </a:p>
          <a:p>
            <a:pPr marL="285750" indent="-285750">
              <a:buFont typeface="Arial" panose="020B0604020202020204" pitchFamily="34" charset="0"/>
              <a:buChar char="•"/>
            </a:pPr>
            <a:r>
              <a:rPr lang="en-US" sz="2800" dirty="0">
                <a:sym typeface="Wingdings" panose="05000000000000000000" pitchFamily="2" charset="2"/>
              </a:rPr>
              <a:t>Ray Tracing vs Rasterization</a:t>
            </a:r>
          </a:p>
          <a:p>
            <a:pPr marL="285750" indent="-285750">
              <a:buFont typeface="Arial" panose="020B0604020202020204" pitchFamily="34" charset="0"/>
              <a:buChar char="•"/>
            </a:pPr>
            <a:r>
              <a:rPr lang="en-US" sz="2800" dirty="0">
                <a:sym typeface="Wingdings" panose="05000000000000000000" pitchFamily="2" charset="2"/>
              </a:rPr>
              <a:t>Forward rendering</a:t>
            </a:r>
          </a:p>
        </p:txBody>
      </p:sp>
    </p:spTree>
    <p:extLst>
      <p:ext uri="{BB962C8B-B14F-4D97-AF65-F5344CB8AC3E}">
        <p14:creationId xmlns:p14="http://schemas.microsoft.com/office/powerpoint/2010/main" val="1847488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1EB2-1F28-8137-0D81-BB996416E152}"/>
              </a:ext>
            </a:extLst>
          </p:cNvPr>
          <p:cNvSpPr>
            <a:spLocks noGrp="1"/>
          </p:cNvSpPr>
          <p:nvPr>
            <p:ph type="title"/>
          </p:nvPr>
        </p:nvSpPr>
        <p:spPr/>
        <p:txBody>
          <a:bodyPr/>
          <a:lstStyle/>
          <a:p>
            <a:r>
              <a:rPr lang="en-US" dirty="0"/>
              <a:t>Back in the day</a:t>
            </a:r>
            <a:endParaRPr lang="en-BE" dirty="0"/>
          </a:p>
        </p:txBody>
      </p:sp>
      <p:sp>
        <p:nvSpPr>
          <p:cNvPr id="3" name="TextBox 2">
            <a:extLst>
              <a:ext uri="{FF2B5EF4-FFF2-40B4-BE49-F238E27FC236}">
                <a16:creationId xmlns:a16="http://schemas.microsoft.com/office/drawing/2014/main" id="{76F59766-695D-EE54-85E8-72CEC250A792}"/>
              </a:ext>
            </a:extLst>
          </p:cNvPr>
          <p:cNvSpPr txBox="1"/>
          <p:nvPr/>
        </p:nvSpPr>
        <p:spPr>
          <a:xfrm>
            <a:off x="312294" y="1690688"/>
            <a:ext cx="6175591" cy="3139321"/>
          </a:xfrm>
          <a:prstGeom prst="rect">
            <a:avLst/>
          </a:prstGeom>
          <a:noFill/>
        </p:spPr>
        <p:txBody>
          <a:bodyPr wrap="square" rtlCol="0">
            <a:spAutoFit/>
          </a:bodyPr>
          <a:lstStyle/>
          <a:p>
            <a:pPr marL="285750" indent="-285750">
              <a:buFont typeface="Arial" panose="020B0604020202020204" pitchFamily="34" charset="0"/>
              <a:buChar char="•"/>
            </a:pPr>
            <a:r>
              <a:rPr lang="en-US" dirty="0"/>
              <a:t>When starting out, the main problem in 3D graphics was *visibility*</a:t>
            </a:r>
          </a:p>
          <a:p>
            <a:pPr marL="285750" indent="-285750">
              <a:buFont typeface="Arial" panose="020B0604020202020204" pitchFamily="34" charset="0"/>
              <a:buChar char="•"/>
            </a:pPr>
            <a:r>
              <a:rPr lang="en-US" dirty="0"/>
              <a:t>In a 3D scene, triangles can occlude (hide) each other</a:t>
            </a:r>
          </a:p>
          <a:p>
            <a:pPr marL="285750" indent="-285750">
              <a:buFont typeface="Arial" panose="020B0604020202020204" pitchFamily="34" charset="0"/>
              <a:buChar char="•"/>
            </a:pPr>
            <a:r>
              <a:rPr lang="en-US" dirty="0"/>
              <a:t>It’s easy to know where each triangle should go where (which pixel are covered)</a:t>
            </a:r>
          </a:p>
          <a:p>
            <a:pPr marL="285750" indent="-285750">
              <a:buFont typeface="Arial" panose="020B0604020202020204" pitchFamily="34" charset="0"/>
              <a:buChar char="•"/>
            </a:pPr>
            <a:r>
              <a:rPr lang="en-US" dirty="0"/>
              <a:t>The hard problem is to know which pixels are in front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original solution was to draw triangles back to front,</a:t>
            </a:r>
            <a:br>
              <a:rPr lang="en-US" dirty="0"/>
            </a:br>
            <a:r>
              <a:rPr lang="en-US" dirty="0"/>
              <a:t>but it doesn’t solve the case on the right</a:t>
            </a:r>
          </a:p>
        </p:txBody>
      </p:sp>
      <p:pic>
        <p:nvPicPr>
          <p:cNvPr id="4" name="Picture 3" descr="A screenshot of a computer&#10;&#10;Description automatically generated">
            <a:extLst>
              <a:ext uri="{FF2B5EF4-FFF2-40B4-BE49-F238E27FC236}">
                <a16:creationId xmlns:a16="http://schemas.microsoft.com/office/drawing/2014/main" id="{12D12D78-A687-D2AC-A130-33F4D097AF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6961" y="2447686"/>
            <a:ext cx="4972744" cy="4277322"/>
          </a:xfrm>
          <a:prstGeom prst="rect">
            <a:avLst/>
          </a:prstGeom>
        </p:spPr>
      </p:pic>
    </p:spTree>
    <p:extLst>
      <p:ext uri="{BB962C8B-B14F-4D97-AF65-F5344CB8AC3E}">
        <p14:creationId xmlns:p14="http://schemas.microsoft.com/office/powerpoint/2010/main" val="46107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66857-6812-829C-CAC0-2D8A72BC9734}"/>
              </a:ext>
            </a:extLst>
          </p:cNvPr>
          <p:cNvSpPr>
            <a:spLocks noGrp="1"/>
          </p:cNvSpPr>
          <p:nvPr>
            <p:ph type="title"/>
          </p:nvPr>
        </p:nvSpPr>
        <p:spPr/>
        <p:txBody>
          <a:bodyPr/>
          <a:lstStyle/>
          <a:p>
            <a:r>
              <a:rPr lang="en-US" dirty="0"/>
              <a:t>Raytracing</a:t>
            </a:r>
            <a:endParaRPr lang="en-BE" dirty="0"/>
          </a:p>
        </p:txBody>
      </p:sp>
      <p:sp>
        <p:nvSpPr>
          <p:cNvPr id="3" name="TextBox 2">
            <a:extLst>
              <a:ext uri="{FF2B5EF4-FFF2-40B4-BE49-F238E27FC236}">
                <a16:creationId xmlns:a16="http://schemas.microsoft.com/office/drawing/2014/main" id="{E89F0707-A30F-F503-836B-117256D052F4}"/>
              </a:ext>
            </a:extLst>
          </p:cNvPr>
          <p:cNvSpPr txBox="1"/>
          <p:nvPr/>
        </p:nvSpPr>
        <p:spPr>
          <a:xfrm>
            <a:off x="232229" y="1578164"/>
            <a:ext cx="7303474"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Store all the triangles in a data structure</a:t>
            </a:r>
          </a:p>
          <a:p>
            <a:pPr marL="285750" indent="-285750">
              <a:buFont typeface="Arial" panose="020B0604020202020204" pitchFamily="34" charset="0"/>
              <a:buChar char="•"/>
            </a:pPr>
            <a:r>
              <a:rPr lang="en-US" sz="2400" dirty="0"/>
              <a:t>For each pixel, create a ray</a:t>
            </a:r>
          </a:p>
          <a:p>
            <a:pPr marL="285750" indent="-285750">
              <a:buFont typeface="Arial" panose="020B0604020202020204" pitchFamily="34" charset="0"/>
              <a:buChar char="•"/>
            </a:pPr>
            <a:r>
              <a:rPr lang="en-US" sz="2400" dirty="0"/>
              <a:t>“shoot” the ray, finding the intersections with triangles</a:t>
            </a:r>
          </a:p>
          <a:p>
            <a:pPr marL="285750" indent="-285750">
              <a:buFont typeface="Arial" panose="020B0604020202020204" pitchFamily="34" charset="0"/>
              <a:buChar char="•"/>
            </a:pPr>
            <a:r>
              <a:rPr lang="en-US" sz="2400" dirty="0"/>
              <a:t>Take the </a:t>
            </a:r>
            <a:r>
              <a:rPr lang="en-US" sz="2400" b="1" dirty="0"/>
              <a:t>closest</a:t>
            </a:r>
            <a:r>
              <a:rPr lang="en-US" sz="2400" dirty="0"/>
              <a:t> intersection</a:t>
            </a:r>
            <a:endParaRPr lang="en-BE" sz="2400" dirty="0"/>
          </a:p>
        </p:txBody>
      </p:sp>
      <p:pic>
        <p:nvPicPr>
          <p:cNvPr id="5" name="Picture 4" descr="A diagram of a satellite and a camera&#10;&#10;AI-generated content may be incorrect.">
            <a:extLst>
              <a:ext uri="{FF2B5EF4-FFF2-40B4-BE49-F238E27FC236}">
                <a16:creationId xmlns:a16="http://schemas.microsoft.com/office/drawing/2014/main" id="{F1F2A7EF-30A3-6875-CFEA-B1F6814972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000" y="3035300"/>
            <a:ext cx="5080000" cy="3822700"/>
          </a:xfrm>
          <a:prstGeom prst="rect">
            <a:avLst/>
          </a:prstGeom>
        </p:spPr>
      </p:pic>
    </p:spTree>
    <p:extLst>
      <p:ext uri="{BB962C8B-B14F-4D97-AF65-F5344CB8AC3E}">
        <p14:creationId xmlns:p14="http://schemas.microsoft.com/office/powerpoint/2010/main" val="3617996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AD2BA-4014-576F-3C95-5369DCAEAEB7}"/>
              </a:ext>
            </a:extLst>
          </p:cNvPr>
          <p:cNvSpPr>
            <a:spLocks noGrp="1"/>
          </p:cNvSpPr>
          <p:nvPr>
            <p:ph type="title"/>
          </p:nvPr>
        </p:nvSpPr>
        <p:spPr/>
        <p:txBody>
          <a:bodyPr/>
          <a:lstStyle/>
          <a:p>
            <a:r>
              <a:rPr lang="en-US" dirty="0"/>
              <a:t>Rasterization</a:t>
            </a:r>
            <a:endParaRPr lang="en-BE" dirty="0"/>
          </a:p>
        </p:txBody>
      </p:sp>
      <p:pic>
        <p:nvPicPr>
          <p:cNvPr id="6" name="Picture 5" descr="A green triangle on a white square with blue dots&#10;&#10;AI-generated content may be incorrect.">
            <a:extLst>
              <a:ext uri="{FF2B5EF4-FFF2-40B4-BE49-F238E27FC236}">
                <a16:creationId xmlns:a16="http://schemas.microsoft.com/office/drawing/2014/main" id="{6D4A45F2-FB59-6E0E-802E-A31802BDE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1184" y="1071530"/>
            <a:ext cx="4605423" cy="4190935"/>
          </a:xfrm>
          <a:prstGeom prst="rect">
            <a:avLst/>
          </a:prstGeom>
        </p:spPr>
      </p:pic>
      <p:sp>
        <p:nvSpPr>
          <p:cNvPr id="7" name="TextBox 6">
            <a:extLst>
              <a:ext uri="{FF2B5EF4-FFF2-40B4-BE49-F238E27FC236}">
                <a16:creationId xmlns:a16="http://schemas.microsoft.com/office/drawing/2014/main" id="{2E0B6451-7E92-A6AA-C9F3-FE489D7AAD6B}"/>
              </a:ext>
            </a:extLst>
          </p:cNvPr>
          <p:cNvSpPr txBox="1"/>
          <p:nvPr/>
        </p:nvSpPr>
        <p:spPr>
          <a:xfrm>
            <a:off x="555393" y="1690688"/>
            <a:ext cx="5796459" cy="1938992"/>
          </a:xfrm>
          <a:prstGeom prst="rect">
            <a:avLst/>
          </a:prstGeom>
          <a:noFill/>
        </p:spPr>
        <p:txBody>
          <a:bodyPr wrap="none" rtlCol="0">
            <a:spAutoFit/>
          </a:bodyPr>
          <a:lstStyle/>
          <a:p>
            <a:pPr marL="285750" indent="-285750">
              <a:buFont typeface="Arial" panose="020B0604020202020204" pitchFamily="34" charset="0"/>
              <a:buChar char="•"/>
            </a:pPr>
            <a:r>
              <a:rPr lang="en-US" sz="2400" dirty="0"/>
              <a:t>For each triangle</a:t>
            </a:r>
          </a:p>
          <a:p>
            <a:pPr marL="285750" indent="-285750">
              <a:buFont typeface="Arial" panose="020B0604020202020204" pitchFamily="34" charset="0"/>
              <a:buChar char="•"/>
            </a:pPr>
            <a:r>
              <a:rPr lang="en-US" sz="2400" dirty="0"/>
              <a:t>Project triangle onto grid</a:t>
            </a:r>
          </a:p>
          <a:p>
            <a:pPr marL="285750" indent="-285750">
              <a:buFont typeface="Arial" panose="020B0604020202020204" pitchFamily="34" charset="0"/>
              <a:buChar char="•"/>
            </a:pPr>
            <a:r>
              <a:rPr lang="en-US" sz="2400" dirty="0"/>
              <a:t>Calculate which pixels are covered (center)</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That doesn’t solve the visibility problem</a:t>
            </a:r>
            <a:endParaRPr lang="en-BE" sz="2400" dirty="0"/>
          </a:p>
        </p:txBody>
      </p:sp>
    </p:spTree>
    <p:extLst>
      <p:ext uri="{BB962C8B-B14F-4D97-AF65-F5344CB8AC3E}">
        <p14:creationId xmlns:p14="http://schemas.microsoft.com/office/powerpoint/2010/main" val="3111102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7187-22AD-A1E8-4430-74AE3DD08442}"/>
              </a:ext>
            </a:extLst>
          </p:cNvPr>
          <p:cNvSpPr>
            <a:spLocks noGrp="1"/>
          </p:cNvSpPr>
          <p:nvPr>
            <p:ph type="title"/>
          </p:nvPr>
        </p:nvSpPr>
        <p:spPr/>
        <p:txBody>
          <a:bodyPr/>
          <a:lstStyle/>
          <a:p>
            <a:r>
              <a:rPr lang="en-US" dirty="0"/>
              <a:t>Primary visibility : rasterization</a:t>
            </a:r>
            <a:endParaRPr lang="en-BE" dirty="0"/>
          </a:p>
        </p:txBody>
      </p:sp>
      <p:sp>
        <p:nvSpPr>
          <p:cNvPr id="3" name="TextBox 2">
            <a:extLst>
              <a:ext uri="{FF2B5EF4-FFF2-40B4-BE49-F238E27FC236}">
                <a16:creationId xmlns:a16="http://schemas.microsoft.com/office/drawing/2014/main" id="{7E60928F-6B9B-C16B-CFF8-B56FEEF1060F}"/>
              </a:ext>
            </a:extLst>
          </p:cNvPr>
          <p:cNvSpPr txBox="1"/>
          <p:nvPr/>
        </p:nvSpPr>
        <p:spPr>
          <a:xfrm>
            <a:off x="329682" y="1690688"/>
            <a:ext cx="4901681" cy="3108543"/>
          </a:xfrm>
          <a:prstGeom prst="rect">
            <a:avLst/>
          </a:prstGeom>
          <a:noFill/>
        </p:spPr>
        <p:txBody>
          <a:bodyPr wrap="square" rtlCol="0">
            <a:spAutoFit/>
          </a:bodyPr>
          <a:lstStyle/>
          <a:p>
            <a:pPr marL="285750" indent="-285750">
              <a:buFont typeface="Arial" panose="020B0604020202020204" pitchFamily="34" charset="0"/>
              <a:buChar char="•"/>
            </a:pPr>
            <a:r>
              <a:rPr lang="en-US" sz="2800" dirty="0"/>
              <a:t>Objects are drawn on top of </a:t>
            </a:r>
            <a:r>
              <a:rPr lang="en-US" sz="2800" dirty="0" err="1"/>
              <a:t>eachother</a:t>
            </a:r>
            <a:endParaRPr lang="en-US" sz="2800" dirty="0"/>
          </a:p>
          <a:p>
            <a:pPr marL="285750" indent="-285750">
              <a:buFont typeface="Arial" panose="020B0604020202020204" pitchFamily="34" charset="0"/>
              <a:buChar char="•"/>
            </a:pPr>
            <a:r>
              <a:rPr lang="en-US" sz="2800" dirty="0" err="1"/>
              <a:t>Eg</a:t>
            </a:r>
            <a:r>
              <a:rPr lang="en-US" sz="2800" dirty="0"/>
              <a:t> closest to camera</a:t>
            </a:r>
          </a:p>
          <a:p>
            <a:pPr marL="285750" indent="-285750">
              <a:buFont typeface="Arial" panose="020B0604020202020204" pitchFamily="34" charset="0"/>
              <a:buChar char="•"/>
            </a:pPr>
            <a:r>
              <a:rPr lang="en-US" sz="2800" dirty="0"/>
              <a:t>Last object “overwrites” pixels</a:t>
            </a:r>
          </a:p>
          <a:p>
            <a:pPr marL="285750" indent="-285750">
              <a:buFont typeface="Arial" panose="020B0604020202020204" pitchFamily="34" charset="0"/>
              <a:buChar char="•"/>
            </a:pPr>
            <a:r>
              <a:rPr lang="en-US" sz="2800" dirty="0"/>
              <a:t>Like a painting</a:t>
            </a:r>
          </a:p>
          <a:p>
            <a:pPr marL="285750" indent="-285750">
              <a:buFont typeface="Arial" panose="020B0604020202020204" pitchFamily="34" charset="0"/>
              <a:buChar char="•"/>
            </a:pPr>
            <a:r>
              <a:rPr lang="en-US" sz="2800" dirty="0"/>
              <a:t>In this case, the plane is penetrating the ball</a:t>
            </a:r>
          </a:p>
        </p:txBody>
      </p:sp>
      <p:pic>
        <p:nvPicPr>
          <p:cNvPr id="4" name="Picture 3">
            <a:extLst>
              <a:ext uri="{FF2B5EF4-FFF2-40B4-BE49-F238E27FC236}">
                <a16:creationId xmlns:a16="http://schemas.microsoft.com/office/drawing/2014/main" id="{DE040949-AFD6-EDD9-3A7A-A44F8BB4182B}"/>
              </a:ext>
            </a:extLst>
          </p:cNvPr>
          <p:cNvPicPr>
            <a:picLocks noChangeAspect="1"/>
          </p:cNvPicPr>
          <p:nvPr/>
        </p:nvPicPr>
        <p:blipFill>
          <a:blip r:embed="rId3"/>
          <a:stretch>
            <a:fillRect/>
          </a:stretch>
        </p:blipFill>
        <p:spPr>
          <a:xfrm>
            <a:off x="5231363" y="2990979"/>
            <a:ext cx="6960636" cy="3867020"/>
          </a:xfrm>
          <a:prstGeom prst="rect">
            <a:avLst/>
          </a:prstGeom>
        </p:spPr>
      </p:pic>
    </p:spTree>
    <p:extLst>
      <p:ext uri="{BB962C8B-B14F-4D97-AF65-F5344CB8AC3E}">
        <p14:creationId xmlns:p14="http://schemas.microsoft.com/office/powerpoint/2010/main" val="2125233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AAA0E-E5EB-2F80-3130-647F3FDEBC2B}"/>
              </a:ext>
            </a:extLst>
          </p:cNvPr>
          <p:cNvSpPr>
            <a:spLocks noGrp="1"/>
          </p:cNvSpPr>
          <p:nvPr>
            <p:ph type="title"/>
          </p:nvPr>
        </p:nvSpPr>
        <p:spPr/>
        <p:txBody>
          <a:bodyPr/>
          <a:lstStyle/>
          <a:p>
            <a:r>
              <a:rPr lang="en-US" dirty="0"/>
              <a:t>This is not correct</a:t>
            </a:r>
            <a:endParaRPr lang="en-BE" dirty="0"/>
          </a:p>
        </p:txBody>
      </p:sp>
      <p:pic>
        <p:nvPicPr>
          <p:cNvPr id="4" name="Picture 3">
            <a:extLst>
              <a:ext uri="{FF2B5EF4-FFF2-40B4-BE49-F238E27FC236}">
                <a16:creationId xmlns:a16="http://schemas.microsoft.com/office/drawing/2014/main" id="{D6E0E09C-3B61-C38F-2E3A-B963351FDEAE}"/>
              </a:ext>
            </a:extLst>
          </p:cNvPr>
          <p:cNvPicPr>
            <a:picLocks noChangeAspect="1"/>
          </p:cNvPicPr>
          <p:nvPr/>
        </p:nvPicPr>
        <p:blipFill>
          <a:blip r:embed="rId3"/>
          <a:stretch>
            <a:fillRect/>
          </a:stretch>
        </p:blipFill>
        <p:spPr>
          <a:xfrm>
            <a:off x="1489887" y="1872605"/>
            <a:ext cx="8316486" cy="4620270"/>
          </a:xfrm>
          <a:prstGeom prst="rect">
            <a:avLst/>
          </a:prstGeom>
        </p:spPr>
      </p:pic>
    </p:spTree>
    <p:extLst>
      <p:ext uri="{BB962C8B-B14F-4D97-AF65-F5344CB8AC3E}">
        <p14:creationId xmlns:p14="http://schemas.microsoft.com/office/powerpoint/2010/main" val="667243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E72C-E03D-90DB-C9C1-A7DA58E7A524}"/>
              </a:ext>
            </a:extLst>
          </p:cNvPr>
          <p:cNvSpPr>
            <a:spLocks noGrp="1"/>
          </p:cNvSpPr>
          <p:nvPr>
            <p:ph type="title"/>
          </p:nvPr>
        </p:nvSpPr>
        <p:spPr/>
        <p:txBody>
          <a:bodyPr/>
          <a:lstStyle/>
          <a:p>
            <a:r>
              <a:rPr lang="en-US" dirty="0"/>
              <a:t>This is correct</a:t>
            </a:r>
            <a:endParaRPr lang="en-BE" dirty="0"/>
          </a:p>
        </p:txBody>
      </p:sp>
      <p:pic>
        <p:nvPicPr>
          <p:cNvPr id="4" name="Picture 3">
            <a:extLst>
              <a:ext uri="{FF2B5EF4-FFF2-40B4-BE49-F238E27FC236}">
                <a16:creationId xmlns:a16="http://schemas.microsoft.com/office/drawing/2014/main" id="{047508D4-8A5F-B072-830A-01C9ABF193CB}"/>
              </a:ext>
            </a:extLst>
          </p:cNvPr>
          <p:cNvPicPr>
            <a:picLocks noChangeAspect="1"/>
          </p:cNvPicPr>
          <p:nvPr/>
        </p:nvPicPr>
        <p:blipFill>
          <a:blip r:embed="rId3"/>
          <a:stretch>
            <a:fillRect/>
          </a:stretch>
        </p:blipFill>
        <p:spPr>
          <a:xfrm>
            <a:off x="3683099" y="1690688"/>
            <a:ext cx="5087060" cy="4458322"/>
          </a:xfrm>
          <a:prstGeom prst="rect">
            <a:avLst/>
          </a:prstGeom>
        </p:spPr>
      </p:pic>
    </p:spTree>
    <p:extLst>
      <p:ext uri="{BB962C8B-B14F-4D97-AF65-F5344CB8AC3E}">
        <p14:creationId xmlns:p14="http://schemas.microsoft.com/office/powerpoint/2010/main" val="430516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E1E6-85D6-1FAF-6EBE-413B4A053085}"/>
              </a:ext>
            </a:extLst>
          </p:cNvPr>
          <p:cNvSpPr>
            <a:spLocks noGrp="1"/>
          </p:cNvSpPr>
          <p:nvPr>
            <p:ph type="title"/>
          </p:nvPr>
        </p:nvSpPr>
        <p:spPr/>
        <p:txBody>
          <a:bodyPr/>
          <a:lstStyle/>
          <a:p>
            <a:r>
              <a:rPr lang="en-US" dirty="0"/>
              <a:t>Depth buffer </a:t>
            </a:r>
            <a:endParaRPr lang="en-BE" dirty="0"/>
          </a:p>
        </p:txBody>
      </p:sp>
      <p:pic>
        <p:nvPicPr>
          <p:cNvPr id="6" name="Picture 5" descr="A collage of a cartoon character&#10;&#10;AI-generated content may be incorrect.">
            <a:extLst>
              <a:ext uri="{FF2B5EF4-FFF2-40B4-BE49-F238E27FC236}">
                <a16:creationId xmlns:a16="http://schemas.microsoft.com/office/drawing/2014/main" id="{430322CA-695F-A188-64B6-4FDF2A036E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85257"/>
            <a:ext cx="7249886" cy="3619557"/>
          </a:xfrm>
          <a:prstGeom prst="rect">
            <a:avLst/>
          </a:prstGeom>
        </p:spPr>
      </p:pic>
      <p:sp>
        <p:nvSpPr>
          <p:cNvPr id="7" name="TextBox 6">
            <a:extLst>
              <a:ext uri="{FF2B5EF4-FFF2-40B4-BE49-F238E27FC236}">
                <a16:creationId xmlns:a16="http://schemas.microsoft.com/office/drawing/2014/main" id="{DF187B79-D45F-39F1-E6F9-FB71C48CDB1A}"/>
              </a:ext>
            </a:extLst>
          </p:cNvPr>
          <p:cNvSpPr txBox="1"/>
          <p:nvPr/>
        </p:nvSpPr>
        <p:spPr>
          <a:xfrm>
            <a:off x="7249886" y="1886875"/>
            <a:ext cx="4618585"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Separate texture</a:t>
            </a:r>
          </a:p>
          <a:p>
            <a:pPr marL="285750" indent="-285750">
              <a:buFont typeface="Arial" panose="020B0604020202020204" pitchFamily="34" charset="0"/>
              <a:buChar char="•"/>
            </a:pPr>
            <a:r>
              <a:rPr lang="en-US" sz="2400" dirty="0"/>
              <a:t>Stores the depth (distance to camera) of pixel writing color</a:t>
            </a:r>
          </a:p>
          <a:p>
            <a:pPr marL="285750" indent="-285750">
              <a:buFont typeface="Arial" panose="020B0604020202020204" pitchFamily="34" charset="0"/>
              <a:buChar char="•"/>
            </a:pPr>
            <a:r>
              <a:rPr lang="en-US" sz="2400" dirty="0"/>
              <a:t>If a new pixel is further than the depth value : skip</a:t>
            </a:r>
          </a:p>
          <a:p>
            <a:pPr marL="285750" indent="-285750">
              <a:buFont typeface="Arial" panose="020B0604020202020204" pitchFamily="34" charset="0"/>
              <a:buChar char="•"/>
            </a:pPr>
            <a:r>
              <a:rPr lang="en-US" sz="2400" dirty="0"/>
              <a:t>If a new pixel is closer than the depth value : write depth, write color</a:t>
            </a:r>
          </a:p>
          <a:p>
            <a:pPr marL="285750" indent="-285750">
              <a:buFont typeface="Arial" panose="020B0604020202020204" pitchFamily="34" charset="0"/>
              <a:buChar char="•"/>
            </a:pPr>
            <a:endParaRPr lang="en-BE" sz="2400" dirty="0"/>
          </a:p>
        </p:txBody>
      </p:sp>
    </p:spTree>
    <p:extLst>
      <p:ext uri="{BB962C8B-B14F-4D97-AF65-F5344CB8AC3E}">
        <p14:creationId xmlns:p14="http://schemas.microsoft.com/office/powerpoint/2010/main" val="302346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234D7-69E8-6C18-52B1-8F0C08D0E763}"/>
              </a:ext>
            </a:extLst>
          </p:cNvPr>
          <p:cNvSpPr>
            <a:spLocks noGrp="1"/>
          </p:cNvSpPr>
          <p:nvPr>
            <p:ph type="title"/>
          </p:nvPr>
        </p:nvSpPr>
        <p:spPr/>
        <p:txBody>
          <a:bodyPr/>
          <a:lstStyle/>
          <a:p>
            <a:r>
              <a:rPr lang="en-US" dirty="0"/>
              <a:t>Draw ball after plane</a:t>
            </a:r>
            <a:endParaRPr lang="en-BE" dirty="0"/>
          </a:p>
        </p:txBody>
      </p:sp>
      <p:sp>
        <p:nvSpPr>
          <p:cNvPr id="3" name="TextBox 2">
            <a:extLst>
              <a:ext uri="{FF2B5EF4-FFF2-40B4-BE49-F238E27FC236}">
                <a16:creationId xmlns:a16="http://schemas.microsoft.com/office/drawing/2014/main" id="{AE6667CB-404C-CA42-F388-0D2716AA7782}"/>
              </a:ext>
            </a:extLst>
          </p:cNvPr>
          <p:cNvSpPr txBox="1"/>
          <p:nvPr/>
        </p:nvSpPr>
        <p:spPr>
          <a:xfrm>
            <a:off x="340567" y="1565019"/>
            <a:ext cx="5344886" cy="1569660"/>
          </a:xfrm>
          <a:prstGeom prst="rect">
            <a:avLst/>
          </a:prstGeom>
          <a:noFill/>
        </p:spPr>
        <p:txBody>
          <a:bodyPr wrap="square" rtlCol="0">
            <a:spAutoFit/>
          </a:bodyPr>
          <a:lstStyle/>
          <a:p>
            <a:pPr marL="285750" indent="-285750">
              <a:buFont typeface="Arial" panose="020B0604020202020204" pitchFamily="34" charset="0"/>
              <a:buChar char="•"/>
            </a:pPr>
            <a:r>
              <a:rPr lang="en-US" sz="2400" dirty="0"/>
              <a:t>Check which pixels are closer</a:t>
            </a:r>
          </a:p>
          <a:p>
            <a:pPr marL="285750" indent="-285750">
              <a:buFont typeface="Arial" panose="020B0604020202020204" pitchFamily="34" charset="0"/>
              <a:buChar char="•"/>
            </a:pPr>
            <a:r>
              <a:rPr lang="en-US" sz="2400" dirty="0"/>
              <a:t>The hardware does this for us</a:t>
            </a:r>
          </a:p>
          <a:p>
            <a:pPr marL="285750" indent="-285750">
              <a:buFont typeface="Arial" panose="020B0604020202020204" pitchFamily="34" charset="0"/>
              <a:buChar char="•"/>
            </a:pPr>
            <a:r>
              <a:rPr lang="en-US" sz="2400" dirty="0"/>
              <a:t>Order doesn’t matter, drawing the plane after the ball would also work</a:t>
            </a:r>
            <a:endParaRPr lang="en-BE" sz="2400" dirty="0"/>
          </a:p>
        </p:txBody>
      </p:sp>
      <p:pic>
        <p:nvPicPr>
          <p:cNvPr id="5" name="Picture 4">
            <a:extLst>
              <a:ext uri="{FF2B5EF4-FFF2-40B4-BE49-F238E27FC236}">
                <a16:creationId xmlns:a16="http://schemas.microsoft.com/office/drawing/2014/main" id="{3DDE3D67-D2F1-A061-C08D-2A3805E03C46}"/>
              </a:ext>
            </a:extLst>
          </p:cNvPr>
          <p:cNvPicPr>
            <a:picLocks noChangeAspect="1"/>
          </p:cNvPicPr>
          <p:nvPr/>
        </p:nvPicPr>
        <p:blipFill>
          <a:blip r:embed="rId3"/>
          <a:stretch>
            <a:fillRect/>
          </a:stretch>
        </p:blipFill>
        <p:spPr>
          <a:xfrm rot="10800000">
            <a:off x="5765181" y="1443134"/>
            <a:ext cx="6274977" cy="5262883"/>
          </a:xfrm>
          <a:prstGeom prst="rect">
            <a:avLst/>
          </a:prstGeom>
        </p:spPr>
      </p:pic>
      <p:cxnSp>
        <p:nvCxnSpPr>
          <p:cNvPr id="7" name="Straight Arrow Connector 6">
            <a:extLst>
              <a:ext uri="{FF2B5EF4-FFF2-40B4-BE49-F238E27FC236}">
                <a16:creationId xmlns:a16="http://schemas.microsoft.com/office/drawing/2014/main" id="{B563C492-D389-9F45-B35F-6E4FB39823A4}"/>
              </a:ext>
            </a:extLst>
          </p:cNvPr>
          <p:cNvCxnSpPr/>
          <p:nvPr/>
        </p:nvCxnSpPr>
        <p:spPr>
          <a:xfrm flipH="1">
            <a:off x="4484914" y="5119396"/>
            <a:ext cx="4435151" cy="261257"/>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5F58D6B8-F23D-15DA-AC52-C2384E7734E8}"/>
              </a:ext>
            </a:extLst>
          </p:cNvPr>
          <p:cNvCxnSpPr>
            <a:cxnSpLocks/>
            <a:endCxn id="9" idx="3"/>
          </p:cNvCxnSpPr>
          <p:nvPr/>
        </p:nvCxnSpPr>
        <p:spPr>
          <a:xfrm flipH="1" flipV="1">
            <a:off x="4898845" y="3659833"/>
            <a:ext cx="3019735" cy="384903"/>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2D59DC38-E6CC-EF4F-C9AC-1596B86907A0}"/>
              </a:ext>
            </a:extLst>
          </p:cNvPr>
          <p:cNvSpPr txBox="1"/>
          <p:nvPr/>
        </p:nvSpPr>
        <p:spPr>
          <a:xfrm>
            <a:off x="559837" y="3429000"/>
            <a:ext cx="4339008" cy="461665"/>
          </a:xfrm>
          <a:prstGeom prst="rect">
            <a:avLst/>
          </a:prstGeom>
          <a:noFill/>
        </p:spPr>
        <p:txBody>
          <a:bodyPr wrap="none" rtlCol="0">
            <a:spAutoFit/>
          </a:bodyPr>
          <a:lstStyle/>
          <a:p>
            <a:r>
              <a:rPr lang="en-US" sz="2400" dirty="0"/>
              <a:t>Closer to the camera : this passes</a:t>
            </a:r>
            <a:endParaRPr lang="en-BE" sz="2400" dirty="0"/>
          </a:p>
        </p:txBody>
      </p:sp>
      <p:sp>
        <p:nvSpPr>
          <p:cNvPr id="12" name="TextBox 11">
            <a:extLst>
              <a:ext uri="{FF2B5EF4-FFF2-40B4-BE49-F238E27FC236}">
                <a16:creationId xmlns:a16="http://schemas.microsoft.com/office/drawing/2014/main" id="{AD983896-C6F0-A8C9-1B89-433AF9AE57D1}"/>
              </a:ext>
            </a:extLst>
          </p:cNvPr>
          <p:cNvSpPr txBox="1"/>
          <p:nvPr/>
        </p:nvSpPr>
        <p:spPr>
          <a:xfrm>
            <a:off x="59094" y="5149820"/>
            <a:ext cx="4513800" cy="461665"/>
          </a:xfrm>
          <a:prstGeom prst="rect">
            <a:avLst/>
          </a:prstGeom>
          <a:noFill/>
        </p:spPr>
        <p:txBody>
          <a:bodyPr wrap="none" rtlCol="0">
            <a:spAutoFit/>
          </a:bodyPr>
          <a:lstStyle/>
          <a:p>
            <a:r>
              <a:rPr lang="en-US" sz="2400" dirty="0"/>
              <a:t>Further from the camera : this fails</a:t>
            </a:r>
            <a:endParaRPr lang="en-BE" sz="2400" dirty="0"/>
          </a:p>
        </p:txBody>
      </p:sp>
    </p:spTree>
    <p:extLst>
      <p:ext uri="{BB962C8B-B14F-4D97-AF65-F5344CB8AC3E}">
        <p14:creationId xmlns:p14="http://schemas.microsoft.com/office/powerpoint/2010/main" val="186359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C036-BC5A-DC88-E8CA-76E352216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5C811B-3BE9-533F-0358-9A6D7DCA6D1E}"/>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74DD4514-A69B-12BA-EF51-38B41AEA379B}"/>
              </a:ext>
            </a:extLst>
          </p:cNvPr>
          <p:cNvSpPr txBox="1"/>
          <p:nvPr/>
        </p:nvSpPr>
        <p:spPr>
          <a:xfrm>
            <a:off x="989900" y="1690689"/>
            <a:ext cx="8726377"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Pipeline recap</a:t>
            </a:r>
          </a:p>
          <a:p>
            <a:pPr marL="285750" indent="-285750">
              <a:buFont typeface="Arial" panose="020B0604020202020204" pitchFamily="34" charset="0"/>
              <a:buChar char="•"/>
            </a:pPr>
            <a:r>
              <a:rPr lang="en-US" sz="2800" dirty="0">
                <a:sym typeface="Wingdings" panose="05000000000000000000" pitchFamily="2" charset="2"/>
              </a:rPr>
              <a:t>Back in the day</a:t>
            </a:r>
          </a:p>
          <a:p>
            <a:pPr marL="285750" indent="-285750">
              <a:buFont typeface="Arial" panose="020B0604020202020204" pitchFamily="34" charset="0"/>
              <a:buChar char="•"/>
            </a:pPr>
            <a:r>
              <a:rPr lang="en-US" sz="2800" dirty="0">
                <a:sym typeface="Wingdings" panose="05000000000000000000" pitchFamily="2" charset="2"/>
              </a:rPr>
              <a:t> Light &amp; Shadow </a:t>
            </a:r>
          </a:p>
          <a:p>
            <a:pPr marL="285750" indent="-285750">
              <a:buFont typeface="Arial" panose="020B0604020202020204" pitchFamily="34" charset="0"/>
              <a:buChar char="•"/>
            </a:pPr>
            <a:r>
              <a:rPr lang="en-US" sz="2800" dirty="0">
                <a:sym typeface="Wingdings" panose="05000000000000000000" pitchFamily="2" charset="2"/>
              </a:rPr>
              <a:t>Camera</a:t>
            </a:r>
          </a:p>
          <a:p>
            <a:pPr marL="285750" indent="-285750">
              <a:buFont typeface="Arial" panose="020B0604020202020204" pitchFamily="34" charset="0"/>
              <a:buChar char="•"/>
            </a:pPr>
            <a:r>
              <a:rPr lang="en-US" sz="2800" dirty="0">
                <a:sym typeface="Wingdings" panose="05000000000000000000" pitchFamily="2" charset="2"/>
              </a:rPr>
              <a:t>Ray Tracing vs Rasterization</a:t>
            </a:r>
          </a:p>
          <a:p>
            <a:pPr marL="285750" indent="-285750">
              <a:buFont typeface="Arial" panose="020B0604020202020204" pitchFamily="34" charset="0"/>
              <a:buChar char="•"/>
            </a:pPr>
            <a:r>
              <a:rPr lang="en-US" sz="2800" dirty="0">
                <a:sym typeface="Wingdings" panose="05000000000000000000" pitchFamily="2" charset="2"/>
              </a:rPr>
              <a:t>Forward rendering</a:t>
            </a:r>
          </a:p>
        </p:txBody>
      </p:sp>
    </p:spTree>
    <p:extLst>
      <p:ext uri="{BB962C8B-B14F-4D97-AF65-F5344CB8AC3E}">
        <p14:creationId xmlns:p14="http://schemas.microsoft.com/office/powerpoint/2010/main" val="3366469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2DD4-4917-2C0E-C7FC-4A17F088C76D}"/>
              </a:ext>
            </a:extLst>
          </p:cNvPr>
          <p:cNvSpPr>
            <a:spLocks noGrp="1"/>
          </p:cNvSpPr>
          <p:nvPr>
            <p:ph type="title"/>
          </p:nvPr>
        </p:nvSpPr>
        <p:spPr/>
        <p:txBody>
          <a:bodyPr/>
          <a:lstStyle/>
          <a:p>
            <a:r>
              <a:rPr lang="en-US" dirty="0"/>
              <a:t>Quick detour, it’ll make sense after?</a:t>
            </a:r>
            <a:endParaRPr lang="en-BE" dirty="0"/>
          </a:p>
        </p:txBody>
      </p:sp>
    </p:spTree>
    <p:extLst>
      <p:ext uri="{BB962C8B-B14F-4D97-AF65-F5344CB8AC3E}">
        <p14:creationId xmlns:p14="http://schemas.microsoft.com/office/powerpoint/2010/main" val="1401895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D0A84-E5CB-951B-E537-C2F8D111EFAF}"/>
              </a:ext>
            </a:extLst>
          </p:cNvPr>
          <p:cNvSpPr>
            <a:spLocks noGrp="1"/>
          </p:cNvSpPr>
          <p:nvPr>
            <p:ph type="title"/>
          </p:nvPr>
        </p:nvSpPr>
        <p:spPr>
          <a:xfrm>
            <a:off x="838200" y="365126"/>
            <a:ext cx="10515600" cy="1084230"/>
          </a:xfrm>
        </p:spPr>
        <p:txBody>
          <a:bodyPr/>
          <a:lstStyle/>
          <a:p>
            <a:r>
              <a:rPr lang="en-US" dirty="0"/>
              <a:t>Light transport</a:t>
            </a:r>
            <a:endParaRPr lang="en-BE" dirty="0"/>
          </a:p>
        </p:txBody>
      </p:sp>
      <p:sp>
        <p:nvSpPr>
          <p:cNvPr id="3" name="TextBox 2">
            <a:extLst>
              <a:ext uri="{FF2B5EF4-FFF2-40B4-BE49-F238E27FC236}">
                <a16:creationId xmlns:a16="http://schemas.microsoft.com/office/drawing/2014/main" id="{69C186CE-3F61-0BCC-34D3-64E6B2D36C71}"/>
              </a:ext>
            </a:extLst>
          </p:cNvPr>
          <p:cNvSpPr txBox="1"/>
          <p:nvPr/>
        </p:nvSpPr>
        <p:spPr>
          <a:xfrm>
            <a:off x="311021" y="1449356"/>
            <a:ext cx="3406574" cy="1384995"/>
          </a:xfrm>
          <a:prstGeom prst="rect">
            <a:avLst/>
          </a:prstGeom>
          <a:noFill/>
        </p:spPr>
        <p:txBody>
          <a:bodyPr wrap="none" rtlCol="0">
            <a:spAutoFit/>
          </a:bodyPr>
          <a:lstStyle/>
          <a:p>
            <a:pPr marL="457200" indent="-457200">
              <a:buFont typeface="Arial" panose="020B0604020202020204" pitchFamily="34" charset="0"/>
              <a:buChar char="•"/>
            </a:pPr>
            <a:r>
              <a:rPr lang="en-US" sz="2800" dirty="0"/>
              <a:t>Light hits an object</a:t>
            </a:r>
          </a:p>
          <a:p>
            <a:pPr marL="457200" indent="-457200">
              <a:buFont typeface="Arial" panose="020B0604020202020204" pitchFamily="34" charset="0"/>
              <a:buChar char="•"/>
            </a:pPr>
            <a:r>
              <a:rPr lang="en-US" sz="2800" dirty="0"/>
              <a:t>That light </a:t>
            </a:r>
            <a:r>
              <a:rPr lang="en-US" sz="2800" b="1" dirty="0"/>
              <a:t>bounces</a:t>
            </a:r>
          </a:p>
          <a:p>
            <a:pPr marL="457200" indent="-457200">
              <a:buFont typeface="Arial" panose="020B0604020202020204" pitchFamily="34" charset="0"/>
              <a:buChar char="•"/>
            </a:pPr>
            <a:r>
              <a:rPr lang="en-US" sz="2800" dirty="0"/>
              <a:t>It enters our eye</a:t>
            </a:r>
            <a:endParaRPr lang="en-US" dirty="0"/>
          </a:p>
        </p:txBody>
      </p:sp>
      <p:pic>
        <p:nvPicPr>
          <p:cNvPr id="7" name="Picture 6" descr="A yellow light bulb with black lines&#10;&#10;Description automatically generated">
            <a:extLst>
              <a:ext uri="{FF2B5EF4-FFF2-40B4-BE49-F238E27FC236}">
                <a16:creationId xmlns:a16="http://schemas.microsoft.com/office/drawing/2014/main" id="{52069319-B567-1681-E1EA-E7F320C5C8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4786" y="2738249"/>
            <a:ext cx="1561298" cy="1607976"/>
          </a:xfrm>
          <a:prstGeom prst="rect">
            <a:avLst/>
          </a:prstGeom>
        </p:spPr>
      </p:pic>
      <p:sp>
        <p:nvSpPr>
          <p:cNvPr id="8" name="Oval 7">
            <a:extLst>
              <a:ext uri="{FF2B5EF4-FFF2-40B4-BE49-F238E27FC236}">
                <a16:creationId xmlns:a16="http://schemas.microsoft.com/office/drawing/2014/main" id="{DF430605-5E67-CA1C-4CAF-A6917DCEDB29}"/>
              </a:ext>
            </a:extLst>
          </p:cNvPr>
          <p:cNvSpPr/>
          <p:nvPr/>
        </p:nvSpPr>
        <p:spPr>
          <a:xfrm>
            <a:off x="7122368" y="4718180"/>
            <a:ext cx="2002971" cy="2002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0" name="Straight Arrow Connector 9">
            <a:extLst>
              <a:ext uri="{FF2B5EF4-FFF2-40B4-BE49-F238E27FC236}">
                <a16:creationId xmlns:a16="http://schemas.microsoft.com/office/drawing/2014/main" id="{F9F080BE-5513-85A0-B7C6-8C2FFDD6D40A}"/>
              </a:ext>
            </a:extLst>
          </p:cNvPr>
          <p:cNvCxnSpPr>
            <a:endCxn id="8" idx="0"/>
          </p:cNvCxnSpPr>
          <p:nvPr/>
        </p:nvCxnSpPr>
        <p:spPr>
          <a:xfrm>
            <a:off x="6536084" y="3881535"/>
            <a:ext cx="1587770" cy="836645"/>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655848A4-3ADD-11C3-4AAA-DBF4675CDC32}"/>
              </a:ext>
            </a:extLst>
          </p:cNvPr>
          <p:cNvCxnSpPr>
            <a:cxnSpLocks/>
          </p:cNvCxnSpPr>
          <p:nvPr/>
        </p:nvCxnSpPr>
        <p:spPr>
          <a:xfrm flipV="1">
            <a:off x="8123853" y="3429000"/>
            <a:ext cx="1373165" cy="1289180"/>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descr="A close-up of a camera&#10;&#10;Description automatically generated">
            <a:extLst>
              <a:ext uri="{FF2B5EF4-FFF2-40B4-BE49-F238E27FC236}">
                <a16:creationId xmlns:a16="http://schemas.microsoft.com/office/drawing/2014/main" id="{FB699F9B-4D83-194E-DADD-19F0C8122E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9293663" flipH="1">
            <a:off x="9387095" y="2019594"/>
            <a:ext cx="1453710" cy="1291700"/>
          </a:xfrm>
          <a:prstGeom prst="rect">
            <a:avLst/>
          </a:prstGeom>
        </p:spPr>
      </p:pic>
    </p:spTree>
    <p:extLst>
      <p:ext uri="{BB962C8B-B14F-4D97-AF65-F5344CB8AC3E}">
        <p14:creationId xmlns:p14="http://schemas.microsoft.com/office/powerpoint/2010/main" val="1563178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D6509-A11D-5E21-6767-77366C281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581E7-599A-3447-2D72-02877972124F}"/>
              </a:ext>
            </a:extLst>
          </p:cNvPr>
          <p:cNvSpPr>
            <a:spLocks noGrp="1"/>
          </p:cNvSpPr>
          <p:nvPr>
            <p:ph type="title"/>
          </p:nvPr>
        </p:nvSpPr>
        <p:spPr>
          <a:xfrm>
            <a:off x="838200" y="365126"/>
            <a:ext cx="10515600" cy="1084230"/>
          </a:xfrm>
        </p:spPr>
        <p:txBody>
          <a:bodyPr/>
          <a:lstStyle/>
          <a:p>
            <a:r>
              <a:rPr lang="en-US" dirty="0"/>
              <a:t>Light transport</a:t>
            </a:r>
            <a:endParaRPr lang="en-BE" dirty="0"/>
          </a:p>
        </p:txBody>
      </p:sp>
      <p:sp>
        <p:nvSpPr>
          <p:cNvPr id="3" name="TextBox 2">
            <a:extLst>
              <a:ext uri="{FF2B5EF4-FFF2-40B4-BE49-F238E27FC236}">
                <a16:creationId xmlns:a16="http://schemas.microsoft.com/office/drawing/2014/main" id="{CE9206FD-DEA9-133B-DED5-E6394EB85855}"/>
              </a:ext>
            </a:extLst>
          </p:cNvPr>
          <p:cNvSpPr txBox="1"/>
          <p:nvPr/>
        </p:nvSpPr>
        <p:spPr>
          <a:xfrm>
            <a:off x="311021" y="1449356"/>
            <a:ext cx="5523820" cy="2246769"/>
          </a:xfrm>
          <a:prstGeom prst="rect">
            <a:avLst/>
          </a:prstGeom>
          <a:noFill/>
        </p:spPr>
        <p:txBody>
          <a:bodyPr wrap="none" rtlCol="0">
            <a:spAutoFit/>
          </a:bodyPr>
          <a:lstStyle/>
          <a:p>
            <a:pPr marL="457200" indent="-457200">
              <a:buFont typeface="Arial" panose="020B0604020202020204" pitchFamily="34" charset="0"/>
              <a:buChar char="•"/>
            </a:pPr>
            <a:r>
              <a:rPr lang="en-US" sz="2800" dirty="0"/>
              <a:t>Light hits an object</a:t>
            </a:r>
          </a:p>
          <a:p>
            <a:pPr marL="457200" indent="-457200">
              <a:buFont typeface="Arial" panose="020B0604020202020204" pitchFamily="34" charset="0"/>
              <a:buChar char="•"/>
            </a:pPr>
            <a:r>
              <a:rPr lang="en-US" sz="2800" dirty="0"/>
              <a:t>That light </a:t>
            </a:r>
            <a:r>
              <a:rPr lang="en-US" sz="2800" b="1" dirty="0"/>
              <a:t>bounces</a:t>
            </a:r>
          </a:p>
          <a:p>
            <a:pPr marL="457200" indent="-457200">
              <a:buFont typeface="Arial" panose="020B0604020202020204" pitchFamily="34" charset="0"/>
              <a:buChar char="•"/>
            </a:pPr>
            <a:r>
              <a:rPr lang="en-US" sz="2800" dirty="0"/>
              <a:t>In many directions</a:t>
            </a:r>
          </a:p>
          <a:p>
            <a:pPr marL="457200" indent="-457200">
              <a:buFont typeface="Arial" panose="020B0604020202020204" pitchFamily="34" charset="0"/>
              <a:buChar char="•"/>
            </a:pPr>
            <a:r>
              <a:rPr lang="en-US" sz="2800" dirty="0"/>
              <a:t>Some materials more than others</a:t>
            </a:r>
          </a:p>
          <a:p>
            <a:pPr marL="457200" indent="-457200">
              <a:buFont typeface="Arial" panose="020B0604020202020204" pitchFamily="34" charset="0"/>
              <a:buChar char="•"/>
            </a:pPr>
            <a:r>
              <a:rPr lang="en-US" sz="2800" dirty="0"/>
              <a:t>Some of it enters our eye</a:t>
            </a:r>
            <a:endParaRPr lang="en-US" dirty="0"/>
          </a:p>
        </p:txBody>
      </p:sp>
      <p:pic>
        <p:nvPicPr>
          <p:cNvPr id="7" name="Picture 6" descr="A yellow light bulb with black lines&#10;&#10;Description automatically generated">
            <a:extLst>
              <a:ext uri="{FF2B5EF4-FFF2-40B4-BE49-F238E27FC236}">
                <a16:creationId xmlns:a16="http://schemas.microsoft.com/office/drawing/2014/main" id="{2794831C-0DAB-E1D6-2BD1-4CB42CEE04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20924" y="2883355"/>
            <a:ext cx="1561298" cy="1607976"/>
          </a:xfrm>
          <a:prstGeom prst="rect">
            <a:avLst/>
          </a:prstGeom>
        </p:spPr>
      </p:pic>
      <p:sp>
        <p:nvSpPr>
          <p:cNvPr id="8" name="Oval 7">
            <a:extLst>
              <a:ext uri="{FF2B5EF4-FFF2-40B4-BE49-F238E27FC236}">
                <a16:creationId xmlns:a16="http://schemas.microsoft.com/office/drawing/2014/main" id="{6755C6E2-2D0D-DA69-530A-D2AAD262810B}"/>
              </a:ext>
            </a:extLst>
          </p:cNvPr>
          <p:cNvSpPr/>
          <p:nvPr/>
        </p:nvSpPr>
        <p:spPr>
          <a:xfrm>
            <a:off x="8279364" y="4523988"/>
            <a:ext cx="2002971" cy="2002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0" name="Straight Arrow Connector 9">
            <a:extLst>
              <a:ext uri="{FF2B5EF4-FFF2-40B4-BE49-F238E27FC236}">
                <a16:creationId xmlns:a16="http://schemas.microsoft.com/office/drawing/2014/main" id="{98BB8117-7796-7AC4-A996-78345B09B49D}"/>
              </a:ext>
            </a:extLst>
          </p:cNvPr>
          <p:cNvCxnSpPr>
            <a:endCxn id="8" idx="0"/>
          </p:cNvCxnSpPr>
          <p:nvPr/>
        </p:nvCxnSpPr>
        <p:spPr>
          <a:xfrm>
            <a:off x="7693080" y="3687343"/>
            <a:ext cx="1587770" cy="836645"/>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A5441E0-B8C7-40A7-E7B1-0C6C1D4F9FAC}"/>
              </a:ext>
            </a:extLst>
          </p:cNvPr>
          <p:cNvCxnSpPr>
            <a:cxnSpLocks/>
          </p:cNvCxnSpPr>
          <p:nvPr/>
        </p:nvCxnSpPr>
        <p:spPr>
          <a:xfrm flipV="1">
            <a:off x="9280849" y="3759155"/>
            <a:ext cx="725007" cy="764833"/>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descr="A close-up of a camera&#10;&#10;Description automatically generated">
            <a:extLst>
              <a:ext uri="{FF2B5EF4-FFF2-40B4-BE49-F238E27FC236}">
                <a16:creationId xmlns:a16="http://schemas.microsoft.com/office/drawing/2014/main" id="{807B5ED0-E303-792C-AFB4-92B58CCCD2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9293663" flipH="1">
            <a:off x="10265417" y="2173355"/>
            <a:ext cx="1453710" cy="1291700"/>
          </a:xfrm>
          <a:prstGeom prst="rect">
            <a:avLst/>
          </a:prstGeom>
        </p:spPr>
      </p:pic>
      <p:cxnSp>
        <p:nvCxnSpPr>
          <p:cNvPr id="4" name="Straight Arrow Connector 3">
            <a:extLst>
              <a:ext uri="{FF2B5EF4-FFF2-40B4-BE49-F238E27FC236}">
                <a16:creationId xmlns:a16="http://schemas.microsoft.com/office/drawing/2014/main" id="{DA7E88F2-0452-6672-24ED-64F67BF6D218}"/>
              </a:ext>
            </a:extLst>
          </p:cNvPr>
          <p:cNvCxnSpPr>
            <a:cxnSpLocks/>
            <a:stCxn id="8" idx="0"/>
          </p:cNvCxnSpPr>
          <p:nvPr/>
        </p:nvCxnSpPr>
        <p:spPr>
          <a:xfrm flipV="1">
            <a:off x="9280850" y="4152033"/>
            <a:ext cx="1167874" cy="371955"/>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6D87069-23D8-D85A-DEF0-C0D1A84188B6}"/>
              </a:ext>
            </a:extLst>
          </p:cNvPr>
          <p:cNvCxnSpPr>
            <a:cxnSpLocks/>
          </p:cNvCxnSpPr>
          <p:nvPr/>
        </p:nvCxnSpPr>
        <p:spPr>
          <a:xfrm flipH="1" flipV="1">
            <a:off x="8696131" y="3429000"/>
            <a:ext cx="553593" cy="1068266"/>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CC54B4C-62CF-766E-6744-26FB9EB7CA02}"/>
              </a:ext>
            </a:extLst>
          </p:cNvPr>
          <p:cNvCxnSpPr>
            <a:cxnSpLocks/>
          </p:cNvCxnSpPr>
          <p:nvPr/>
        </p:nvCxnSpPr>
        <p:spPr>
          <a:xfrm flipV="1">
            <a:off x="9248186" y="3429000"/>
            <a:ext cx="231716" cy="1148468"/>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616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63B39-3117-C8F9-951E-AB01A5B775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F05DD1-5906-C192-5A1A-36E202E6FF34}"/>
              </a:ext>
            </a:extLst>
          </p:cNvPr>
          <p:cNvSpPr>
            <a:spLocks noGrp="1"/>
          </p:cNvSpPr>
          <p:nvPr>
            <p:ph type="title"/>
          </p:nvPr>
        </p:nvSpPr>
        <p:spPr>
          <a:xfrm>
            <a:off x="838200" y="365126"/>
            <a:ext cx="10515600" cy="1084230"/>
          </a:xfrm>
        </p:spPr>
        <p:txBody>
          <a:bodyPr/>
          <a:lstStyle/>
          <a:p>
            <a:r>
              <a:rPr lang="en-US" dirty="0"/>
              <a:t>Light transport</a:t>
            </a:r>
            <a:endParaRPr lang="en-BE" dirty="0"/>
          </a:p>
        </p:txBody>
      </p:sp>
      <p:sp>
        <p:nvSpPr>
          <p:cNvPr id="3" name="TextBox 2">
            <a:extLst>
              <a:ext uri="{FF2B5EF4-FFF2-40B4-BE49-F238E27FC236}">
                <a16:creationId xmlns:a16="http://schemas.microsoft.com/office/drawing/2014/main" id="{C7EA611D-D2BB-8E99-5E91-331253CD6275}"/>
              </a:ext>
            </a:extLst>
          </p:cNvPr>
          <p:cNvSpPr txBox="1"/>
          <p:nvPr/>
        </p:nvSpPr>
        <p:spPr>
          <a:xfrm>
            <a:off x="311021" y="1449356"/>
            <a:ext cx="6989927" cy="2246769"/>
          </a:xfrm>
          <a:prstGeom prst="rect">
            <a:avLst/>
          </a:prstGeom>
          <a:noFill/>
        </p:spPr>
        <p:txBody>
          <a:bodyPr wrap="none" rtlCol="0">
            <a:spAutoFit/>
          </a:bodyPr>
          <a:lstStyle/>
          <a:p>
            <a:pPr marL="457200" indent="-457200">
              <a:buFont typeface="Arial" panose="020B0604020202020204" pitchFamily="34" charset="0"/>
              <a:buChar char="•"/>
            </a:pPr>
            <a:r>
              <a:rPr lang="en-US" sz="2800" dirty="0"/>
              <a:t>Light hits an object</a:t>
            </a:r>
          </a:p>
          <a:p>
            <a:pPr marL="457200" indent="-457200">
              <a:buFont typeface="Arial" panose="020B0604020202020204" pitchFamily="34" charset="0"/>
              <a:buChar char="•"/>
            </a:pPr>
            <a:r>
              <a:rPr lang="en-US" sz="2800" dirty="0"/>
              <a:t>That light </a:t>
            </a:r>
            <a:r>
              <a:rPr lang="en-US" sz="2800" b="1" dirty="0"/>
              <a:t>bounces</a:t>
            </a:r>
          </a:p>
          <a:p>
            <a:pPr marL="457200" indent="-457200">
              <a:buFont typeface="Arial" panose="020B0604020202020204" pitchFamily="34" charset="0"/>
              <a:buChar char="•"/>
            </a:pPr>
            <a:r>
              <a:rPr lang="en-US" sz="2800" dirty="0"/>
              <a:t>In many directions</a:t>
            </a:r>
          </a:p>
          <a:p>
            <a:pPr marL="457200" indent="-457200">
              <a:buFont typeface="Arial" panose="020B0604020202020204" pitchFamily="34" charset="0"/>
              <a:buChar char="•"/>
            </a:pPr>
            <a:r>
              <a:rPr lang="en-US" sz="2800" dirty="0"/>
              <a:t>Most hit another object (and bounce again)</a:t>
            </a:r>
          </a:p>
          <a:p>
            <a:pPr marL="457200" indent="-457200">
              <a:buFont typeface="Arial" panose="020B0604020202020204" pitchFamily="34" charset="0"/>
              <a:buChar char="•"/>
            </a:pPr>
            <a:r>
              <a:rPr lang="en-US" sz="2800" dirty="0"/>
              <a:t>Some of it enters our eye</a:t>
            </a:r>
            <a:endParaRPr lang="en-US" dirty="0"/>
          </a:p>
        </p:txBody>
      </p:sp>
      <p:pic>
        <p:nvPicPr>
          <p:cNvPr id="7" name="Picture 6" descr="A yellow light bulb with black lines&#10;&#10;Description automatically generated">
            <a:extLst>
              <a:ext uri="{FF2B5EF4-FFF2-40B4-BE49-F238E27FC236}">
                <a16:creationId xmlns:a16="http://schemas.microsoft.com/office/drawing/2014/main" id="{DE677AD6-8F36-C4DE-3BDD-E320A021C7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2300" y="3800668"/>
            <a:ext cx="1561298" cy="1607976"/>
          </a:xfrm>
          <a:prstGeom prst="rect">
            <a:avLst/>
          </a:prstGeom>
        </p:spPr>
      </p:pic>
      <p:sp>
        <p:nvSpPr>
          <p:cNvPr id="8" name="Oval 7">
            <a:extLst>
              <a:ext uri="{FF2B5EF4-FFF2-40B4-BE49-F238E27FC236}">
                <a16:creationId xmlns:a16="http://schemas.microsoft.com/office/drawing/2014/main" id="{9BFB623F-BE04-AE85-62A8-967A3F5FECA4}"/>
              </a:ext>
            </a:extLst>
          </p:cNvPr>
          <p:cNvSpPr/>
          <p:nvPr/>
        </p:nvSpPr>
        <p:spPr>
          <a:xfrm>
            <a:off x="4777274" y="4780355"/>
            <a:ext cx="2002971" cy="2002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0" name="Straight Arrow Connector 9">
            <a:extLst>
              <a:ext uri="{FF2B5EF4-FFF2-40B4-BE49-F238E27FC236}">
                <a16:creationId xmlns:a16="http://schemas.microsoft.com/office/drawing/2014/main" id="{F383774F-97BB-22DC-DEE4-7F8317426BE2}"/>
              </a:ext>
            </a:extLst>
          </p:cNvPr>
          <p:cNvCxnSpPr>
            <a:cxnSpLocks/>
            <a:stCxn id="7" idx="3"/>
            <a:endCxn id="8" idx="0"/>
          </p:cNvCxnSpPr>
          <p:nvPr/>
        </p:nvCxnSpPr>
        <p:spPr>
          <a:xfrm>
            <a:off x="4343598" y="4604656"/>
            <a:ext cx="1435162" cy="175699"/>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3FAF0A6-992B-8E1C-5ECF-37D15082F613}"/>
              </a:ext>
            </a:extLst>
          </p:cNvPr>
          <p:cNvCxnSpPr>
            <a:cxnSpLocks/>
          </p:cNvCxnSpPr>
          <p:nvPr/>
        </p:nvCxnSpPr>
        <p:spPr>
          <a:xfrm flipV="1">
            <a:off x="5778760" y="3931976"/>
            <a:ext cx="725007" cy="764833"/>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descr="A close-up of a camera&#10;&#10;Description automatically generated">
            <a:extLst>
              <a:ext uri="{FF2B5EF4-FFF2-40B4-BE49-F238E27FC236}">
                <a16:creationId xmlns:a16="http://schemas.microsoft.com/office/drawing/2014/main" id="{E168AFAF-41FE-57E0-26A6-676C7E53AD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722380" flipH="1">
            <a:off x="8320992" y="5350806"/>
            <a:ext cx="1287978" cy="1144438"/>
          </a:xfrm>
          <a:prstGeom prst="rect">
            <a:avLst/>
          </a:prstGeom>
        </p:spPr>
      </p:pic>
      <p:cxnSp>
        <p:nvCxnSpPr>
          <p:cNvPr id="4" name="Straight Arrow Connector 3">
            <a:extLst>
              <a:ext uri="{FF2B5EF4-FFF2-40B4-BE49-F238E27FC236}">
                <a16:creationId xmlns:a16="http://schemas.microsoft.com/office/drawing/2014/main" id="{F3B00318-8684-ADF5-1060-A2BB4CFB1EFA}"/>
              </a:ext>
            </a:extLst>
          </p:cNvPr>
          <p:cNvCxnSpPr>
            <a:cxnSpLocks/>
            <a:stCxn id="8" idx="0"/>
          </p:cNvCxnSpPr>
          <p:nvPr/>
        </p:nvCxnSpPr>
        <p:spPr>
          <a:xfrm flipV="1">
            <a:off x="5778760" y="4312712"/>
            <a:ext cx="1522188" cy="467643"/>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AD90880-DADC-B0B7-89E2-791347BF3F36}"/>
              </a:ext>
            </a:extLst>
          </p:cNvPr>
          <p:cNvCxnSpPr>
            <a:cxnSpLocks/>
          </p:cNvCxnSpPr>
          <p:nvPr/>
        </p:nvCxnSpPr>
        <p:spPr>
          <a:xfrm flipH="1" flipV="1">
            <a:off x="5194042" y="3601821"/>
            <a:ext cx="553593" cy="1068266"/>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8788345-97D8-48E7-8697-BCA3CF3F1DD0}"/>
              </a:ext>
            </a:extLst>
          </p:cNvPr>
          <p:cNvCxnSpPr>
            <a:cxnSpLocks/>
          </p:cNvCxnSpPr>
          <p:nvPr/>
        </p:nvCxnSpPr>
        <p:spPr>
          <a:xfrm flipV="1">
            <a:off x="5746097" y="3601821"/>
            <a:ext cx="231716" cy="1148468"/>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E2A540F2-5107-7B25-D35F-7C5B8AEF410A}"/>
              </a:ext>
            </a:extLst>
          </p:cNvPr>
          <p:cNvSpPr/>
          <p:nvPr/>
        </p:nvSpPr>
        <p:spPr>
          <a:xfrm>
            <a:off x="7182804" y="3219463"/>
            <a:ext cx="1312907" cy="13129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2" name="Straight Arrow Connector 11">
            <a:extLst>
              <a:ext uri="{FF2B5EF4-FFF2-40B4-BE49-F238E27FC236}">
                <a16:creationId xmlns:a16="http://schemas.microsoft.com/office/drawing/2014/main" id="{AFFFD755-A32E-0188-FED7-2E37FA4F57D2}"/>
              </a:ext>
            </a:extLst>
          </p:cNvPr>
          <p:cNvCxnSpPr>
            <a:cxnSpLocks/>
          </p:cNvCxnSpPr>
          <p:nvPr/>
        </p:nvCxnSpPr>
        <p:spPr>
          <a:xfrm>
            <a:off x="7300948" y="4332336"/>
            <a:ext cx="1001486" cy="1247370"/>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descr="A yellow light bulb with black lines&#10;&#10;Description automatically generated">
            <a:extLst>
              <a:ext uri="{FF2B5EF4-FFF2-40B4-BE49-F238E27FC236}">
                <a16:creationId xmlns:a16="http://schemas.microsoft.com/office/drawing/2014/main" id="{5C6FDC28-BA9B-4E9E-2C77-F1D2DCCA5B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07514" y="2921806"/>
            <a:ext cx="1561298" cy="1607976"/>
          </a:xfrm>
          <a:prstGeom prst="rect">
            <a:avLst/>
          </a:prstGeom>
        </p:spPr>
      </p:pic>
      <p:cxnSp>
        <p:nvCxnSpPr>
          <p:cNvPr id="21" name="Straight Arrow Connector 20">
            <a:extLst>
              <a:ext uri="{FF2B5EF4-FFF2-40B4-BE49-F238E27FC236}">
                <a16:creationId xmlns:a16="http://schemas.microsoft.com/office/drawing/2014/main" id="{4EC621E6-4809-692E-4746-7DB2ED343AA7}"/>
              </a:ext>
            </a:extLst>
          </p:cNvPr>
          <p:cNvCxnSpPr>
            <a:cxnSpLocks/>
            <a:endCxn id="6" idx="6"/>
          </p:cNvCxnSpPr>
          <p:nvPr/>
        </p:nvCxnSpPr>
        <p:spPr>
          <a:xfrm flipH="1">
            <a:off x="8495711" y="3800668"/>
            <a:ext cx="876701" cy="75249"/>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C3D6F57-3AC6-578E-343D-5C063A621A79}"/>
              </a:ext>
            </a:extLst>
          </p:cNvPr>
          <p:cNvCxnSpPr>
            <a:cxnSpLocks/>
            <a:endCxn id="14" idx="3"/>
          </p:cNvCxnSpPr>
          <p:nvPr/>
        </p:nvCxnSpPr>
        <p:spPr>
          <a:xfrm>
            <a:off x="8495711" y="4135954"/>
            <a:ext cx="16875" cy="1328747"/>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5696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E449-0C30-2930-0D8B-0F7BD615FF11}"/>
              </a:ext>
            </a:extLst>
          </p:cNvPr>
          <p:cNvSpPr>
            <a:spLocks noGrp="1"/>
          </p:cNvSpPr>
          <p:nvPr>
            <p:ph type="title"/>
          </p:nvPr>
        </p:nvSpPr>
        <p:spPr>
          <a:xfrm>
            <a:off x="496077" y="-182271"/>
            <a:ext cx="10515600" cy="1325563"/>
          </a:xfrm>
        </p:spPr>
        <p:txBody>
          <a:bodyPr/>
          <a:lstStyle/>
          <a:p>
            <a:r>
              <a:rPr lang="en-US" dirty="0"/>
              <a:t>This is called global illumination</a:t>
            </a:r>
            <a:endParaRPr lang="en-BE" dirty="0"/>
          </a:p>
        </p:txBody>
      </p:sp>
      <p:sp>
        <p:nvSpPr>
          <p:cNvPr id="3" name="TextBox 2">
            <a:extLst>
              <a:ext uri="{FF2B5EF4-FFF2-40B4-BE49-F238E27FC236}">
                <a16:creationId xmlns:a16="http://schemas.microsoft.com/office/drawing/2014/main" id="{4964A1C7-4548-EE88-F9F2-E7C20B096C28}"/>
              </a:ext>
            </a:extLst>
          </p:cNvPr>
          <p:cNvSpPr txBox="1"/>
          <p:nvPr/>
        </p:nvSpPr>
        <p:spPr>
          <a:xfrm>
            <a:off x="261257" y="958626"/>
            <a:ext cx="7333482" cy="1477328"/>
          </a:xfrm>
          <a:prstGeom prst="rect">
            <a:avLst/>
          </a:prstGeom>
          <a:noFill/>
        </p:spPr>
        <p:txBody>
          <a:bodyPr wrap="none" rtlCol="0">
            <a:spAutoFit/>
          </a:bodyPr>
          <a:lstStyle/>
          <a:p>
            <a:pPr marL="285750" indent="-285750">
              <a:buFont typeface="Arial" panose="020B0604020202020204" pitchFamily="34" charset="0"/>
              <a:buChar char="•"/>
            </a:pPr>
            <a:r>
              <a:rPr lang="en-US" dirty="0"/>
              <a:t>Most lighting comes directly from a light source (lamp, sun, sky)</a:t>
            </a:r>
          </a:p>
          <a:p>
            <a:pPr marL="285750" indent="-285750">
              <a:buFont typeface="Arial" panose="020B0604020202020204" pitchFamily="34" charset="0"/>
              <a:buChar char="•"/>
            </a:pPr>
            <a:r>
              <a:rPr lang="en-US" dirty="0"/>
              <a:t>It’s reflected on the surface</a:t>
            </a:r>
          </a:p>
          <a:p>
            <a:pPr marL="285750" indent="-285750">
              <a:buFont typeface="Arial" panose="020B0604020202020204" pitchFamily="34" charset="0"/>
              <a:buChar char="•"/>
            </a:pPr>
            <a:r>
              <a:rPr lang="en-US" dirty="0"/>
              <a:t>Some of it hits the camera, some of it reflects off of other surfaces</a:t>
            </a:r>
          </a:p>
          <a:p>
            <a:pPr marL="285750" indent="-285750">
              <a:buFont typeface="Arial" panose="020B0604020202020204" pitchFamily="34" charset="0"/>
              <a:buChar char="•"/>
            </a:pPr>
            <a:r>
              <a:rPr lang="en-US" dirty="0"/>
              <a:t>Some of that reflected light will get reflected again towards the camera</a:t>
            </a:r>
          </a:p>
          <a:p>
            <a:pPr marL="285750" indent="-285750">
              <a:buFont typeface="Arial" panose="020B0604020202020204" pitchFamily="34" charset="0"/>
              <a:buChar char="•"/>
            </a:pPr>
            <a:r>
              <a:rPr lang="en-US" dirty="0"/>
              <a:t>We’re not going to look at it, but it’s good knowledge for the next section</a:t>
            </a:r>
            <a:endParaRPr lang="en-BE" dirty="0"/>
          </a:p>
        </p:txBody>
      </p:sp>
      <p:pic>
        <p:nvPicPr>
          <p:cNvPr id="5" name="Picture 4" descr="A screenshot of a video game&#10;&#10;AI-generated content may be incorrect.">
            <a:extLst>
              <a:ext uri="{FF2B5EF4-FFF2-40B4-BE49-F238E27FC236}">
                <a16:creationId xmlns:a16="http://schemas.microsoft.com/office/drawing/2014/main" id="{FCA83AE6-B8A7-2779-B243-83414089C2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534034"/>
            <a:ext cx="12192000" cy="4551680"/>
          </a:xfrm>
          <a:prstGeom prst="rect">
            <a:avLst/>
          </a:prstGeom>
        </p:spPr>
      </p:pic>
    </p:spTree>
    <p:extLst>
      <p:ext uri="{BB962C8B-B14F-4D97-AF65-F5344CB8AC3E}">
        <p14:creationId xmlns:p14="http://schemas.microsoft.com/office/powerpoint/2010/main" val="1733882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754C-00CB-A505-3F02-16E0E443C3FF}"/>
              </a:ext>
            </a:extLst>
          </p:cNvPr>
          <p:cNvSpPr>
            <a:spLocks noGrp="1"/>
          </p:cNvSpPr>
          <p:nvPr>
            <p:ph type="title"/>
          </p:nvPr>
        </p:nvSpPr>
        <p:spPr/>
        <p:txBody>
          <a:bodyPr/>
          <a:lstStyle/>
          <a:p>
            <a:r>
              <a:rPr lang="en-US" dirty="0"/>
              <a:t>Next problem: secondary visibility</a:t>
            </a:r>
            <a:endParaRPr lang="en-BE" dirty="0"/>
          </a:p>
        </p:txBody>
      </p:sp>
      <p:sp>
        <p:nvSpPr>
          <p:cNvPr id="3" name="TextBox 2">
            <a:extLst>
              <a:ext uri="{FF2B5EF4-FFF2-40B4-BE49-F238E27FC236}">
                <a16:creationId xmlns:a16="http://schemas.microsoft.com/office/drawing/2014/main" id="{51B10830-7B9B-99BD-2943-8FC6C9BF4F18}"/>
              </a:ext>
            </a:extLst>
          </p:cNvPr>
          <p:cNvSpPr txBox="1"/>
          <p:nvPr/>
        </p:nvSpPr>
        <p:spPr>
          <a:xfrm>
            <a:off x="398106" y="1690688"/>
            <a:ext cx="8072595"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The visible point (pixel on screen) needs to be shaded (BRDF)</a:t>
            </a:r>
          </a:p>
          <a:p>
            <a:pPr marL="285750" indent="-285750">
              <a:buFont typeface="Arial" panose="020B0604020202020204" pitchFamily="34" charset="0"/>
              <a:buChar char="•"/>
            </a:pPr>
            <a:r>
              <a:rPr lang="en-US" sz="2400" dirty="0"/>
              <a:t>For that, we need to know where the lights are </a:t>
            </a:r>
          </a:p>
          <a:p>
            <a:pPr marL="285750" indent="-285750">
              <a:buFont typeface="Arial" panose="020B0604020202020204" pitchFamily="34" charset="0"/>
              <a:buChar char="•"/>
            </a:pPr>
            <a:r>
              <a:rPr lang="en-US" sz="2400" dirty="0"/>
              <a:t>We also need to know where the shadows are?</a:t>
            </a:r>
            <a:endParaRPr lang="en-BE" sz="2400" dirty="0"/>
          </a:p>
        </p:txBody>
      </p:sp>
    </p:spTree>
    <p:extLst>
      <p:ext uri="{BB962C8B-B14F-4D97-AF65-F5344CB8AC3E}">
        <p14:creationId xmlns:p14="http://schemas.microsoft.com/office/powerpoint/2010/main" val="246676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2534F-A28D-E541-533F-C53D1CD6F862}"/>
              </a:ext>
            </a:extLst>
          </p:cNvPr>
          <p:cNvSpPr>
            <a:spLocks noGrp="1"/>
          </p:cNvSpPr>
          <p:nvPr>
            <p:ph type="title"/>
          </p:nvPr>
        </p:nvSpPr>
        <p:spPr>
          <a:xfrm>
            <a:off x="787400" y="0"/>
            <a:ext cx="10515600" cy="1325563"/>
          </a:xfrm>
        </p:spPr>
        <p:txBody>
          <a:bodyPr/>
          <a:lstStyle/>
          <a:p>
            <a:r>
              <a:rPr lang="en-US" dirty="0"/>
              <a:t>What are shadows anyway?</a:t>
            </a:r>
            <a:endParaRPr lang="en-BE" dirty="0"/>
          </a:p>
        </p:txBody>
      </p:sp>
      <p:pic>
        <p:nvPicPr>
          <p:cNvPr id="4" name="Picture 3" descr="A group of men in suits&#10;&#10;AI-generated content may be incorrect.">
            <a:extLst>
              <a:ext uri="{FF2B5EF4-FFF2-40B4-BE49-F238E27FC236}">
                <a16:creationId xmlns:a16="http://schemas.microsoft.com/office/drawing/2014/main" id="{88CC3B62-5F52-A9B3-A5EE-21402718C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7165" y="1500486"/>
            <a:ext cx="6935292" cy="5357513"/>
          </a:xfrm>
          <a:prstGeom prst="rect">
            <a:avLst/>
          </a:prstGeom>
        </p:spPr>
      </p:pic>
    </p:spTree>
    <p:extLst>
      <p:ext uri="{BB962C8B-B14F-4D97-AF65-F5344CB8AC3E}">
        <p14:creationId xmlns:p14="http://schemas.microsoft.com/office/powerpoint/2010/main" val="1643559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87215-079A-BA4F-3A8E-1CB07B1032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35B45-B0CD-4112-0C43-DC25C6EB4BF0}"/>
              </a:ext>
            </a:extLst>
          </p:cNvPr>
          <p:cNvSpPr>
            <a:spLocks noGrp="1"/>
          </p:cNvSpPr>
          <p:nvPr>
            <p:ph type="title"/>
          </p:nvPr>
        </p:nvSpPr>
        <p:spPr>
          <a:xfrm>
            <a:off x="787400" y="0"/>
            <a:ext cx="10515600" cy="1325563"/>
          </a:xfrm>
        </p:spPr>
        <p:txBody>
          <a:bodyPr/>
          <a:lstStyle/>
          <a:p>
            <a:r>
              <a:rPr lang="en-US" dirty="0"/>
              <a:t>What are shadows anyway?</a:t>
            </a:r>
            <a:endParaRPr lang="en-BE" dirty="0"/>
          </a:p>
        </p:txBody>
      </p:sp>
      <p:pic>
        <p:nvPicPr>
          <p:cNvPr id="4" name="Picture 3" descr="A group of men in suits&#10;&#10;AI-generated content may be incorrect.">
            <a:extLst>
              <a:ext uri="{FF2B5EF4-FFF2-40B4-BE49-F238E27FC236}">
                <a16:creationId xmlns:a16="http://schemas.microsoft.com/office/drawing/2014/main" id="{F2268F35-0AF8-70E9-BEE9-F66F57B30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6708" y="1500487"/>
            <a:ext cx="6935292" cy="5357513"/>
          </a:xfrm>
          <a:prstGeom prst="rect">
            <a:avLst/>
          </a:prstGeom>
        </p:spPr>
      </p:pic>
      <p:sp>
        <p:nvSpPr>
          <p:cNvPr id="3" name="TextBox 2">
            <a:extLst>
              <a:ext uri="{FF2B5EF4-FFF2-40B4-BE49-F238E27FC236}">
                <a16:creationId xmlns:a16="http://schemas.microsoft.com/office/drawing/2014/main" id="{8519C2D8-1F67-A62B-CC89-CF9C515D0A8C}"/>
              </a:ext>
            </a:extLst>
          </p:cNvPr>
          <p:cNvSpPr txBox="1"/>
          <p:nvPr/>
        </p:nvSpPr>
        <p:spPr>
          <a:xfrm>
            <a:off x="373224" y="1646232"/>
            <a:ext cx="4721289" cy="2031325"/>
          </a:xfrm>
          <a:prstGeom prst="rect">
            <a:avLst/>
          </a:prstGeom>
          <a:noFill/>
        </p:spPr>
        <p:txBody>
          <a:bodyPr wrap="square" rtlCol="0">
            <a:spAutoFit/>
          </a:bodyPr>
          <a:lstStyle/>
          <a:p>
            <a:pPr marL="285750" indent="-285750">
              <a:buFont typeface="Arial" panose="020B0604020202020204" pitchFamily="34" charset="0"/>
              <a:buChar char="•"/>
            </a:pPr>
            <a:r>
              <a:rPr lang="en-US" dirty="0"/>
              <a:t>Shadows are places on a surface a light *doesn’t* reach</a:t>
            </a:r>
          </a:p>
          <a:p>
            <a:pPr marL="285750" indent="-285750">
              <a:buFont typeface="Arial" panose="020B0604020202020204" pitchFamily="34" charset="0"/>
              <a:buChar char="•"/>
            </a:pPr>
            <a:r>
              <a:rPr lang="en-US" dirty="0"/>
              <a:t>They’re a hard problem</a:t>
            </a:r>
          </a:p>
          <a:p>
            <a:pPr marL="285750" indent="-285750">
              <a:buFont typeface="Arial" panose="020B0604020202020204" pitchFamily="34" charset="0"/>
              <a:buChar char="•"/>
            </a:pPr>
            <a:r>
              <a:rPr lang="en-US" dirty="0"/>
              <a:t>Unity does it for us (same as with lights and camera’s)</a:t>
            </a:r>
          </a:p>
          <a:p>
            <a:pPr marL="285750" indent="-285750">
              <a:buFont typeface="Arial" panose="020B0604020202020204" pitchFamily="34" charset="0"/>
              <a:buChar char="•"/>
            </a:pPr>
            <a:r>
              <a:rPr lang="en-US" dirty="0"/>
              <a:t>But let’s look at how they’re made, it’s interesting</a:t>
            </a:r>
            <a:endParaRPr lang="en-BE" dirty="0"/>
          </a:p>
        </p:txBody>
      </p:sp>
    </p:spTree>
    <p:extLst>
      <p:ext uri="{BB962C8B-B14F-4D97-AF65-F5344CB8AC3E}">
        <p14:creationId xmlns:p14="http://schemas.microsoft.com/office/powerpoint/2010/main" val="37727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372B1-52D3-4A0C-9DC5-2AB13BB70B6D}"/>
              </a:ext>
            </a:extLst>
          </p:cNvPr>
          <p:cNvSpPr>
            <a:spLocks noGrp="1"/>
          </p:cNvSpPr>
          <p:nvPr>
            <p:ph type="title"/>
          </p:nvPr>
        </p:nvSpPr>
        <p:spPr/>
        <p:txBody>
          <a:bodyPr/>
          <a:lstStyle/>
          <a:p>
            <a:r>
              <a:rPr lang="en-US" dirty="0"/>
              <a:t>Raytracing : easy</a:t>
            </a:r>
            <a:endParaRPr lang="en-BE" dirty="0"/>
          </a:p>
        </p:txBody>
      </p:sp>
      <p:pic>
        <p:nvPicPr>
          <p:cNvPr id="3" name="Picture 2" descr="A yellow light bulb with black lines&#10;&#10;Description automatically generated">
            <a:extLst>
              <a:ext uri="{FF2B5EF4-FFF2-40B4-BE49-F238E27FC236}">
                <a16:creationId xmlns:a16="http://schemas.microsoft.com/office/drawing/2014/main" id="{A6203B85-30E5-27CB-58CF-13E3A432F6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4840" y="2625012"/>
            <a:ext cx="1561298" cy="1607976"/>
          </a:xfrm>
          <a:prstGeom prst="rect">
            <a:avLst/>
          </a:prstGeom>
        </p:spPr>
      </p:pic>
      <p:sp>
        <p:nvSpPr>
          <p:cNvPr id="4" name="Oval 3">
            <a:extLst>
              <a:ext uri="{FF2B5EF4-FFF2-40B4-BE49-F238E27FC236}">
                <a16:creationId xmlns:a16="http://schemas.microsoft.com/office/drawing/2014/main" id="{7A1E4F53-5383-F5EB-D834-255819F67B1B}"/>
              </a:ext>
            </a:extLst>
          </p:cNvPr>
          <p:cNvSpPr/>
          <p:nvPr/>
        </p:nvSpPr>
        <p:spPr>
          <a:xfrm>
            <a:off x="5486720" y="2366837"/>
            <a:ext cx="2002971" cy="2002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6" name="Picture 5" descr="A close-up of a camera&#10;&#10;Description automatically generated">
            <a:extLst>
              <a:ext uri="{FF2B5EF4-FFF2-40B4-BE49-F238E27FC236}">
                <a16:creationId xmlns:a16="http://schemas.microsoft.com/office/drawing/2014/main" id="{D14C8EAF-38F9-D9D0-4B7D-97AEFABF5A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3591186" flipH="1">
            <a:off x="9583019" y="4795179"/>
            <a:ext cx="1557096" cy="1383564"/>
          </a:xfrm>
          <a:prstGeom prst="rect">
            <a:avLst/>
          </a:prstGeom>
        </p:spPr>
      </p:pic>
      <p:cxnSp>
        <p:nvCxnSpPr>
          <p:cNvPr id="7" name="Straight Arrow Connector 6">
            <a:extLst>
              <a:ext uri="{FF2B5EF4-FFF2-40B4-BE49-F238E27FC236}">
                <a16:creationId xmlns:a16="http://schemas.microsoft.com/office/drawing/2014/main" id="{967C1CD7-C502-F1AD-1B87-18E195D8E85D}"/>
              </a:ext>
            </a:extLst>
          </p:cNvPr>
          <p:cNvCxnSpPr>
            <a:cxnSpLocks/>
          </p:cNvCxnSpPr>
          <p:nvPr/>
        </p:nvCxnSpPr>
        <p:spPr>
          <a:xfrm flipH="1">
            <a:off x="5050971" y="3164443"/>
            <a:ext cx="3570515" cy="406071"/>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2C0EA1AD-2346-5255-30C5-B6FA0556184C}"/>
              </a:ext>
            </a:extLst>
          </p:cNvPr>
          <p:cNvSpPr/>
          <p:nvPr/>
        </p:nvSpPr>
        <p:spPr>
          <a:xfrm>
            <a:off x="7773743" y="1863414"/>
            <a:ext cx="1312907" cy="131290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cxnSp>
        <p:nvCxnSpPr>
          <p:cNvPr id="11" name="Straight Arrow Connector 10">
            <a:extLst>
              <a:ext uri="{FF2B5EF4-FFF2-40B4-BE49-F238E27FC236}">
                <a16:creationId xmlns:a16="http://schemas.microsoft.com/office/drawing/2014/main" id="{95159D07-13BC-80E3-379B-9173670355E9}"/>
              </a:ext>
            </a:extLst>
          </p:cNvPr>
          <p:cNvCxnSpPr>
            <a:cxnSpLocks/>
          </p:cNvCxnSpPr>
          <p:nvPr/>
        </p:nvCxnSpPr>
        <p:spPr>
          <a:xfrm flipH="1" flipV="1">
            <a:off x="8621486" y="3116328"/>
            <a:ext cx="1142744" cy="1912694"/>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4642A11-4693-AEFF-FF12-0758F826CB04}"/>
              </a:ext>
            </a:extLst>
          </p:cNvPr>
          <p:cNvSpPr txBox="1"/>
          <p:nvPr/>
        </p:nvSpPr>
        <p:spPr>
          <a:xfrm>
            <a:off x="523385" y="1631458"/>
            <a:ext cx="5608715" cy="646331"/>
          </a:xfrm>
          <a:prstGeom prst="rect">
            <a:avLst/>
          </a:prstGeom>
          <a:noFill/>
        </p:spPr>
        <p:txBody>
          <a:bodyPr wrap="none" rtlCol="0">
            <a:spAutoFit/>
          </a:bodyPr>
          <a:lstStyle/>
          <a:p>
            <a:pPr marL="285750" indent="-285750">
              <a:buFont typeface="Arial" panose="020B0604020202020204" pitchFamily="34" charset="0"/>
              <a:buChar char="•"/>
            </a:pPr>
            <a:r>
              <a:rPr lang="en-US" dirty="0"/>
              <a:t>For each light, shoot a ray towards the light</a:t>
            </a:r>
          </a:p>
          <a:p>
            <a:pPr marL="285750" indent="-285750">
              <a:buFont typeface="Arial" panose="020B0604020202020204" pitchFamily="34" charset="0"/>
              <a:buChar char="•"/>
            </a:pPr>
            <a:r>
              <a:rPr lang="en-US" dirty="0"/>
              <a:t>If there is geometry closes, skip (this is called occlusion</a:t>
            </a:r>
            <a:endParaRPr lang="en-BE" dirty="0"/>
          </a:p>
        </p:txBody>
      </p:sp>
    </p:spTree>
    <p:extLst>
      <p:ext uri="{BB962C8B-B14F-4D97-AF65-F5344CB8AC3E}">
        <p14:creationId xmlns:p14="http://schemas.microsoft.com/office/powerpoint/2010/main" val="552753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2CED-21B1-9EF9-016A-89CB87C8E4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A9A0A8-ECAA-D9C0-E941-1C4DEF406DDB}"/>
              </a:ext>
            </a:extLst>
          </p:cNvPr>
          <p:cNvSpPr>
            <a:spLocks noGrp="1"/>
          </p:cNvSpPr>
          <p:nvPr>
            <p:ph type="title"/>
          </p:nvPr>
        </p:nvSpPr>
        <p:spPr/>
        <p:txBody>
          <a:bodyPr/>
          <a:lstStyle/>
          <a:p>
            <a:r>
              <a:rPr lang="en-US" dirty="0"/>
              <a:t>Rasterization : hard</a:t>
            </a:r>
            <a:endParaRPr lang="en-BE" dirty="0"/>
          </a:p>
        </p:txBody>
      </p:sp>
      <p:sp>
        <p:nvSpPr>
          <p:cNvPr id="19" name="TextBox 18">
            <a:extLst>
              <a:ext uri="{FF2B5EF4-FFF2-40B4-BE49-F238E27FC236}">
                <a16:creationId xmlns:a16="http://schemas.microsoft.com/office/drawing/2014/main" id="{D28076F4-CB43-129E-4AE2-855B7AA68423}"/>
              </a:ext>
            </a:extLst>
          </p:cNvPr>
          <p:cNvSpPr txBox="1"/>
          <p:nvPr/>
        </p:nvSpPr>
        <p:spPr>
          <a:xfrm>
            <a:off x="523385" y="1631458"/>
            <a:ext cx="6132384" cy="1569660"/>
          </a:xfrm>
          <a:prstGeom prst="rect">
            <a:avLst/>
          </a:prstGeom>
          <a:noFill/>
        </p:spPr>
        <p:txBody>
          <a:bodyPr wrap="none" rtlCol="0">
            <a:spAutoFit/>
          </a:bodyPr>
          <a:lstStyle/>
          <a:p>
            <a:pPr marL="285750" indent="-285750">
              <a:buFont typeface="Arial" panose="020B0604020202020204" pitchFamily="34" charset="0"/>
              <a:buChar char="•"/>
            </a:pPr>
            <a:r>
              <a:rPr lang="en-US" sz="2400" dirty="0"/>
              <a:t>Same idea </a:t>
            </a:r>
          </a:p>
          <a:p>
            <a:pPr marL="285750" indent="-285750">
              <a:buFont typeface="Arial" panose="020B0604020202020204" pitchFamily="34" charset="0"/>
              <a:buChar char="•"/>
            </a:pPr>
            <a:r>
              <a:rPr lang="en-US" sz="2400" dirty="0"/>
              <a:t>But we can’t shoot rays</a:t>
            </a:r>
          </a:p>
          <a:p>
            <a:pPr marL="285750" indent="-285750">
              <a:buFont typeface="Arial" panose="020B0604020202020204" pitchFamily="34" charset="0"/>
              <a:buChar char="•"/>
            </a:pPr>
            <a:r>
              <a:rPr lang="en-US" sz="2400" dirty="0"/>
              <a:t>How can we tell if light or geometry is closer?</a:t>
            </a:r>
          </a:p>
          <a:p>
            <a:pPr marL="285750" indent="-285750">
              <a:buFont typeface="Arial" panose="020B0604020202020204" pitchFamily="34" charset="0"/>
              <a:buChar char="•"/>
            </a:pPr>
            <a:r>
              <a:rPr lang="en-US" sz="2400" dirty="0"/>
              <a:t>We solved a similar problem this class</a:t>
            </a:r>
            <a:endParaRPr lang="en-BE" sz="2400" dirty="0"/>
          </a:p>
        </p:txBody>
      </p:sp>
      <p:pic>
        <p:nvPicPr>
          <p:cNvPr id="8" name="Picture 7" descr="A screenshot of a video game&#10;&#10;AI-generated content may be incorrect.">
            <a:extLst>
              <a:ext uri="{FF2B5EF4-FFF2-40B4-BE49-F238E27FC236}">
                <a16:creationId xmlns:a16="http://schemas.microsoft.com/office/drawing/2014/main" id="{DCBCB7AB-A454-A193-D5FF-F15C57C17C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90680" y="3201118"/>
            <a:ext cx="6501320" cy="3655208"/>
          </a:xfrm>
          <a:prstGeom prst="rect">
            <a:avLst/>
          </a:prstGeom>
        </p:spPr>
      </p:pic>
    </p:spTree>
    <p:extLst>
      <p:ext uri="{BB962C8B-B14F-4D97-AF65-F5344CB8AC3E}">
        <p14:creationId xmlns:p14="http://schemas.microsoft.com/office/powerpoint/2010/main" val="509213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51963-D90A-EAD3-13C0-F27D34F2A470}"/>
              </a:ext>
            </a:extLst>
          </p:cNvPr>
          <p:cNvSpPr>
            <a:spLocks noGrp="1"/>
          </p:cNvSpPr>
          <p:nvPr>
            <p:ph type="title"/>
          </p:nvPr>
        </p:nvSpPr>
        <p:spPr>
          <a:xfrm>
            <a:off x="838200" y="68029"/>
            <a:ext cx="10515600" cy="1325563"/>
          </a:xfrm>
        </p:spPr>
        <p:txBody>
          <a:bodyPr/>
          <a:lstStyle/>
          <a:p>
            <a:r>
              <a:rPr lang="en-US" dirty="0"/>
              <a:t>Shadow mapping</a:t>
            </a:r>
            <a:endParaRPr lang="en-BE" dirty="0"/>
          </a:p>
        </p:txBody>
      </p:sp>
      <p:pic>
        <p:nvPicPr>
          <p:cNvPr id="4" name="Picture 3" descr="A light bulb and a teapot&#10;&#10;AI-generated content may be incorrect.">
            <a:extLst>
              <a:ext uri="{FF2B5EF4-FFF2-40B4-BE49-F238E27FC236}">
                <a16:creationId xmlns:a16="http://schemas.microsoft.com/office/drawing/2014/main" id="{9A42FEEE-24BD-C904-6430-AAB9AC5709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041" y="3266574"/>
            <a:ext cx="7944959" cy="3591426"/>
          </a:xfrm>
          <a:prstGeom prst="rect">
            <a:avLst/>
          </a:prstGeom>
        </p:spPr>
      </p:pic>
      <p:pic>
        <p:nvPicPr>
          <p:cNvPr id="6" name="Picture 5" descr="A teapot with a shadow map&#10;&#10;AI-generated content may be incorrect.">
            <a:extLst>
              <a:ext uri="{FF2B5EF4-FFF2-40B4-BE49-F238E27FC236}">
                <a16:creationId xmlns:a16="http://schemas.microsoft.com/office/drawing/2014/main" id="{4BB6C4D5-84D4-88C7-125E-AFF9ED2510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5796" y="3304679"/>
            <a:ext cx="3553321" cy="3553321"/>
          </a:xfrm>
          <a:prstGeom prst="rect">
            <a:avLst/>
          </a:prstGeom>
        </p:spPr>
      </p:pic>
      <p:sp>
        <p:nvSpPr>
          <p:cNvPr id="7" name="TextBox 6">
            <a:extLst>
              <a:ext uri="{FF2B5EF4-FFF2-40B4-BE49-F238E27FC236}">
                <a16:creationId xmlns:a16="http://schemas.microsoft.com/office/drawing/2014/main" id="{0E9AE6C9-3461-F892-05B1-6B08A690856B}"/>
              </a:ext>
            </a:extLst>
          </p:cNvPr>
          <p:cNvSpPr txBox="1"/>
          <p:nvPr/>
        </p:nvSpPr>
        <p:spPr>
          <a:xfrm>
            <a:off x="370114" y="1211943"/>
            <a:ext cx="6430478" cy="1477328"/>
          </a:xfrm>
          <a:prstGeom prst="rect">
            <a:avLst/>
          </a:prstGeom>
          <a:noFill/>
        </p:spPr>
        <p:txBody>
          <a:bodyPr wrap="none" rtlCol="0">
            <a:spAutoFit/>
          </a:bodyPr>
          <a:lstStyle/>
          <a:p>
            <a:pPr marL="285750" indent="-285750">
              <a:buFont typeface="Arial" panose="020B0604020202020204" pitchFamily="34" charset="0"/>
              <a:buChar char="•"/>
            </a:pPr>
            <a:r>
              <a:rPr lang="en-US" dirty="0"/>
              <a:t>Render a depth buffer from the light</a:t>
            </a:r>
          </a:p>
          <a:p>
            <a:pPr marL="285750" indent="-285750">
              <a:buFont typeface="Arial" panose="020B0604020202020204" pitchFamily="34" charset="0"/>
              <a:buChar char="•"/>
            </a:pPr>
            <a:r>
              <a:rPr lang="en-US" dirty="0"/>
              <a:t>We calculate the distance from the pixel to the light</a:t>
            </a:r>
          </a:p>
          <a:p>
            <a:pPr marL="285750" indent="-285750">
              <a:buFont typeface="Arial" panose="020B0604020202020204" pitchFamily="34" charset="0"/>
              <a:buChar char="•"/>
            </a:pPr>
            <a:r>
              <a:rPr lang="en-US" dirty="0"/>
              <a:t>We calculate the distance of the pixel from the light</a:t>
            </a:r>
          </a:p>
          <a:p>
            <a:pPr marL="285750" indent="-285750">
              <a:buFont typeface="Arial" panose="020B0604020202020204" pitchFamily="34" charset="0"/>
              <a:buChar char="•"/>
            </a:pPr>
            <a:r>
              <a:rPr lang="en-US" dirty="0"/>
              <a:t>If they’re equal, the object is not in shadows</a:t>
            </a:r>
          </a:p>
          <a:p>
            <a:pPr marL="285750" indent="-285750">
              <a:buFont typeface="Arial" panose="020B0604020202020204" pitchFamily="34" charset="0"/>
              <a:buChar char="•"/>
            </a:pPr>
            <a:r>
              <a:rPr lang="en-US" dirty="0"/>
              <a:t>TONS of nuances, bugs, artifacts. Even in Unity, we need to care</a:t>
            </a:r>
            <a:endParaRPr lang="en-BE" dirty="0"/>
          </a:p>
        </p:txBody>
      </p:sp>
    </p:spTree>
    <p:extLst>
      <p:ext uri="{BB962C8B-B14F-4D97-AF65-F5344CB8AC3E}">
        <p14:creationId xmlns:p14="http://schemas.microsoft.com/office/powerpoint/2010/main" val="3959971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8ABE4-3926-16E9-706F-7D3D4C414EB4}"/>
              </a:ext>
            </a:extLst>
          </p:cNvPr>
          <p:cNvSpPr>
            <a:spLocks noGrp="1"/>
          </p:cNvSpPr>
          <p:nvPr>
            <p:ph type="title"/>
          </p:nvPr>
        </p:nvSpPr>
        <p:spPr/>
        <p:txBody>
          <a:bodyPr/>
          <a:lstStyle/>
          <a:p>
            <a:r>
              <a:rPr lang="en-US" dirty="0"/>
              <a:t>Shadow mapping : problems</a:t>
            </a:r>
            <a:endParaRPr lang="en-BE" dirty="0"/>
          </a:p>
        </p:txBody>
      </p:sp>
      <p:pic>
        <p:nvPicPr>
          <p:cNvPr id="4" name="Picture 3" descr="A computer generated image of a ball and a pole&#10;&#10;AI-generated content may be incorrect.">
            <a:extLst>
              <a:ext uri="{FF2B5EF4-FFF2-40B4-BE49-F238E27FC236}">
                <a16:creationId xmlns:a16="http://schemas.microsoft.com/office/drawing/2014/main" id="{1463CBF9-40A0-2254-B167-3965FDB88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5260" y="1430693"/>
            <a:ext cx="6906659" cy="5352661"/>
          </a:xfrm>
          <a:prstGeom prst="rect">
            <a:avLst/>
          </a:prstGeom>
        </p:spPr>
      </p:pic>
      <p:sp>
        <p:nvSpPr>
          <p:cNvPr id="6" name="TextBox 5">
            <a:extLst>
              <a:ext uri="{FF2B5EF4-FFF2-40B4-BE49-F238E27FC236}">
                <a16:creationId xmlns:a16="http://schemas.microsoft.com/office/drawing/2014/main" id="{07FE7C80-3788-9293-070A-5A60A7E7DF2A}"/>
              </a:ext>
            </a:extLst>
          </p:cNvPr>
          <p:cNvSpPr txBox="1"/>
          <p:nvPr/>
        </p:nvSpPr>
        <p:spPr>
          <a:xfrm>
            <a:off x="603380" y="1604865"/>
            <a:ext cx="3964355"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What problems do you see?</a:t>
            </a:r>
          </a:p>
          <a:p>
            <a:pPr marL="285750" indent="-285750">
              <a:buFont typeface="Arial" panose="020B0604020202020204" pitchFamily="34" charset="0"/>
              <a:buChar char="•"/>
            </a:pPr>
            <a:r>
              <a:rPr lang="en-US" sz="2400" dirty="0"/>
              <a:t>I see at least 3</a:t>
            </a:r>
            <a:endParaRPr lang="en-BE" sz="2400" dirty="0"/>
          </a:p>
        </p:txBody>
      </p:sp>
    </p:spTree>
    <p:extLst>
      <p:ext uri="{BB962C8B-B14F-4D97-AF65-F5344CB8AC3E}">
        <p14:creationId xmlns:p14="http://schemas.microsoft.com/office/powerpoint/2010/main" val="2914338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9FAFE-93F3-6890-D868-B54CF0F26877}"/>
              </a:ext>
            </a:extLst>
          </p:cNvPr>
          <p:cNvSpPr>
            <a:spLocks noGrp="1"/>
          </p:cNvSpPr>
          <p:nvPr>
            <p:ph type="title"/>
          </p:nvPr>
        </p:nvSpPr>
        <p:spPr/>
        <p:txBody>
          <a:bodyPr/>
          <a:lstStyle/>
          <a:p>
            <a:r>
              <a:rPr lang="en-US" dirty="0"/>
              <a:t>Light is and additive</a:t>
            </a:r>
            <a:endParaRPr lang="en-BE" dirty="0"/>
          </a:p>
        </p:txBody>
      </p:sp>
      <p:pic>
        <p:nvPicPr>
          <p:cNvPr id="3" name="Picture 2">
            <a:extLst>
              <a:ext uri="{FF2B5EF4-FFF2-40B4-BE49-F238E27FC236}">
                <a16:creationId xmlns:a16="http://schemas.microsoft.com/office/drawing/2014/main" id="{6E9036A3-417C-8461-15A4-F35C8715B627}"/>
              </a:ext>
            </a:extLst>
          </p:cNvPr>
          <p:cNvPicPr>
            <a:picLocks noChangeAspect="1"/>
          </p:cNvPicPr>
          <p:nvPr/>
        </p:nvPicPr>
        <p:blipFill>
          <a:blip r:embed="rId3"/>
          <a:stretch>
            <a:fillRect/>
          </a:stretch>
        </p:blipFill>
        <p:spPr>
          <a:xfrm>
            <a:off x="5494788" y="1291118"/>
            <a:ext cx="6288684" cy="5394960"/>
          </a:xfrm>
          <a:prstGeom prst="rect">
            <a:avLst/>
          </a:prstGeom>
        </p:spPr>
      </p:pic>
      <p:sp>
        <p:nvSpPr>
          <p:cNvPr id="4" name="TextBox 3">
            <a:extLst>
              <a:ext uri="{FF2B5EF4-FFF2-40B4-BE49-F238E27FC236}">
                <a16:creationId xmlns:a16="http://schemas.microsoft.com/office/drawing/2014/main" id="{2238BA80-11E0-CDC9-74E3-5FEA5AA83A44}"/>
              </a:ext>
            </a:extLst>
          </p:cNvPr>
          <p:cNvSpPr txBox="1"/>
          <p:nvPr/>
        </p:nvSpPr>
        <p:spPr>
          <a:xfrm>
            <a:off x="460310" y="1629747"/>
            <a:ext cx="9251443"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If we make the light twice as strong, the material emits twice as strong</a:t>
            </a:r>
          </a:p>
          <a:p>
            <a:pPr marL="285750" indent="-285750">
              <a:buFont typeface="Arial" panose="020B0604020202020204" pitchFamily="34" charset="0"/>
              <a:buChar char="•"/>
            </a:pPr>
            <a:r>
              <a:rPr lang="en-US" sz="2400" dirty="0"/>
              <a:t>We can treat two lights separately, they don’t influence each other</a:t>
            </a:r>
            <a:endParaRPr lang="en-BE" sz="2400" dirty="0"/>
          </a:p>
        </p:txBody>
      </p:sp>
    </p:spTree>
    <p:extLst>
      <p:ext uri="{BB962C8B-B14F-4D97-AF65-F5344CB8AC3E}">
        <p14:creationId xmlns:p14="http://schemas.microsoft.com/office/powerpoint/2010/main" val="717732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258D4-A029-D61C-C972-4B22163DD86F}"/>
              </a:ext>
            </a:extLst>
          </p:cNvPr>
          <p:cNvSpPr>
            <a:spLocks noGrp="1"/>
          </p:cNvSpPr>
          <p:nvPr>
            <p:ph type="title"/>
          </p:nvPr>
        </p:nvSpPr>
        <p:spPr/>
        <p:txBody>
          <a:bodyPr/>
          <a:lstStyle/>
          <a:p>
            <a:r>
              <a:rPr lang="en-US" dirty="0"/>
              <a:t>Point lights</a:t>
            </a:r>
            <a:endParaRPr lang="en-BE" dirty="0"/>
          </a:p>
        </p:txBody>
      </p:sp>
      <p:pic>
        <p:nvPicPr>
          <p:cNvPr id="4" name="Picture 3" descr="A video game screen shot of a room with a brick floor and a light source&#10;&#10;Description automatically generated">
            <a:extLst>
              <a:ext uri="{FF2B5EF4-FFF2-40B4-BE49-F238E27FC236}">
                <a16:creationId xmlns:a16="http://schemas.microsoft.com/office/drawing/2014/main" id="{99574915-DFA8-97D6-B279-483D2DD78C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397" y="1831651"/>
            <a:ext cx="7073900" cy="4749800"/>
          </a:xfrm>
          <a:prstGeom prst="rect">
            <a:avLst/>
          </a:prstGeom>
        </p:spPr>
      </p:pic>
      <p:pic>
        <p:nvPicPr>
          <p:cNvPr id="6" name="Graphic 5">
            <a:extLst>
              <a:ext uri="{FF2B5EF4-FFF2-40B4-BE49-F238E27FC236}">
                <a16:creationId xmlns:a16="http://schemas.microsoft.com/office/drawing/2014/main" id="{29D2E6E3-9283-A906-5A3F-7BB4181758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344735" y="2718317"/>
            <a:ext cx="4802171" cy="3863133"/>
          </a:xfrm>
          <a:prstGeom prst="rect">
            <a:avLst/>
          </a:prstGeom>
        </p:spPr>
      </p:pic>
    </p:spTree>
    <p:extLst>
      <p:ext uri="{BB962C8B-B14F-4D97-AF65-F5344CB8AC3E}">
        <p14:creationId xmlns:p14="http://schemas.microsoft.com/office/powerpoint/2010/main" val="1675801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51899-6D6E-2C9B-353E-5F3EEDBB5FF2}"/>
              </a:ext>
            </a:extLst>
          </p:cNvPr>
          <p:cNvSpPr>
            <a:spLocks noGrp="1"/>
          </p:cNvSpPr>
          <p:nvPr>
            <p:ph type="title"/>
          </p:nvPr>
        </p:nvSpPr>
        <p:spPr/>
        <p:txBody>
          <a:bodyPr/>
          <a:lstStyle/>
          <a:p>
            <a:r>
              <a:rPr lang="en-US" dirty="0"/>
              <a:t>Attenuation</a:t>
            </a:r>
            <a:endParaRPr lang="en-BE" dirty="0"/>
          </a:p>
        </p:txBody>
      </p:sp>
      <p:sp>
        <p:nvSpPr>
          <p:cNvPr id="3" name="TextBox 2">
            <a:extLst>
              <a:ext uri="{FF2B5EF4-FFF2-40B4-BE49-F238E27FC236}">
                <a16:creationId xmlns:a16="http://schemas.microsoft.com/office/drawing/2014/main" id="{FF603080-02F4-A49C-A09A-4A3845C22A5B}"/>
              </a:ext>
            </a:extLst>
          </p:cNvPr>
          <p:cNvSpPr txBox="1"/>
          <p:nvPr/>
        </p:nvSpPr>
        <p:spPr>
          <a:xfrm>
            <a:off x="758890" y="1459855"/>
            <a:ext cx="8675580"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Describes how light get less powerful with distance (with a cutoff)</a:t>
            </a:r>
          </a:p>
          <a:p>
            <a:pPr marL="285750" indent="-285750">
              <a:buFont typeface="Arial" panose="020B0604020202020204" pitchFamily="34" charset="0"/>
              <a:buChar char="•"/>
            </a:pPr>
            <a:endParaRPr lang="en-BE" sz="2400" dirty="0"/>
          </a:p>
        </p:txBody>
      </p:sp>
      <p:pic>
        <p:nvPicPr>
          <p:cNvPr id="4" name="Graphic 3">
            <a:extLst>
              <a:ext uri="{FF2B5EF4-FFF2-40B4-BE49-F238E27FC236}">
                <a16:creationId xmlns:a16="http://schemas.microsoft.com/office/drawing/2014/main" id="{9E0F24AB-4DB7-6E35-8116-72E749A926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405731" y="2388852"/>
            <a:ext cx="5295134" cy="4259700"/>
          </a:xfrm>
          <a:prstGeom prst="rect">
            <a:avLst/>
          </a:prstGeom>
        </p:spPr>
      </p:pic>
    </p:spTree>
    <p:extLst>
      <p:ext uri="{BB962C8B-B14F-4D97-AF65-F5344CB8AC3E}">
        <p14:creationId xmlns:p14="http://schemas.microsoft.com/office/powerpoint/2010/main" val="1733230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59B1-EFE1-B0AD-173D-6C563D997A01}"/>
              </a:ext>
            </a:extLst>
          </p:cNvPr>
          <p:cNvSpPr>
            <a:spLocks noGrp="1"/>
          </p:cNvSpPr>
          <p:nvPr>
            <p:ph type="title"/>
          </p:nvPr>
        </p:nvSpPr>
        <p:spPr/>
        <p:txBody>
          <a:bodyPr/>
          <a:lstStyle/>
          <a:p>
            <a:r>
              <a:rPr lang="en-US" dirty="0"/>
              <a:t>Spot light</a:t>
            </a:r>
            <a:endParaRPr lang="en-BE" dirty="0"/>
          </a:p>
        </p:txBody>
      </p:sp>
      <p:pic>
        <p:nvPicPr>
          <p:cNvPr id="4" name="Picture 3" descr="A screenshot of a video game&#10;&#10;Description automatically generated">
            <a:extLst>
              <a:ext uri="{FF2B5EF4-FFF2-40B4-BE49-F238E27FC236}">
                <a16:creationId xmlns:a16="http://schemas.microsoft.com/office/drawing/2014/main" id="{318227DF-40EB-CBB7-DEAC-B4D30C0641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149" y="2018004"/>
            <a:ext cx="7086600" cy="4775200"/>
          </a:xfrm>
          <a:prstGeom prst="rect">
            <a:avLst/>
          </a:prstGeom>
        </p:spPr>
      </p:pic>
      <p:pic>
        <p:nvPicPr>
          <p:cNvPr id="6" name="Graphic 5">
            <a:extLst>
              <a:ext uri="{FF2B5EF4-FFF2-40B4-BE49-F238E27FC236}">
                <a16:creationId xmlns:a16="http://schemas.microsoft.com/office/drawing/2014/main" id="{23C5B284-7834-5B0F-D9C2-C2A5C6E3C9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28691" y="3041781"/>
            <a:ext cx="4663309" cy="3751424"/>
          </a:xfrm>
          <a:prstGeom prst="rect">
            <a:avLst/>
          </a:prstGeom>
        </p:spPr>
      </p:pic>
    </p:spTree>
    <p:extLst>
      <p:ext uri="{BB962C8B-B14F-4D97-AF65-F5344CB8AC3E}">
        <p14:creationId xmlns:p14="http://schemas.microsoft.com/office/powerpoint/2010/main" val="3940184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C399E-BD98-334D-0FE6-BDBEA37B0FD8}"/>
              </a:ext>
            </a:extLst>
          </p:cNvPr>
          <p:cNvSpPr>
            <a:spLocks noGrp="1"/>
          </p:cNvSpPr>
          <p:nvPr>
            <p:ph type="title"/>
          </p:nvPr>
        </p:nvSpPr>
        <p:spPr/>
        <p:txBody>
          <a:bodyPr/>
          <a:lstStyle/>
          <a:p>
            <a:r>
              <a:rPr lang="en-US" dirty="0"/>
              <a:t>Directional light</a:t>
            </a:r>
            <a:endParaRPr lang="en-BE" dirty="0"/>
          </a:p>
        </p:txBody>
      </p:sp>
      <p:pic>
        <p:nvPicPr>
          <p:cNvPr id="4" name="Picture 3" descr="A video game screen shot of a room&#10;&#10;Description automatically generated">
            <a:extLst>
              <a:ext uri="{FF2B5EF4-FFF2-40B4-BE49-F238E27FC236}">
                <a16:creationId xmlns:a16="http://schemas.microsoft.com/office/drawing/2014/main" id="{5944F867-2EC4-F553-0C82-AE726C39FE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6448" y="2575249"/>
            <a:ext cx="7145552" cy="4282751"/>
          </a:xfrm>
          <a:prstGeom prst="rect">
            <a:avLst/>
          </a:prstGeom>
        </p:spPr>
      </p:pic>
      <p:sp>
        <p:nvSpPr>
          <p:cNvPr id="5" name="TextBox 4">
            <a:extLst>
              <a:ext uri="{FF2B5EF4-FFF2-40B4-BE49-F238E27FC236}">
                <a16:creationId xmlns:a16="http://schemas.microsoft.com/office/drawing/2014/main" id="{0DF43902-6DE7-4856-4195-0E873ED41499}"/>
              </a:ext>
            </a:extLst>
          </p:cNvPr>
          <p:cNvSpPr txBox="1"/>
          <p:nvPr/>
        </p:nvSpPr>
        <p:spPr>
          <a:xfrm>
            <a:off x="783772" y="1690688"/>
            <a:ext cx="4190314"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Like sunlight</a:t>
            </a:r>
          </a:p>
          <a:p>
            <a:pPr marL="285750" indent="-285750">
              <a:buFont typeface="Arial" panose="020B0604020202020204" pitchFamily="34" charset="0"/>
              <a:buChar char="•"/>
            </a:pPr>
            <a:r>
              <a:rPr lang="en-US" sz="2400" dirty="0"/>
              <a:t>Does not fall off with distance</a:t>
            </a:r>
          </a:p>
          <a:p>
            <a:pPr marL="285750" indent="-285750">
              <a:buFont typeface="Arial" panose="020B0604020202020204" pitchFamily="34" charset="0"/>
              <a:buChar char="•"/>
            </a:pPr>
            <a:r>
              <a:rPr lang="en-US" sz="2400" dirty="0"/>
              <a:t>Why?</a:t>
            </a:r>
          </a:p>
        </p:txBody>
      </p:sp>
    </p:spTree>
    <p:extLst>
      <p:ext uri="{BB962C8B-B14F-4D97-AF65-F5344CB8AC3E}">
        <p14:creationId xmlns:p14="http://schemas.microsoft.com/office/powerpoint/2010/main" val="786772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3C45-0198-3F33-5E31-38F7E41F0980}"/>
              </a:ext>
            </a:extLst>
          </p:cNvPr>
          <p:cNvSpPr>
            <a:spLocks noGrp="1"/>
          </p:cNvSpPr>
          <p:nvPr>
            <p:ph type="title"/>
          </p:nvPr>
        </p:nvSpPr>
        <p:spPr/>
        <p:txBody>
          <a:bodyPr/>
          <a:lstStyle/>
          <a:p>
            <a:r>
              <a:rPr lang="en-US" dirty="0"/>
              <a:t>Light cookies</a:t>
            </a:r>
            <a:endParaRPr lang="en-BE" dirty="0"/>
          </a:p>
        </p:txBody>
      </p:sp>
      <p:sp>
        <p:nvSpPr>
          <p:cNvPr id="3" name="TextBox 2">
            <a:extLst>
              <a:ext uri="{FF2B5EF4-FFF2-40B4-BE49-F238E27FC236}">
                <a16:creationId xmlns:a16="http://schemas.microsoft.com/office/drawing/2014/main" id="{2B2F79BF-9ADD-58DD-EB94-40880B287B13}"/>
              </a:ext>
            </a:extLst>
          </p:cNvPr>
          <p:cNvSpPr txBox="1"/>
          <p:nvPr/>
        </p:nvSpPr>
        <p:spPr>
          <a:xfrm>
            <a:off x="528735" y="1586204"/>
            <a:ext cx="4839723"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Like a painted plastic film on a light</a:t>
            </a:r>
          </a:p>
          <a:p>
            <a:pPr marL="285750" indent="-285750">
              <a:buFont typeface="Arial" panose="020B0604020202020204" pitchFamily="34" charset="0"/>
              <a:buChar char="•"/>
            </a:pPr>
            <a:r>
              <a:rPr lang="en-US" sz="2400" dirty="0"/>
              <a:t>Cheap way to create detail</a:t>
            </a:r>
            <a:endParaRPr lang="en-BE" sz="2400" dirty="0"/>
          </a:p>
        </p:txBody>
      </p:sp>
      <p:pic>
        <p:nvPicPr>
          <p:cNvPr id="5" name="Picture 4" descr="A white box with a light on it&#10;&#10;Description automatically generated">
            <a:extLst>
              <a:ext uri="{FF2B5EF4-FFF2-40B4-BE49-F238E27FC236}">
                <a16:creationId xmlns:a16="http://schemas.microsoft.com/office/drawing/2014/main" id="{A15B3218-4CCE-4468-DCA1-2E52F55B9A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0741" y="76977"/>
            <a:ext cx="5204733" cy="2498272"/>
          </a:xfrm>
          <a:prstGeom prst="rect">
            <a:avLst/>
          </a:prstGeom>
        </p:spPr>
      </p:pic>
      <p:pic>
        <p:nvPicPr>
          <p:cNvPr id="7" name="Picture 6" descr="A light shining on a surface&#10;&#10;Description automatically generated">
            <a:extLst>
              <a:ext uri="{FF2B5EF4-FFF2-40B4-BE49-F238E27FC236}">
                <a16:creationId xmlns:a16="http://schemas.microsoft.com/office/drawing/2014/main" id="{B091B71B-A495-B3BB-49E7-936E94C390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75707" y="3003026"/>
            <a:ext cx="6765860" cy="3788882"/>
          </a:xfrm>
          <a:prstGeom prst="rect">
            <a:avLst/>
          </a:prstGeom>
        </p:spPr>
      </p:pic>
    </p:spTree>
    <p:extLst>
      <p:ext uri="{BB962C8B-B14F-4D97-AF65-F5344CB8AC3E}">
        <p14:creationId xmlns:p14="http://schemas.microsoft.com/office/powerpoint/2010/main" val="28523034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42683-B9D9-26B8-8E0B-FE9E2696D5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02D35-C2B4-C717-A8A0-E10C5E1C9CCD}"/>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C21C8179-EB2B-A27D-4C2E-E21BAD685DF0}"/>
              </a:ext>
            </a:extLst>
          </p:cNvPr>
          <p:cNvSpPr txBox="1"/>
          <p:nvPr/>
        </p:nvSpPr>
        <p:spPr>
          <a:xfrm>
            <a:off x="989900" y="1690689"/>
            <a:ext cx="8726377"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Pipeline recap</a:t>
            </a:r>
          </a:p>
          <a:p>
            <a:pPr marL="285750" indent="-285750">
              <a:buFont typeface="Arial" panose="020B0604020202020204" pitchFamily="34" charset="0"/>
              <a:buChar char="•"/>
            </a:pPr>
            <a:r>
              <a:rPr lang="en-US" sz="2800" dirty="0">
                <a:sym typeface="Wingdings" panose="05000000000000000000" pitchFamily="2" charset="2"/>
              </a:rPr>
              <a:t>Back in the day</a:t>
            </a:r>
          </a:p>
          <a:p>
            <a:pPr marL="285750" indent="-285750">
              <a:buFont typeface="Arial" panose="020B0604020202020204" pitchFamily="34" charset="0"/>
              <a:buChar char="•"/>
            </a:pPr>
            <a:r>
              <a:rPr lang="en-US" sz="2800" dirty="0">
                <a:sym typeface="Wingdings" panose="05000000000000000000" pitchFamily="2" charset="2"/>
              </a:rPr>
              <a:t>Light &amp; Shadow</a:t>
            </a:r>
          </a:p>
          <a:p>
            <a:pPr marL="285750" indent="-285750">
              <a:buFont typeface="Arial" panose="020B0604020202020204" pitchFamily="34" charset="0"/>
              <a:buChar char="•"/>
            </a:pPr>
            <a:r>
              <a:rPr lang="en-US" sz="2800" dirty="0">
                <a:sym typeface="Wingdings" panose="05000000000000000000" pitchFamily="2" charset="2"/>
              </a:rPr>
              <a:t> Camera </a:t>
            </a:r>
          </a:p>
          <a:p>
            <a:pPr marL="285750" indent="-285750">
              <a:buFont typeface="Arial" panose="020B0604020202020204" pitchFamily="34" charset="0"/>
              <a:buChar char="•"/>
            </a:pPr>
            <a:r>
              <a:rPr lang="en-US" sz="2800" dirty="0">
                <a:sym typeface="Wingdings" panose="05000000000000000000" pitchFamily="2" charset="2"/>
              </a:rPr>
              <a:t>Ray Tracing vs Rasterization</a:t>
            </a:r>
          </a:p>
          <a:p>
            <a:pPr marL="285750" indent="-285750">
              <a:buFont typeface="Arial" panose="020B0604020202020204" pitchFamily="34" charset="0"/>
              <a:buChar char="•"/>
            </a:pPr>
            <a:r>
              <a:rPr lang="en-US" sz="2800" dirty="0">
                <a:sym typeface="Wingdings" panose="05000000000000000000" pitchFamily="2" charset="2"/>
              </a:rPr>
              <a:t>Forward rendering</a:t>
            </a:r>
          </a:p>
        </p:txBody>
      </p:sp>
    </p:spTree>
    <p:extLst>
      <p:ext uri="{BB962C8B-B14F-4D97-AF65-F5344CB8AC3E}">
        <p14:creationId xmlns:p14="http://schemas.microsoft.com/office/powerpoint/2010/main" val="9186440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1D498-5A5D-0174-1150-A117E3AED102}"/>
              </a:ext>
            </a:extLst>
          </p:cNvPr>
          <p:cNvSpPr>
            <a:spLocks noGrp="1"/>
          </p:cNvSpPr>
          <p:nvPr>
            <p:ph type="title"/>
          </p:nvPr>
        </p:nvSpPr>
        <p:spPr/>
        <p:txBody>
          <a:bodyPr/>
          <a:lstStyle/>
          <a:p>
            <a:r>
              <a:rPr lang="en-US" dirty="0"/>
              <a:t>Perspective camera</a:t>
            </a:r>
            <a:endParaRPr lang="en-BE" dirty="0"/>
          </a:p>
        </p:txBody>
      </p:sp>
      <p:pic>
        <p:nvPicPr>
          <p:cNvPr id="8" name="Picture 7" descr="A road leading to a field&#10;&#10;Description automatically generated">
            <a:extLst>
              <a:ext uri="{FF2B5EF4-FFF2-40B4-BE49-F238E27FC236}">
                <a16:creationId xmlns:a16="http://schemas.microsoft.com/office/drawing/2014/main" id="{4E22A348-0A89-C624-00F7-747AD1A658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4565" y="2450841"/>
            <a:ext cx="6607435" cy="4407159"/>
          </a:xfrm>
          <a:prstGeom prst="rect">
            <a:avLst/>
          </a:prstGeom>
        </p:spPr>
      </p:pic>
      <p:sp>
        <p:nvSpPr>
          <p:cNvPr id="9" name="TextBox 8">
            <a:extLst>
              <a:ext uri="{FF2B5EF4-FFF2-40B4-BE49-F238E27FC236}">
                <a16:creationId xmlns:a16="http://schemas.microsoft.com/office/drawing/2014/main" id="{CE49A71D-7663-2DEA-F684-A075E72B0EF2}"/>
              </a:ext>
            </a:extLst>
          </p:cNvPr>
          <p:cNvSpPr txBox="1"/>
          <p:nvPr/>
        </p:nvSpPr>
        <p:spPr>
          <a:xfrm>
            <a:off x="721568" y="1491635"/>
            <a:ext cx="6923370" cy="830997"/>
          </a:xfrm>
          <a:prstGeom prst="rect">
            <a:avLst/>
          </a:prstGeom>
          <a:noFill/>
        </p:spPr>
        <p:txBody>
          <a:bodyPr wrap="none" rtlCol="0">
            <a:spAutoFit/>
          </a:bodyPr>
          <a:lstStyle/>
          <a:p>
            <a:pPr marL="285750" indent="-285750">
              <a:buFont typeface="Arial" panose="020B0604020202020204" pitchFamily="34" charset="0"/>
              <a:buChar char="•"/>
            </a:pPr>
            <a:r>
              <a:rPr lang="en-US" sz="2400" dirty="0"/>
              <a:t>Objects get smaller the further they are (depth cue)</a:t>
            </a:r>
          </a:p>
          <a:p>
            <a:pPr marL="285750" indent="-285750">
              <a:buFont typeface="Arial" panose="020B0604020202020204" pitchFamily="34" charset="0"/>
              <a:buChar char="•"/>
            </a:pPr>
            <a:r>
              <a:rPr lang="en-US" sz="2400" dirty="0"/>
              <a:t>All real cameras are perspective camera’s</a:t>
            </a:r>
            <a:endParaRPr lang="en-BE" sz="2400" dirty="0"/>
          </a:p>
        </p:txBody>
      </p:sp>
    </p:spTree>
    <p:extLst>
      <p:ext uri="{BB962C8B-B14F-4D97-AF65-F5344CB8AC3E}">
        <p14:creationId xmlns:p14="http://schemas.microsoft.com/office/powerpoint/2010/main" val="1280527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9D68-B2A7-5B40-2FA0-48DA9A645287}"/>
              </a:ext>
            </a:extLst>
          </p:cNvPr>
          <p:cNvSpPr>
            <a:spLocks noGrp="1"/>
          </p:cNvSpPr>
          <p:nvPr>
            <p:ph type="title"/>
          </p:nvPr>
        </p:nvSpPr>
        <p:spPr/>
        <p:txBody>
          <a:bodyPr/>
          <a:lstStyle/>
          <a:p>
            <a:endParaRPr lang="en-BE"/>
          </a:p>
        </p:txBody>
      </p:sp>
      <p:pic>
        <p:nvPicPr>
          <p:cNvPr id="6" name="Picture 5" descr="A video game screen with red balls and red text&#10;&#10;Description automatically generated">
            <a:extLst>
              <a:ext uri="{FF2B5EF4-FFF2-40B4-BE49-F238E27FC236}">
                <a16:creationId xmlns:a16="http://schemas.microsoft.com/office/drawing/2014/main" id="{348EE98B-96D4-7DCD-9043-E8FEFC1D4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 y="0"/>
            <a:ext cx="12191031" cy="6858000"/>
          </a:xfrm>
          <a:prstGeom prst="rect">
            <a:avLst/>
          </a:prstGeom>
        </p:spPr>
      </p:pic>
    </p:spTree>
    <p:extLst>
      <p:ext uri="{BB962C8B-B14F-4D97-AF65-F5344CB8AC3E}">
        <p14:creationId xmlns:p14="http://schemas.microsoft.com/office/powerpoint/2010/main" val="4228140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77A4F-8C03-E0AB-9435-E6474F197447}"/>
              </a:ext>
            </a:extLst>
          </p:cNvPr>
          <p:cNvSpPr>
            <a:spLocks noGrp="1"/>
          </p:cNvSpPr>
          <p:nvPr>
            <p:ph type="title"/>
          </p:nvPr>
        </p:nvSpPr>
        <p:spPr/>
        <p:txBody>
          <a:bodyPr/>
          <a:lstStyle/>
          <a:p>
            <a:endParaRPr lang="en-BE"/>
          </a:p>
        </p:txBody>
      </p:sp>
      <p:pic>
        <p:nvPicPr>
          <p:cNvPr id="4" name="Picture 3" descr="A screenshot of a video game&#10;&#10;Description automatically generated">
            <a:extLst>
              <a:ext uri="{FF2B5EF4-FFF2-40B4-BE49-F238E27FC236}">
                <a16:creationId xmlns:a16="http://schemas.microsoft.com/office/drawing/2014/main" id="{D0B35B04-6583-D69C-A416-3E0846DB67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7183027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F2E4C-E915-DAB1-77A2-1F0222C018B1}"/>
              </a:ext>
            </a:extLst>
          </p:cNvPr>
          <p:cNvSpPr>
            <a:spLocks noGrp="1"/>
          </p:cNvSpPr>
          <p:nvPr>
            <p:ph type="title"/>
          </p:nvPr>
        </p:nvSpPr>
        <p:spPr/>
        <p:txBody>
          <a:bodyPr/>
          <a:lstStyle/>
          <a:p>
            <a:r>
              <a:rPr lang="en-US" dirty="0"/>
              <a:t>Perspective camera : frustum </a:t>
            </a:r>
            <a:endParaRPr lang="en-BE" dirty="0"/>
          </a:p>
        </p:txBody>
      </p:sp>
      <p:pic>
        <p:nvPicPr>
          <p:cNvPr id="5" name="Picture 4" descr="A diagram of a rectangular object&#10;&#10;Description automatically generated">
            <a:extLst>
              <a:ext uri="{FF2B5EF4-FFF2-40B4-BE49-F238E27FC236}">
                <a16:creationId xmlns:a16="http://schemas.microsoft.com/office/drawing/2014/main" id="{71272AAD-9541-4F86-EF8E-25B923E1C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665" y="3060441"/>
            <a:ext cx="8108669" cy="3797559"/>
          </a:xfrm>
          <a:prstGeom prst="rect">
            <a:avLst/>
          </a:prstGeom>
        </p:spPr>
      </p:pic>
      <p:sp>
        <p:nvSpPr>
          <p:cNvPr id="6" name="TextBox 5">
            <a:extLst>
              <a:ext uri="{FF2B5EF4-FFF2-40B4-BE49-F238E27FC236}">
                <a16:creationId xmlns:a16="http://schemas.microsoft.com/office/drawing/2014/main" id="{29CED665-1FE8-CD61-B802-388C3A14C79D}"/>
              </a:ext>
            </a:extLst>
          </p:cNvPr>
          <p:cNvSpPr txBox="1"/>
          <p:nvPr/>
        </p:nvSpPr>
        <p:spPr>
          <a:xfrm>
            <a:off x="323460" y="1579985"/>
            <a:ext cx="7576458" cy="830997"/>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camera has a frustum (capped pyramid)</a:t>
            </a:r>
          </a:p>
          <a:p>
            <a:pPr marL="285750" indent="-285750">
              <a:buFont typeface="Arial" panose="020B0604020202020204" pitchFamily="34" charset="0"/>
              <a:buChar char="•"/>
            </a:pPr>
            <a:r>
              <a:rPr lang="en-US" sz="2400" dirty="0"/>
              <a:t>Anything visible has to be in the frustum</a:t>
            </a:r>
            <a:endParaRPr lang="en-BE" sz="2400" dirty="0"/>
          </a:p>
        </p:txBody>
      </p:sp>
    </p:spTree>
    <p:extLst>
      <p:ext uri="{BB962C8B-B14F-4D97-AF65-F5344CB8AC3E}">
        <p14:creationId xmlns:p14="http://schemas.microsoft.com/office/powerpoint/2010/main" val="2194951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49062-2A01-59DE-A7AF-1E89940C6E10}"/>
              </a:ext>
            </a:extLst>
          </p:cNvPr>
          <p:cNvSpPr>
            <a:spLocks noGrp="1"/>
          </p:cNvSpPr>
          <p:nvPr>
            <p:ph type="title"/>
          </p:nvPr>
        </p:nvSpPr>
        <p:spPr/>
        <p:txBody>
          <a:bodyPr/>
          <a:lstStyle/>
          <a:p>
            <a:r>
              <a:rPr lang="en-US" dirty="0"/>
              <a:t>Perspective camera : near / far</a:t>
            </a:r>
            <a:endParaRPr lang="en-BE" dirty="0"/>
          </a:p>
        </p:txBody>
      </p:sp>
      <p:pic>
        <p:nvPicPr>
          <p:cNvPr id="8" name="Picture 7" descr="A diagram of a triangle&#10;&#10;Description automatically generated">
            <a:extLst>
              <a:ext uri="{FF2B5EF4-FFF2-40B4-BE49-F238E27FC236}">
                <a16:creationId xmlns:a16="http://schemas.microsoft.com/office/drawing/2014/main" id="{86D9D3CD-1B00-383A-FF62-243D6ED21A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066" y="3050043"/>
            <a:ext cx="9032828" cy="3807957"/>
          </a:xfrm>
          <a:prstGeom prst="rect">
            <a:avLst/>
          </a:prstGeom>
        </p:spPr>
      </p:pic>
      <p:sp>
        <p:nvSpPr>
          <p:cNvPr id="3" name="TextBox 2">
            <a:extLst>
              <a:ext uri="{FF2B5EF4-FFF2-40B4-BE49-F238E27FC236}">
                <a16:creationId xmlns:a16="http://schemas.microsoft.com/office/drawing/2014/main" id="{0DEDA9C1-EC46-DB6E-F928-0FE2FB046E20}"/>
              </a:ext>
            </a:extLst>
          </p:cNvPr>
          <p:cNvSpPr txBox="1"/>
          <p:nvPr/>
        </p:nvSpPr>
        <p:spPr>
          <a:xfrm>
            <a:off x="441649" y="1665048"/>
            <a:ext cx="6794552" cy="1384995"/>
          </a:xfrm>
          <a:prstGeom prst="rect">
            <a:avLst/>
          </a:prstGeom>
          <a:noFill/>
        </p:spPr>
        <p:txBody>
          <a:bodyPr wrap="none" rtlCol="0">
            <a:spAutoFit/>
          </a:bodyPr>
          <a:lstStyle/>
          <a:p>
            <a:pPr marL="285750" indent="-285750">
              <a:buFont typeface="Arial" panose="020B0604020202020204" pitchFamily="34" charset="0"/>
              <a:buChar char="•"/>
            </a:pPr>
            <a:r>
              <a:rPr lang="en-US" sz="2800" dirty="0"/>
              <a:t>The closest cutoff is called the near plane</a:t>
            </a:r>
          </a:p>
          <a:p>
            <a:pPr marL="285750" indent="-285750">
              <a:buFont typeface="Arial" panose="020B0604020202020204" pitchFamily="34" charset="0"/>
              <a:buChar char="•"/>
            </a:pPr>
            <a:r>
              <a:rPr lang="en-US" sz="2800" dirty="0"/>
              <a:t>The furthest cutoff is called the far plane</a:t>
            </a:r>
          </a:p>
          <a:p>
            <a:pPr marL="285750" indent="-285750">
              <a:buFont typeface="Arial" panose="020B0604020202020204" pitchFamily="34" charset="0"/>
              <a:buChar char="•"/>
            </a:pPr>
            <a:r>
              <a:rPr lang="en-US" sz="2800" dirty="0"/>
              <a:t>We need the cutoff due to the depth buffer</a:t>
            </a:r>
            <a:endParaRPr lang="en-BE" sz="2800" dirty="0"/>
          </a:p>
        </p:txBody>
      </p:sp>
    </p:spTree>
    <p:extLst>
      <p:ext uri="{BB962C8B-B14F-4D97-AF65-F5344CB8AC3E}">
        <p14:creationId xmlns:p14="http://schemas.microsoft.com/office/powerpoint/2010/main" val="9150441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469AD-2FCF-9ED5-9A20-B45319B00143}"/>
              </a:ext>
            </a:extLst>
          </p:cNvPr>
          <p:cNvSpPr>
            <a:spLocks noGrp="1"/>
          </p:cNvSpPr>
          <p:nvPr>
            <p:ph type="title"/>
          </p:nvPr>
        </p:nvSpPr>
        <p:spPr/>
        <p:txBody>
          <a:bodyPr/>
          <a:lstStyle/>
          <a:p>
            <a:r>
              <a:rPr lang="en-US" dirty="0"/>
              <a:t>Perspective camera : field of view</a:t>
            </a:r>
            <a:endParaRPr lang="en-BE" dirty="0"/>
          </a:p>
        </p:txBody>
      </p:sp>
      <p:sp>
        <p:nvSpPr>
          <p:cNvPr id="3" name="TextBox 2">
            <a:extLst>
              <a:ext uri="{FF2B5EF4-FFF2-40B4-BE49-F238E27FC236}">
                <a16:creationId xmlns:a16="http://schemas.microsoft.com/office/drawing/2014/main" id="{4951F630-43AA-234F-627C-1B2DC8389682}"/>
              </a:ext>
            </a:extLst>
          </p:cNvPr>
          <p:cNvSpPr txBox="1"/>
          <p:nvPr/>
        </p:nvSpPr>
        <p:spPr>
          <a:xfrm>
            <a:off x="491412" y="1459855"/>
            <a:ext cx="5163273"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a:t>This might already be familiar to you?</a:t>
            </a:r>
            <a:endParaRPr lang="en-BE" sz="2400" dirty="0"/>
          </a:p>
        </p:txBody>
      </p:sp>
    </p:spTree>
    <p:extLst>
      <p:ext uri="{BB962C8B-B14F-4D97-AF65-F5344CB8AC3E}">
        <p14:creationId xmlns:p14="http://schemas.microsoft.com/office/powerpoint/2010/main" val="3427303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88117-2E04-A3D7-C89D-09757AB84CB6}"/>
              </a:ext>
            </a:extLst>
          </p:cNvPr>
          <p:cNvSpPr>
            <a:spLocks noGrp="1"/>
          </p:cNvSpPr>
          <p:nvPr>
            <p:ph type="title"/>
          </p:nvPr>
        </p:nvSpPr>
        <p:spPr/>
        <p:txBody>
          <a:bodyPr/>
          <a:lstStyle/>
          <a:p>
            <a:r>
              <a:rPr lang="en-US" dirty="0"/>
              <a:t>Analogous to different lenses </a:t>
            </a:r>
            <a:endParaRPr lang="en-BE" dirty="0"/>
          </a:p>
        </p:txBody>
      </p:sp>
      <p:pic>
        <p:nvPicPr>
          <p:cNvPr id="5" name="Picture 4" descr="A screenshot of a video game&#10;&#10;Description automatically generated">
            <a:extLst>
              <a:ext uri="{FF2B5EF4-FFF2-40B4-BE49-F238E27FC236}">
                <a16:creationId xmlns:a16="http://schemas.microsoft.com/office/drawing/2014/main" id="{8786AB03-026B-0F62-9054-8CAFF2DB2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86000"/>
            <a:ext cx="6096000" cy="4572000"/>
          </a:xfrm>
          <a:prstGeom prst="rect">
            <a:avLst/>
          </a:prstGeom>
        </p:spPr>
      </p:pic>
      <p:pic>
        <p:nvPicPr>
          <p:cNvPr id="7" name="Picture 6" descr="A full shot of a diagram&#10;&#10;Description automatically generated">
            <a:extLst>
              <a:ext uri="{FF2B5EF4-FFF2-40B4-BE49-F238E27FC236}">
                <a16:creationId xmlns:a16="http://schemas.microsoft.com/office/drawing/2014/main" id="{B7DED290-B42F-6419-0934-42AC8D80DB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3405" y="2992016"/>
            <a:ext cx="5838595" cy="3865984"/>
          </a:xfrm>
          <a:prstGeom prst="rect">
            <a:avLst/>
          </a:prstGeom>
        </p:spPr>
      </p:pic>
      <p:sp>
        <p:nvSpPr>
          <p:cNvPr id="8" name="TextBox 7">
            <a:extLst>
              <a:ext uri="{FF2B5EF4-FFF2-40B4-BE49-F238E27FC236}">
                <a16:creationId xmlns:a16="http://schemas.microsoft.com/office/drawing/2014/main" id="{93257522-8E5A-19A9-7C8A-CA3D3041FBD1}"/>
              </a:ext>
            </a:extLst>
          </p:cNvPr>
          <p:cNvSpPr txBox="1"/>
          <p:nvPr/>
        </p:nvSpPr>
        <p:spPr>
          <a:xfrm>
            <a:off x="6353405" y="1556522"/>
            <a:ext cx="5418471" cy="523220"/>
          </a:xfrm>
          <a:prstGeom prst="rect">
            <a:avLst/>
          </a:prstGeom>
          <a:noFill/>
        </p:spPr>
        <p:txBody>
          <a:bodyPr wrap="none" rtlCol="0">
            <a:spAutoFit/>
          </a:bodyPr>
          <a:lstStyle/>
          <a:p>
            <a:r>
              <a:rPr lang="en-US" sz="2800" dirty="0"/>
              <a:t>Larger field of view : smaller objects</a:t>
            </a:r>
            <a:endParaRPr lang="en-BE" sz="2800" dirty="0"/>
          </a:p>
        </p:txBody>
      </p:sp>
    </p:spTree>
    <p:extLst>
      <p:ext uri="{BB962C8B-B14F-4D97-AF65-F5344CB8AC3E}">
        <p14:creationId xmlns:p14="http://schemas.microsoft.com/office/powerpoint/2010/main" val="40699315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9EADC-6DBB-7875-9B8D-B2E4117B3A55}"/>
              </a:ext>
            </a:extLst>
          </p:cNvPr>
          <p:cNvSpPr>
            <a:spLocks noGrp="1"/>
          </p:cNvSpPr>
          <p:nvPr>
            <p:ph type="title"/>
          </p:nvPr>
        </p:nvSpPr>
        <p:spPr/>
        <p:txBody>
          <a:bodyPr/>
          <a:lstStyle/>
          <a:p>
            <a:r>
              <a:rPr lang="en-US" dirty="0"/>
              <a:t>Field of view in frustum</a:t>
            </a:r>
            <a:endParaRPr lang="en-BE" dirty="0"/>
          </a:p>
        </p:txBody>
      </p:sp>
      <p:pic>
        <p:nvPicPr>
          <p:cNvPr id="4" name="Picture 3" descr="A diagram of a light source&#10;&#10;Description automatically generated">
            <a:extLst>
              <a:ext uri="{FF2B5EF4-FFF2-40B4-BE49-F238E27FC236}">
                <a16:creationId xmlns:a16="http://schemas.microsoft.com/office/drawing/2014/main" id="{AA4D1A35-2A85-3A05-9134-65F96712F9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8007" y="2170053"/>
            <a:ext cx="7637495" cy="4322822"/>
          </a:xfrm>
          <a:prstGeom prst="rect">
            <a:avLst/>
          </a:prstGeom>
        </p:spPr>
      </p:pic>
    </p:spTree>
    <p:extLst>
      <p:ext uri="{BB962C8B-B14F-4D97-AF65-F5344CB8AC3E}">
        <p14:creationId xmlns:p14="http://schemas.microsoft.com/office/powerpoint/2010/main" val="2406925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3363-379D-073E-A1C3-7D1443280E5F}"/>
              </a:ext>
            </a:extLst>
          </p:cNvPr>
          <p:cNvSpPr>
            <a:spLocks noGrp="1"/>
          </p:cNvSpPr>
          <p:nvPr>
            <p:ph type="title"/>
          </p:nvPr>
        </p:nvSpPr>
        <p:spPr/>
        <p:txBody>
          <a:bodyPr/>
          <a:lstStyle/>
          <a:p>
            <a:r>
              <a:rPr lang="en-US" dirty="0"/>
              <a:t>Field of view is determined by aspect ratio</a:t>
            </a:r>
            <a:endParaRPr lang="en-BE" dirty="0"/>
          </a:p>
        </p:txBody>
      </p:sp>
      <p:sp>
        <p:nvSpPr>
          <p:cNvPr id="3" name="TextBox 2">
            <a:extLst>
              <a:ext uri="{FF2B5EF4-FFF2-40B4-BE49-F238E27FC236}">
                <a16:creationId xmlns:a16="http://schemas.microsoft.com/office/drawing/2014/main" id="{45AE670C-BEBB-15C2-8C83-B28383D399E4}"/>
              </a:ext>
            </a:extLst>
          </p:cNvPr>
          <p:cNvSpPr txBox="1"/>
          <p:nvPr/>
        </p:nvSpPr>
        <p:spPr>
          <a:xfrm>
            <a:off x="698304" y="1542661"/>
            <a:ext cx="7755778" cy="2677656"/>
          </a:xfrm>
          <a:prstGeom prst="rect">
            <a:avLst/>
          </a:prstGeom>
          <a:noFill/>
        </p:spPr>
        <p:txBody>
          <a:bodyPr wrap="none" rtlCol="0">
            <a:spAutoFit/>
          </a:bodyPr>
          <a:lstStyle/>
          <a:p>
            <a:pPr marL="285750" indent="-285750">
              <a:buFont typeface="Arial" panose="020B0604020202020204" pitchFamily="34" charset="0"/>
              <a:buChar char="•"/>
            </a:pPr>
            <a:r>
              <a:rPr lang="en-US" sz="2400" dirty="0"/>
              <a:t>Aspect ratio : </a:t>
            </a:r>
            <a:r>
              <a:rPr lang="en-US" sz="2400" dirty="0" err="1"/>
              <a:t>resolution.x</a:t>
            </a:r>
            <a:r>
              <a:rPr lang="en-US" sz="2400" dirty="0"/>
              <a:t> / </a:t>
            </a:r>
            <a:r>
              <a:rPr lang="en-US" sz="2400" dirty="0" err="1"/>
              <a:t>resolution.y</a:t>
            </a:r>
            <a:endParaRPr lang="en-US" sz="2400" dirty="0"/>
          </a:p>
          <a:p>
            <a:pPr marL="285750" indent="-285750">
              <a:buFont typeface="Arial" panose="020B0604020202020204" pitchFamily="34" charset="0"/>
              <a:buChar char="•"/>
            </a:pPr>
            <a:r>
              <a:rPr lang="en-US" sz="2400" dirty="0" err="1"/>
              <a:t>Eg</a:t>
            </a:r>
            <a:r>
              <a:rPr lang="en-US" sz="2400" dirty="0"/>
              <a:t> 1920 * 1080</a:t>
            </a:r>
          </a:p>
          <a:p>
            <a:pPr marL="285750" indent="-285750">
              <a:buFont typeface="Arial" panose="020B0604020202020204" pitchFamily="34" charset="0"/>
              <a:buChar char="•"/>
            </a:pPr>
            <a:r>
              <a:rPr lang="en-US" sz="2400" dirty="0"/>
              <a:t>Common (nowadays) : 16/9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For FOV, we usually choose the vertical one, </a:t>
            </a:r>
            <a:r>
              <a:rPr lang="en-US" sz="2400" dirty="0" err="1"/>
              <a:t>eg</a:t>
            </a:r>
            <a:r>
              <a:rPr lang="en-US" sz="2400" dirty="0"/>
              <a:t> 90 degrees</a:t>
            </a:r>
            <a:br>
              <a:rPr lang="en-US" sz="2400" dirty="0"/>
            </a:br>
            <a:r>
              <a:rPr lang="en-US" sz="2400" dirty="0"/>
              <a:t>Multiply by aspect ratio for horizontal one : (16 * 90) / 9</a:t>
            </a:r>
            <a:br>
              <a:rPr lang="en-US" sz="2400" dirty="0"/>
            </a:br>
            <a:r>
              <a:rPr lang="en-US" sz="2400" dirty="0"/>
              <a:t>FOV = (160, 90)</a:t>
            </a:r>
            <a:endParaRPr lang="en-BE" sz="2400" dirty="0"/>
          </a:p>
        </p:txBody>
      </p:sp>
    </p:spTree>
    <p:extLst>
      <p:ext uri="{BB962C8B-B14F-4D97-AF65-F5344CB8AC3E}">
        <p14:creationId xmlns:p14="http://schemas.microsoft.com/office/powerpoint/2010/main" val="30503867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4A19C-91D8-91DF-DE42-4C90EB5E560E}"/>
              </a:ext>
            </a:extLst>
          </p:cNvPr>
          <p:cNvSpPr>
            <a:spLocks noGrp="1"/>
          </p:cNvSpPr>
          <p:nvPr>
            <p:ph type="title"/>
          </p:nvPr>
        </p:nvSpPr>
        <p:spPr/>
        <p:txBody>
          <a:bodyPr/>
          <a:lstStyle/>
          <a:p>
            <a:r>
              <a:rPr lang="en-US" dirty="0"/>
              <a:t>Phones are a </a:t>
            </a:r>
            <a:br>
              <a:rPr lang="en-US" dirty="0"/>
            </a:br>
            <a:r>
              <a:rPr lang="en-US" dirty="0"/>
              <a:t>nightmare</a:t>
            </a:r>
            <a:endParaRPr lang="en-BE" dirty="0"/>
          </a:p>
        </p:txBody>
      </p:sp>
      <p:pic>
        <p:nvPicPr>
          <p:cNvPr id="4" name="Picture 3" descr="A screen shot of a chart&#10;&#10;Description automatically generated">
            <a:extLst>
              <a:ext uri="{FF2B5EF4-FFF2-40B4-BE49-F238E27FC236}">
                <a16:creationId xmlns:a16="http://schemas.microsoft.com/office/drawing/2014/main" id="{D4ADD002-9B86-B98E-5FCF-5EFE8D58D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6148" y="0"/>
            <a:ext cx="6510201" cy="6858000"/>
          </a:xfrm>
          <a:prstGeom prst="rect">
            <a:avLst/>
          </a:prstGeom>
        </p:spPr>
      </p:pic>
    </p:spTree>
    <p:extLst>
      <p:ext uri="{BB962C8B-B14F-4D97-AF65-F5344CB8AC3E}">
        <p14:creationId xmlns:p14="http://schemas.microsoft.com/office/powerpoint/2010/main" val="27365308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1D942-F3E5-C376-D1AD-3962857DF82B}"/>
              </a:ext>
            </a:extLst>
          </p:cNvPr>
          <p:cNvSpPr>
            <a:spLocks noGrp="1"/>
          </p:cNvSpPr>
          <p:nvPr>
            <p:ph type="title"/>
          </p:nvPr>
        </p:nvSpPr>
        <p:spPr>
          <a:xfrm>
            <a:off x="477416" y="147411"/>
            <a:ext cx="10515600" cy="1325563"/>
          </a:xfrm>
        </p:spPr>
        <p:txBody>
          <a:bodyPr/>
          <a:lstStyle/>
          <a:p>
            <a:r>
              <a:rPr lang="en-US" dirty="0"/>
              <a:t>Perspective matrix</a:t>
            </a:r>
            <a:endParaRPr lang="en-BE" dirty="0"/>
          </a:p>
        </p:txBody>
      </p:sp>
      <p:pic>
        <p:nvPicPr>
          <p:cNvPr id="6" name="Picture 5" descr="A two dimensional objects with lines and arrows&#10;&#10;Description automatically generated with medium confidence">
            <a:extLst>
              <a:ext uri="{FF2B5EF4-FFF2-40B4-BE49-F238E27FC236}">
                <a16:creationId xmlns:a16="http://schemas.microsoft.com/office/drawing/2014/main" id="{A7709090-291C-7B09-877F-3245E93AF0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053" y="2436132"/>
            <a:ext cx="8715786" cy="4176314"/>
          </a:xfrm>
          <a:prstGeom prst="rect">
            <a:avLst/>
          </a:prstGeom>
        </p:spPr>
      </p:pic>
      <p:sp>
        <p:nvSpPr>
          <p:cNvPr id="8" name="TextBox 7">
            <a:extLst>
              <a:ext uri="{FF2B5EF4-FFF2-40B4-BE49-F238E27FC236}">
                <a16:creationId xmlns:a16="http://schemas.microsoft.com/office/drawing/2014/main" id="{D224F26E-4666-2ED7-606C-C98E8C0343AB}"/>
              </a:ext>
            </a:extLst>
          </p:cNvPr>
          <p:cNvSpPr txBox="1"/>
          <p:nvPr/>
        </p:nvSpPr>
        <p:spPr>
          <a:xfrm>
            <a:off x="261256" y="1110568"/>
            <a:ext cx="5389617"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Takes care of perspective transform</a:t>
            </a:r>
          </a:p>
          <a:p>
            <a:pPr marL="285750" indent="-285750">
              <a:buFont typeface="Arial" panose="020B0604020202020204" pitchFamily="34" charset="0"/>
              <a:buChar char="•"/>
            </a:pPr>
            <a:r>
              <a:rPr lang="en-US" sz="2400" dirty="0"/>
              <a:t>Comes after the view matrix</a:t>
            </a:r>
          </a:p>
          <a:p>
            <a:pPr marL="285750" indent="-285750">
              <a:buFont typeface="Arial" panose="020B0604020202020204" pitchFamily="34" charset="0"/>
              <a:buChar char="•"/>
            </a:pPr>
            <a:r>
              <a:rPr lang="en-US" sz="2400" dirty="0"/>
              <a:t>Common : MVP (</a:t>
            </a:r>
            <a:r>
              <a:rPr lang="en-US" sz="2400" dirty="0" err="1"/>
              <a:t>ModelViewProjection</a:t>
            </a:r>
            <a:r>
              <a:rPr lang="en-US" sz="2400" dirty="0"/>
              <a:t>)</a:t>
            </a:r>
            <a:endParaRPr lang="en-BE" sz="2400" dirty="0"/>
          </a:p>
        </p:txBody>
      </p:sp>
    </p:spTree>
    <p:extLst>
      <p:ext uri="{BB962C8B-B14F-4D97-AF65-F5344CB8AC3E}">
        <p14:creationId xmlns:p14="http://schemas.microsoft.com/office/powerpoint/2010/main" val="24534562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9C536-2E86-F274-777B-38D2A3C9ACA3}"/>
              </a:ext>
            </a:extLst>
          </p:cNvPr>
          <p:cNvSpPr>
            <a:spLocks noGrp="1"/>
          </p:cNvSpPr>
          <p:nvPr>
            <p:ph type="title"/>
          </p:nvPr>
        </p:nvSpPr>
        <p:spPr/>
        <p:txBody>
          <a:bodyPr/>
          <a:lstStyle/>
          <a:p>
            <a:r>
              <a:rPr lang="en-US" dirty="0"/>
              <a:t>Questions?</a:t>
            </a:r>
            <a:endParaRPr lang="en-BE" dirty="0"/>
          </a:p>
        </p:txBody>
      </p:sp>
    </p:spTree>
    <p:extLst>
      <p:ext uri="{BB962C8B-B14F-4D97-AF65-F5344CB8AC3E}">
        <p14:creationId xmlns:p14="http://schemas.microsoft.com/office/powerpoint/2010/main" val="29777984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27EA-53F3-47A4-8973-FE7A9688D6ED}"/>
              </a:ext>
            </a:extLst>
          </p:cNvPr>
          <p:cNvSpPr>
            <a:spLocks noGrp="1"/>
          </p:cNvSpPr>
          <p:nvPr>
            <p:ph type="title"/>
          </p:nvPr>
        </p:nvSpPr>
        <p:spPr/>
        <p:txBody>
          <a:bodyPr/>
          <a:lstStyle/>
          <a:p>
            <a:r>
              <a:rPr lang="en-US" dirty="0"/>
              <a:t>Camera’s</a:t>
            </a:r>
            <a:endParaRPr lang="en-BE" dirty="0"/>
          </a:p>
        </p:txBody>
      </p:sp>
      <p:sp>
        <p:nvSpPr>
          <p:cNvPr id="3" name="TextBox 2">
            <a:extLst>
              <a:ext uri="{FF2B5EF4-FFF2-40B4-BE49-F238E27FC236}">
                <a16:creationId xmlns:a16="http://schemas.microsoft.com/office/drawing/2014/main" id="{EA8DABF0-58B1-5FAE-B870-4D49B05E8C4D}"/>
              </a:ext>
            </a:extLst>
          </p:cNvPr>
          <p:cNvSpPr txBox="1"/>
          <p:nvPr/>
        </p:nvSpPr>
        <p:spPr>
          <a:xfrm>
            <a:off x="758890" y="1598644"/>
            <a:ext cx="3105978" cy="954107"/>
          </a:xfrm>
          <a:prstGeom prst="rect">
            <a:avLst/>
          </a:prstGeom>
          <a:noFill/>
        </p:spPr>
        <p:txBody>
          <a:bodyPr wrap="none" rtlCol="0">
            <a:spAutoFit/>
          </a:bodyPr>
          <a:lstStyle/>
          <a:p>
            <a:pPr marL="285750" indent="-285750">
              <a:buFont typeface="Arial" panose="020B0604020202020204" pitchFamily="34" charset="0"/>
              <a:buChar char="•"/>
            </a:pPr>
            <a:r>
              <a:rPr lang="en-US" sz="2800" dirty="0"/>
              <a:t>Perspective</a:t>
            </a:r>
          </a:p>
          <a:p>
            <a:pPr marL="285750" indent="-285750">
              <a:buFont typeface="Arial" panose="020B0604020202020204" pitchFamily="34" charset="0"/>
              <a:buChar char="•"/>
            </a:pPr>
            <a:r>
              <a:rPr lang="en-US" sz="2800" dirty="0">
                <a:sym typeface="Wingdings" panose="05000000000000000000" pitchFamily="2" charset="2"/>
              </a:rPr>
              <a:t></a:t>
            </a:r>
            <a:r>
              <a:rPr lang="en-US" sz="2800" dirty="0"/>
              <a:t>Orthographic</a:t>
            </a:r>
            <a:r>
              <a:rPr lang="en-US" sz="2800" dirty="0">
                <a:sym typeface="Wingdings" panose="05000000000000000000" pitchFamily="2" charset="2"/>
              </a:rPr>
              <a:t></a:t>
            </a:r>
            <a:endParaRPr lang="en-BE" sz="2800" dirty="0"/>
          </a:p>
        </p:txBody>
      </p:sp>
    </p:spTree>
    <p:extLst>
      <p:ext uri="{BB962C8B-B14F-4D97-AF65-F5344CB8AC3E}">
        <p14:creationId xmlns:p14="http://schemas.microsoft.com/office/powerpoint/2010/main" val="306322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0E3D8-25BE-3DE3-ED1E-C0659D814196}"/>
              </a:ext>
            </a:extLst>
          </p:cNvPr>
          <p:cNvSpPr>
            <a:spLocks noGrp="1"/>
          </p:cNvSpPr>
          <p:nvPr>
            <p:ph type="title"/>
          </p:nvPr>
        </p:nvSpPr>
        <p:spPr/>
        <p:txBody>
          <a:bodyPr/>
          <a:lstStyle/>
          <a:p>
            <a:r>
              <a:rPr lang="en-US" dirty="0"/>
              <a:t>Orthographic </a:t>
            </a:r>
            <a:endParaRPr lang="en-BE" dirty="0"/>
          </a:p>
        </p:txBody>
      </p:sp>
      <p:sp>
        <p:nvSpPr>
          <p:cNvPr id="3" name="TextBox 2">
            <a:extLst>
              <a:ext uri="{FF2B5EF4-FFF2-40B4-BE49-F238E27FC236}">
                <a16:creationId xmlns:a16="http://schemas.microsoft.com/office/drawing/2014/main" id="{9CFFE9B8-3B95-A44E-3A2A-D7ED0151CDA1}"/>
              </a:ext>
            </a:extLst>
          </p:cNvPr>
          <p:cNvSpPr txBox="1"/>
          <p:nvPr/>
        </p:nvSpPr>
        <p:spPr>
          <a:xfrm>
            <a:off x="709127" y="1676984"/>
            <a:ext cx="6199967" cy="830997"/>
          </a:xfrm>
          <a:prstGeom prst="rect">
            <a:avLst/>
          </a:prstGeom>
          <a:noFill/>
        </p:spPr>
        <p:txBody>
          <a:bodyPr wrap="none" rtlCol="0">
            <a:spAutoFit/>
          </a:bodyPr>
          <a:lstStyle/>
          <a:p>
            <a:pPr marL="342900" indent="-342900">
              <a:buFont typeface="Arial" panose="020B0604020202020204" pitchFamily="34" charset="0"/>
              <a:buChar char="•"/>
            </a:pPr>
            <a:r>
              <a:rPr lang="en-US" sz="2400" dirty="0"/>
              <a:t>Objects do not get smaller as they get further</a:t>
            </a:r>
          </a:p>
          <a:p>
            <a:pPr marL="342900" indent="-342900">
              <a:buFont typeface="Arial" panose="020B0604020202020204" pitchFamily="34" charset="0"/>
              <a:buChar char="•"/>
            </a:pPr>
            <a:r>
              <a:rPr lang="en-US" sz="2400" dirty="0"/>
              <a:t>Does anyone know an example?</a:t>
            </a:r>
            <a:endParaRPr lang="en-BE" sz="2400" dirty="0"/>
          </a:p>
        </p:txBody>
      </p:sp>
    </p:spTree>
    <p:extLst>
      <p:ext uri="{BB962C8B-B14F-4D97-AF65-F5344CB8AC3E}">
        <p14:creationId xmlns:p14="http://schemas.microsoft.com/office/powerpoint/2010/main" val="17423383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9BB7-FEC5-E0BE-3362-87CB9FD91B19}"/>
              </a:ext>
            </a:extLst>
          </p:cNvPr>
          <p:cNvSpPr>
            <a:spLocks noGrp="1"/>
          </p:cNvSpPr>
          <p:nvPr>
            <p:ph type="title"/>
          </p:nvPr>
        </p:nvSpPr>
        <p:spPr/>
        <p:txBody>
          <a:bodyPr/>
          <a:lstStyle/>
          <a:p>
            <a:endParaRPr lang="en-BE"/>
          </a:p>
        </p:txBody>
      </p:sp>
      <p:pic>
        <p:nvPicPr>
          <p:cNvPr id="4" name="Picture 3" descr="A map of a city&#10;&#10;Description automatically generated">
            <a:extLst>
              <a:ext uri="{FF2B5EF4-FFF2-40B4-BE49-F238E27FC236}">
                <a16:creationId xmlns:a16="http://schemas.microsoft.com/office/drawing/2014/main" id="{A2E2A870-9858-40BD-3EBA-6D21722770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78923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CB916-E13F-DB15-515B-50C3CFB80B77}"/>
              </a:ext>
            </a:extLst>
          </p:cNvPr>
          <p:cNvSpPr>
            <a:spLocks noGrp="1"/>
          </p:cNvSpPr>
          <p:nvPr>
            <p:ph type="title"/>
          </p:nvPr>
        </p:nvSpPr>
        <p:spPr/>
        <p:txBody>
          <a:bodyPr/>
          <a:lstStyle/>
          <a:p>
            <a:endParaRPr lang="en-BE"/>
          </a:p>
        </p:txBody>
      </p:sp>
      <p:pic>
        <p:nvPicPr>
          <p:cNvPr id="4" name="Picture 3" descr="A group of people gathered in a parking lot&#10;&#10;Description automatically generated">
            <a:extLst>
              <a:ext uri="{FF2B5EF4-FFF2-40B4-BE49-F238E27FC236}">
                <a16:creationId xmlns:a16="http://schemas.microsoft.com/office/drawing/2014/main" id="{A05A294E-DE26-7F5A-5CDA-F36A6374E6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0"/>
            <a:ext cx="10287000" cy="6858000"/>
          </a:xfrm>
          <a:prstGeom prst="rect">
            <a:avLst/>
          </a:prstGeom>
        </p:spPr>
      </p:pic>
    </p:spTree>
    <p:extLst>
      <p:ext uri="{BB962C8B-B14F-4D97-AF65-F5344CB8AC3E}">
        <p14:creationId xmlns:p14="http://schemas.microsoft.com/office/powerpoint/2010/main" val="4031625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B903A-1B04-89AE-6636-1EE4BA9EED2B}"/>
              </a:ext>
            </a:extLst>
          </p:cNvPr>
          <p:cNvSpPr>
            <a:spLocks noGrp="1"/>
          </p:cNvSpPr>
          <p:nvPr>
            <p:ph type="title"/>
          </p:nvPr>
        </p:nvSpPr>
        <p:spPr/>
        <p:txBody>
          <a:bodyPr/>
          <a:lstStyle/>
          <a:p>
            <a:r>
              <a:rPr lang="en-US" dirty="0" err="1"/>
              <a:t>Comparisio</a:t>
            </a:r>
            <a:r>
              <a:rPr lang="en-US" dirty="0"/>
              <a:t> n1</a:t>
            </a:r>
            <a:endParaRPr lang="en-BE" dirty="0"/>
          </a:p>
        </p:txBody>
      </p:sp>
      <p:pic>
        <p:nvPicPr>
          <p:cNvPr id="7" name="Picture 6" descr="A yellow and purple cubes&#10;&#10;Description automatically generated">
            <a:extLst>
              <a:ext uri="{FF2B5EF4-FFF2-40B4-BE49-F238E27FC236}">
                <a16:creationId xmlns:a16="http://schemas.microsoft.com/office/drawing/2014/main" id="{81A99379-660B-8D01-B7DB-030055C3DE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7714" y="2382417"/>
            <a:ext cx="11074566" cy="4361770"/>
          </a:xfrm>
          <a:prstGeom prst="rect">
            <a:avLst/>
          </a:prstGeom>
        </p:spPr>
      </p:pic>
    </p:spTree>
    <p:extLst>
      <p:ext uri="{BB962C8B-B14F-4D97-AF65-F5344CB8AC3E}">
        <p14:creationId xmlns:p14="http://schemas.microsoft.com/office/powerpoint/2010/main" val="13789006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C4488-2ECF-0BF9-E675-937687BB1EB4}"/>
              </a:ext>
            </a:extLst>
          </p:cNvPr>
          <p:cNvSpPr>
            <a:spLocks noGrp="1"/>
          </p:cNvSpPr>
          <p:nvPr>
            <p:ph type="title"/>
          </p:nvPr>
        </p:nvSpPr>
        <p:spPr/>
        <p:txBody>
          <a:bodyPr/>
          <a:lstStyle/>
          <a:p>
            <a:r>
              <a:rPr lang="en-US" dirty="0"/>
              <a:t>Comparison 2</a:t>
            </a:r>
            <a:endParaRPr lang="en-BE" dirty="0"/>
          </a:p>
        </p:txBody>
      </p:sp>
      <p:pic>
        <p:nvPicPr>
          <p:cNvPr id="6" name="Picture 5" descr="A screenshot of a game&#10;&#10;Description automatically generated">
            <a:extLst>
              <a:ext uri="{FF2B5EF4-FFF2-40B4-BE49-F238E27FC236}">
                <a16:creationId xmlns:a16="http://schemas.microsoft.com/office/drawing/2014/main" id="{6D529DCC-F732-0CDE-6621-45D6C1A809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7835" y="2636396"/>
            <a:ext cx="8502598" cy="4098252"/>
          </a:xfrm>
          <a:prstGeom prst="rect">
            <a:avLst/>
          </a:prstGeom>
        </p:spPr>
      </p:pic>
      <p:sp>
        <p:nvSpPr>
          <p:cNvPr id="3" name="TextBox 2">
            <a:extLst>
              <a:ext uri="{FF2B5EF4-FFF2-40B4-BE49-F238E27FC236}">
                <a16:creationId xmlns:a16="http://schemas.microsoft.com/office/drawing/2014/main" id="{20C9A32F-B146-2007-E560-951F331FD8B2}"/>
              </a:ext>
            </a:extLst>
          </p:cNvPr>
          <p:cNvSpPr txBox="1"/>
          <p:nvPr/>
        </p:nvSpPr>
        <p:spPr>
          <a:xfrm>
            <a:off x="684245" y="1747934"/>
            <a:ext cx="3817199" cy="923330"/>
          </a:xfrm>
          <a:prstGeom prst="rect">
            <a:avLst/>
          </a:prstGeom>
          <a:noFill/>
        </p:spPr>
        <p:txBody>
          <a:bodyPr wrap="none" rtlCol="0">
            <a:spAutoFit/>
          </a:bodyPr>
          <a:lstStyle/>
          <a:p>
            <a:pPr marL="285750" indent="-285750">
              <a:buFont typeface="Arial" panose="020B0604020202020204" pitchFamily="34" charset="0"/>
              <a:buChar char="•"/>
            </a:pPr>
            <a:r>
              <a:rPr lang="en-US" dirty="0"/>
              <a:t>Very similar to perspective</a:t>
            </a:r>
          </a:p>
          <a:p>
            <a:pPr marL="285750" indent="-285750">
              <a:buFont typeface="Arial" panose="020B0604020202020204" pitchFamily="34" charset="0"/>
              <a:buChar char="•"/>
            </a:pPr>
            <a:r>
              <a:rPr lang="en-US" dirty="0"/>
              <a:t>No </a:t>
            </a:r>
            <a:r>
              <a:rPr lang="en-US" dirty="0" err="1"/>
              <a:t>fov</a:t>
            </a:r>
            <a:endParaRPr lang="en-US" dirty="0"/>
          </a:p>
          <a:p>
            <a:pPr marL="285750" indent="-285750">
              <a:buFont typeface="Arial" panose="020B0604020202020204" pitchFamily="34" charset="0"/>
              <a:buChar char="•"/>
            </a:pPr>
            <a:r>
              <a:rPr lang="en-US" dirty="0"/>
              <a:t>Near (and far) have width and </a:t>
            </a:r>
            <a:r>
              <a:rPr lang="en-US" dirty="0" err="1"/>
              <a:t>hight</a:t>
            </a:r>
            <a:endParaRPr lang="en-BE" dirty="0"/>
          </a:p>
        </p:txBody>
      </p:sp>
    </p:spTree>
    <p:extLst>
      <p:ext uri="{BB962C8B-B14F-4D97-AF65-F5344CB8AC3E}">
        <p14:creationId xmlns:p14="http://schemas.microsoft.com/office/powerpoint/2010/main" val="16247143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0A63-4030-613B-5292-E95C39F9AED3}"/>
              </a:ext>
            </a:extLst>
          </p:cNvPr>
          <p:cNvSpPr>
            <a:spLocks noGrp="1"/>
          </p:cNvSpPr>
          <p:nvPr>
            <p:ph type="title"/>
          </p:nvPr>
        </p:nvSpPr>
        <p:spPr/>
        <p:txBody>
          <a:bodyPr/>
          <a:lstStyle/>
          <a:p>
            <a:r>
              <a:rPr lang="en-US" dirty="0"/>
              <a:t>Questions?</a:t>
            </a:r>
            <a:endParaRPr lang="en-BE" dirty="0"/>
          </a:p>
        </p:txBody>
      </p:sp>
    </p:spTree>
    <p:extLst>
      <p:ext uri="{BB962C8B-B14F-4D97-AF65-F5344CB8AC3E}">
        <p14:creationId xmlns:p14="http://schemas.microsoft.com/office/powerpoint/2010/main" val="42762548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E1021-13D0-BA60-7E15-6C62CEF2726C}"/>
              </a:ext>
            </a:extLst>
          </p:cNvPr>
          <p:cNvSpPr>
            <a:spLocks noGrp="1"/>
          </p:cNvSpPr>
          <p:nvPr>
            <p:ph type="title"/>
          </p:nvPr>
        </p:nvSpPr>
        <p:spPr/>
        <p:txBody>
          <a:bodyPr/>
          <a:lstStyle/>
          <a:p>
            <a:r>
              <a:rPr lang="en-US" dirty="0"/>
              <a:t>Questions?</a:t>
            </a:r>
            <a:endParaRPr lang="en-BE" dirty="0"/>
          </a:p>
        </p:txBody>
      </p:sp>
    </p:spTree>
    <p:extLst>
      <p:ext uri="{BB962C8B-B14F-4D97-AF65-F5344CB8AC3E}">
        <p14:creationId xmlns:p14="http://schemas.microsoft.com/office/powerpoint/2010/main" val="13050926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1524B-6C03-90F9-A0AB-F151FD19E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45295E-26B7-9336-0FAC-98BF2AE5F01B}"/>
              </a:ext>
            </a:extLst>
          </p:cNvPr>
          <p:cNvSpPr>
            <a:spLocks noGrp="1"/>
          </p:cNvSpPr>
          <p:nvPr>
            <p:ph type="title"/>
          </p:nvPr>
        </p:nvSpPr>
        <p:spPr/>
        <p:txBody>
          <a:bodyPr/>
          <a:lstStyle/>
          <a:p>
            <a:r>
              <a:rPr lang="en-US" dirty="0"/>
              <a:t>This class</a:t>
            </a:r>
            <a:endParaRPr lang="en-BE" dirty="0"/>
          </a:p>
        </p:txBody>
      </p:sp>
      <p:sp>
        <p:nvSpPr>
          <p:cNvPr id="3" name="TextBox 2">
            <a:extLst>
              <a:ext uri="{FF2B5EF4-FFF2-40B4-BE49-F238E27FC236}">
                <a16:creationId xmlns:a16="http://schemas.microsoft.com/office/drawing/2014/main" id="{DD0CBF65-8929-3BAF-9E8A-16F2EF5A8C17}"/>
              </a:ext>
            </a:extLst>
          </p:cNvPr>
          <p:cNvSpPr txBox="1"/>
          <p:nvPr/>
        </p:nvSpPr>
        <p:spPr>
          <a:xfrm>
            <a:off x="989900" y="1690689"/>
            <a:ext cx="8726377" cy="2677656"/>
          </a:xfrm>
          <a:prstGeom prst="rect">
            <a:avLst/>
          </a:prstGeom>
          <a:noFill/>
        </p:spPr>
        <p:txBody>
          <a:bodyPr wrap="square" rtlCol="0">
            <a:spAutoFit/>
          </a:bodyPr>
          <a:lstStyle/>
          <a:p>
            <a:pPr marL="285750" indent="-285750">
              <a:buFont typeface="Arial" panose="020B0604020202020204" pitchFamily="34" charset="0"/>
              <a:buChar char="•"/>
            </a:pPr>
            <a:r>
              <a:rPr lang="en-US" sz="2800" dirty="0">
                <a:sym typeface="Wingdings" panose="05000000000000000000" pitchFamily="2" charset="2"/>
              </a:rPr>
              <a:t>Pipeline recap</a:t>
            </a:r>
          </a:p>
          <a:p>
            <a:pPr marL="285750" indent="-285750">
              <a:buFont typeface="Arial" panose="020B0604020202020204" pitchFamily="34" charset="0"/>
              <a:buChar char="•"/>
            </a:pPr>
            <a:r>
              <a:rPr lang="en-US" sz="2800" dirty="0">
                <a:sym typeface="Wingdings" panose="05000000000000000000" pitchFamily="2" charset="2"/>
              </a:rPr>
              <a:t>Back in the day</a:t>
            </a:r>
          </a:p>
          <a:p>
            <a:pPr marL="285750" indent="-285750">
              <a:buFont typeface="Arial" panose="020B0604020202020204" pitchFamily="34" charset="0"/>
              <a:buChar char="•"/>
            </a:pPr>
            <a:r>
              <a:rPr lang="en-US" sz="2800" dirty="0">
                <a:sym typeface="Wingdings" panose="05000000000000000000" pitchFamily="2" charset="2"/>
              </a:rPr>
              <a:t>Light &amp; Shadow</a:t>
            </a:r>
          </a:p>
          <a:p>
            <a:pPr marL="285750" indent="-285750">
              <a:buFont typeface="Arial" panose="020B0604020202020204" pitchFamily="34" charset="0"/>
              <a:buChar char="•"/>
            </a:pPr>
            <a:r>
              <a:rPr lang="en-US" sz="2800" dirty="0">
                <a:sym typeface="Wingdings" panose="05000000000000000000" pitchFamily="2" charset="2"/>
              </a:rPr>
              <a:t>Camera</a:t>
            </a:r>
          </a:p>
          <a:p>
            <a:pPr marL="285750" indent="-285750">
              <a:buFont typeface="Arial" panose="020B0604020202020204" pitchFamily="34" charset="0"/>
              <a:buChar char="•"/>
            </a:pPr>
            <a:r>
              <a:rPr lang="en-US" sz="2800" dirty="0">
                <a:sym typeface="Wingdings" panose="05000000000000000000" pitchFamily="2" charset="2"/>
              </a:rPr>
              <a:t> Ray Tracing vs Rasterization </a:t>
            </a:r>
          </a:p>
          <a:p>
            <a:pPr marL="285750" indent="-285750">
              <a:buFont typeface="Arial" panose="020B0604020202020204" pitchFamily="34" charset="0"/>
              <a:buChar char="•"/>
            </a:pPr>
            <a:r>
              <a:rPr lang="en-US" sz="2800" dirty="0">
                <a:sym typeface="Wingdings" panose="05000000000000000000" pitchFamily="2" charset="2"/>
              </a:rPr>
              <a:t>Forward rendering</a:t>
            </a:r>
          </a:p>
        </p:txBody>
      </p:sp>
    </p:spTree>
    <p:extLst>
      <p:ext uri="{BB962C8B-B14F-4D97-AF65-F5344CB8AC3E}">
        <p14:creationId xmlns:p14="http://schemas.microsoft.com/office/powerpoint/2010/main" val="111047867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B4DD-73D8-B1F7-CCB9-A4116DF91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34220-C821-186F-6922-25644AEF9671}"/>
              </a:ext>
            </a:extLst>
          </p:cNvPr>
          <p:cNvSpPr>
            <a:spLocks noGrp="1"/>
          </p:cNvSpPr>
          <p:nvPr>
            <p:ph type="title"/>
          </p:nvPr>
        </p:nvSpPr>
        <p:spPr/>
        <p:txBody>
          <a:bodyPr/>
          <a:lstStyle/>
          <a:p>
            <a:r>
              <a:rPr lang="en-US" dirty="0"/>
              <a:t>Pros and cons</a:t>
            </a:r>
            <a:endParaRPr lang="en-BE" dirty="0"/>
          </a:p>
        </p:txBody>
      </p:sp>
      <p:sp>
        <p:nvSpPr>
          <p:cNvPr id="3" name="TextBox 2">
            <a:extLst>
              <a:ext uri="{FF2B5EF4-FFF2-40B4-BE49-F238E27FC236}">
                <a16:creationId xmlns:a16="http://schemas.microsoft.com/office/drawing/2014/main" id="{CD6C5847-A9FD-656D-2CBA-5C7A1565BAF2}"/>
              </a:ext>
            </a:extLst>
          </p:cNvPr>
          <p:cNvSpPr txBox="1"/>
          <p:nvPr/>
        </p:nvSpPr>
        <p:spPr>
          <a:xfrm>
            <a:off x="311021" y="1915886"/>
            <a:ext cx="5199885" cy="2677656"/>
          </a:xfrm>
          <a:prstGeom prst="rect">
            <a:avLst/>
          </a:prstGeom>
          <a:noFill/>
        </p:spPr>
        <p:txBody>
          <a:bodyPr wrap="none" rtlCol="0">
            <a:spAutoFit/>
          </a:bodyPr>
          <a:lstStyle/>
          <a:p>
            <a:r>
              <a:rPr lang="en-US" sz="2400" dirty="0"/>
              <a:t>Raytracing</a:t>
            </a:r>
          </a:p>
          <a:p>
            <a:endParaRPr lang="en-US" sz="2400" dirty="0"/>
          </a:p>
          <a:p>
            <a:pPr marL="285750" indent="-285750">
              <a:buFont typeface="Arial" panose="020B0604020202020204" pitchFamily="34" charset="0"/>
              <a:buChar char="•"/>
            </a:pPr>
            <a:r>
              <a:rPr lang="en-US" sz="2400" dirty="0"/>
              <a:t>Good quality (multiple rays per pixels)</a:t>
            </a:r>
          </a:p>
          <a:p>
            <a:pPr marL="285750" indent="-285750">
              <a:buFont typeface="Arial" panose="020B0604020202020204" pitchFamily="34" charset="0"/>
              <a:buChar char="•"/>
            </a:pPr>
            <a:r>
              <a:rPr lang="en-US" sz="2400" dirty="0"/>
              <a:t>Easy implementation (at the start)</a:t>
            </a:r>
          </a:p>
          <a:p>
            <a:pPr marL="285750" indent="-285750">
              <a:buFont typeface="Arial" panose="020B0604020202020204" pitchFamily="34" charset="0"/>
              <a:buChar char="•"/>
            </a:pPr>
            <a:r>
              <a:rPr lang="en-US" sz="2400" dirty="0"/>
              <a:t>Manages smoke, mirrors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solidFill>
                  <a:srgbClr val="FF0000"/>
                </a:solidFill>
              </a:rPr>
              <a:t>Bad performance</a:t>
            </a:r>
            <a:endParaRPr lang="en-BE" sz="2400" dirty="0">
              <a:solidFill>
                <a:srgbClr val="FF0000"/>
              </a:solidFill>
            </a:endParaRPr>
          </a:p>
        </p:txBody>
      </p:sp>
      <p:sp>
        <p:nvSpPr>
          <p:cNvPr id="4" name="TextBox 3">
            <a:extLst>
              <a:ext uri="{FF2B5EF4-FFF2-40B4-BE49-F238E27FC236}">
                <a16:creationId xmlns:a16="http://schemas.microsoft.com/office/drawing/2014/main" id="{64B0A5ED-36BB-D00D-3861-DD7A7DCC1752}"/>
              </a:ext>
            </a:extLst>
          </p:cNvPr>
          <p:cNvSpPr txBox="1"/>
          <p:nvPr/>
        </p:nvSpPr>
        <p:spPr>
          <a:xfrm>
            <a:off x="6096000" y="1915886"/>
            <a:ext cx="4952318" cy="2677656"/>
          </a:xfrm>
          <a:prstGeom prst="rect">
            <a:avLst/>
          </a:prstGeom>
          <a:noFill/>
        </p:spPr>
        <p:txBody>
          <a:bodyPr wrap="none" rtlCol="0">
            <a:spAutoFit/>
          </a:bodyPr>
          <a:lstStyle/>
          <a:p>
            <a:r>
              <a:rPr lang="en-US" sz="2400" dirty="0"/>
              <a:t>Rasterization</a:t>
            </a:r>
          </a:p>
          <a:p>
            <a:endParaRPr lang="en-US" sz="2400" dirty="0"/>
          </a:p>
          <a:p>
            <a:pPr marL="285750" indent="-285750">
              <a:buFont typeface="Arial" panose="020B0604020202020204" pitchFamily="34" charset="0"/>
              <a:buChar char="•"/>
            </a:pPr>
            <a:r>
              <a:rPr lang="en-US" sz="2400" dirty="0"/>
              <a:t>Ok quality (one fragment per pixels)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Hard implementation (at the start</a:t>
            </a:r>
          </a:p>
          <a:p>
            <a:pPr marL="285750" indent="-285750">
              <a:buFont typeface="Arial" panose="020B0604020202020204" pitchFamily="34" charset="0"/>
              <a:buChar char="•"/>
            </a:pPr>
            <a:r>
              <a:rPr lang="en-US" sz="2400" dirty="0"/>
              <a:t>Difficult smoke, mirrors</a:t>
            </a:r>
          </a:p>
          <a:p>
            <a:pPr marL="285750" indent="-285750">
              <a:buFont typeface="Arial" panose="020B0604020202020204" pitchFamily="34" charset="0"/>
              <a:buChar char="•"/>
            </a:pPr>
            <a:r>
              <a:rPr lang="en-US" sz="2400" dirty="0">
                <a:solidFill>
                  <a:srgbClr val="00B050"/>
                </a:solidFill>
              </a:rPr>
              <a:t>Good performance</a:t>
            </a:r>
            <a:endParaRPr lang="en-BE" sz="2400" dirty="0">
              <a:solidFill>
                <a:srgbClr val="00B050"/>
              </a:solidFill>
            </a:endParaRPr>
          </a:p>
        </p:txBody>
      </p:sp>
      <p:sp>
        <p:nvSpPr>
          <p:cNvPr id="5" name="TextBox 4">
            <a:extLst>
              <a:ext uri="{FF2B5EF4-FFF2-40B4-BE49-F238E27FC236}">
                <a16:creationId xmlns:a16="http://schemas.microsoft.com/office/drawing/2014/main" id="{4B1818F1-D02E-6D08-54FD-980DD4C165B5}"/>
              </a:ext>
            </a:extLst>
          </p:cNvPr>
          <p:cNvSpPr txBox="1"/>
          <p:nvPr/>
        </p:nvSpPr>
        <p:spPr>
          <a:xfrm>
            <a:off x="982825" y="6313714"/>
            <a:ext cx="6624057" cy="523220"/>
          </a:xfrm>
          <a:prstGeom prst="rect">
            <a:avLst/>
          </a:prstGeom>
          <a:noFill/>
        </p:spPr>
        <p:txBody>
          <a:bodyPr wrap="none" rtlCol="0">
            <a:spAutoFit/>
          </a:bodyPr>
          <a:lstStyle/>
          <a:p>
            <a:r>
              <a:rPr lang="en-US" sz="2800" dirty="0"/>
              <a:t>* Lots of simplifications and lies on this slide</a:t>
            </a:r>
            <a:endParaRPr lang="en-BE" sz="2800" dirty="0"/>
          </a:p>
        </p:txBody>
      </p:sp>
    </p:spTree>
    <p:extLst>
      <p:ext uri="{BB962C8B-B14F-4D97-AF65-F5344CB8AC3E}">
        <p14:creationId xmlns:p14="http://schemas.microsoft.com/office/powerpoint/2010/main" val="34873255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9C485-59B3-F62E-DDC0-3DC4EB875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40B83D-BC15-95E9-C76B-6D1EC96C6B11}"/>
              </a:ext>
            </a:extLst>
          </p:cNvPr>
          <p:cNvSpPr>
            <a:spLocks noGrp="1"/>
          </p:cNvSpPr>
          <p:nvPr>
            <p:ph type="title"/>
          </p:nvPr>
        </p:nvSpPr>
        <p:spPr/>
        <p:txBody>
          <a:bodyPr/>
          <a:lstStyle/>
          <a:p>
            <a:r>
              <a:rPr lang="en-US" dirty="0"/>
              <a:t>Pros and cons</a:t>
            </a:r>
            <a:endParaRPr lang="en-BE" dirty="0"/>
          </a:p>
        </p:txBody>
      </p:sp>
      <p:sp>
        <p:nvSpPr>
          <p:cNvPr id="3" name="TextBox 2">
            <a:extLst>
              <a:ext uri="{FF2B5EF4-FFF2-40B4-BE49-F238E27FC236}">
                <a16:creationId xmlns:a16="http://schemas.microsoft.com/office/drawing/2014/main" id="{CFDB7449-DA33-D887-0A5F-DB7E985849D8}"/>
              </a:ext>
            </a:extLst>
          </p:cNvPr>
          <p:cNvSpPr txBox="1"/>
          <p:nvPr/>
        </p:nvSpPr>
        <p:spPr>
          <a:xfrm>
            <a:off x="311021" y="1915886"/>
            <a:ext cx="5199885" cy="2800767"/>
          </a:xfrm>
          <a:prstGeom prst="rect">
            <a:avLst/>
          </a:prstGeom>
          <a:noFill/>
        </p:spPr>
        <p:txBody>
          <a:bodyPr wrap="none" rtlCol="0">
            <a:spAutoFit/>
          </a:bodyPr>
          <a:lstStyle/>
          <a:p>
            <a:r>
              <a:rPr lang="en-US" sz="2400" dirty="0"/>
              <a:t>Raytracing</a:t>
            </a:r>
          </a:p>
          <a:p>
            <a:endParaRPr lang="en-US" sz="2400" dirty="0"/>
          </a:p>
          <a:p>
            <a:pPr marL="285750" indent="-285750">
              <a:buFont typeface="Arial" panose="020B0604020202020204" pitchFamily="34" charset="0"/>
              <a:buChar char="•"/>
            </a:pPr>
            <a:r>
              <a:rPr lang="en-US" sz="2400" dirty="0"/>
              <a:t>Good quality (multiple rays per pixels)</a:t>
            </a:r>
          </a:p>
          <a:p>
            <a:pPr marL="285750" indent="-285750">
              <a:buFont typeface="Arial" panose="020B0604020202020204" pitchFamily="34" charset="0"/>
              <a:buChar char="•"/>
            </a:pPr>
            <a:r>
              <a:rPr lang="en-US" sz="2400" dirty="0"/>
              <a:t>Easy implementation (at the start)</a:t>
            </a:r>
          </a:p>
          <a:p>
            <a:pPr marL="285750" indent="-285750">
              <a:buFont typeface="Arial" panose="020B0604020202020204" pitchFamily="34" charset="0"/>
              <a:buChar char="•"/>
            </a:pPr>
            <a:r>
              <a:rPr lang="en-US" sz="2400" dirty="0"/>
              <a:t>Manages smoke, mirrors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3200" dirty="0">
                <a:solidFill>
                  <a:srgbClr val="FF0000"/>
                </a:solidFill>
              </a:rPr>
              <a:t>Bad performance</a:t>
            </a:r>
            <a:endParaRPr lang="en-BE" sz="3200" dirty="0">
              <a:solidFill>
                <a:srgbClr val="FF0000"/>
              </a:solidFill>
            </a:endParaRPr>
          </a:p>
        </p:txBody>
      </p:sp>
      <p:sp>
        <p:nvSpPr>
          <p:cNvPr id="4" name="TextBox 3">
            <a:extLst>
              <a:ext uri="{FF2B5EF4-FFF2-40B4-BE49-F238E27FC236}">
                <a16:creationId xmlns:a16="http://schemas.microsoft.com/office/drawing/2014/main" id="{CE269A5C-4F04-2D74-6FBC-88CA32AAA24F}"/>
              </a:ext>
            </a:extLst>
          </p:cNvPr>
          <p:cNvSpPr txBox="1"/>
          <p:nvPr/>
        </p:nvSpPr>
        <p:spPr>
          <a:xfrm>
            <a:off x="6096000" y="1915886"/>
            <a:ext cx="4952318" cy="2800767"/>
          </a:xfrm>
          <a:prstGeom prst="rect">
            <a:avLst/>
          </a:prstGeom>
          <a:noFill/>
        </p:spPr>
        <p:txBody>
          <a:bodyPr wrap="none" rtlCol="0">
            <a:spAutoFit/>
          </a:bodyPr>
          <a:lstStyle/>
          <a:p>
            <a:r>
              <a:rPr lang="en-US" sz="2400" dirty="0"/>
              <a:t>Rasterization</a:t>
            </a:r>
          </a:p>
          <a:p>
            <a:endParaRPr lang="en-US" sz="2400" dirty="0"/>
          </a:p>
          <a:p>
            <a:pPr marL="285750" indent="-285750">
              <a:buFont typeface="Arial" panose="020B0604020202020204" pitchFamily="34" charset="0"/>
              <a:buChar char="•"/>
            </a:pPr>
            <a:r>
              <a:rPr lang="en-US" sz="2400" dirty="0"/>
              <a:t>Ok quality (one fragment per pixels)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Hard implementation (at the start</a:t>
            </a:r>
          </a:p>
          <a:p>
            <a:pPr marL="285750" indent="-285750">
              <a:buFont typeface="Arial" panose="020B0604020202020204" pitchFamily="34" charset="0"/>
              <a:buChar char="•"/>
            </a:pPr>
            <a:r>
              <a:rPr lang="en-US" sz="2400" dirty="0"/>
              <a:t>Difficult smoke, mirrors</a:t>
            </a:r>
          </a:p>
          <a:p>
            <a:pPr marL="285750" indent="-285750">
              <a:buFont typeface="Arial" panose="020B0604020202020204" pitchFamily="34" charset="0"/>
              <a:buChar char="•"/>
            </a:pPr>
            <a:r>
              <a:rPr lang="en-US" sz="3200" dirty="0">
                <a:solidFill>
                  <a:srgbClr val="00B050"/>
                </a:solidFill>
              </a:rPr>
              <a:t>Good performance</a:t>
            </a:r>
            <a:endParaRPr lang="en-BE" sz="3200" dirty="0">
              <a:solidFill>
                <a:srgbClr val="00B050"/>
              </a:solidFill>
            </a:endParaRPr>
          </a:p>
        </p:txBody>
      </p:sp>
      <p:sp>
        <p:nvSpPr>
          <p:cNvPr id="5" name="TextBox 4">
            <a:extLst>
              <a:ext uri="{FF2B5EF4-FFF2-40B4-BE49-F238E27FC236}">
                <a16:creationId xmlns:a16="http://schemas.microsoft.com/office/drawing/2014/main" id="{0A93A463-7BB8-6546-E740-BBF6465D6777}"/>
              </a:ext>
            </a:extLst>
          </p:cNvPr>
          <p:cNvSpPr txBox="1"/>
          <p:nvPr/>
        </p:nvSpPr>
        <p:spPr>
          <a:xfrm>
            <a:off x="982825" y="6313714"/>
            <a:ext cx="6624057" cy="523220"/>
          </a:xfrm>
          <a:prstGeom prst="rect">
            <a:avLst/>
          </a:prstGeom>
          <a:noFill/>
        </p:spPr>
        <p:txBody>
          <a:bodyPr wrap="none" rtlCol="0">
            <a:spAutoFit/>
          </a:bodyPr>
          <a:lstStyle/>
          <a:p>
            <a:r>
              <a:rPr lang="en-US" sz="2800" dirty="0"/>
              <a:t>* Lots of simplifications and lies on this slide</a:t>
            </a:r>
            <a:endParaRPr lang="en-BE" sz="2800" dirty="0"/>
          </a:p>
        </p:txBody>
      </p:sp>
    </p:spTree>
    <p:extLst>
      <p:ext uri="{BB962C8B-B14F-4D97-AF65-F5344CB8AC3E}">
        <p14:creationId xmlns:p14="http://schemas.microsoft.com/office/powerpoint/2010/main" val="3229560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03873-81A4-0637-B54C-8E777780E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E3F792-1C22-CECB-ED63-33F0742131D4}"/>
              </a:ext>
            </a:extLst>
          </p:cNvPr>
          <p:cNvSpPr>
            <a:spLocks noGrp="1"/>
          </p:cNvSpPr>
          <p:nvPr>
            <p:ph type="title"/>
          </p:nvPr>
        </p:nvSpPr>
        <p:spPr/>
        <p:txBody>
          <a:bodyPr/>
          <a:lstStyle/>
          <a:p>
            <a:r>
              <a:rPr lang="en-US" dirty="0"/>
              <a:t>Pros and cons</a:t>
            </a:r>
            <a:endParaRPr lang="en-BE" dirty="0"/>
          </a:p>
        </p:txBody>
      </p:sp>
      <p:sp>
        <p:nvSpPr>
          <p:cNvPr id="3" name="TextBox 2">
            <a:extLst>
              <a:ext uri="{FF2B5EF4-FFF2-40B4-BE49-F238E27FC236}">
                <a16:creationId xmlns:a16="http://schemas.microsoft.com/office/drawing/2014/main" id="{B1EA56D5-6765-EE22-EB2A-67138297C1AF}"/>
              </a:ext>
            </a:extLst>
          </p:cNvPr>
          <p:cNvSpPr txBox="1"/>
          <p:nvPr/>
        </p:nvSpPr>
        <p:spPr>
          <a:xfrm>
            <a:off x="311021" y="1915886"/>
            <a:ext cx="5199885" cy="2923877"/>
          </a:xfrm>
          <a:prstGeom prst="rect">
            <a:avLst/>
          </a:prstGeom>
          <a:noFill/>
        </p:spPr>
        <p:txBody>
          <a:bodyPr wrap="none" rtlCol="0">
            <a:spAutoFit/>
          </a:bodyPr>
          <a:lstStyle/>
          <a:p>
            <a:r>
              <a:rPr lang="en-US" sz="2400" dirty="0"/>
              <a:t>Raytracing</a:t>
            </a:r>
          </a:p>
          <a:p>
            <a:endParaRPr lang="en-US" sz="2400" dirty="0"/>
          </a:p>
          <a:p>
            <a:pPr marL="285750" indent="-285750">
              <a:buFont typeface="Arial" panose="020B0604020202020204" pitchFamily="34" charset="0"/>
              <a:buChar char="•"/>
            </a:pPr>
            <a:r>
              <a:rPr lang="en-US" sz="2400" dirty="0"/>
              <a:t>Good quality (multiple rays per pixels)</a:t>
            </a:r>
          </a:p>
          <a:p>
            <a:pPr marL="285750" indent="-285750">
              <a:buFont typeface="Arial" panose="020B0604020202020204" pitchFamily="34" charset="0"/>
              <a:buChar char="•"/>
            </a:pPr>
            <a:r>
              <a:rPr lang="en-US" sz="2400" dirty="0"/>
              <a:t>Easy implementation (at the start)</a:t>
            </a:r>
          </a:p>
          <a:p>
            <a:pPr marL="285750" indent="-285750">
              <a:buFont typeface="Arial" panose="020B0604020202020204" pitchFamily="34" charset="0"/>
              <a:buChar char="•"/>
            </a:pPr>
            <a:r>
              <a:rPr lang="en-US" sz="2400" dirty="0"/>
              <a:t>Manages smoke, mirrors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4000" dirty="0">
                <a:solidFill>
                  <a:srgbClr val="FF0000"/>
                </a:solidFill>
              </a:rPr>
              <a:t>Bad performance</a:t>
            </a:r>
            <a:endParaRPr lang="en-BE" sz="4000" dirty="0">
              <a:solidFill>
                <a:srgbClr val="FF0000"/>
              </a:solidFill>
            </a:endParaRPr>
          </a:p>
        </p:txBody>
      </p:sp>
      <p:sp>
        <p:nvSpPr>
          <p:cNvPr id="4" name="TextBox 3">
            <a:extLst>
              <a:ext uri="{FF2B5EF4-FFF2-40B4-BE49-F238E27FC236}">
                <a16:creationId xmlns:a16="http://schemas.microsoft.com/office/drawing/2014/main" id="{E5EC7384-4CA2-9A48-27AF-729CE3CC58E2}"/>
              </a:ext>
            </a:extLst>
          </p:cNvPr>
          <p:cNvSpPr txBox="1"/>
          <p:nvPr/>
        </p:nvSpPr>
        <p:spPr>
          <a:xfrm>
            <a:off x="6096000" y="1915886"/>
            <a:ext cx="4952318" cy="2923877"/>
          </a:xfrm>
          <a:prstGeom prst="rect">
            <a:avLst/>
          </a:prstGeom>
          <a:noFill/>
        </p:spPr>
        <p:txBody>
          <a:bodyPr wrap="none" rtlCol="0">
            <a:spAutoFit/>
          </a:bodyPr>
          <a:lstStyle/>
          <a:p>
            <a:r>
              <a:rPr lang="en-US" sz="2400" dirty="0"/>
              <a:t>Rasterization</a:t>
            </a:r>
          </a:p>
          <a:p>
            <a:endParaRPr lang="en-US" sz="2400" dirty="0"/>
          </a:p>
          <a:p>
            <a:pPr marL="285750" indent="-285750">
              <a:buFont typeface="Arial" panose="020B0604020202020204" pitchFamily="34" charset="0"/>
              <a:buChar char="•"/>
            </a:pPr>
            <a:r>
              <a:rPr lang="en-US" sz="2400" dirty="0"/>
              <a:t>Ok quality (one fragment per pixels)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Hard implementation (at the start</a:t>
            </a:r>
          </a:p>
          <a:p>
            <a:pPr marL="285750" indent="-285750">
              <a:buFont typeface="Arial" panose="020B0604020202020204" pitchFamily="34" charset="0"/>
              <a:buChar char="•"/>
            </a:pPr>
            <a:r>
              <a:rPr lang="en-US" sz="2400" dirty="0"/>
              <a:t>Difficult smoke, mirrors</a:t>
            </a:r>
          </a:p>
          <a:p>
            <a:pPr marL="285750" indent="-285750">
              <a:buFont typeface="Arial" panose="020B0604020202020204" pitchFamily="34" charset="0"/>
              <a:buChar char="•"/>
            </a:pPr>
            <a:r>
              <a:rPr lang="en-US" sz="4000" dirty="0">
                <a:solidFill>
                  <a:srgbClr val="00B050"/>
                </a:solidFill>
              </a:rPr>
              <a:t>Good performance</a:t>
            </a:r>
            <a:endParaRPr lang="en-BE" sz="4000" dirty="0">
              <a:solidFill>
                <a:srgbClr val="00B050"/>
              </a:solidFill>
            </a:endParaRPr>
          </a:p>
        </p:txBody>
      </p:sp>
      <p:sp>
        <p:nvSpPr>
          <p:cNvPr id="5" name="TextBox 4">
            <a:extLst>
              <a:ext uri="{FF2B5EF4-FFF2-40B4-BE49-F238E27FC236}">
                <a16:creationId xmlns:a16="http://schemas.microsoft.com/office/drawing/2014/main" id="{BB548428-193C-509D-53EB-D7D5A0BD4A38}"/>
              </a:ext>
            </a:extLst>
          </p:cNvPr>
          <p:cNvSpPr txBox="1"/>
          <p:nvPr/>
        </p:nvSpPr>
        <p:spPr>
          <a:xfrm>
            <a:off x="982825" y="6313714"/>
            <a:ext cx="6624057" cy="523220"/>
          </a:xfrm>
          <a:prstGeom prst="rect">
            <a:avLst/>
          </a:prstGeom>
          <a:noFill/>
        </p:spPr>
        <p:txBody>
          <a:bodyPr wrap="none" rtlCol="0">
            <a:spAutoFit/>
          </a:bodyPr>
          <a:lstStyle/>
          <a:p>
            <a:r>
              <a:rPr lang="en-US" sz="2800" dirty="0"/>
              <a:t>* Lots of simplifications and lies on this slide</a:t>
            </a:r>
            <a:endParaRPr lang="en-BE" sz="2800" dirty="0"/>
          </a:p>
        </p:txBody>
      </p:sp>
    </p:spTree>
    <p:extLst>
      <p:ext uri="{BB962C8B-B14F-4D97-AF65-F5344CB8AC3E}">
        <p14:creationId xmlns:p14="http://schemas.microsoft.com/office/powerpoint/2010/main" val="10059378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87F4-D315-2680-70C7-D6F0C4827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5484A-5F8B-10F7-7C89-26015C9234C0}"/>
              </a:ext>
            </a:extLst>
          </p:cNvPr>
          <p:cNvSpPr>
            <a:spLocks noGrp="1"/>
          </p:cNvSpPr>
          <p:nvPr>
            <p:ph type="title"/>
          </p:nvPr>
        </p:nvSpPr>
        <p:spPr/>
        <p:txBody>
          <a:bodyPr/>
          <a:lstStyle/>
          <a:p>
            <a:r>
              <a:rPr lang="en-US" dirty="0"/>
              <a:t>Pros and cons</a:t>
            </a:r>
            <a:endParaRPr lang="en-BE" dirty="0"/>
          </a:p>
        </p:txBody>
      </p:sp>
      <p:sp>
        <p:nvSpPr>
          <p:cNvPr id="3" name="TextBox 2">
            <a:extLst>
              <a:ext uri="{FF2B5EF4-FFF2-40B4-BE49-F238E27FC236}">
                <a16:creationId xmlns:a16="http://schemas.microsoft.com/office/drawing/2014/main" id="{8CDE72BC-5A61-211D-E884-BFD6440100FB}"/>
              </a:ext>
            </a:extLst>
          </p:cNvPr>
          <p:cNvSpPr txBox="1"/>
          <p:nvPr/>
        </p:nvSpPr>
        <p:spPr>
          <a:xfrm>
            <a:off x="311021" y="1915886"/>
            <a:ext cx="5199885" cy="3046988"/>
          </a:xfrm>
          <a:prstGeom prst="rect">
            <a:avLst/>
          </a:prstGeom>
          <a:noFill/>
        </p:spPr>
        <p:txBody>
          <a:bodyPr wrap="none" rtlCol="0">
            <a:spAutoFit/>
          </a:bodyPr>
          <a:lstStyle/>
          <a:p>
            <a:r>
              <a:rPr lang="en-US" sz="2400" dirty="0"/>
              <a:t>Raytracing</a:t>
            </a:r>
          </a:p>
          <a:p>
            <a:endParaRPr lang="en-US" sz="2400" dirty="0"/>
          </a:p>
          <a:p>
            <a:pPr marL="285750" indent="-285750">
              <a:buFont typeface="Arial" panose="020B0604020202020204" pitchFamily="34" charset="0"/>
              <a:buChar char="•"/>
            </a:pPr>
            <a:r>
              <a:rPr lang="en-US" sz="2400" dirty="0"/>
              <a:t>Good quality (multiple rays per pixels)</a:t>
            </a:r>
          </a:p>
          <a:p>
            <a:pPr marL="285750" indent="-285750">
              <a:buFont typeface="Arial" panose="020B0604020202020204" pitchFamily="34" charset="0"/>
              <a:buChar char="•"/>
            </a:pPr>
            <a:r>
              <a:rPr lang="en-US" sz="2400" dirty="0"/>
              <a:t>Easy implementation (at the start)</a:t>
            </a:r>
          </a:p>
          <a:p>
            <a:pPr marL="285750" indent="-285750">
              <a:buFont typeface="Arial" panose="020B0604020202020204" pitchFamily="34" charset="0"/>
              <a:buChar char="•"/>
            </a:pPr>
            <a:r>
              <a:rPr lang="en-US" sz="2400" dirty="0"/>
              <a:t>Manages smoke, mirrors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4800" dirty="0">
                <a:solidFill>
                  <a:srgbClr val="FF0000"/>
                </a:solidFill>
              </a:rPr>
              <a:t>Bad performance</a:t>
            </a:r>
            <a:endParaRPr lang="en-BE" sz="4800" dirty="0">
              <a:solidFill>
                <a:srgbClr val="FF0000"/>
              </a:solidFill>
            </a:endParaRPr>
          </a:p>
        </p:txBody>
      </p:sp>
      <p:sp>
        <p:nvSpPr>
          <p:cNvPr id="4" name="TextBox 3">
            <a:extLst>
              <a:ext uri="{FF2B5EF4-FFF2-40B4-BE49-F238E27FC236}">
                <a16:creationId xmlns:a16="http://schemas.microsoft.com/office/drawing/2014/main" id="{8010CE3D-F748-9AAC-DED8-929E9A8C0452}"/>
              </a:ext>
            </a:extLst>
          </p:cNvPr>
          <p:cNvSpPr txBox="1"/>
          <p:nvPr/>
        </p:nvSpPr>
        <p:spPr>
          <a:xfrm>
            <a:off x="6096000" y="1915886"/>
            <a:ext cx="5211555" cy="3046988"/>
          </a:xfrm>
          <a:prstGeom prst="rect">
            <a:avLst/>
          </a:prstGeom>
          <a:noFill/>
        </p:spPr>
        <p:txBody>
          <a:bodyPr wrap="none" rtlCol="0">
            <a:spAutoFit/>
          </a:bodyPr>
          <a:lstStyle/>
          <a:p>
            <a:r>
              <a:rPr lang="en-US" sz="2400" dirty="0"/>
              <a:t>Rasterization</a:t>
            </a:r>
          </a:p>
          <a:p>
            <a:endParaRPr lang="en-US" sz="2400" dirty="0"/>
          </a:p>
          <a:p>
            <a:pPr marL="285750" indent="-285750">
              <a:buFont typeface="Arial" panose="020B0604020202020204" pitchFamily="34" charset="0"/>
              <a:buChar char="•"/>
            </a:pPr>
            <a:r>
              <a:rPr lang="en-US" sz="2400" dirty="0"/>
              <a:t>Ok quality (one fragment per pixels)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Hard implementation (at the start</a:t>
            </a:r>
          </a:p>
          <a:p>
            <a:pPr marL="285750" indent="-285750">
              <a:buFont typeface="Arial" panose="020B0604020202020204" pitchFamily="34" charset="0"/>
              <a:buChar char="•"/>
            </a:pPr>
            <a:r>
              <a:rPr lang="en-US" sz="2400" dirty="0"/>
              <a:t>Difficult smoke, mirrors</a:t>
            </a:r>
          </a:p>
          <a:p>
            <a:pPr marL="285750" indent="-285750">
              <a:buFont typeface="Arial" panose="020B0604020202020204" pitchFamily="34" charset="0"/>
              <a:buChar char="•"/>
            </a:pPr>
            <a:r>
              <a:rPr lang="en-US" sz="4800" dirty="0">
                <a:solidFill>
                  <a:srgbClr val="00B050"/>
                </a:solidFill>
              </a:rPr>
              <a:t>Good performance</a:t>
            </a:r>
            <a:endParaRPr lang="en-BE" sz="4800" dirty="0">
              <a:solidFill>
                <a:srgbClr val="00B050"/>
              </a:solidFill>
            </a:endParaRPr>
          </a:p>
        </p:txBody>
      </p:sp>
      <p:sp>
        <p:nvSpPr>
          <p:cNvPr id="5" name="TextBox 4">
            <a:extLst>
              <a:ext uri="{FF2B5EF4-FFF2-40B4-BE49-F238E27FC236}">
                <a16:creationId xmlns:a16="http://schemas.microsoft.com/office/drawing/2014/main" id="{F4490D78-ACCA-8540-EBD7-5B1822466CF5}"/>
              </a:ext>
            </a:extLst>
          </p:cNvPr>
          <p:cNvSpPr txBox="1"/>
          <p:nvPr/>
        </p:nvSpPr>
        <p:spPr>
          <a:xfrm>
            <a:off x="982825" y="6313714"/>
            <a:ext cx="6624057" cy="523220"/>
          </a:xfrm>
          <a:prstGeom prst="rect">
            <a:avLst/>
          </a:prstGeom>
          <a:noFill/>
        </p:spPr>
        <p:txBody>
          <a:bodyPr wrap="none" rtlCol="0">
            <a:spAutoFit/>
          </a:bodyPr>
          <a:lstStyle/>
          <a:p>
            <a:r>
              <a:rPr lang="en-US" sz="2800" dirty="0"/>
              <a:t>* Lots of simplifications and lies on this slide</a:t>
            </a:r>
            <a:endParaRPr lang="en-BE" sz="2800" dirty="0"/>
          </a:p>
        </p:txBody>
      </p:sp>
    </p:spTree>
    <p:extLst>
      <p:ext uri="{BB962C8B-B14F-4D97-AF65-F5344CB8AC3E}">
        <p14:creationId xmlns:p14="http://schemas.microsoft.com/office/powerpoint/2010/main" val="41506923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7A4A4-C151-60EF-444F-F0DF02AAA098}"/>
              </a:ext>
            </a:extLst>
          </p:cNvPr>
          <p:cNvSpPr>
            <a:spLocks noGrp="1"/>
          </p:cNvSpPr>
          <p:nvPr>
            <p:ph type="title"/>
          </p:nvPr>
        </p:nvSpPr>
        <p:spPr/>
        <p:txBody>
          <a:bodyPr/>
          <a:lstStyle/>
          <a:p>
            <a:r>
              <a:rPr lang="en-US" dirty="0"/>
              <a:t>Forward rendering</a:t>
            </a:r>
            <a:endParaRPr lang="en-BE" dirty="0"/>
          </a:p>
        </p:txBody>
      </p:sp>
      <p:sp>
        <p:nvSpPr>
          <p:cNvPr id="3" name="TextBox 2">
            <a:extLst>
              <a:ext uri="{FF2B5EF4-FFF2-40B4-BE49-F238E27FC236}">
                <a16:creationId xmlns:a16="http://schemas.microsoft.com/office/drawing/2014/main" id="{29EC14E6-D792-0D4C-CBE6-D99FE8D71BDB}"/>
              </a:ext>
            </a:extLst>
          </p:cNvPr>
          <p:cNvSpPr txBox="1"/>
          <p:nvPr/>
        </p:nvSpPr>
        <p:spPr>
          <a:xfrm>
            <a:off x="404326" y="1690688"/>
            <a:ext cx="6982874" cy="1200329"/>
          </a:xfrm>
          <a:prstGeom prst="rect">
            <a:avLst/>
          </a:prstGeom>
          <a:noFill/>
        </p:spPr>
        <p:txBody>
          <a:bodyPr wrap="none" rtlCol="0">
            <a:spAutoFit/>
          </a:bodyPr>
          <a:lstStyle/>
          <a:p>
            <a:pPr marL="285750" indent="-285750">
              <a:buFont typeface="Arial" panose="020B0604020202020204" pitchFamily="34" charset="0"/>
              <a:buChar char="•"/>
            </a:pPr>
            <a:r>
              <a:rPr lang="en-US" sz="2400" dirty="0"/>
              <a:t>So, we go with rasterization</a:t>
            </a:r>
          </a:p>
          <a:p>
            <a:pPr marL="285750" indent="-285750">
              <a:buFont typeface="Arial" panose="020B0604020202020204" pitchFamily="34" charset="0"/>
              <a:buChar char="•"/>
            </a:pPr>
            <a:r>
              <a:rPr lang="en-US" sz="2400" dirty="0"/>
              <a:t>We get our vertex shader / pixel shader</a:t>
            </a:r>
          </a:p>
          <a:p>
            <a:pPr marL="285750" indent="-285750">
              <a:buFont typeface="Arial" panose="020B0604020202020204" pitchFamily="34" charset="0"/>
              <a:buChar char="•"/>
            </a:pPr>
            <a:r>
              <a:rPr lang="en-US" sz="2400" dirty="0"/>
              <a:t> How do we implement lights, camera’s and all that?</a:t>
            </a:r>
            <a:endParaRPr lang="en-BE" sz="2400" dirty="0"/>
          </a:p>
        </p:txBody>
      </p:sp>
    </p:spTree>
    <p:extLst>
      <p:ext uri="{BB962C8B-B14F-4D97-AF65-F5344CB8AC3E}">
        <p14:creationId xmlns:p14="http://schemas.microsoft.com/office/powerpoint/2010/main" val="9206705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7E7E8-68B1-5F83-CF85-150C30AAB7E1}"/>
              </a:ext>
            </a:extLst>
          </p:cNvPr>
          <p:cNvSpPr>
            <a:spLocks noGrp="1"/>
          </p:cNvSpPr>
          <p:nvPr>
            <p:ph type="title"/>
          </p:nvPr>
        </p:nvSpPr>
        <p:spPr/>
        <p:txBody>
          <a:bodyPr/>
          <a:lstStyle/>
          <a:p>
            <a:r>
              <a:rPr lang="en-US" dirty="0"/>
              <a:t>Gather objects : frustum culling</a:t>
            </a:r>
            <a:endParaRPr lang="en-BE" dirty="0"/>
          </a:p>
        </p:txBody>
      </p:sp>
      <p:pic>
        <p:nvPicPr>
          <p:cNvPr id="3" name="DYQmUX21tj62jLsYxsgj20udUd4H_Z4fdRH1iZsLnek">
            <a:hlinkClick r:id="" action="ppaction://media"/>
            <a:extLst>
              <a:ext uri="{FF2B5EF4-FFF2-40B4-BE49-F238E27FC236}">
                <a16:creationId xmlns:a16="http://schemas.microsoft.com/office/drawing/2014/main" id="{31D62DB7-160D-5FF1-EEC0-9DD83B55E0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183122" y="2915506"/>
            <a:ext cx="7008878" cy="3942494"/>
          </a:xfrm>
          <a:prstGeom prst="rect">
            <a:avLst/>
          </a:prstGeom>
        </p:spPr>
      </p:pic>
      <p:sp>
        <p:nvSpPr>
          <p:cNvPr id="4" name="TextBox 3">
            <a:extLst>
              <a:ext uri="{FF2B5EF4-FFF2-40B4-BE49-F238E27FC236}">
                <a16:creationId xmlns:a16="http://schemas.microsoft.com/office/drawing/2014/main" id="{893F83FF-A348-337A-0AEE-DA62813C62DA}"/>
              </a:ext>
            </a:extLst>
          </p:cNvPr>
          <p:cNvSpPr txBox="1"/>
          <p:nvPr/>
        </p:nvSpPr>
        <p:spPr>
          <a:xfrm>
            <a:off x="1051249" y="1772816"/>
            <a:ext cx="7576626" cy="923330"/>
          </a:xfrm>
          <a:prstGeom prst="rect">
            <a:avLst/>
          </a:prstGeom>
          <a:noFill/>
        </p:spPr>
        <p:txBody>
          <a:bodyPr wrap="none" rtlCol="0">
            <a:spAutoFit/>
          </a:bodyPr>
          <a:lstStyle/>
          <a:p>
            <a:pPr marL="285750" indent="-285750">
              <a:buFont typeface="Arial" panose="020B0604020202020204" pitchFamily="34" charset="0"/>
              <a:buChar char="•"/>
            </a:pPr>
            <a:r>
              <a:rPr lang="en-US" dirty="0"/>
              <a:t>Instead of rendering all objects, render only the ones in the camera frustum</a:t>
            </a:r>
          </a:p>
          <a:p>
            <a:pPr marL="285750" indent="-285750">
              <a:buFont typeface="Arial" panose="020B0604020202020204" pitchFamily="34" charset="0"/>
              <a:buChar char="•"/>
            </a:pPr>
            <a:r>
              <a:rPr lang="en-US" dirty="0"/>
              <a:t>Not necessary, but it’s cheap and gives us a lot of performance</a:t>
            </a:r>
          </a:p>
          <a:p>
            <a:pPr marL="285750" indent="-285750">
              <a:buFont typeface="Arial" panose="020B0604020202020204" pitchFamily="34" charset="0"/>
              <a:buChar char="•"/>
            </a:pPr>
            <a:r>
              <a:rPr lang="en-US" dirty="0"/>
              <a:t>Unity does this for us</a:t>
            </a:r>
            <a:endParaRPr lang="en-BE" dirty="0"/>
          </a:p>
        </p:txBody>
      </p:sp>
    </p:spTree>
    <p:extLst>
      <p:ext uri="{BB962C8B-B14F-4D97-AF65-F5344CB8AC3E}">
        <p14:creationId xmlns:p14="http://schemas.microsoft.com/office/powerpoint/2010/main" val="2990376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2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08428-9495-7A1A-EB0A-675D587D3E6D}"/>
              </a:ext>
            </a:extLst>
          </p:cNvPr>
          <p:cNvSpPr>
            <a:spLocks noGrp="1"/>
          </p:cNvSpPr>
          <p:nvPr>
            <p:ph type="title"/>
          </p:nvPr>
        </p:nvSpPr>
        <p:spPr/>
        <p:txBody>
          <a:bodyPr/>
          <a:lstStyle/>
          <a:p>
            <a:r>
              <a:rPr lang="en-US" dirty="0"/>
              <a:t>For each object, find lights</a:t>
            </a:r>
            <a:endParaRPr lang="en-BE" dirty="0"/>
          </a:p>
        </p:txBody>
      </p:sp>
      <p:pic>
        <p:nvPicPr>
          <p:cNvPr id="4" name="Picture 3" descr="A black and white bunny&#10;&#10;AI-generated content may be incorrect.">
            <a:extLst>
              <a:ext uri="{FF2B5EF4-FFF2-40B4-BE49-F238E27FC236}">
                <a16:creationId xmlns:a16="http://schemas.microsoft.com/office/drawing/2014/main" id="{886AE55B-D45F-98EE-8667-A723ACABAE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4268" y="2904930"/>
            <a:ext cx="3052945" cy="3770636"/>
          </a:xfrm>
          <a:prstGeom prst="rect">
            <a:avLst/>
          </a:prstGeom>
        </p:spPr>
      </p:pic>
      <p:sp>
        <p:nvSpPr>
          <p:cNvPr id="5" name="TextBox 4">
            <a:extLst>
              <a:ext uri="{FF2B5EF4-FFF2-40B4-BE49-F238E27FC236}">
                <a16:creationId xmlns:a16="http://schemas.microsoft.com/office/drawing/2014/main" id="{490E91AC-3842-514E-516D-FDE88B0C1DEB}"/>
              </a:ext>
            </a:extLst>
          </p:cNvPr>
          <p:cNvSpPr txBox="1"/>
          <p:nvPr/>
        </p:nvSpPr>
        <p:spPr>
          <a:xfrm>
            <a:off x="558282" y="1629747"/>
            <a:ext cx="8287138" cy="923330"/>
          </a:xfrm>
          <a:prstGeom prst="rect">
            <a:avLst/>
          </a:prstGeom>
          <a:noFill/>
        </p:spPr>
        <p:txBody>
          <a:bodyPr wrap="square" rtlCol="0">
            <a:spAutoFit/>
          </a:bodyPr>
          <a:lstStyle/>
          <a:p>
            <a:pPr marL="285750" indent="-285750">
              <a:buFont typeface="Arial" panose="020B0604020202020204" pitchFamily="34" charset="0"/>
              <a:buChar char="•"/>
            </a:pPr>
            <a:r>
              <a:rPr lang="en-US" dirty="0"/>
              <a:t>Done using bounds tests</a:t>
            </a:r>
          </a:p>
          <a:p>
            <a:pPr marL="285750" indent="-285750">
              <a:buFont typeface="Arial" panose="020B0604020202020204" pitchFamily="34" charset="0"/>
              <a:buChar char="•"/>
            </a:pPr>
            <a:r>
              <a:rPr lang="en-US" dirty="0"/>
              <a:t>Often with an acceleration structure (100’s of lights, 1000’s of objects)</a:t>
            </a:r>
          </a:p>
          <a:p>
            <a:pPr marL="285750" indent="-285750">
              <a:buFont typeface="Arial" panose="020B0604020202020204" pitchFamily="34" charset="0"/>
              <a:buChar char="•"/>
            </a:pPr>
            <a:r>
              <a:rPr lang="en-US" dirty="0"/>
              <a:t>Find lights overlapping objects </a:t>
            </a:r>
            <a:endParaRPr lang="en-BE" dirty="0"/>
          </a:p>
        </p:txBody>
      </p:sp>
      <p:sp>
        <p:nvSpPr>
          <p:cNvPr id="6" name="Rectangle 5">
            <a:extLst>
              <a:ext uri="{FF2B5EF4-FFF2-40B4-BE49-F238E27FC236}">
                <a16:creationId xmlns:a16="http://schemas.microsoft.com/office/drawing/2014/main" id="{F435552C-9828-4ED4-B694-68F4C287B48E}"/>
              </a:ext>
            </a:extLst>
          </p:cNvPr>
          <p:cNvSpPr/>
          <p:nvPr/>
        </p:nvSpPr>
        <p:spPr>
          <a:xfrm>
            <a:off x="6096000" y="2728686"/>
            <a:ext cx="3468914" cy="4078514"/>
          </a:xfrm>
          <a:prstGeom prst="rect">
            <a:avLst/>
          </a:prstGeom>
          <a:noFill/>
          <a:ln w="76200">
            <a:solidFill>
              <a:srgbClr val="00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7" name="Picture 6" descr="A yellow light bulb with black lines&#10;&#10;Description automatically generated">
            <a:extLst>
              <a:ext uri="{FF2B5EF4-FFF2-40B4-BE49-F238E27FC236}">
                <a16:creationId xmlns:a16="http://schemas.microsoft.com/office/drawing/2014/main" id="{801FC34A-230D-4630-BDB1-ED099EAF25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9537" y="3703734"/>
            <a:ext cx="1561298" cy="1607976"/>
          </a:xfrm>
          <a:prstGeom prst="rect">
            <a:avLst/>
          </a:prstGeom>
        </p:spPr>
      </p:pic>
      <p:sp>
        <p:nvSpPr>
          <p:cNvPr id="8" name="Oval 7">
            <a:extLst>
              <a:ext uri="{FF2B5EF4-FFF2-40B4-BE49-F238E27FC236}">
                <a16:creationId xmlns:a16="http://schemas.microsoft.com/office/drawing/2014/main" id="{576BA842-4CFE-7876-A525-2A0792B16651}"/>
              </a:ext>
            </a:extLst>
          </p:cNvPr>
          <p:cNvSpPr/>
          <p:nvPr/>
        </p:nvSpPr>
        <p:spPr>
          <a:xfrm>
            <a:off x="3269419" y="2566955"/>
            <a:ext cx="3881535" cy="3881535"/>
          </a:xfrm>
          <a:prstGeom prst="ellipse">
            <a:avLst/>
          </a:prstGeom>
          <a:noFill/>
          <a:ln w="7620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Tree>
    <p:extLst>
      <p:ext uri="{BB962C8B-B14F-4D97-AF65-F5344CB8AC3E}">
        <p14:creationId xmlns:p14="http://schemas.microsoft.com/office/powerpoint/2010/main" val="15450874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EDD05-A750-E8EA-8FC3-F85D7A6D0D5A}"/>
              </a:ext>
            </a:extLst>
          </p:cNvPr>
          <p:cNvSpPr>
            <a:spLocks noGrp="1"/>
          </p:cNvSpPr>
          <p:nvPr>
            <p:ph type="title"/>
          </p:nvPr>
        </p:nvSpPr>
        <p:spPr/>
        <p:txBody>
          <a:bodyPr/>
          <a:lstStyle/>
          <a:p>
            <a:r>
              <a:rPr lang="en-US" dirty="0"/>
              <a:t>For each object, render</a:t>
            </a:r>
            <a:endParaRPr lang="en-BE" dirty="0"/>
          </a:p>
        </p:txBody>
      </p:sp>
      <p:pic>
        <p:nvPicPr>
          <p:cNvPr id="3" name="Picture 2" descr="A picture containing traffic light&#10;&#10;Description automatically generated">
            <a:extLst>
              <a:ext uri="{FF2B5EF4-FFF2-40B4-BE49-F238E27FC236}">
                <a16:creationId xmlns:a16="http://schemas.microsoft.com/office/drawing/2014/main" id="{1B486564-5DF7-D27C-E758-B6D58BC61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015097"/>
            <a:ext cx="2142478" cy="1067344"/>
          </a:xfrm>
          <a:prstGeom prst="rect">
            <a:avLst/>
          </a:prstGeom>
        </p:spPr>
      </p:pic>
      <p:pic>
        <p:nvPicPr>
          <p:cNvPr id="4" name="Picture 3" descr="A picture containing object&#10;&#10;Description automatically generated">
            <a:extLst>
              <a:ext uri="{FF2B5EF4-FFF2-40B4-BE49-F238E27FC236}">
                <a16:creationId xmlns:a16="http://schemas.microsoft.com/office/drawing/2014/main" id="{B4CBBEE1-117A-5BD3-BF82-1A34D27814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2993" y="1978661"/>
            <a:ext cx="2009186" cy="1143409"/>
          </a:xfrm>
          <a:prstGeom prst="rect">
            <a:avLst/>
          </a:prstGeom>
        </p:spPr>
      </p:pic>
      <p:pic>
        <p:nvPicPr>
          <p:cNvPr id="5" name="Picture 4">
            <a:extLst>
              <a:ext uri="{FF2B5EF4-FFF2-40B4-BE49-F238E27FC236}">
                <a16:creationId xmlns:a16="http://schemas.microsoft.com/office/drawing/2014/main" id="{EFBE728F-C3FD-9A18-B813-0A37DFEB90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19161" y="1978662"/>
            <a:ext cx="1933806" cy="1014596"/>
          </a:xfrm>
          <a:prstGeom prst="rect">
            <a:avLst/>
          </a:prstGeom>
        </p:spPr>
      </p:pic>
      <p:pic>
        <p:nvPicPr>
          <p:cNvPr id="6" name="Picture 5" descr="A picture containing building&#10;&#10;Description automatically generated">
            <a:extLst>
              <a:ext uri="{FF2B5EF4-FFF2-40B4-BE49-F238E27FC236}">
                <a16:creationId xmlns:a16="http://schemas.microsoft.com/office/drawing/2014/main" id="{0E6626C8-800B-C17F-8C55-D22E28BAAF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17655" y="1987554"/>
            <a:ext cx="1933806" cy="1014596"/>
          </a:xfrm>
          <a:prstGeom prst="rect">
            <a:avLst/>
          </a:prstGeom>
        </p:spPr>
      </p:pic>
      <p:sp>
        <p:nvSpPr>
          <p:cNvPr id="7" name="Arrow: Right 6">
            <a:extLst>
              <a:ext uri="{FF2B5EF4-FFF2-40B4-BE49-F238E27FC236}">
                <a16:creationId xmlns:a16="http://schemas.microsoft.com/office/drawing/2014/main" id="{75B0A437-771A-564A-0AFF-1F9D2D4ECC35}"/>
              </a:ext>
            </a:extLst>
          </p:cNvPr>
          <p:cNvSpPr/>
          <p:nvPr/>
        </p:nvSpPr>
        <p:spPr>
          <a:xfrm>
            <a:off x="3202377" y="2458205"/>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8" name="Arrow: Right 7">
            <a:extLst>
              <a:ext uri="{FF2B5EF4-FFF2-40B4-BE49-F238E27FC236}">
                <a16:creationId xmlns:a16="http://schemas.microsoft.com/office/drawing/2014/main" id="{C787D7CE-1CF6-0901-410A-ACF3901A1103}"/>
              </a:ext>
            </a:extLst>
          </p:cNvPr>
          <p:cNvSpPr/>
          <p:nvPr/>
        </p:nvSpPr>
        <p:spPr>
          <a:xfrm>
            <a:off x="6311484" y="2416552"/>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9" name="Arrow: Right 8">
            <a:extLst>
              <a:ext uri="{FF2B5EF4-FFF2-40B4-BE49-F238E27FC236}">
                <a16:creationId xmlns:a16="http://schemas.microsoft.com/office/drawing/2014/main" id="{B4511966-7FF5-CB1F-DFED-01A62A8AAF97}"/>
              </a:ext>
            </a:extLst>
          </p:cNvPr>
          <p:cNvSpPr/>
          <p:nvPr/>
        </p:nvSpPr>
        <p:spPr>
          <a:xfrm>
            <a:off x="9352967" y="2412764"/>
            <a:ext cx="885978" cy="264434"/>
          </a:xfrm>
          <a:prstGeom prst="rightArrow">
            <a:avLst/>
          </a:prstGeom>
          <a:solidFill>
            <a:schemeClr val="tx1">
              <a:lumMod val="95000"/>
              <a:lumOff val="5000"/>
            </a:schemeClr>
          </a:solidFill>
          <a:ln w="762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0" name="TextBox 9">
            <a:extLst>
              <a:ext uri="{FF2B5EF4-FFF2-40B4-BE49-F238E27FC236}">
                <a16:creationId xmlns:a16="http://schemas.microsoft.com/office/drawing/2014/main" id="{35EAD5F3-98E0-25D4-444F-BF614D54A6D1}"/>
              </a:ext>
            </a:extLst>
          </p:cNvPr>
          <p:cNvSpPr txBox="1"/>
          <p:nvPr/>
        </p:nvSpPr>
        <p:spPr>
          <a:xfrm>
            <a:off x="2718926" y="3446479"/>
            <a:ext cx="1852880" cy="1200329"/>
          </a:xfrm>
          <a:prstGeom prst="rect">
            <a:avLst/>
          </a:prstGeom>
          <a:noFill/>
        </p:spPr>
        <p:txBody>
          <a:bodyPr wrap="none" rtlCol="0">
            <a:spAutoFit/>
          </a:bodyPr>
          <a:lstStyle/>
          <a:p>
            <a:r>
              <a:rPr lang="en-US" b="1" dirty="0"/>
              <a:t>Vertex shader</a:t>
            </a:r>
          </a:p>
          <a:p>
            <a:endParaRPr lang="en-US" b="1" dirty="0"/>
          </a:p>
          <a:p>
            <a:r>
              <a:rPr lang="en-US" dirty="0"/>
              <a:t>(Apply animation)</a:t>
            </a:r>
          </a:p>
          <a:p>
            <a:r>
              <a:rPr lang="en-US" dirty="0"/>
              <a:t>Apply </a:t>
            </a:r>
            <a:r>
              <a:rPr lang="en-US" dirty="0" err="1"/>
              <a:t>mvp</a:t>
            </a:r>
            <a:r>
              <a:rPr lang="en-US" dirty="0"/>
              <a:t> matrix</a:t>
            </a:r>
          </a:p>
        </p:txBody>
      </p:sp>
      <p:sp>
        <p:nvSpPr>
          <p:cNvPr id="11" name="TextBox 10">
            <a:extLst>
              <a:ext uri="{FF2B5EF4-FFF2-40B4-BE49-F238E27FC236}">
                <a16:creationId xmlns:a16="http://schemas.microsoft.com/office/drawing/2014/main" id="{94EA868D-4ADB-4359-B092-47AAD98F67A6}"/>
              </a:ext>
            </a:extLst>
          </p:cNvPr>
          <p:cNvSpPr txBox="1"/>
          <p:nvPr/>
        </p:nvSpPr>
        <p:spPr>
          <a:xfrm>
            <a:off x="8408475" y="3281232"/>
            <a:ext cx="3358099" cy="2862322"/>
          </a:xfrm>
          <a:prstGeom prst="rect">
            <a:avLst/>
          </a:prstGeom>
          <a:noFill/>
        </p:spPr>
        <p:txBody>
          <a:bodyPr wrap="none" rtlCol="0">
            <a:spAutoFit/>
          </a:bodyPr>
          <a:lstStyle/>
          <a:p>
            <a:r>
              <a:rPr lang="en-US" b="1" dirty="0"/>
              <a:t>Fragment shader</a:t>
            </a:r>
          </a:p>
          <a:p>
            <a:endParaRPr lang="en-US" b="1" dirty="0"/>
          </a:p>
          <a:p>
            <a:r>
              <a:rPr lang="en-US" dirty="0"/>
              <a:t>Light lights; (from </a:t>
            </a:r>
            <a:r>
              <a:rPr lang="en-US" dirty="0" err="1"/>
              <a:t>cpu</a:t>
            </a:r>
            <a:r>
              <a:rPr lang="en-US" dirty="0"/>
              <a:t>)</a:t>
            </a:r>
          </a:p>
          <a:p>
            <a:endParaRPr lang="en-US" dirty="0"/>
          </a:p>
          <a:p>
            <a:r>
              <a:rPr lang="en-US" dirty="0"/>
              <a:t>Float4 </a:t>
            </a:r>
            <a:r>
              <a:rPr lang="en-US" dirty="0" err="1"/>
              <a:t>outputColor</a:t>
            </a:r>
            <a:r>
              <a:rPr lang="en-US" dirty="0"/>
              <a:t> = 0;</a:t>
            </a:r>
          </a:p>
          <a:p>
            <a:r>
              <a:rPr lang="en-US" dirty="0"/>
              <a:t>For each light:</a:t>
            </a:r>
          </a:p>
          <a:p>
            <a:r>
              <a:rPr lang="en-US" dirty="0"/>
              <a:t>   if (</a:t>
            </a:r>
            <a:r>
              <a:rPr lang="en-US" dirty="0" err="1"/>
              <a:t>inShadow</a:t>
            </a:r>
            <a:r>
              <a:rPr lang="en-US" dirty="0"/>
              <a:t>(</a:t>
            </a:r>
            <a:r>
              <a:rPr lang="en-US" dirty="0" err="1"/>
              <a:t>shadowMap</a:t>
            </a:r>
            <a:r>
              <a:rPr lang="en-US" dirty="0"/>
              <a:t>))</a:t>
            </a:r>
          </a:p>
          <a:p>
            <a:r>
              <a:rPr lang="en-US" dirty="0"/>
              <a:t>       continue</a:t>
            </a:r>
          </a:p>
          <a:p>
            <a:r>
              <a:rPr lang="en-US" dirty="0"/>
              <a:t>   </a:t>
            </a:r>
            <a:r>
              <a:rPr lang="en-US" dirty="0" err="1"/>
              <a:t>outputColor</a:t>
            </a:r>
            <a:r>
              <a:rPr lang="en-US" dirty="0"/>
              <a:t> += BRDF(N, light) *</a:t>
            </a:r>
          </a:p>
          <a:p>
            <a:r>
              <a:rPr lang="en-US" dirty="0"/>
              <a:t>Return </a:t>
            </a:r>
            <a:r>
              <a:rPr lang="en-US" dirty="0" err="1"/>
              <a:t>outputColor</a:t>
            </a:r>
            <a:endParaRPr lang="en-US" dirty="0"/>
          </a:p>
        </p:txBody>
      </p:sp>
    </p:spTree>
    <p:extLst>
      <p:ext uri="{BB962C8B-B14F-4D97-AF65-F5344CB8AC3E}">
        <p14:creationId xmlns:p14="http://schemas.microsoft.com/office/powerpoint/2010/main" val="8237265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B37AC-48D0-1BC3-3C93-21ED518FFF57}"/>
              </a:ext>
            </a:extLst>
          </p:cNvPr>
          <p:cNvSpPr>
            <a:spLocks noGrp="1"/>
          </p:cNvSpPr>
          <p:nvPr>
            <p:ph type="title"/>
          </p:nvPr>
        </p:nvSpPr>
        <p:spPr/>
        <p:txBody>
          <a:bodyPr/>
          <a:lstStyle/>
          <a:p>
            <a:r>
              <a:rPr lang="en-US" dirty="0"/>
              <a:t>BRDF Function</a:t>
            </a:r>
            <a:endParaRPr lang="en-BE" dirty="0"/>
          </a:p>
        </p:txBody>
      </p:sp>
      <p:sp>
        <p:nvSpPr>
          <p:cNvPr id="3" name="TextBox 2">
            <a:extLst>
              <a:ext uri="{FF2B5EF4-FFF2-40B4-BE49-F238E27FC236}">
                <a16:creationId xmlns:a16="http://schemas.microsoft.com/office/drawing/2014/main" id="{A98D7003-2247-CD4A-D88B-87BB87B46B33}"/>
              </a:ext>
            </a:extLst>
          </p:cNvPr>
          <p:cNvSpPr txBox="1"/>
          <p:nvPr/>
        </p:nvSpPr>
        <p:spPr>
          <a:xfrm>
            <a:off x="1138335" y="2102498"/>
            <a:ext cx="3235629" cy="1200329"/>
          </a:xfrm>
          <a:prstGeom prst="rect">
            <a:avLst/>
          </a:prstGeom>
          <a:noFill/>
        </p:spPr>
        <p:txBody>
          <a:bodyPr wrap="none" rtlCol="0">
            <a:spAutoFit/>
          </a:bodyPr>
          <a:lstStyle/>
          <a:p>
            <a:pPr marL="285750" indent="-285750">
              <a:buFont typeface="Arial" panose="020B0604020202020204" pitchFamily="34" charset="0"/>
              <a:buChar char="•"/>
            </a:pPr>
            <a:r>
              <a:rPr lang="en-US" dirty="0"/>
              <a:t>Very free</a:t>
            </a:r>
          </a:p>
          <a:p>
            <a:pPr marL="285750" indent="-285750">
              <a:buFont typeface="Arial" panose="020B0604020202020204" pitchFamily="34" charset="0"/>
              <a:buChar char="•"/>
            </a:pPr>
            <a:r>
              <a:rPr lang="en-US" dirty="0"/>
              <a:t>Can use color maps, or not</a:t>
            </a:r>
          </a:p>
          <a:p>
            <a:pPr marL="285750" indent="-285750">
              <a:buFont typeface="Arial" panose="020B0604020202020204" pitchFamily="34" charset="0"/>
              <a:buChar char="•"/>
            </a:pPr>
            <a:r>
              <a:rPr lang="en-US" dirty="0"/>
              <a:t>Can use normal maps, or not,</a:t>
            </a:r>
          </a:p>
          <a:p>
            <a:pPr marL="285750" indent="-285750">
              <a:buFont typeface="Arial" panose="020B0604020202020204" pitchFamily="34" charset="0"/>
              <a:buChar char="•"/>
            </a:pPr>
            <a:r>
              <a:rPr lang="en-US" dirty="0"/>
              <a:t>Gooch, toon, </a:t>
            </a:r>
            <a:r>
              <a:rPr lang="en-US" dirty="0" err="1"/>
              <a:t>blinn-phong</a:t>
            </a:r>
            <a:r>
              <a:rPr lang="en-US" dirty="0"/>
              <a:t>…</a:t>
            </a:r>
            <a:endParaRPr lang="en-BE" dirty="0"/>
          </a:p>
        </p:txBody>
      </p:sp>
      <p:sp>
        <p:nvSpPr>
          <p:cNvPr id="4" name="TextBox 3">
            <a:extLst>
              <a:ext uri="{FF2B5EF4-FFF2-40B4-BE49-F238E27FC236}">
                <a16:creationId xmlns:a16="http://schemas.microsoft.com/office/drawing/2014/main" id="{5C639DA3-8BE2-6CC2-13B8-DE6069FCCB2D}"/>
              </a:ext>
            </a:extLst>
          </p:cNvPr>
          <p:cNvSpPr txBox="1"/>
          <p:nvPr/>
        </p:nvSpPr>
        <p:spPr>
          <a:xfrm>
            <a:off x="6229737" y="2102498"/>
            <a:ext cx="5054083" cy="2031325"/>
          </a:xfrm>
          <a:prstGeom prst="rect">
            <a:avLst/>
          </a:prstGeom>
          <a:noFill/>
        </p:spPr>
        <p:txBody>
          <a:bodyPr wrap="square" rtlCol="0">
            <a:spAutoFit/>
          </a:bodyPr>
          <a:lstStyle/>
          <a:p>
            <a:r>
              <a:rPr lang="en-US" dirty="0"/>
              <a:t>Float3 </a:t>
            </a:r>
            <a:r>
              <a:rPr lang="en-US" dirty="0" err="1"/>
              <a:t>outputColor</a:t>
            </a:r>
            <a:r>
              <a:rPr lang="en-US" dirty="0"/>
              <a:t> = albedo; // </a:t>
            </a:r>
            <a:r>
              <a:rPr lang="en-US" dirty="0" err="1"/>
              <a:t>baseColor</a:t>
            </a:r>
            <a:br>
              <a:rPr lang="en-US" dirty="0"/>
            </a:br>
            <a:r>
              <a:rPr lang="en-US" dirty="0" err="1"/>
              <a:t>outputColor</a:t>
            </a:r>
            <a:r>
              <a:rPr lang="en-US" dirty="0"/>
              <a:t> *= </a:t>
            </a:r>
            <a:r>
              <a:rPr lang="en-US" dirty="0" err="1"/>
              <a:t>light.Intensity</a:t>
            </a:r>
            <a:r>
              <a:rPr lang="en-US" dirty="0"/>
              <a:t> / distance(</a:t>
            </a:r>
            <a:r>
              <a:rPr lang="en-US" dirty="0" err="1"/>
              <a:t>light.pos</a:t>
            </a:r>
            <a:r>
              <a:rPr lang="en-US" dirty="0"/>
              <a:t>, </a:t>
            </a:r>
            <a:r>
              <a:rPr lang="en-US" dirty="0" err="1"/>
              <a:t>vertex.pos</a:t>
            </a:r>
            <a:r>
              <a:rPr lang="en-US" dirty="0"/>
              <a:t>); // attenuate</a:t>
            </a:r>
            <a:br>
              <a:rPr lang="en-US" dirty="0"/>
            </a:br>
            <a:r>
              <a:rPr lang="en-US" dirty="0" err="1"/>
              <a:t>outputColor</a:t>
            </a:r>
            <a:r>
              <a:rPr lang="en-US" dirty="0"/>
              <a:t> *= </a:t>
            </a:r>
            <a:r>
              <a:rPr lang="en-US" dirty="0" err="1"/>
              <a:t>light.color</a:t>
            </a:r>
            <a:r>
              <a:rPr lang="en-US" dirty="0"/>
              <a:t>;</a:t>
            </a:r>
          </a:p>
          <a:p>
            <a:r>
              <a:rPr lang="en-US" dirty="0" err="1"/>
              <a:t>outputColor</a:t>
            </a:r>
            <a:r>
              <a:rPr lang="en-US" dirty="0"/>
              <a:t> *= </a:t>
            </a:r>
            <a:r>
              <a:rPr lang="en-US" dirty="0" err="1"/>
              <a:t>sampleShadow</a:t>
            </a:r>
            <a:r>
              <a:rPr lang="en-US" dirty="0"/>
              <a:t>(light, pos);</a:t>
            </a:r>
            <a:br>
              <a:rPr lang="en-US" dirty="0"/>
            </a:br>
            <a:r>
              <a:rPr lang="en-US" dirty="0" err="1"/>
              <a:t>outputColor</a:t>
            </a:r>
            <a:r>
              <a:rPr lang="en-US" dirty="0"/>
              <a:t> *= dot(N, normalize(pos – </a:t>
            </a:r>
            <a:r>
              <a:rPr lang="en-US" dirty="0" err="1"/>
              <a:t>light.pos</a:t>
            </a:r>
            <a:r>
              <a:rPr lang="en-US" dirty="0"/>
              <a:t>))</a:t>
            </a:r>
          </a:p>
          <a:p>
            <a:r>
              <a:rPr lang="en-US" dirty="0"/>
              <a:t>Return </a:t>
            </a:r>
            <a:r>
              <a:rPr lang="en-US" dirty="0" err="1"/>
              <a:t>outputColor</a:t>
            </a:r>
            <a:r>
              <a:rPr lang="en-US" dirty="0"/>
              <a:t>;</a:t>
            </a:r>
            <a:endParaRPr lang="en-BE" dirty="0"/>
          </a:p>
        </p:txBody>
      </p:sp>
      <p:sp>
        <p:nvSpPr>
          <p:cNvPr id="5" name="TextBox 4">
            <a:extLst>
              <a:ext uri="{FF2B5EF4-FFF2-40B4-BE49-F238E27FC236}">
                <a16:creationId xmlns:a16="http://schemas.microsoft.com/office/drawing/2014/main" id="{E2F6D26F-FB2A-B21E-00AB-9F435759E89E}"/>
              </a:ext>
            </a:extLst>
          </p:cNvPr>
          <p:cNvSpPr txBox="1"/>
          <p:nvPr/>
        </p:nvSpPr>
        <p:spPr>
          <a:xfrm>
            <a:off x="6985518" y="1690688"/>
            <a:ext cx="1700594" cy="369332"/>
          </a:xfrm>
          <a:prstGeom prst="rect">
            <a:avLst/>
          </a:prstGeom>
          <a:noFill/>
        </p:spPr>
        <p:txBody>
          <a:bodyPr wrap="none" rtlCol="0">
            <a:spAutoFit/>
          </a:bodyPr>
          <a:lstStyle/>
          <a:p>
            <a:r>
              <a:rPr lang="en-US" dirty="0"/>
              <a:t>BRDF (one light)</a:t>
            </a:r>
            <a:endParaRPr lang="en-BE" dirty="0"/>
          </a:p>
        </p:txBody>
      </p:sp>
    </p:spTree>
    <p:extLst>
      <p:ext uri="{BB962C8B-B14F-4D97-AF65-F5344CB8AC3E}">
        <p14:creationId xmlns:p14="http://schemas.microsoft.com/office/powerpoint/2010/main" val="424437757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5B593-8562-5609-2D6B-02323CCBE574}"/>
              </a:ext>
            </a:extLst>
          </p:cNvPr>
          <p:cNvSpPr>
            <a:spLocks noGrp="1"/>
          </p:cNvSpPr>
          <p:nvPr>
            <p:ph type="title"/>
          </p:nvPr>
        </p:nvSpPr>
        <p:spPr/>
        <p:txBody>
          <a:bodyPr/>
          <a:lstStyle/>
          <a:p>
            <a:r>
              <a:rPr lang="en-US" dirty="0"/>
              <a:t>Possible Exam questions</a:t>
            </a:r>
            <a:endParaRPr lang="en-BE" dirty="0"/>
          </a:p>
        </p:txBody>
      </p:sp>
      <p:sp>
        <p:nvSpPr>
          <p:cNvPr id="3" name="TextBox 2">
            <a:extLst>
              <a:ext uri="{FF2B5EF4-FFF2-40B4-BE49-F238E27FC236}">
                <a16:creationId xmlns:a16="http://schemas.microsoft.com/office/drawing/2014/main" id="{B4D41455-AEC1-BF31-8AF1-880D2ED2A1FE}"/>
              </a:ext>
            </a:extLst>
          </p:cNvPr>
          <p:cNvSpPr txBox="1"/>
          <p:nvPr/>
        </p:nvSpPr>
        <p:spPr>
          <a:xfrm>
            <a:off x="1051249" y="2264229"/>
            <a:ext cx="7953267" cy="1200329"/>
          </a:xfrm>
          <a:prstGeom prst="rect">
            <a:avLst/>
          </a:prstGeom>
          <a:noFill/>
        </p:spPr>
        <p:txBody>
          <a:bodyPr wrap="none" rtlCol="0">
            <a:spAutoFit/>
          </a:bodyPr>
          <a:lstStyle/>
          <a:p>
            <a:pPr marL="285750" indent="-285750">
              <a:buFont typeface="Arial" panose="020B0604020202020204" pitchFamily="34" charset="0"/>
              <a:buChar char="•"/>
            </a:pPr>
            <a:r>
              <a:rPr lang="en-US" dirty="0"/>
              <a:t>What is primary visibility?</a:t>
            </a:r>
          </a:p>
          <a:p>
            <a:pPr marL="285750" indent="-285750">
              <a:buFont typeface="Arial" panose="020B0604020202020204" pitchFamily="34" charset="0"/>
              <a:buChar char="•"/>
            </a:pPr>
            <a:r>
              <a:rPr lang="en-US" dirty="0"/>
              <a:t>What is the depth buffer? What problem does it solve?</a:t>
            </a:r>
          </a:p>
          <a:p>
            <a:pPr marL="285750" indent="-285750">
              <a:buFont typeface="Arial" panose="020B0604020202020204" pitchFamily="34" charset="0"/>
              <a:buChar char="•"/>
            </a:pPr>
            <a:r>
              <a:rPr lang="en-US" dirty="0"/>
              <a:t>What is a perspective / orthographic camera? Give an example </a:t>
            </a:r>
            <a:r>
              <a:rPr lang="en-US" dirty="0" err="1"/>
              <a:t>usecase</a:t>
            </a:r>
            <a:r>
              <a:rPr lang="en-US" dirty="0"/>
              <a:t> for each</a:t>
            </a:r>
          </a:p>
          <a:p>
            <a:pPr marL="285750" indent="-285750">
              <a:buFont typeface="Arial" panose="020B0604020202020204" pitchFamily="34" charset="0"/>
              <a:buChar char="•"/>
            </a:pPr>
            <a:endParaRPr lang="en-BE" dirty="0"/>
          </a:p>
        </p:txBody>
      </p:sp>
    </p:spTree>
    <p:extLst>
      <p:ext uri="{BB962C8B-B14F-4D97-AF65-F5344CB8AC3E}">
        <p14:creationId xmlns:p14="http://schemas.microsoft.com/office/powerpoint/2010/main" val="31107156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F6792-6F01-A9BA-DE9B-D39B1FAC70A5}"/>
              </a:ext>
            </a:extLst>
          </p:cNvPr>
          <p:cNvSpPr>
            <a:spLocks noGrp="1"/>
          </p:cNvSpPr>
          <p:nvPr>
            <p:ph type="title"/>
          </p:nvPr>
        </p:nvSpPr>
        <p:spPr>
          <a:xfrm>
            <a:off x="701351" y="-88964"/>
            <a:ext cx="10515600" cy="1325563"/>
          </a:xfrm>
        </p:spPr>
        <p:txBody>
          <a:bodyPr/>
          <a:lstStyle/>
          <a:p>
            <a:r>
              <a:rPr lang="en-US" dirty="0"/>
              <a:t>Next week</a:t>
            </a:r>
            <a:endParaRPr lang="en-BE" dirty="0"/>
          </a:p>
        </p:txBody>
      </p:sp>
      <p:sp>
        <p:nvSpPr>
          <p:cNvPr id="3" name="TextBox 2">
            <a:extLst>
              <a:ext uri="{FF2B5EF4-FFF2-40B4-BE49-F238E27FC236}">
                <a16:creationId xmlns:a16="http://schemas.microsoft.com/office/drawing/2014/main" id="{BCAED644-A94B-0254-B86B-BC374DDC9E63}"/>
              </a:ext>
            </a:extLst>
          </p:cNvPr>
          <p:cNvSpPr txBox="1"/>
          <p:nvPr/>
        </p:nvSpPr>
        <p:spPr>
          <a:xfrm>
            <a:off x="311020" y="1418252"/>
            <a:ext cx="5971635" cy="1015663"/>
          </a:xfrm>
          <a:prstGeom prst="rect">
            <a:avLst/>
          </a:prstGeom>
          <a:noFill/>
        </p:spPr>
        <p:txBody>
          <a:bodyPr wrap="none" rtlCol="0">
            <a:spAutoFit/>
          </a:bodyPr>
          <a:lstStyle/>
          <a:p>
            <a:pPr marL="285750" indent="-285750">
              <a:buFont typeface="Arial" panose="020B0604020202020204" pitchFamily="34" charset="0"/>
              <a:buChar char="•"/>
            </a:pPr>
            <a:r>
              <a:rPr lang="en-US" sz="2000" dirty="0"/>
              <a:t>Deferred rendering</a:t>
            </a:r>
          </a:p>
          <a:p>
            <a:pPr marL="285750" indent="-285750">
              <a:buFont typeface="Arial" panose="020B0604020202020204" pitchFamily="34" charset="0"/>
              <a:buChar char="•"/>
            </a:pPr>
            <a:r>
              <a:rPr lang="en-US" sz="2000" dirty="0"/>
              <a:t>Used in virtually all games after 2007</a:t>
            </a:r>
          </a:p>
          <a:p>
            <a:pPr marL="285750" indent="-285750">
              <a:buFont typeface="Arial" panose="020B0604020202020204" pitchFamily="34" charset="0"/>
              <a:buChar char="•"/>
            </a:pPr>
            <a:r>
              <a:rPr lang="en-US" sz="2000" dirty="0"/>
              <a:t>Will look at a </a:t>
            </a:r>
            <a:r>
              <a:rPr lang="en-US" sz="2000" dirty="0" err="1"/>
              <a:t>renderdoc</a:t>
            </a:r>
            <a:r>
              <a:rPr lang="en-US" sz="2000" dirty="0"/>
              <a:t> capture of unity / AAA game</a:t>
            </a:r>
          </a:p>
        </p:txBody>
      </p:sp>
      <p:pic>
        <p:nvPicPr>
          <p:cNvPr id="5" name="Picture 4">
            <a:extLst>
              <a:ext uri="{FF2B5EF4-FFF2-40B4-BE49-F238E27FC236}">
                <a16:creationId xmlns:a16="http://schemas.microsoft.com/office/drawing/2014/main" id="{071E560E-A7D2-7DF6-CF0F-2E6A6E36A240}"/>
              </a:ext>
            </a:extLst>
          </p:cNvPr>
          <p:cNvPicPr>
            <a:picLocks noChangeAspect="1"/>
          </p:cNvPicPr>
          <p:nvPr/>
        </p:nvPicPr>
        <p:blipFill>
          <a:blip r:embed="rId3"/>
          <a:stretch>
            <a:fillRect/>
          </a:stretch>
        </p:blipFill>
        <p:spPr>
          <a:xfrm>
            <a:off x="184183" y="2710773"/>
            <a:ext cx="6098472" cy="4138102"/>
          </a:xfrm>
          <a:prstGeom prst="rect">
            <a:avLst/>
          </a:prstGeom>
        </p:spPr>
      </p:pic>
      <p:pic>
        <p:nvPicPr>
          <p:cNvPr id="7" name="Picture 6" descr="A person walking in a city&#10;&#10;AI-generated content may be incorrect.">
            <a:extLst>
              <a:ext uri="{FF2B5EF4-FFF2-40B4-BE49-F238E27FC236}">
                <a16:creationId xmlns:a16="http://schemas.microsoft.com/office/drawing/2014/main" id="{F2C1338A-17EB-C6A8-0478-124419B242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3214" y="3708400"/>
            <a:ext cx="5544399" cy="3109685"/>
          </a:xfrm>
          <a:prstGeom prst="rect">
            <a:avLst/>
          </a:prstGeom>
        </p:spPr>
      </p:pic>
    </p:spTree>
    <p:extLst>
      <p:ext uri="{BB962C8B-B14F-4D97-AF65-F5344CB8AC3E}">
        <p14:creationId xmlns:p14="http://schemas.microsoft.com/office/powerpoint/2010/main" val="35614917"/>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e1" id="{6849F4D6-1FB7-4CEB-8CC6-E456C34ADDA4}" vid="{0A04E370-2E7A-4A97-A218-FEC8E52F4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slides_theme</Template>
  <TotalTime>33570</TotalTime>
  <Words>2278</Words>
  <Application>Microsoft Office PowerPoint</Application>
  <PresentationFormat>Widescreen</PresentationFormat>
  <Paragraphs>443</Paragraphs>
  <Slides>68</Slides>
  <Notes>68</Notes>
  <HiddenSlides>0</HiddenSlides>
  <MMClips>3</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Calibri</vt:lpstr>
      <vt:lpstr>Calibri Light</vt:lpstr>
      <vt:lpstr>Tahoma</vt:lpstr>
      <vt:lpstr>Wingdings</vt:lpstr>
      <vt:lpstr>Kantoorthema</vt:lpstr>
      <vt:lpstr>PowerPoint Presentation</vt:lpstr>
      <vt:lpstr>Last class</vt:lpstr>
      <vt:lpstr>Course schedule</vt:lpstr>
      <vt:lpstr>This class</vt:lpstr>
      <vt:lpstr>GPU Pipeline</vt:lpstr>
      <vt:lpstr>Graphics Pipeline (partially)</vt:lpstr>
      <vt:lpstr>Graphics Pipeline</vt:lpstr>
      <vt:lpstr>This class</vt:lpstr>
      <vt:lpstr>Back in the day</vt:lpstr>
      <vt:lpstr>Raytracing</vt:lpstr>
      <vt:lpstr>Rasterization</vt:lpstr>
      <vt:lpstr>Primary visibility : rasterization</vt:lpstr>
      <vt:lpstr>This is not correct</vt:lpstr>
      <vt:lpstr>This is correct</vt:lpstr>
      <vt:lpstr>Depth buffer </vt:lpstr>
      <vt:lpstr>Draw ball after plane</vt:lpstr>
      <vt:lpstr>This class</vt:lpstr>
      <vt:lpstr>Quick detour, it’ll make sense after?</vt:lpstr>
      <vt:lpstr>Light transport</vt:lpstr>
      <vt:lpstr>Light transport</vt:lpstr>
      <vt:lpstr>Light transport</vt:lpstr>
      <vt:lpstr>This is called global illumination</vt:lpstr>
      <vt:lpstr>Next problem: secondary visibility</vt:lpstr>
      <vt:lpstr>What are shadows anyway?</vt:lpstr>
      <vt:lpstr>What are shadows anyway?</vt:lpstr>
      <vt:lpstr>Raytracing : easy</vt:lpstr>
      <vt:lpstr>Rasterization : hard</vt:lpstr>
      <vt:lpstr>Shadow mapping</vt:lpstr>
      <vt:lpstr>Shadow mapping : problems</vt:lpstr>
      <vt:lpstr>Light is and additive</vt:lpstr>
      <vt:lpstr>Point lights</vt:lpstr>
      <vt:lpstr>Attenuation</vt:lpstr>
      <vt:lpstr>Spot light</vt:lpstr>
      <vt:lpstr>Directional light</vt:lpstr>
      <vt:lpstr>Light cookies</vt:lpstr>
      <vt:lpstr>This class</vt:lpstr>
      <vt:lpstr>Perspective camera</vt:lpstr>
      <vt:lpstr>PowerPoint Presentation</vt:lpstr>
      <vt:lpstr>PowerPoint Presentation</vt:lpstr>
      <vt:lpstr>Perspective camera : frustum </vt:lpstr>
      <vt:lpstr>Perspective camera : near / far</vt:lpstr>
      <vt:lpstr>Perspective camera : field of view</vt:lpstr>
      <vt:lpstr>Analogous to different lenses </vt:lpstr>
      <vt:lpstr>Field of view in frustum</vt:lpstr>
      <vt:lpstr>Field of view is determined by aspect ratio</vt:lpstr>
      <vt:lpstr>Phones are a  nightmare</vt:lpstr>
      <vt:lpstr>Perspective matrix</vt:lpstr>
      <vt:lpstr>Questions?</vt:lpstr>
      <vt:lpstr>Camera’s</vt:lpstr>
      <vt:lpstr>Orthographic </vt:lpstr>
      <vt:lpstr>PowerPoint Presentation</vt:lpstr>
      <vt:lpstr>PowerPoint Presentation</vt:lpstr>
      <vt:lpstr>Comparisio n1</vt:lpstr>
      <vt:lpstr>Comparison 2</vt:lpstr>
      <vt:lpstr>Questions?</vt:lpstr>
      <vt:lpstr>Questions?</vt:lpstr>
      <vt:lpstr>This class</vt:lpstr>
      <vt:lpstr>Pros and cons</vt:lpstr>
      <vt:lpstr>Pros and cons</vt:lpstr>
      <vt:lpstr>Pros and cons</vt:lpstr>
      <vt:lpstr>Pros and cons</vt:lpstr>
      <vt:lpstr>Forward rendering</vt:lpstr>
      <vt:lpstr>Gather objects : frustum culling</vt:lpstr>
      <vt:lpstr>For each object, find lights</vt:lpstr>
      <vt:lpstr>For each object, render</vt:lpstr>
      <vt:lpstr>BRDF Function</vt:lpstr>
      <vt:lpstr>Possible Exam questions</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Daan Nijs</dc:creator>
  <cp:lastModifiedBy>Nijs, Daan (246888)</cp:lastModifiedBy>
  <cp:revision>112</cp:revision>
  <dcterms:created xsi:type="dcterms:W3CDTF">2024-01-29T23:06:06Z</dcterms:created>
  <dcterms:modified xsi:type="dcterms:W3CDTF">2025-04-04T15:20:54Z</dcterms:modified>
</cp:coreProperties>
</file>