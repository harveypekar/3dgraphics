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502" r:id="rId3"/>
    <p:sldId id="656" r:id="rId4"/>
    <p:sldId id="657" r:id="rId5"/>
    <p:sldId id="658" r:id="rId6"/>
    <p:sldId id="625" r:id="rId7"/>
    <p:sldId id="672" r:id="rId8"/>
    <p:sldId id="364" r:id="rId9"/>
    <p:sldId id="659" r:id="rId10"/>
    <p:sldId id="660" r:id="rId11"/>
    <p:sldId id="661" r:id="rId12"/>
    <p:sldId id="663" r:id="rId13"/>
    <p:sldId id="664" r:id="rId14"/>
    <p:sldId id="665" r:id="rId15"/>
    <p:sldId id="666" r:id="rId16"/>
    <p:sldId id="667" r:id="rId17"/>
    <p:sldId id="668" r:id="rId18"/>
    <p:sldId id="669" r:id="rId19"/>
    <p:sldId id="670" r:id="rId20"/>
    <p:sldId id="671" r:id="rId21"/>
    <p:sldId id="627" r:id="rId22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00FF00"/>
    <a:srgbClr val="0000FF"/>
    <a:srgbClr val="FF79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0" autoAdjust="0"/>
    <p:restoredTop sz="94660"/>
  </p:normalViewPr>
  <p:slideViewPr>
    <p:cSldViewPr snapToGrid="0">
      <p:cViewPr varScale="1">
        <p:scale>
          <a:sx n="154" d="100"/>
          <a:sy n="154" d="100"/>
        </p:scale>
        <p:origin x="174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200" d="100"/>
          <a:sy n="200" d="100"/>
        </p:scale>
        <p:origin x="2046" y="1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484BD-A9A3-4CBB-88D6-39267B7F5B46}" type="datetimeFigureOut">
              <a:rPr lang="en-BE" smtClean="0"/>
              <a:t>23/04/2025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7F9D2B-EF00-4575-9013-113DEEFD58F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08350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58860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820884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928646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8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730479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AB226-F2E8-F7A6-12BA-4CE21E836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7BB9DD-3BCF-D113-6A06-259AD2F666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1A81FF-5B4B-0466-2E0C-A343110101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4AD95A-F8F6-A8DE-1A79-B53F7DD1B4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17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395714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21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75056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41A99A4F-35CE-47F0-8C3E-203AE0949D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6640" y="203420"/>
            <a:ext cx="3297850" cy="1261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Ondertitel 2">
            <a:extLst>
              <a:ext uri="{FF2B5EF4-FFF2-40B4-BE49-F238E27FC236}">
                <a16:creationId xmlns:a16="http://schemas.microsoft.com/office/drawing/2014/main" id="{7A68A714-4E45-4A04-B828-B282FA62E7BB}"/>
              </a:ext>
            </a:extLst>
          </p:cNvPr>
          <p:cNvSpPr txBox="1">
            <a:spLocks/>
          </p:cNvSpPr>
          <p:nvPr/>
        </p:nvSpPr>
        <p:spPr>
          <a:xfrm>
            <a:off x="1450282" y="5343926"/>
            <a:ext cx="4074659" cy="5547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dirty="0"/>
          </a:p>
        </p:txBody>
      </p:sp>
      <p:sp>
        <p:nvSpPr>
          <p:cNvPr id="28" name="Ondertitel 2">
            <a:extLst>
              <a:ext uri="{FF2B5EF4-FFF2-40B4-BE49-F238E27FC236}">
                <a16:creationId xmlns:a16="http://schemas.microsoft.com/office/drawing/2014/main" id="{8A446F7F-F106-4612-85BC-FC020C0B34DC}"/>
              </a:ext>
            </a:extLst>
          </p:cNvPr>
          <p:cNvSpPr txBox="1">
            <a:spLocks/>
          </p:cNvSpPr>
          <p:nvPr/>
        </p:nvSpPr>
        <p:spPr>
          <a:xfrm>
            <a:off x="1450282" y="5898693"/>
            <a:ext cx="4074659" cy="5547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dirty="0"/>
          </a:p>
        </p:txBody>
      </p:sp>
      <p:sp>
        <p:nvSpPr>
          <p:cNvPr id="36" name="Ondertitel 2">
            <a:extLst>
              <a:ext uri="{FF2B5EF4-FFF2-40B4-BE49-F238E27FC236}">
                <a16:creationId xmlns:a16="http://schemas.microsoft.com/office/drawing/2014/main" id="{DB1150AE-9B1F-43AF-B4A6-C1581C0B3127}"/>
              </a:ext>
            </a:extLst>
          </p:cNvPr>
          <p:cNvSpPr txBox="1">
            <a:spLocks/>
          </p:cNvSpPr>
          <p:nvPr/>
        </p:nvSpPr>
        <p:spPr>
          <a:xfrm>
            <a:off x="1" y="462498"/>
            <a:ext cx="1853738" cy="30980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200" dirty="0"/>
              <a:t>Toegepaste Informatica</a:t>
            </a:r>
          </a:p>
        </p:txBody>
      </p:sp>
      <p:sp>
        <p:nvSpPr>
          <p:cNvPr id="38" name="Minteken 37">
            <a:extLst>
              <a:ext uri="{FF2B5EF4-FFF2-40B4-BE49-F238E27FC236}">
                <a16:creationId xmlns:a16="http://schemas.microsoft.com/office/drawing/2014/main" id="{FFEC5E01-43EA-497E-BCC0-939DBCAFA0AC}"/>
              </a:ext>
            </a:extLst>
          </p:cNvPr>
          <p:cNvSpPr/>
          <p:nvPr/>
        </p:nvSpPr>
        <p:spPr>
          <a:xfrm rot="5400000">
            <a:off x="-183168" y="5307680"/>
            <a:ext cx="2851263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41" name="Ondertitel 2">
            <a:extLst>
              <a:ext uri="{FF2B5EF4-FFF2-40B4-BE49-F238E27FC236}">
                <a16:creationId xmlns:a16="http://schemas.microsoft.com/office/drawing/2014/main" id="{DCD259FC-79B5-41AB-BBC2-4D07C62B0949}"/>
              </a:ext>
            </a:extLst>
          </p:cNvPr>
          <p:cNvSpPr txBox="1">
            <a:spLocks/>
          </p:cNvSpPr>
          <p:nvPr/>
        </p:nvSpPr>
        <p:spPr>
          <a:xfrm>
            <a:off x="-31204" y="1442735"/>
            <a:ext cx="1481486" cy="30980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1200" kern="1200" cap="none" baseline="0" dirty="0">
              <a:solidFill>
                <a:srgbClr val="002757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2" name="Minteken 41">
            <a:extLst>
              <a:ext uri="{FF2B5EF4-FFF2-40B4-BE49-F238E27FC236}">
                <a16:creationId xmlns:a16="http://schemas.microsoft.com/office/drawing/2014/main" id="{FB0D61FF-F819-41D6-9F0E-2A87A96AF34A}"/>
              </a:ext>
            </a:extLst>
          </p:cNvPr>
          <p:cNvSpPr/>
          <p:nvPr/>
        </p:nvSpPr>
        <p:spPr>
          <a:xfrm>
            <a:off x="-353435" y="166756"/>
            <a:ext cx="2776160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43" name="Minteken 42">
            <a:extLst>
              <a:ext uri="{FF2B5EF4-FFF2-40B4-BE49-F238E27FC236}">
                <a16:creationId xmlns:a16="http://schemas.microsoft.com/office/drawing/2014/main" id="{1A9D60B7-98CA-44B4-A342-238265272E5D}"/>
              </a:ext>
            </a:extLst>
          </p:cNvPr>
          <p:cNvSpPr/>
          <p:nvPr/>
        </p:nvSpPr>
        <p:spPr>
          <a:xfrm>
            <a:off x="-221962" y="626338"/>
            <a:ext cx="1762587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44" name="Minteken 43">
            <a:extLst>
              <a:ext uri="{FF2B5EF4-FFF2-40B4-BE49-F238E27FC236}">
                <a16:creationId xmlns:a16="http://schemas.microsoft.com/office/drawing/2014/main" id="{2AD40B60-09F3-42CA-BFC7-F232D5069233}"/>
              </a:ext>
            </a:extLst>
          </p:cNvPr>
          <p:cNvSpPr/>
          <p:nvPr/>
        </p:nvSpPr>
        <p:spPr>
          <a:xfrm>
            <a:off x="-155460" y="1111987"/>
            <a:ext cx="1256606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14" name="Ondertitel 2">
            <a:extLst>
              <a:ext uri="{FF2B5EF4-FFF2-40B4-BE49-F238E27FC236}">
                <a16:creationId xmlns:a16="http://schemas.microsoft.com/office/drawing/2014/main" id="{DA9D40DB-B7E8-4A33-B5FB-9DD5105C49A1}"/>
              </a:ext>
            </a:extLst>
          </p:cNvPr>
          <p:cNvSpPr txBox="1">
            <a:spLocks/>
          </p:cNvSpPr>
          <p:nvPr/>
        </p:nvSpPr>
        <p:spPr>
          <a:xfrm>
            <a:off x="-31204" y="957086"/>
            <a:ext cx="1853738" cy="30980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1200" dirty="0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684198A2-C59F-4C38-9F72-765E48FA82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95855" y="4825632"/>
            <a:ext cx="1853739" cy="459582"/>
          </a:xfrm>
        </p:spPr>
        <p:txBody>
          <a:bodyPr>
            <a:normAutofit/>
          </a:bodyPr>
          <a:lstStyle>
            <a:lvl1pPr marL="0" indent="0">
              <a:buNone/>
              <a:defRPr lang="nl-NL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dirty="0"/>
              <a:t>3D Graphics</a:t>
            </a:r>
          </a:p>
        </p:txBody>
      </p:sp>
      <p:sp>
        <p:nvSpPr>
          <p:cNvPr id="29" name="Tijdelijke aanduiding voor tekst 11">
            <a:extLst>
              <a:ext uri="{FF2B5EF4-FFF2-40B4-BE49-F238E27FC236}">
                <a16:creationId xmlns:a16="http://schemas.microsoft.com/office/drawing/2014/main" id="{9B9004F5-4339-48FE-B04B-599527A635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95855" y="5411372"/>
            <a:ext cx="4594995" cy="459582"/>
          </a:xfrm>
        </p:spPr>
        <p:txBody>
          <a:bodyPr>
            <a:normAutofit/>
          </a:bodyPr>
          <a:lstStyle>
            <a:lvl1pPr marL="0" indent="0">
              <a:buNone/>
              <a:defRPr lang="nl-NL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dirty="0"/>
              <a:t>Week 1a</a:t>
            </a:r>
          </a:p>
        </p:txBody>
      </p:sp>
      <p:sp>
        <p:nvSpPr>
          <p:cNvPr id="30" name="Tijdelijke aanduiding voor tekst 11">
            <a:extLst>
              <a:ext uri="{FF2B5EF4-FFF2-40B4-BE49-F238E27FC236}">
                <a16:creationId xmlns:a16="http://schemas.microsoft.com/office/drawing/2014/main" id="{73EE6705-1665-43A1-AB37-E50C48AA3F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95855" y="5993878"/>
            <a:ext cx="4594995" cy="459582"/>
          </a:xfrm>
        </p:spPr>
        <p:txBody>
          <a:bodyPr>
            <a:normAutofit/>
          </a:bodyPr>
          <a:lstStyle>
            <a:lvl1pPr marL="0" indent="0">
              <a:buNone/>
              <a:defRPr lang="nl-NL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dirty="0"/>
              <a:t>Daan Nijs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B2803BC5-4FBF-4FFC-8CD7-56A7494327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937" y="923475"/>
            <a:ext cx="1641443" cy="303286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12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nl-NL" dirty="0"/>
              <a:t>DE</a:t>
            </a:r>
            <a:endParaRPr lang="nl-BE" dirty="0"/>
          </a:p>
        </p:txBody>
      </p:sp>
      <p:sp>
        <p:nvSpPr>
          <p:cNvPr id="32" name="Tijdelijke aanduiding voor tekst 16">
            <a:extLst>
              <a:ext uri="{FF2B5EF4-FFF2-40B4-BE49-F238E27FC236}">
                <a16:creationId xmlns:a16="http://schemas.microsoft.com/office/drawing/2014/main" id="{2F60E031-BF26-44A1-A0B6-D48454BFD9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36" y="1429630"/>
            <a:ext cx="1641443" cy="303286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12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sz="1200" kern="1200" cap="none" baseline="0" dirty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2023</a:t>
            </a:r>
          </a:p>
        </p:txBody>
      </p:sp>
      <p:pic>
        <p:nvPicPr>
          <p:cNvPr id="3" name="Picture 2" descr="A room with a white cube and red and green walls&#10;&#10;Description automatically generated">
            <a:extLst>
              <a:ext uri="{FF2B5EF4-FFF2-40B4-BE49-F238E27FC236}">
                <a16:creationId xmlns:a16="http://schemas.microsoft.com/office/drawing/2014/main" id="{52382748-B3A1-4041-F0B7-3FD688D9971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310" y="1463310"/>
            <a:ext cx="5394690" cy="539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224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1641C2-BF9B-4FDD-914E-B64C21E00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10DFE554-7232-4244-8A56-332314AEE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23/04/2025</a:t>
            </a:fld>
            <a:endParaRPr lang="en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EC717CF-2817-47D4-8B6A-AC3FF5712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E2D9812-56C8-4D19-8865-A6D4C4A6D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42795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F78E84-41E7-4C0B-9876-95A81A828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ADAD563-D612-4769-9B0D-FF5F1C302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2BECD8B-CD05-4F1D-A5CC-3FEA703FE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23/04/2025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562C523-B3D7-4EB4-A7D6-382F9B9CC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89EF5C4-6487-432E-AB47-26229FE01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052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0F1C78-2104-4398-AD52-6781C48DD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E324310-16AB-4268-B0C6-CF8B77613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0CD69EF-E63A-4D9C-8EFE-E80749E03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23/04/2025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1547F23-F0D7-4208-A013-9AE0FF2EA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4AE972C-86E8-4E5F-8E59-2FB14076C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26318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7DCFF4-3B50-4930-AEAE-782904E75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9E7AE46-BCF9-47C8-9BCC-B7B1F520A3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6C2F997-1F41-4A6F-9193-4DE7735ACD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B370E2F-2B3F-41AC-9A34-276EA7450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23/04/2025</a:t>
            </a:fld>
            <a:endParaRPr lang="en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D63B9D7-3594-4F78-B540-B15463859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79CDB93-518D-4FDA-849A-10DC0942D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40873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594D81-B112-42DA-9826-23E1C6113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B25F2C9-29C7-4222-81BA-825176D7A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7496213-5C84-46EC-B711-CDF9FF6B6B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90DE4F81-0BA7-4244-BB5B-492AB97EF8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E79B47A1-EE33-4FAB-B7C3-E0E137931E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34D9D81A-0C3E-473B-ACBE-F498DB484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23/04/2025</a:t>
            </a:fld>
            <a:endParaRPr lang="en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58E84A63-52E6-431C-9002-3F2381DF1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D27C1939-B8AA-4E0F-96C6-B7E933D9F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08474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ECCACC-50FC-4D5D-B072-A22D8C73E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6B9E831-EE77-4B49-A32D-C50EA5628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23/04/2025</a:t>
            </a:fld>
            <a:endParaRPr lang="en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A471B315-B360-4DC4-BA25-C0DA3FE06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86BE35D-89CF-4C78-936F-3A422D2BC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47937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2371665-6504-46CE-8623-7D4BFBF06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23/04/2025</a:t>
            </a:fld>
            <a:endParaRPr lang="en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784B7614-A5E9-4A26-93ED-1BD778884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6192D73-DEF2-4B61-8197-3941A2083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07551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3ACD61-1A8D-412E-A5FB-A8531A8CE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B81E522-E269-4346-BBFB-AA9518F2B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5BB402B-825A-444A-8506-A9ADBFE65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827B8B6-F476-41CE-A0FB-94F76E07D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23/04/2025</a:t>
            </a:fld>
            <a:endParaRPr lang="en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8C2B97C-695E-461A-825C-FBD17E162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A72EF0F-A630-466B-B88F-96526CAB1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60970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D0E7DD-EE9A-4CC9-8C25-676E51EFE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E48A5BBD-EB4E-45D6-AE42-E48427169E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66EB8EC-DE0A-4D55-BC4C-614275BE12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0F5DBFE-351E-4EE8-ADAB-1EEF823A6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23/04/2025</a:t>
            </a:fld>
            <a:endParaRPr lang="en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E0E090A-C01F-416E-BF13-483497611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790A0E5-2670-4891-8045-AB40C835E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27790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EACC51-F7E5-40B9-80E8-1EF2107F0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CEA346F-2455-4321-99FC-0F55ECBC5E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DD5A672-E901-441A-AA8C-342314F34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23/04/2025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E36B37C-979A-4CE2-BFB9-1CEE33789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66F279E-64B7-4995-8B2D-9E98200DC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691028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54A3048B-7CB7-4CB7-9036-E1072F6567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977AF696-8160-4BEE-B594-08AA6ED4B9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70B8EA8-32FF-45D6-BDF4-DEC9D5665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23/04/2025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01F5F5D-B431-4297-94E5-5C3E63450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D29EC59-10E4-4E90-AEF4-F74EC07C8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2245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16C0F430-02B8-470E-88C4-D3F6A6EEE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FBDBA69-9857-4F89-AB15-40D66350F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700B282-C115-4189-B97C-2C968D73F0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044C9-3718-44C4-9063-5DAD08408240}" type="datetimeFigureOut">
              <a:rPr lang="en-BE" smtClean="0"/>
              <a:t>23/04/2025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C35CFB0-104D-43DF-ABAD-E8ED1A7E0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5331830-0F71-46FB-910E-F57D488F68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91883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AF5DD37-2212-916B-E357-43E8D3EA5D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0F862-7245-5FF3-F9FF-A37F0519F7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95855" y="5411372"/>
            <a:ext cx="4897688" cy="459582"/>
          </a:xfrm>
        </p:spPr>
        <p:txBody>
          <a:bodyPr>
            <a:normAutofit/>
          </a:bodyPr>
          <a:lstStyle/>
          <a:p>
            <a:r>
              <a:rPr lang="en-US" dirty="0"/>
              <a:t>Week 9: Forward rendering / </a:t>
            </a:r>
            <a:r>
              <a:rPr lang="en-US" dirty="0" err="1"/>
              <a:t>renderdoc</a:t>
            </a:r>
            <a:r>
              <a:rPr lang="en-US" dirty="0"/>
              <a:t> 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0B0F53-1B0B-247E-5331-DFF63A59F5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906C7B-D22F-6554-53F2-0FB13D199E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DE + AR</a:t>
            </a:r>
          </a:p>
          <a:p>
            <a:endParaRPr lang="en-B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FE3868-CBE1-5055-4906-5E64ED6ECD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2025</a:t>
            </a:r>
          </a:p>
          <a:p>
            <a:endParaRPr lang="en-B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F3B091-9651-82FE-A3B9-38B7A8EBC9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1678" y="144948"/>
            <a:ext cx="5795337" cy="21031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D38BBC7-B337-05EE-87BF-098FE80C5E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6" y="2248094"/>
            <a:ext cx="11860280" cy="100026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C6FE2E-30E5-6C5D-8095-DBBD52210ED6}"/>
              </a:ext>
            </a:extLst>
          </p:cNvPr>
          <p:cNvSpPr txBox="1"/>
          <p:nvPr/>
        </p:nvSpPr>
        <p:spPr>
          <a:xfrm>
            <a:off x="1204685" y="3502201"/>
            <a:ext cx="50454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So, what is a bug anyway?</a:t>
            </a:r>
            <a:endParaRPr lang="en-BE" sz="3600" dirty="0"/>
          </a:p>
        </p:txBody>
      </p:sp>
    </p:spTree>
    <p:extLst>
      <p:ext uri="{BB962C8B-B14F-4D97-AF65-F5344CB8AC3E}">
        <p14:creationId xmlns:p14="http://schemas.microsoft.com/office/powerpoint/2010/main" val="1905507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9FD23-D77C-70B3-2CC3-3B9639720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DA8D2-CA6D-2610-89CE-68DEF02CC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604" y="-70303"/>
            <a:ext cx="10515600" cy="1325563"/>
          </a:xfrm>
        </p:spPr>
        <p:txBody>
          <a:bodyPr/>
          <a:lstStyle/>
          <a:p>
            <a:r>
              <a:rPr lang="en-US" dirty="0"/>
              <a:t>Last class : Camera’s</a:t>
            </a:r>
            <a:endParaRPr lang="en-BE" dirty="0"/>
          </a:p>
        </p:txBody>
      </p:sp>
      <p:pic>
        <p:nvPicPr>
          <p:cNvPr id="4" name="Picture 3" descr="A yellow and purple cubes&#10;&#10;Description automatically generated">
            <a:extLst>
              <a:ext uri="{FF2B5EF4-FFF2-40B4-BE49-F238E27FC236}">
                <a16:creationId xmlns:a16="http://schemas.microsoft.com/office/drawing/2014/main" id="{09326A36-E475-6600-B5A9-4707D2F287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701" y="1320533"/>
            <a:ext cx="7001621" cy="2757621"/>
          </a:xfrm>
          <a:prstGeom prst="rect">
            <a:avLst/>
          </a:prstGeom>
        </p:spPr>
      </p:pic>
      <p:pic>
        <p:nvPicPr>
          <p:cNvPr id="5" name="Picture 4" descr="A screenshot of a game&#10;&#10;Description automatically generated">
            <a:extLst>
              <a:ext uri="{FF2B5EF4-FFF2-40B4-BE49-F238E27FC236}">
                <a16:creationId xmlns:a16="http://schemas.microsoft.com/office/drawing/2014/main" id="{66C825B1-3F5F-45EF-B534-18D322D8BF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4935" y="4090638"/>
            <a:ext cx="5485498" cy="264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527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5A63E-5C9E-063E-254E-7F86B388C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class : Light’s</a:t>
            </a:r>
            <a:endParaRPr lang="en-BE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4128EA7-8FC7-6632-C703-114605FB1B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28691" y="3041781"/>
            <a:ext cx="4663309" cy="3751424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0797C2D-E721-B3D1-C33C-BD743BE209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866" y="2598300"/>
            <a:ext cx="5295134" cy="425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864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015B4-9708-018B-42D9-48248CD7F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class : depth buffer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150D8D-3D99-55E3-9A39-948AAE0BD6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988164"/>
            <a:ext cx="7683910" cy="27679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B11FA2-1A47-782C-6368-63C727ECF9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65301"/>
            <a:ext cx="6096000" cy="25050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5A9CE6-9D71-DB95-9DCB-D9B2367E45CF}"/>
              </a:ext>
            </a:extLst>
          </p:cNvPr>
          <p:cNvSpPr txBox="1"/>
          <p:nvPr/>
        </p:nvSpPr>
        <p:spPr>
          <a:xfrm>
            <a:off x="656303" y="2131142"/>
            <a:ext cx="26007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What does it do?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Give 2 uses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2655836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18F48-78D2-6E8E-E9AA-F750C613C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class : Shadows</a:t>
            </a:r>
            <a:endParaRPr lang="en-BE" dirty="0"/>
          </a:p>
        </p:txBody>
      </p:sp>
      <p:pic>
        <p:nvPicPr>
          <p:cNvPr id="3" name="Picture 2" descr="A light bulb and a teapot&#10;&#10;AI-generated content may be incorrect.">
            <a:extLst>
              <a:ext uri="{FF2B5EF4-FFF2-40B4-BE49-F238E27FC236}">
                <a16:creationId xmlns:a16="http://schemas.microsoft.com/office/drawing/2014/main" id="{DA4CDA97-8FB6-390A-D41D-F6E334903D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041" y="3266574"/>
            <a:ext cx="7944959" cy="3591426"/>
          </a:xfrm>
          <a:prstGeom prst="rect">
            <a:avLst/>
          </a:prstGeom>
        </p:spPr>
      </p:pic>
      <p:pic>
        <p:nvPicPr>
          <p:cNvPr id="4" name="Picture 3" descr="A teapot with a shadow map&#10;&#10;AI-generated content may be incorrect.">
            <a:extLst>
              <a:ext uri="{FF2B5EF4-FFF2-40B4-BE49-F238E27FC236}">
                <a16:creationId xmlns:a16="http://schemas.microsoft.com/office/drawing/2014/main" id="{58359AD3-A037-D3D6-4F9B-2E4B14C8B8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796" y="3304679"/>
            <a:ext cx="3553321" cy="355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574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1B564-CA9E-3D87-8903-3909F7D42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9F79E-D81D-C0B7-2D18-4AECB8668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362" y="238794"/>
            <a:ext cx="10515600" cy="1325563"/>
          </a:xfrm>
        </p:spPr>
        <p:txBody>
          <a:bodyPr/>
          <a:lstStyle/>
          <a:p>
            <a:r>
              <a:rPr lang="en-US" dirty="0"/>
              <a:t>Course schedule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AD8DA9-97E3-0B9A-E8CC-21F1C6CD1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23671"/>
            <a:ext cx="4032180" cy="263992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CA2FDF-DB18-1375-BEF9-8DA80A37B085}"/>
              </a:ext>
            </a:extLst>
          </p:cNvPr>
          <p:cNvSpPr txBox="1"/>
          <p:nvPr/>
        </p:nvSpPr>
        <p:spPr>
          <a:xfrm>
            <a:off x="379445" y="1741714"/>
            <a:ext cx="4696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Highly likely to change </a:t>
            </a:r>
            <a:r>
              <a:rPr lang="en-US" sz="2800" dirty="0">
                <a:sym typeface="Wingdings" panose="05000000000000000000" pitchFamily="2" charset="2"/>
              </a:rPr>
              <a:t>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CEA932E-E82B-0F40-395E-38460627F1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821248"/>
              </p:ext>
            </p:extLst>
          </p:nvPr>
        </p:nvGraphicFramePr>
        <p:xfrm>
          <a:off x="5012846" y="101819"/>
          <a:ext cx="6659792" cy="6846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7950">
                  <a:extLst>
                    <a:ext uri="{9D8B030D-6E8A-4147-A177-3AD203B41FA5}">
                      <a16:colId xmlns:a16="http://schemas.microsoft.com/office/drawing/2014/main" val="4215952977"/>
                    </a:ext>
                  </a:extLst>
                </a:gridCol>
                <a:gridCol w="2830921">
                  <a:extLst>
                    <a:ext uri="{9D8B030D-6E8A-4147-A177-3AD203B41FA5}">
                      <a16:colId xmlns:a16="http://schemas.microsoft.com/office/drawing/2014/main" val="1002713060"/>
                    </a:ext>
                  </a:extLst>
                </a:gridCol>
                <a:gridCol w="2830921">
                  <a:extLst>
                    <a:ext uri="{9D8B030D-6E8A-4147-A177-3AD203B41FA5}">
                      <a16:colId xmlns:a16="http://schemas.microsoft.com/office/drawing/2014/main" val="1545778933"/>
                    </a:ext>
                  </a:extLst>
                </a:gridCol>
              </a:tblGrid>
              <a:tr h="440348"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Wed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591760"/>
                  </a:ext>
                </a:extLst>
              </a:tr>
              <a:tr h="440348">
                <a:tc>
                  <a:txBody>
                    <a:bodyPr/>
                    <a:lstStyle/>
                    <a:p>
                      <a:r>
                        <a:rPr lang="en-US" dirty="0"/>
                        <a:t>Week 1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Introduction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1121218"/>
                  </a:ext>
                </a:extLst>
              </a:tr>
              <a:tr h="440348">
                <a:tc>
                  <a:txBody>
                    <a:bodyPr/>
                    <a:lstStyle/>
                    <a:p>
                      <a:r>
                        <a:rPr lang="en-US" dirty="0"/>
                        <a:t>Week 2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3D reasoning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727011"/>
                  </a:ext>
                </a:extLst>
              </a:tr>
              <a:tr h="609835">
                <a:tc>
                  <a:txBody>
                    <a:bodyPr/>
                    <a:lstStyle/>
                    <a:p>
                      <a:r>
                        <a:rPr lang="en-US" dirty="0"/>
                        <a:t>Week 3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Geometry</a:t>
                      </a:r>
                    </a:p>
                    <a:p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221313"/>
                  </a:ext>
                </a:extLst>
              </a:tr>
              <a:tr h="527618">
                <a:tc>
                  <a:txBody>
                    <a:bodyPr/>
                    <a:lstStyle/>
                    <a:p>
                      <a:r>
                        <a:rPr lang="en-US" dirty="0"/>
                        <a:t>Week 4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Pipeline &amp; Materials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918310"/>
                  </a:ext>
                </a:extLst>
              </a:tr>
              <a:tr h="567694">
                <a:tc>
                  <a:txBody>
                    <a:bodyPr/>
                    <a:lstStyle/>
                    <a:p>
                      <a:r>
                        <a:rPr lang="en-US" dirty="0"/>
                        <a:t>Week 5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Proceduralism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078510"/>
                  </a:ext>
                </a:extLst>
              </a:tr>
              <a:tr h="771178">
                <a:tc>
                  <a:txBody>
                    <a:bodyPr/>
                    <a:lstStyle/>
                    <a:p>
                      <a:r>
                        <a:rPr lang="en-US" dirty="0"/>
                        <a:t>Week 6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Textures &amp; Normal maps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941231"/>
                  </a:ext>
                </a:extLst>
              </a:tr>
              <a:tr h="609835">
                <a:tc>
                  <a:txBody>
                    <a:bodyPr/>
                    <a:lstStyle/>
                    <a:p>
                      <a:r>
                        <a:rPr lang="en-US" dirty="0"/>
                        <a:t>Week 7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Aliasing  / Presentations</a:t>
                      </a:r>
                      <a:endParaRPr lang="en-BE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929814"/>
                  </a:ext>
                </a:extLst>
              </a:tr>
              <a:tr h="609835">
                <a:tc>
                  <a:txBody>
                    <a:bodyPr/>
                    <a:lstStyle/>
                    <a:p>
                      <a:r>
                        <a:rPr lang="en-US" dirty="0"/>
                        <a:t>Week 8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Lab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Advanced pipeline 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Lab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942271"/>
                  </a:ext>
                </a:extLst>
              </a:tr>
              <a:tr h="771178">
                <a:tc>
                  <a:txBody>
                    <a:bodyPr/>
                    <a:lstStyle/>
                    <a:p>
                      <a:r>
                        <a:rPr lang="en-US" dirty="0"/>
                        <a:t>Week 9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Advanced pipeline 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Lab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Post Processing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500834"/>
                  </a:ext>
                </a:extLst>
              </a:tr>
              <a:tr h="527618">
                <a:tc>
                  <a:txBody>
                    <a:bodyPr/>
                    <a:lstStyle/>
                    <a:p>
                      <a:r>
                        <a:rPr lang="en-US" dirty="0"/>
                        <a:t>Week 10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Project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961463"/>
                  </a:ext>
                </a:extLst>
              </a:tr>
              <a:tr h="440348">
                <a:tc>
                  <a:txBody>
                    <a:bodyPr/>
                    <a:lstStyle/>
                    <a:p>
                      <a:r>
                        <a:rPr lang="en-US" dirty="0"/>
                        <a:t>Week 11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Revision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446022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27F2239F-9E21-9D30-9311-23FF7A1A3E6B}"/>
              </a:ext>
            </a:extLst>
          </p:cNvPr>
          <p:cNvSpPr/>
          <p:nvPr/>
        </p:nvSpPr>
        <p:spPr>
          <a:xfrm>
            <a:off x="8842904" y="4473915"/>
            <a:ext cx="2301551" cy="80171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82811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867D9-E748-9081-8E24-BDF71B76B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It’s suspiciously quite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F70278-A5A7-41A8-E86C-EE086CE32D8D}"/>
              </a:ext>
            </a:extLst>
          </p:cNvPr>
          <p:cNvSpPr txBox="1"/>
          <p:nvPr/>
        </p:nvSpPr>
        <p:spPr>
          <a:xfrm>
            <a:off x="547395" y="1797698"/>
            <a:ext cx="805739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 my inbox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 the </a:t>
            </a:r>
            <a:r>
              <a:rPr lang="en-US" sz="2400" dirty="0" err="1"/>
              <a:t>github</a:t>
            </a:r>
            <a:r>
              <a:rPr lang="en-US" sz="2400"/>
              <a:t> classroom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Is everything ok, or am I not hearing about it?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Make sure you have the most recent project from Toledo!!!!!</a:t>
            </a:r>
          </a:p>
        </p:txBody>
      </p:sp>
    </p:spTree>
    <p:extLst>
      <p:ext uri="{BB962C8B-B14F-4D97-AF65-F5344CB8AC3E}">
        <p14:creationId xmlns:p14="http://schemas.microsoft.com/office/powerpoint/2010/main" val="2036969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73297-8044-DFEA-04F5-D9FB0C658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C2D51-1E40-FA66-F1C2-BA0D54119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class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CB8313-D9B1-33D6-9A00-505148019F20}"/>
              </a:ext>
            </a:extLst>
          </p:cNvPr>
          <p:cNvSpPr txBox="1"/>
          <p:nvPr/>
        </p:nvSpPr>
        <p:spPr>
          <a:xfrm>
            <a:off x="989900" y="1690689"/>
            <a:ext cx="87263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 Original problem 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Forward rendering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>
                <a:sym typeface="Wingdings" panose="05000000000000000000" pitchFamily="2" charset="2"/>
              </a:rPr>
              <a:t>Renderdoc</a:t>
            </a:r>
            <a:endParaRPr lang="en-US" sz="28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372615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4FC13-5D39-013B-2A0C-37CBDF80C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Original problem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59DFCB-44DF-F5D5-366F-D30DFDC0F8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614" y="1618343"/>
            <a:ext cx="7859486" cy="52396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63B80E-50B3-E789-B231-308FEC0EB1F7}"/>
              </a:ext>
            </a:extLst>
          </p:cNvPr>
          <p:cNvSpPr txBox="1"/>
          <p:nvPr/>
        </p:nvSpPr>
        <p:spPr>
          <a:xfrm>
            <a:off x="210457" y="1618343"/>
            <a:ext cx="41293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What problem are we learning to solve?</a:t>
            </a:r>
            <a:br>
              <a:rPr lang="en-US" sz="2400" dirty="0"/>
            </a:br>
            <a:r>
              <a:rPr lang="en-US" sz="2400" dirty="0"/>
              <a:t>In this entire course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612885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9E119-7E1B-1F8C-5F3A-8B0C2ADA4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AD5C-B352-7AC3-6970-0A0E43B75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Original problem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6EB28D-6696-FEC4-CBB2-05DB74A55F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614" y="1618343"/>
            <a:ext cx="7859486" cy="52396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86153A-DD99-7D5D-0C80-2FA7477BE024}"/>
              </a:ext>
            </a:extLst>
          </p:cNvPr>
          <p:cNvSpPr txBox="1"/>
          <p:nvPr/>
        </p:nvSpPr>
        <p:spPr>
          <a:xfrm>
            <a:off x="210457" y="1618343"/>
            <a:ext cx="35820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How to create this image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 real-time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4022987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8215D-0D95-96AD-D64C-CAD271731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A916E-6004-8DEE-6CD5-9EE0E4CB9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Original problem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DFD6E1-646A-DE71-B6B2-3B5C13B1A6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614" y="1618343"/>
            <a:ext cx="7859486" cy="52396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3B9C57-EBB1-D9AC-08B2-276DEA0DBE74}"/>
              </a:ext>
            </a:extLst>
          </p:cNvPr>
          <p:cNvSpPr txBox="1"/>
          <p:nvPr/>
        </p:nvSpPr>
        <p:spPr>
          <a:xfrm>
            <a:off x="210457" y="1618343"/>
            <a:ext cx="44155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Image = 2 million pixels (1080p)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Almost the same question as:</a:t>
            </a:r>
            <a:br>
              <a:rPr lang="en-US" sz="2400" dirty="0"/>
            </a:br>
            <a:r>
              <a:rPr lang="en-US" sz="2400" dirty="0"/>
              <a:t>What is the color of one pixel?</a:t>
            </a:r>
            <a:endParaRPr lang="en-BE" sz="2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EC3C9B-4541-CE4C-8B82-F688035B262D}"/>
              </a:ext>
            </a:extLst>
          </p:cNvPr>
          <p:cNvSpPr/>
          <p:nvPr/>
        </p:nvSpPr>
        <p:spPr>
          <a:xfrm>
            <a:off x="5203371" y="3345543"/>
            <a:ext cx="152400" cy="152400"/>
          </a:xfrm>
          <a:prstGeom prst="rect">
            <a:avLst/>
          </a:prstGeom>
          <a:noFill/>
          <a:ln w="76200"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ln>
                <a:solidFill>
                  <a:srgbClr val="FF0000"/>
                </a:solidFill>
              </a:ln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894A015-176D-6143-1D6F-A2008D0C852D}"/>
              </a:ext>
            </a:extLst>
          </p:cNvPr>
          <p:cNvCxnSpPr>
            <a:endCxn id="3" idx="1"/>
          </p:cNvCxnSpPr>
          <p:nvPr/>
        </p:nvCxnSpPr>
        <p:spPr>
          <a:xfrm>
            <a:off x="2369976" y="2948473"/>
            <a:ext cx="2761861" cy="480527"/>
          </a:xfrm>
          <a:prstGeom prst="straightConnector1">
            <a:avLst/>
          </a:prstGeom>
          <a:ln w="38100"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6262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6FE2D-BA94-28CD-396F-FAE6B8398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32F66-A355-EC85-2340-411030C57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Original problem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5EE17E-6770-C5AD-13E6-E97F7C2AE7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614" y="1618343"/>
            <a:ext cx="7859486" cy="52396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A8B9FC-6D60-15A5-5DCF-C07FED29803F}"/>
              </a:ext>
            </a:extLst>
          </p:cNvPr>
          <p:cNvSpPr txBox="1"/>
          <p:nvPr/>
        </p:nvSpPr>
        <p:spPr>
          <a:xfrm>
            <a:off x="210457" y="1618343"/>
            <a:ext cx="426674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What is the color of one pixel?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Two separate problems:</a:t>
            </a:r>
            <a:br>
              <a:rPr lang="en-US" sz="2400" dirty="0"/>
            </a:br>
            <a:r>
              <a:rPr lang="en-US" sz="2400" dirty="0"/>
              <a:t>Which triangle?</a:t>
            </a:r>
            <a:br>
              <a:rPr lang="en-US" sz="2400" dirty="0"/>
            </a:br>
            <a:r>
              <a:rPr lang="en-US" sz="2400" dirty="0"/>
              <a:t>Which color on the triangle?</a:t>
            </a:r>
            <a:endParaRPr lang="en-BE" sz="2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98CA8F-1866-6B1B-D408-F83B3BDE0BC7}"/>
              </a:ext>
            </a:extLst>
          </p:cNvPr>
          <p:cNvSpPr/>
          <p:nvPr/>
        </p:nvSpPr>
        <p:spPr>
          <a:xfrm>
            <a:off x="5203371" y="3345543"/>
            <a:ext cx="152400" cy="152400"/>
          </a:xfrm>
          <a:prstGeom prst="rect">
            <a:avLst/>
          </a:prstGeom>
          <a:noFill/>
          <a:ln w="76200"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94969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E7423-BB67-C375-461A-65E4CB5EC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triangle?</a:t>
            </a:r>
            <a:endParaRPr lang="en-B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0160FD-0447-D91E-BB3D-D555ED9FDA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8321" y="3429001"/>
            <a:ext cx="9518904" cy="3429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79EB39-9CC0-C657-9016-C795BB4F394F}"/>
              </a:ext>
            </a:extLst>
          </p:cNvPr>
          <p:cNvSpPr txBox="1"/>
          <p:nvPr/>
        </p:nvSpPr>
        <p:spPr>
          <a:xfrm>
            <a:off x="6096000" y="4579257"/>
            <a:ext cx="1066800" cy="609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75DC20-1720-32F2-8F70-72827835D417}"/>
              </a:ext>
            </a:extLst>
          </p:cNvPr>
          <p:cNvSpPr txBox="1"/>
          <p:nvPr/>
        </p:nvSpPr>
        <p:spPr>
          <a:xfrm>
            <a:off x="747486" y="1589881"/>
            <a:ext cx="60368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This is the primary visibility problem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 rasterizers, it’s solved using a depth buffer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20734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B0809-8DF6-E54B-4522-9DE9FFBA1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057" y="0"/>
            <a:ext cx="10515600" cy="1325563"/>
          </a:xfrm>
        </p:spPr>
        <p:txBody>
          <a:bodyPr/>
          <a:lstStyle/>
          <a:p>
            <a:r>
              <a:rPr lang="en-US" dirty="0"/>
              <a:t>Which color?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C3E3B4-F234-E449-06C4-C5534A6ACB57}"/>
              </a:ext>
            </a:extLst>
          </p:cNvPr>
          <p:cNvSpPr txBox="1"/>
          <p:nvPr/>
        </p:nvSpPr>
        <p:spPr>
          <a:xfrm>
            <a:off x="312058" y="1081314"/>
            <a:ext cx="1072968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This is the most difficult problem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It’s already solved in the rendering equation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 don’t expect you to know the equation, or be able to read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 do expect you to know what it says</a:t>
            </a:r>
            <a:br>
              <a:rPr lang="en-US" sz="2400" dirty="0"/>
            </a:br>
            <a:r>
              <a:rPr lang="en-US" sz="2400" b="1" i="1" dirty="0"/>
              <a:t>“The light exiting from a surface, is the sum of all the light reflected by the surface. The reflected light is the incoming light, changed by the material (</a:t>
            </a:r>
            <a:r>
              <a:rPr lang="en-US" sz="2400" b="1" i="1" dirty="0" err="1"/>
              <a:t>brdf</a:t>
            </a:r>
            <a:r>
              <a:rPr lang="en-US" sz="2400" b="1" i="1" dirty="0"/>
              <a:t>) and weighted by the angle (dot product)”</a:t>
            </a:r>
            <a:endParaRPr lang="en-BE" sz="2400" b="1" i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B4B9AC-239F-3A92-B5A0-58F0AA0A70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52" y="3961038"/>
            <a:ext cx="9807472" cy="2759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88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86B4A-771D-CDB6-47EA-F14581BD4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this help us?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DE39EF-F846-BA15-F6F5-CF23ABF38B00}"/>
              </a:ext>
            </a:extLst>
          </p:cNvPr>
          <p:cNvSpPr txBox="1"/>
          <p:nvPr/>
        </p:nvSpPr>
        <p:spPr>
          <a:xfrm>
            <a:off x="283028" y="1690688"/>
            <a:ext cx="635000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We can’t render equations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We need to translate this into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But it gives us a goal, keeps us from “hack stuff until it looks right”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Most importantly, we need to do as much work on the GPU as possible (why?)</a:t>
            </a:r>
            <a:endParaRPr lang="en-BE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EA0D98-610E-02BB-F669-ECFD0869DD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9825" y="2375579"/>
            <a:ext cx="5133975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8742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66534-28FD-0300-39D5-4CF4E977C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solution: forward rendering</a:t>
            </a:r>
            <a:endParaRPr lang="en-B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398AC3-EDB0-010C-39A9-641141820476}"/>
              </a:ext>
            </a:extLst>
          </p:cNvPr>
          <p:cNvSpPr txBox="1"/>
          <p:nvPr/>
        </p:nvSpPr>
        <p:spPr>
          <a:xfrm>
            <a:off x="684245" y="1548882"/>
            <a:ext cx="85602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Evaluate everything when drawing the model : lights, material,…..</a:t>
            </a:r>
            <a:br>
              <a:rPr lang="en-US" dirty="0"/>
            </a:br>
            <a:r>
              <a:rPr lang="en-US" dirty="0"/>
              <a:t>	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3328477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08947-4BEA-A775-553E-9390B1849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4C0D6-DAF0-F45A-DC20-AB4F6EE44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each object, find lights</a:t>
            </a:r>
            <a:endParaRPr lang="en-BE" dirty="0"/>
          </a:p>
        </p:txBody>
      </p:sp>
      <p:pic>
        <p:nvPicPr>
          <p:cNvPr id="4" name="Picture 3" descr="A black and white bunny&#10;&#10;AI-generated content may be incorrect.">
            <a:extLst>
              <a:ext uri="{FF2B5EF4-FFF2-40B4-BE49-F238E27FC236}">
                <a16:creationId xmlns:a16="http://schemas.microsoft.com/office/drawing/2014/main" id="{08DEEC84-EE48-9A84-3ED9-94096BDBC1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4268" y="2904930"/>
            <a:ext cx="3052945" cy="37706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C2F02B-6721-A374-B5AC-CD64AAE03B72}"/>
              </a:ext>
            </a:extLst>
          </p:cNvPr>
          <p:cNvSpPr txBox="1"/>
          <p:nvPr/>
        </p:nvSpPr>
        <p:spPr>
          <a:xfrm>
            <a:off x="558282" y="1629747"/>
            <a:ext cx="82871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Done using bounds tests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Often with an acceleration structure (100’s of lights, 1000’s of objects)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Find lights overlapping objects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Send them to the </a:t>
            </a:r>
            <a:r>
              <a:rPr lang="en-US" dirty="0" err="1"/>
              <a:t>gpu</a:t>
            </a:r>
            <a:r>
              <a:rPr lang="en-US" dirty="0"/>
              <a:t>/shader </a:t>
            </a:r>
            <a:endParaRPr lang="en-B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4E5B56-57A8-5D4B-443E-FBE94030DB5C}"/>
              </a:ext>
            </a:extLst>
          </p:cNvPr>
          <p:cNvSpPr/>
          <p:nvPr/>
        </p:nvSpPr>
        <p:spPr>
          <a:xfrm>
            <a:off x="6096000" y="2728686"/>
            <a:ext cx="3468914" cy="4078514"/>
          </a:xfrm>
          <a:prstGeom prst="rect">
            <a:avLst/>
          </a:prstGeom>
          <a:noFill/>
          <a:ln w="7620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7" name="Picture 6" descr="A yellow light bulb with black lines&#10;&#10;Description automatically generated">
            <a:extLst>
              <a:ext uri="{FF2B5EF4-FFF2-40B4-BE49-F238E27FC236}">
                <a16:creationId xmlns:a16="http://schemas.microsoft.com/office/drawing/2014/main" id="{55043910-8B73-7658-BFBE-533F69F7E3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537" y="3703734"/>
            <a:ext cx="1561298" cy="1607976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687C0F8A-12F8-E675-6108-C345E2B42AF4}"/>
              </a:ext>
            </a:extLst>
          </p:cNvPr>
          <p:cNvSpPr/>
          <p:nvPr/>
        </p:nvSpPr>
        <p:spPr>
          <a:xfrm>
            <a:off x="3269419" y="2566955"/>
            <a:ext cx="3881535" cy="3881535"/>
          </a:xfrm>
          <a:prstGeom prst="ellipse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2956892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787F5-C9B7-D73E-677B-2B783EC09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EA917-5D69-0697-A1CB-9E98CCC51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each object, evaluate </a:t>
            </a:r>
            <a:r>
              <a:rPr lang="en-US" dirty="0" err="1"/>
              <a:t>brdf</a:t>
            </a:r>
            <a:r>
              <a:rPr lang="en-US" dirty="0"/>
              <a:t> while rendering the model</a:t>
            </a:r>
            <a:endParaRPr lang="en-B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061562-1DBA-1E54-D9E4-84563AA2F92F}"/>
              </a:ext>
            </a:extLst>
          </p:cNvPr>
          <p:cNvSpPr txBox="1"/>
          <p:nvPr/>
        </p:nvSpPr>
        <p:spPr>
          <a:xfrm>
            <a:off x="4763859" y="4435151"/>
            <a:ext cx="7435049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Evaluate everything when drawing the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Foreach(light)</a:t>
            </a:r>
            <a:br>
              <a:rPr lang="en-US" sz="2400" dirty="0"/>
            </a:br>
            <a:r>
              <a:rPr lang="en-US" sz="2400" dirty="0"/>
              <a:t>	</a:t>
            </a:r>
            <a:r>
              <a:rPr lang="en-US" sz="2400" dirty="0" err="1"/>
              <a:t>light_out</a:t>
            </a:r>
            <a:r>
              <a:rPr lang="en-US" sz="2400" dirty="0"/>
              <a:t> += </a:t>
            </a:r>
            <a:r>
              <a:rPr lang="en-US" sz="2400" dirty="0" err="1"/>
              <a:t>brdf</a:t>
            </a:r>
            <a:r>
              <a:rPr lang="en-US" sz="2400" dirty="0"/>
              <a:t>(L, N) * </a:t>
            </a:r>
            <a:r>
              <a:rPr lang="en-US" sz="2400" dirty="0" err="1"/>
              <a:t>light.color</a:t>
            </a:r>
            <a:r>
              <a:rPr lang="en-US" sz="2400" dirty="0"/>
              <a:t> * shadow(light)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float3 </a:t>
            </a:r>
            <a:r>
              <a:rPr lang="en-US" sz="2400" dirty="0" err="1"/>
              <a:t>brdfLambert</a:t>
            </a:r>
            <a:r>
              <a:rPr lang="en-US" sz="2400" dirty="0"/>
              <a:t>(float3 L, float3 N) // just an example</a:t>
            </a:r>
            <a:br>
              <a:rPr lang="en-US" sz="2400" dirty="0"/>
            </a:br>
            <a:r>
              <a:rPr lang="en-US" sz="2400" dirty="0"/>
              <a:t>	return float3(dot(N,L))</a:t>
            </a:r>
            <a:br>
              <a:rPr lang="en-US" dirty="0"/>
            </a:br>
            <a:r>
              <a:rPr lang="en-US" dirty="0"/>
              <a:t>	</a:t>
            </a:r>
            <a:endParaRPr lang="en-BE" dirty="0"/>
          </a:p>
        </p:txBody>
      </p:sp>
      <p:pic>
        <p:nvPicPr>
          <p:cNvPr id="3" name="Picture 2" descr="A picture containing traffic light&#10;&#10;Description automatically generated">
            <a:extLst>
              <a:ext uri="{FF2B5EF4-FFF2-40B4-BE49-F238E27FC236}">
                <a16:creationId xmlns:a16="http://schemas.microsoft.com/office/drawing/2014/main" id="{306AC5C8-2698-B247-8AAB-E35E1E5DD2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73" y="1968445"/>
            <a:ext cx="2142478" cy="1067344"/>
          </a:xfrm>
          <a:prstGeom prst="rect">
            <a:avLst/>
          </a:prstGeom>
        </p:spPr>
      </p:pic>
      <p:pic>
        <p:nvPicPr>
          <p:cNvPr id="5" name="Picture 4" descr="A picture containing object&#10;&#10;Description automatically generated">
            <a:extLst>
              <a:ext uri="{FF2B5EF4-FFF2-40B4-BE49-F238E27FC236}">
                <a16:creationId xmlns:a16="http://schemas.microsoft.com/office/drawing/2014/main" id="{860347CC-8E8D-123E-C673-A8B1D1A770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9266" y="1932009"/>
            <a:ext cx="2009186" cy="1143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EF304C-E6A7-C4D6-00A9-D154582681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5434" y="1932010"/>
            <a:ext cx="1933806" cy="1014596"/>
          </a:xfrm>
          <a:prstGeom prst="rect">
            <a:avLst/>
          </a:prstGeom>
        </p:spPr>
      </p:pic>
      <p:pic>
        <p:nvPicPr>
          <p:cNvPr id="7" name="Picture 6" descr="A picture containing building&#10;&#10;Description automatically generated">
            <a:extLst>
              <a:ext uri="{FF2B5EF4-FFF2-40B4-BE49-F238E27FC236}">
                <a16:creationId xmlns:a16="http://schemas.microsoft.com/office/drawing/2014/main" id="{C1E99F0A-ACC7-B127-A03A-7478536A0D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928" y="1940902"/>
            <a:ext cx="1933806" cy="10145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BDC8AC4-8FD7-2928-2507-C9354B4B6ACC}"/>
              </a:ext>
            </a:extLst>
          </p:cNvPr>
          <p:cNvSpPr txBox="1"/>
          <p:nvPr/>
        </p:nvSpPr>
        <p:spPr>
          <a:xfrm>
            <a:off x="1978380" y="3701718"/>
            <a:ext cx="19294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Vertex Shader</a:t>
            </a:r>
            <a:endParaRPr lang="en-BE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82E2DC-654F-7DDE-4C53-3F5CD839A6F8}"/>
              </a:ext>
            </a:extLst>
          </p:cNvPr>
          <p:cNvSpPr txBox="1"/>
          <p:nvPr/>
        </p:nvSpPr>
        <p:spPr>
          <a:xfrm>
            <a:off x="5729946" y="3701719"/>
            <a:ext cx="13154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Rasterize</a:t>
            </a:r>
            <a:endParaRPr lang="en-BE" sz="2400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91D42CCC-8DB7-587C-442F-815E8D16E7AD}"/>
              </a:ext>
            </a:extLst>
          </p:cNvPr>
          <p:cNvSpPr/>
          <p:nvPr/>
        </p:nvSpPr>
        <p:spPr>
          <a:xfrm>
            <a:off x="2828650" y="2411553"/>
            <a:ext cx="885978" cy="264434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54AF0523-8A37-E199-262A-6489AB300A30}"/>
              </a:ext>
            </a:extLst>
          </p:cNvPr>
          <p:cNvSpPr/>
          <p:nvPr/>
        </p:nvSpPr>
        <p:spPr>
          <a:xfrm>
            <a:off x="5937757" y="2369900"/>
            <a:ext cx="885978" cy="264434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B7A3291-EB1A-E815-1818-AC8FCADDDFC4}"/>
              </a:ext>
            </a:extLst>
          </p:cNvPr>
          <p:cNvSpPr/>
          <p:nvPr/>
        </p:nvSpPr>
        <p:spPr>
          <a:xfrm>
            <a:off x="8979240" y="2366112"/>
            <a:ext cx="885978" cy="264434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F702DF-9FB4-6DCC-1F3B-ADD677DCEB91}"/>
              </a:ext>
            </a:extLst>
          </p:cNvPr>
          <p:cNvSpPr/>
          <p:nvPr/>
        </p:nvSpPr>
        <p:spPr>
          <a:xfrm>
            <a:off x="4683967" y="4354286"/>
            <a:ext cx="7514941" cy="240729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D48043C-8B53-7A7B-F398-33D3796526FA}"/>
              </a:ext>
            </a:extLst>
          </p:cNvPr>
          <p:cNvCxnSpPr>
            <a:cxnSpLocks/>
          </p:cNvCxnSpPr>
          <p:nvPr/>
        </p:nvCxnSpPr>
        <p:spPr>
          <a:xfrm flipV="1">
            <a:off x="9186728" y="2711411"/>
            <a:ext cx="131443" cy="145197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70807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A8084-FB3F-033E-E4AC-ABADCE8C3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Renderdoc</a:t>
            </a:r>
            <a:r>
              <a:rPr lang="en-US" dirty="0"/>
              <a:t> : graphics debugger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6EAB1D-F0FB-2BCD-6371-B291E7999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3657" y="1893581"/>
            <a:ext cx="8095172" cy="496441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7E53B26-D62E-3DDE-AD13-68DB2FF5D439}"/>
              </a:ext>
            </a:extLst>
          </p:cNvPr>
          <p:cNvSpPr/>
          <p:nvPr/>
        </p:nvSpPr>
        <p:spPr>
          <a:xfrm>
            <a:off x="838200" y="1672771"/>
            <a:ext cx="2369457" cy="8490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Your Application</a:t>
            </a:r>
            <a:endParaRPr lang="en-BE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D52293-65B6-27BF-6A8B-BFF617FB44D7}"/>
              </a:ext>
            </a:extLst>
          </p:cNvPr>
          <p:cNvSpPr/>
          <p:nvPr/>
        </p:nvSpPr>
        <p:spPr>
          <a:xfrm>
            <a:off x="838199" y="3355391"/>
            <a:ext cx="2369457" cy="84908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Renderdoc</a:t>
            </a:r>
            <a:endParaRPr lang="en-BE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4EF506-42BD-3664-4DD5-94F5A1F1A2C7}"/>
              </a:ext>
            </a:extLst>
          </p:cNvPr>
          <p:cNvSpPr/>
          <p:nvPr/>
        </p:nvSpPr>
        <p:spPr>
          <a:xfrm>
            <a:off x="715863" y="5185229"/>
            <a:ext cx="2614128" cy="8490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Vulkan/DirectX/OpenGL</a:t>
            </a:r>
            <a:endParaRPr lang="en-BE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B1477EA-0C38-38D0-50D9-55955BDD835D}"/>
              </a:ext>
            </a:extLst>
          </p:cNvPr>
          <p:cNvCxnSpPr>
            <a:stCxn id="5" idx="2"/>
            <a:endCxn id="10" idx="0"/>
          </p:cNvCxnSpPr>
          <p:nvPr/>
        </p:nvCxnSpPr>
        <p:spPr>
          <a:xfrm flipH="1">
            <a:off x="2022928" y="2521857"/>
            <a:ext cx="1" cy="833534"/>
          </a:xfrm>
          <a:prstGeom prst="straightConnector1">
            <a:avLst/>
          </a:prstGeom>
          <a:ln w="76200"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89BF156-9838-73A7-E0C0-455EE51E78EA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2022927" y="4186560"/>
            <a:ext cx="1" cy="998669"/>
          </a:xfrm>
          <a:prstGeom prst="straightConnector1">
            <a:avLst/>
          </a:prstGeom>
          <a:ln w="76200"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0620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E7549-9EDC-2398-16AD-F377D21EB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demo!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78DC1B-830F-C24E-05BB-6452DCE4D684}"/>
              </a:ext>
            </a:extLst>
          </p:cNvPr>
          <p:cNvSpPr txBox="1"/>
          <p:nvPr/>
        </p:nvSpPr>
        <p:spPr>
          <a:xfrm>
            <a:off x="597159" y="1629746"/>
            <a:ext cx="590995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Hope to show you how useful it 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Shader debugging, mesh inspection…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Everyone uses it</a:t>
            </a:r>
            <a:endParaRPr lang="en-BE" sz="2800" dirty="0"/>
          </a:p>
        </p:txBody>
      </p:sp>
    </p:spTree>
    <p:extLst>
      <p:ext uri="{BB962C8B-B14F-4D97-AF65-F5344CB8AC3E}">
        <p14:creationId xmlns:p14="http://schemas.microsoft.com/office/powerpoint/2010/main" val="16309207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F6792-6F01-A9BA-DE9B-D39B1FAC7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351" y="-88964"/>
            <a:ext cx="10515600" cy="1325563"/>
          </a:xfrm>
        </p:spPr>
        <p:txBody>
          <a:bodyPr/>
          <a:lstStyle/>
          <a:p>
            <a:r>
              <a:rPr lang="en-US" dirty="0"/>
              <a:t>Next week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AED644-A94B-0254-B86B-BC374DDC9E63}"/>
              </a:ext>
            </a:extLst>
          </p:cNvPr>
          <p:cNvSpPr txBox="1"/>
          <p:nvPr/>
        </p:nvSpPr>
        <p:spPr>
          <a:xfrm>
            <a:off x="311020" y="1418252"/>
            <a:ext cx="630268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Mon : Deferred rendering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Mon : Used in virtually all games after 2007, and Unity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Tue : Miscellaneous (HDR, post processing, on request?)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Labs in both!</a:t>
            </a:r>
          </a:p>
        </p:txBody>
      </p:sp>
      <p:pic>
        <p:nvPicPr>
          <p:cNvPr id="7" name="Picture 6" descr="A person walking in a city&#10;&#10;AI-generated content may be incorrect.">
            <a:extLst>
              <a:ext uri="{FF2B5EF4-FFF2-40B4-BE49-F238E27FC236}">
                <a16:creationId xmlns:a16="http://schemas.microsoft.com/office/drawing/2014/main" id="{F2C1338A-17EB-C6A8-0478-124419B242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761" y="3177020"/>
            <a:ext cx="5544399" cy="31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4917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e1" id="{6849F4D6-1FB7-4CEB-8CC6-E456C34ADDA4}" vid="{0A04E370-2E7A-4A97-A218-FEC8E52F4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slides_theme</Template>
  <TotalTime>33750</TotalTime>
  <Words>571</Words>
  <Application>Microsoft Office PowerPoint</Application>
  <PresentationFormat>Widescreen</PresentationFormat>
  <Paragraphs>108</Paragraphs>
  <Slides>21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Tahoma</vt:lpstr>
      <vt:lpstr>Wingdings</vt:lpstr>
      <vt:lpstr>Kantoorthema</vt:lpstr>
      <vt:lpstr>PowerPoint Presentation</vt:lpstr>
      <vt:lpstr>Last class : Camera’s</vt:lpstr>
      <vt:lpstr>Last class : Light’s</vt:lpstr>
      <vt:lpstr>Last class : depth buffer</vt:lpstr>
      <vt:lpstr>Last class : Shadows</vt:lpstr>
      <vt:lpstr>Course schedule</vt:lpstr>
      <vt:lpstr>It’s suspiciously quite</vt:lpstr>
      <vt:lpstr>This class</vt:lpstr>
      <vt:lpstr>Original problem</vt:lpstr>
      <vt:lpstr>Original problem</vt:lpstr>
      <vt:lpstr>Original problem</vt:lpstr>
      <vt:lpstr>Original problem</vt:lpstr>
      <vt:lpstr>Which triangle?</vt:lpstr>
      <vt:lpstr>Which color?</vt:lpstr>
      <vt:lpstr>How does this help us?</vt:lpstr>
      <vt:lpstr>First solution: forward rendering</vt:lpstr>
      <vt:lpstr>For each object, find lights</vt:lpstr>
      <vt:lpstr>For each object, evaluate brdf while rendering the model</vt:lpstr>
      <vt:lpstr>Renderdoc : graphics debugger</vt:lpstr>
      <vt:lpstr>Live demo!</vt:lpstr>
      <vt:lpstr>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Daan Nijs</dc:creator>
  <cp:lastModifiedBy>Daan Nijs</cp:lastModifiedBy>
  <cp:revision>115</cp:revision>
  <dcterms:created xsi:type="dcterms:W3CDTF">2024-01-29T23:06:06Z</dcterms:created>
  <dcterms:modified xsi:type="dcterms:W3CDTF">2025-04-23T11:13:41Z</dcterms:modified>
</cp:coreProperties>
</file>